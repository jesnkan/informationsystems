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506" r:id="rId2"/>
    <p:sldId id="380" r:id="rId3"/>
    <p:sldId id="518" r:id="rId4"/>
    <p:sldId id="519" r:id="rId5"/>
    <p:sldId id="521" r:id="rId6"/>
    <p:sldId id="567" r:id="rId7"/>
    <p:sldId id="523" r:id="rId8"/>
    <p:sldId id="568" r:id="rId9"/>
    <p:sldId id="569" r:id="rId10"/>
    <p:sldId id="527" r:id="rId11"/>
    <p:sldId id="529" r:id="rId12"/>
    <p:sldId id="530" r:id="rId13"/>
    <p:sldId id="570" r:id="rId14"/>
    <p:sldId id="579" r:id="rId15"/>
    <p:sldId id="528" r:id="rId16"/>
    <p:sldId id="572" r:id="rId17"/>
    <p:sldId id="534" r:id="rId18"/>
    <p:sldId id="573" r:id="rId19"/>
    <p:sldId id="536" r:id="rId20"/>
    <p:sldId id="537" r:id="rId21"/>
    <p:sldId id="538" r:id="rId22"/>
    <p:sldId id="539" r:id="rId23"/>
    <p:sldId id="540" r:id="rId24"/>
    <p:sldId id="541" r:id="rId25"/>
    <p:sldId id="542" r:id="rId26"/>
    <p:sldId id="543" r:id="rId27"/>
    <p:sldId id="544" r:id="rId28"/>
    <p:sldId id="545" r:id="rId29"/>
    <p:sldId id="546" r:id="rId30"/>
    <p:sldId id="574" r:id="rId31"/>
    <p:sldId id="575" r:id="rId32"/>
    <p:sldId id="550" r:id="rId33"/>
    <p:sldId id="547" r:id="rId34"/>
    <p:sldId id="551" r:id="rId35"/>
    <p:sldId id="552" r:id="rId36"/>
    <p:sldId id="553" r:id="rId37"/>
    <p:sldId id="576" r:id="rId38"/>
    <p:sldId id="555" r:id="rId39"/>
    <p:sldId id="577" r:id="rId40"/>
    <p:sldId id="557" r:id="rId41"/>
    <p:sldId id="558" r:id="rId42"/>
    <p:sldId id="559" r:id="rId43"/>
    <p:sldId id="560" r:id="rId44"/>
    <p:sldId id="561" r:id="rId45"/>
    <p:sldId id="578" r:id="rId46"/>
    <p:sldId id="563" r:id="rId47"/>
    <p:sldId id="514" r:id="rId48"/>
  </p:sldIdLst>
  <p:sldSz cx="9144000" cy="5143500" type="screen16x9"/>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orient="horz" pos="576">
          <p15:clr>
            <a:srgbClr val="A4A3A4"/>
          </p15:clr>
        </p15:guide>
        <p15:guide id="5" orient="horz" pos="4032">
          <p15:clr>
            <a:srgbClr val="A4A3A4"/>
          </p15:clr>
        </p15:guide>
        <p15:guide id="6" orient="horz" pos="1056">
          <p15:clr>
            <a:srgbClr val="A4A3A4"/>
          </p15:clr>
        </p15:guide>
        <p15:guide id="7" pos="288" userDrawn="1">
          <p15:clr>
            <a:srgbClr val="A4A3A4"/>
          </p15:clr>
        </p15:guide>
        <p15:guide id="8" pos="5472">
          <p15:clr>
            <a:srgbClr val="A4A3A4"/>
          </p15:clr>
        </p15:guide>
        <p15:guide id="9" orient="horz" pos="1620">
          <p15:clr>
            <a:srgbClr val="A4A3A4"/>
          </p15:clr>
        </p15:guide>
        <p15:guide id="11" orient="horz" pos="324" userDrawn="1">
          <p15:clr>
            <a:srgbClr val="A4A3A4"/>
          </p15:clr>
        </p15:guide>
        <p15:guide id="12" orient="horz" pos="3024">
          <p15:clr>
            <a:srgbClr val="A4A3A4"/>
          </p15:clr>
        </p15:guide>
        <p15:guide id="13" orient="horz" pos="648">
          <p15:clr>
            <a:srgbClr val="A4A3A4"/>
          </p15:clr>
        </p15:guide>
        <p15:guide id="14" orient="horz" pos="900">
          <p15:clr>
            <a:srgbClr val="A4A3A4"/>
          </p15:clr>
        </p15:guide>
        <p15:guide id="15" orient="horz" pos="115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6" clrIdx="0">
    <p:extLst>
      <p:ext uri="{19B8F6BF-5375-455C-9EA6-DF929625EA0E}">
        <p15:presenceInfo xmlns:p15="http://schemas.microsoft.com/office/powerpoint/2012/main" userId="f80e80a411c6fffc" providerId="Windows Live"/>
      </p:ext>
    </p:extLst>
  </p:cmAuthor>
  <p:cmAuthor id="2" name="Carol Traver" initials="CT" lastIdx="4"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00" autoAdjust="0"/>
    <p:restoredTop sz="89416" autoAdjust="0"/>
  </p:normalViewPr>
  <p:slideViewPr>
    <p:cSldViewPr>
      <p:cViewPr varScale="1">
        <p:scale>
          <a:sx n="85" d="100"/>
          <a:sy n="85" d="100"/>
        </p:scale>
        <p:origin x="696" y="96"/>
      </p:cViewPr>
      <p:guideLst>
        <p:guide orient="horz" pos="2160"/>
        <p:guide pos="2880"/>
        <p:guide orient="horz" pos="576"/>
        <p:guide orient="horz" pos="4032"/>
        <p:guide orient="horz" pos="1056"/>
        <p:guide pos="288"/>
        <p:guide pos="5472"/>
        <p:guide orient="horz" pos="1620"/>
        <p:guide orient="horz" pos="324"/>
        <p:guide orient="horz" pos="3024"/>
        <p:guide orient="horz" pos="648"/>
        <p:guide orient="horz" pos="900"/>
        <p:guide orient="horz" pos="1152"/>
      </p:guideLst>
    </p:cSldViewPr>
  </p:slideViewPr>
  <p:outlineViewPr>
    <p:cViewPr>
      <p:scale>
        <a:sx n="33" d="100"/>
        <a:sy n="33" d="100"/>
      </p:scale>
      <p:origin x="0" y="-18688"/>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Are students familiar with any of the trends in hardware or software platforms? Do they see the iPhone/iPad, for instance, as a device, a computing platform, or a just a telephone? They might be familiar with developments such as Facebook Platform, a set of services, tools, and products that enable developers to design games and activities for use within Facebook itself. Also recall that cloud computing has been mentioned in earlier chapters, so students should be able to point to that as a contemporary hardware platform trend.</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The “service platform” perspective refers to analyzing the actual services enabled by new technology tools. For example, a new PC or tablet might save an employee one hour per day in wait time for information, dramatically increasing his or her value to the firm.</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400" dirty="0"/>
              <a:t>Figure 5.1,</a:t>
            </a:r>
            <a:r>
              <a:rPr lang="en-US" altLang="en-US" sz="1400" baseline="0" dirty="0"/>
              <a:t> Page 166.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400" baseline="0" dirty="0"/>
          </a:p>
          <a:p>
            <a:r>
              <a:rPr lang="en-US" sz="1400" b="0" i="1" u="none" strike="noStrike" kern="1200" cap="none" baseline="0" dirty="0">
                <a:solidFill>
                  <a:schemeClr val="tx1"/>
                </a:solidFill>
                <a:latin typeface="+mn-lt"/>
                <a:ea typeface="Arial"/>
                <a:cs typeface="Arial"/>
                <a:sym typeface="Arial"/>
              </a:rPr>
              <a:t>The services a firm is capable of providing to its customers, suppliers, and employees are a direct function of its IT infrastructure. Ideally, this infrastructure should support the firm’s business and information systems strategy. New information technologies have a powerful impact on business and IT strategies as well as the services that can be provided to customers.</a:t>
            </a:r>
          </a:p>
          <a:p>
            <a:endParaRPr lang="en-US" altLang="en-US" sz="13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300" dirty="0"/>
              <a:t>The point of this slide is to illustrate the centrality of IT infrastructure and services to the achievement of firm success. Ultimately, what the firm delivers to customers, its quality, is a direct function of the power of its infrastructure. For instance, Amazon is routinely cited as the most popular online shopping site and receives high praise from customers for the quality of its service and speed of execution. There is a reason for this: Amazon has one of the world</a:t>
            </a:r>
            <a:r>
              <a:rPr lang="en-US" altLang="ja-JP" sz="1300" dirty="0"/>
              <a:t>’s largest and well-designed computing infrastructures to provide these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300" u="sng" dirty="0"/>
              <a:t>Alt Text</a:t>
            </a:r>
          </a:p>
          <a:p>
            <a:pPr marL="0" marR="0">
              <a:lnSpc>
                <a:spcPct val="115000"/>
              </a:lnSpc>
              <a:spcBef>
                <a:spcPts val="0"/>
              </a:spcBef>
              <a:spcAft>
                <a:spcPts val="0"/>
              </a:spcAft>
            </a:pPr>
            <a:r>
              <a:rPr lang="en-US" sz="1300" dirty="0"/>
              <a:t>Long description: </a:t>
            </a:r>
            <a:r>
              <a:rPr lang="en-US" sz="1300" dirty="0">
                <a:solidFill>
                  <a:srgbClr val="000000"/>
                </a:solidFill>
                <a:effectLst/>
                <a:latin typeface="+mn-lt"/>
                <a:ea typeface="Times New Roman" panose="02020603050405020304" pitchFamily="18" charset="0"/>
              </a:rPr>
              <a:t>A path diagram illustrates how the firm, IT infrastructure, and business capabilities are connected. Details of the connections are as follows: </a:t>
            </a:r>
          </a:p>
          <a:p>
            <a:pPr marL="0" marR="0">
              <a:lnSpc>
                <a:spcPct val="115000"/>
              </a:lnSpc>
              <a:spcBef>
                <a:spcPts val="0"/>
              </a:spcBef>
              <a:spcAft>
                <a:spcPts val="0"/>
              </a:spcAft>
            </a:pPr>
            <a:r>
              <a:rPr lang="en-US" sz="1300" dirty="0">
                <a:solidFill>
                  <a:srgbClr val="000000"/>
                </a:solidFill>
                <a:effectLst/>
                <a:latin typeface="+mn-lt"/>
                <a:ea typeface="Times New Roman" panose="02020603050405020304" pitchFamily="18" charset="0"/>
              </a:rPr>
              <a:t>A one-way path is shown between business strategy, IT strategy, and Information technology are connected to the IT services and infrastructure. </a:t>
            </a:r>
          </a:p>
          <a:p>
            <a:pPr marL="0" marR="0">
              <a:lnSpc>
                <a:spcPct val="115000"/>
              </a:lnSpc>
              <a:spcBef>
                <a:spcPts val="0"/>
              </a:spcBef>
              <a:spcAft>
                <a:spcPts val="0"/>
              </a:spcAft>
            </a:pPr>
            <a:r>
              <a:rPr lang="en-US" sz="1300" dirty="0">
                <a:solidFill>
                  <a:srgbClr val="000000"/>
                </a:solidFill>
                <a:effectLst/>
                <a:latin typeface="+mn-lt"/>
                <a:ea typeface="Times New Roman" panose="02020603050405020304" pitchFamily="18" charset="0"/>
              </a:rPr>
              <a:t>The IT services and infrastructure is connected to: Customer, supplier, and enterprise services. </a:t>
            </a:r>
          </a:p>
          <a:p>
            <a:pPr marL="0" marR="0">
              <a:lnSpc>
                <a:spcPct val="115000"/>
              </a:lnSpc>
              <a:spcBef>
                <a:spcPts val="0"/>
              </a:spcBef>
              <a:spcAft>
                <a:spcPts val="0"/>
              </a:spcAft>
            </a:pPr>
            <a:r>
              <a:rPr lang="en-US" sz="1300" dirty="0">
                <a:solidFill>
                  <a:srgbClr val="000000"/>
                </a:solidFill>
                <a:effectLst/>
                <a:latin typeface="+mn-lt"/>
                <a:ea typeface="Times New Roman" panose="02020603050405020304" pitchFamily="18" charset="0"/>
              </a:rPr>
              <a:t>An independent connection is shown between the following: </a:t>
            </a:r>
          </a:p>
          <a:p>
            <a:pPr marL="285750" marR="0" lvl="0" indent="-285750">
              <a:lnSpc>
                <a:spcPct val="115000"/>
              </a:lnSpc>
              <a:spcBef>
                <a:spcPts val="0"/>
              </a:spcBef>
              <a:spcAft>
                <a:spcPts val="0"/>
              </a:spcAft>
              <a:buFont typeface="Arial" panose="020B0604020202020204" pitchFamily="34" charset="0"/>
              <a:buChar char="•"/>
            </a:pPr>
            <a:r>
              <a:rPr lang="en-US" sz="1300" dirty="0">
                <a:effectLst/>
                <a:latin typeface="+mn-lt"/>
                <a:ea typeface="Calibri" panose="020F0502020204030204" pitchFamily="34" charset="0"/>
              </a:rPr>
              <a:t>Business strategy and IT strategy</a:t>
            </a:r>
          </a:p>
          <a:p>
            <a:pPr marL="285750" marR="0" lvl="0" indent="-285750">
              <a:lnSpc>
                <a:spcPct val="115000"/>
              </a:lnSpc>
              <a:spcBef>
                <a:spcPts val="0"/>
              </a:spcBef>
              <a:spcAft>
                <a:spcPts val="0"/>
              </a:spcAft>
              <a:buFont typeface="Arial" panose="020B0604020202020204" pitchFamily="34" charset="0"/>
              <a:buChar char="•"/>
            </a:pPr>
            <a:r>
              <a:rPr lang="en-US" sz="1300" dirty="0">
                <a:effectLst/>
                <a:latin typeface="+mn-lt"/>
                <a:ea typeface="Calibri" panose="020F0502020204030204" pitchFamily="34" charset="0"/>
              </a:rPr>
              <a:t>IT strategy and information technology</a:t>
            </a:r>
          </a:p>
          <a:p>
            <a:pPr marL="285750" marR="0" lvl="0" indent="-285750">
              <a:lnSpc>
                <a:spcPct val="115000"/>
              </a:lnSpc>
              <a:spcBef>
                <a:spcPts val="0"/>
              </a:spcBef>
              <a:spcAft>
                <a:spcPts val="0"/>
              </a:spcAft>
              <a:buFont typeface="Arial" panose="020B0604020202020204" pitchFamily="34" charset="0"/>
              <a:buChar char="•"/>
            </a:pPr>
            <a:r>
              <a:rPr lang="en-US" sz="1300" dirty="0">
                <a:effectLst/>
                <a:latin typeface="+mn-lt"/>
                <a:ea typeface="Calibri" panose="020F0502020204030204" pitchFamily="34" charset="0"/>
              </a:rPr>
              <a:t>Information technology and business strategy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Students may be unfamiliar with the concept of mainframe computers. Explain the difference in size (much larger) and computing capacity (much smaller in early decades of mainframes) from today</a:t>
            </a:r>
            <a:r>
              <a:rPr lang="en-US" altLang="ja-JP" dirty="0"/>
              <a:t>’s computers to give them a sense of perspective regarding how far the computing industry has gone in 60 years. However, modern-day mainframes (IBM z-Series), are extremely powerful servers used for large Fortune 1000 enterprise networks and corporate websites. The mainframe is not dead, in other words, and still represents a large revenue stream for IBM.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Examples of the use of cloud computing are G Suite, Google</a:t>
            </a:r>
            <a:r>
              <a:rPr lang="en-US" altLang="ja-JP" dirty="0"/>
              <a:t>’s suite of software applications that rivals Microsoft’s Office applications at a fraction of the cost, and </a:t>
            </a:r>
            <a:r>
              <a:rPr lang="en-US" altLang="ja-JP" dirty="0" err="1"/>
              <a:t>Salesforce.com’s</a:t>
            </a:r>
            <a:r>
              <a:rPr lang="en-US" altLang="ja-JP" dirty="0"/>
              <a:t> CRM management software, delivered over the Internet. Most large Fortune 500 firms have some applications that run in the cloud. Most of these same corporations do not put their strategic or critical systems in the cloud just yet because of lingering concerns about reliability and security.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5.2,</a:t>
            </a:r>
            <a:r>
              <a:rPr lang="en-US" altLang="en-US" baseline="0" dirty="0"/>
              <a:t> Page 168.</a:t>
            </a:r>
          </a:p>
          <a:p>
            <a:r>
              <a:rPr lang="en-US" b="0" i="1" u="none" strike="noStrike" kern="1200" cap="none" baseline="0" dirty="0">
                <a:solidFill>
                  <a:schemeClr val="tx1"/>
                </a:solidFill>
                <a:latin typeface="+mn-lt"/>
                <a:ea typeface="Arial"/>
                <a:cs typeface="Arial"/>
                <a:sym typeface="Arial"/>
              </a:rPr>
              <a:t>Illustrated here are the typical computing configurations characterizing each of the five eras of IT infrastructure evolution.</a:t>
            </a:r>
            <a:endParaRPr lang="en-US" altLang="en-US" b="0" i="0" u="none" strike="noStrike" kern="1200" cap="none" baseline="0" dirty="0">
              <a:solidFill>
                <a:schemeClr val="tx1"/>
              </a:solidFill>
              <a:latin typeface="+mn-lt"/>
              <a:ea typeface="Arial"/>
              <a:cs typeface="Arial"/>
              <a:sym typeface="Arial"/>
            </a:endParaRPr>
          </a:p>
          <a:p>
            <a:r>
              <a:rPr lang="en-US" altLang="en-US" dirty="0"/>
              <a:t>This slide shows the portion of Figure 5.2 that illustrates the eras of IT infrastructure evolution discussed in the previous slide. Explain so students understand that the yellow ring connecting the machines in the client-server graphic represents a local area network. Personal computers were stand-alone systems prior to the development of local area networks. </a:t>
            </a:r>
          </a:p>
          <a:p>
            <a:endParaRPr lang="en-US" altLang="en-US" dirty="0"/>
          </a:p>
          <a:p>
            <a:pPr marL="0" marR="0">
              <a:lnSpc>
                <a:spcPct val="115000"/>
              </a:lnSpc>
              <a:spcBef>
                <a:spcPts val="0"/>
              </a:spcBef>
              <a:spcAft>
                <a:spcPts val="0"/>
              </a:spcAft>
            </a:pPr>
            <a:r>
              <a:rPr lang="en-US" altLang="en-US" sz="1100" u="sng" dirty="0"/>
              <a:t>Alt Text</a:t>
            </a:r>
          </a:p>
          <a:p>
            <a:pPr marL="0" marR="0">
              <a:lnSpc>
                <a:spcPct val="115000"/>
              </a:lnSpc>
              <a:spcBef>
                <a:spcPts val="0"/>
              </a:spcBef>
              <a:spcAft>
                <a:spcPts val="0"/>
              </a:spcAft>
            </a:pPr>
            <a:r>
              <a:rPr lang="en-US" altLang="en-US" sz="1100" dirty="0"/>
              <a:t>Long</a:t>
            </a:r>
            <a:r>
              <a:rPr lang="en-US" altLang="en-US" sz="1100" baseline="0" dirty="0"/>
              <a:t> description: </a:t>
            </a:r>
            <a:r>
              <a:rPr lang="en-US" sz="1100" dirty="0">
                <a:solidFill>
                  <a:srgbClr val="000000"/>
                </a:solidFill>
                <a:effectLst/>
                <a:ea typeface="Times New Roman" panose="02020603050405020304" pitchFamily="18" charset="0"/>
              </a:rPr>
              <a:t>A network diagram illustrates the various stages in the evolution of IT infrastructure. The stages are as follows: </a:t>
            </a:r>
          </a:p>
          <a:p>
            <a:pPr marL="342900" marR="0" lvl="0" indent="-3429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Mainframe or Minicomputer from 1959 to present: Depicted by a connection between a server and various desktop computers. </a:t>
            </a:r>
          </a:p>
          <a:p>
            <a:pPr marL="342900" marR="0" lvl="0" indent="-3429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Personal Computer from 1981 to present: Depicted by several desktop computers.</a:t>
            </a:r>
          </a:p>
          <a:p>
            <a:pPr marL="342900" marR="0" lvl="0" indent="-3429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Client Server from 1983 to present: Depicted by a server connected to desktop computers in a circular manner. </a:t>
            </a:r>
          </a:p>
          <a:p>
            <a:pPr marL="342900" marR="0" lvl="0" indent="-3429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Enterprise computing from 1992 to present: Depicted by network of various servers connected to several desktop computers with CPU in a circular manner to one enterprise server. The enterprise server is connected to the internet. </a:t>
            </a:r>
          </a:p>
          <a:p>
            <a:pPr marL="342900" marR="0" lvl="0" indent="-342900">
              <a:lnSpc>
                <a:spcPct val="115000"/>
              </a:lnSpc>
              <a:spcBef>
                <a:spcPts val="0"/>
              </a:spcBef>
              <a:spcAft>
                <a:spcPts val="0"/>
              </a:spcAft>
              <a:buFont typeface="Arial" panose="020B0604020202020204" pitchFamily="34" charset="0"/>
              <a:buChar char="•"/>
            </a:pPr>
            <a:r>
              <a:rPr lang="en-US" sz="1100" dirty="0">
                <a:solidFill>
                  <a:srgbClr val="000000"/>
                </a:solidFill>
                <a:effectLst/>
                <a:ea typeface="Times New Roman" panose="02020603050405020304" pitchFamily="18" charset="0"/>
              </a:rPr>
              <a:t>Cloud and mobile computing from 2000 to present: Depicted by the internet virtually connected to various devices such as: Desktop computer with CPU, laptop, another desktop which represents hardware, software, and services along with a smart phone in a cloud. In the center of the cloud are several servers, including the enterprise server.</a:t>
            </a:r>
            <a:endParaRPr lang="en-US" sz="11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5.3,</a:t>
            </a:r>
            <a:r>
              <a:rPr lang="en-US" altLang="en-US" baseline="0" dirty="0"/>
              <a:t> Page 170.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cap="none" baseline="0" dirty="0">
                <a:solidFill>
                  <a:schemeClr val="tx1"/>
                </a:solidFill>
                <a:latin typeface="+mn-lt"/>
                <a:ea typeface="Arial"/>
                <a:cs typeface="Arial"/>
                <a:sym typeface="Arial"/>
              </a:rPr>
              <a:t>In a </a:t>
            </a:r>
            <a:r>
              <a:rPr lang="en-US" sz="1200" b="0" i="1" u="none" strike="noStrike" kern="1200" cap="none" baseline="0" dirty="0" err="1">
                <a:solidFill>
                  <a:schemeClr val="tx1"/>
                </a:solidFill>
                <a:latin typeface="+mn-lt"/>
                <a:ea typeface="Arial"/>
                <a:cs typeface="Arial"/>
                <a:sym typeface="Arial"/>
              </a:rPr>
              <a:t>multitiered</a:t>
            </a:r>
            <a:r>
              <a:rPr lang="en-US" sz="1200" b="0" i="1" u="none" strike="noStrike" kern="1200" cap="none" baseline="0" dirty="0">
                <a:solidFill>
                  <a:schemeClr val="tx1"/>
                </a:solidFill>
                <a:latin typeface="+mn-lt"/>
                <a:ea typeface="Arial"/>
                <a:cs typeface="Arial"/>
                <a:sym typeface="Arial"/>
              </a:rPr>
              <a:t> client/server network, client requests for service are handled by different levels of servers.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Explain that the distribution of computing power across smaller, less expensive machines enabled by client/server computing is in part responsible for the drastic increase in computing power and applications throughout the firm. Prior to small, less expensive server computers, computing power had to purchased in large blocks at great expense. With client/server computing, you can grow your firm</a:t>
            </a:r>
            <a:r>
              <a:rPr lang="en-US" altLang="ja-JP" dirty="0"/>
              <a:t>’s inventory of computers gradually, over time, to meet current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t>
            </a:r>
            <a:r>
              <a:rPr lang="en-US" sz="1200" dirty="0">
                <a:solidFill>
                  <a:srgbClr val="000000"/>
                </a:solidFill>
                <a:effectLst/>
                <a:latin typeface="+mn-lt"/>
                <a:ea typeface="Times New Roman" panose="02020603050405020304" pitchFamily="18" charset="0"/>
              </a:rPr>
              <a:t>A sequential flow diagram explains the client server network.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network are as follows: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Data</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Sales, production, accounting, and HR</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Application server</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Web server</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Internet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Client</a:t>
            </a:r>
            <a:endParaRPr lang="en-US" sz="1200" dirty="0">
              <a:effectLst/>
              <a:latin typeface="+mn-lt"/>
              <a:ea typeface="Calibri" panose="020F0502020204030204" pitchFamily="34" charset="0"/>
            </a:endParaRPr>
          </a:p>
          <a:p>
            <a:endParaRPr lang="en-US" sz="1200" dirty="0">
              <a:solidFill>
                <a:srgbClr val="000000"/>
              </a:solidFill>
              <a:effectLst/>
              <a:latin typeface="+mn-lt"/>
              <a:ea typeface="Times New Roman" panose="02020603050405020304" pitchFamily="18" charset="0"/>
            </a:endParaRPr>
          </a:p>
          <a:p>
            <a:r>
              <a:rPr lang="en-US" sz="1200" dirty="0">
                <a:solidFill>
                  <a:srgbClr val="000000"/>
                </a:solidFill>
                <a:effectLst/>
                <a:latin typeface="+mn-lt"/>
                <a:ea typeface="Times New Roman" panose="02020603050405020304" pitchFamily="18" charset="0"/>
              </a:rPr>
              <a:t>All these aspects of the network are connected by solid bi-directional arrows except for the connection between the web server, internet, and the client. The same is denoted by dashed bi-directional arrows.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Variants of Moore</a:t>
            </a:r>
            <a:r>
              <a:rPr lang="en-US" altLang="ja-JP" dirty="0"/>
              <a:t>’s Law include: the number of transistors on a chip doubles ever 18 months; computing power doubles every 18 months; and the price of computing falls by half every 18 months. Explain to students that even now, this trend continues but has slowed to around 2 years, with transistors today about 14 </a:t>
            </a:r>
            <a:r>
              <a:rPr lang="en-US" altLang="ja-JP" dirty="0" err="1"/>
              <a:t>nanomenters</a:t>
            </a:r>
            <a:r>
              <a:rPr lang="en-US" altLang="ja-JP" dirty="0"/>
              <a:t> (billionths of a meter) in size.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Ask students to explain the implications of Metcalfe</a:t>
            </a:r>
            <a:r>
              <a:rPr lang="en-US" altLang="ja-JP" dirty="0"/>
              <a:t>’s law to social networks, such as Facebook and Twitter. Do they agree that the more members are using the site, the value of being a member and the usefulness of the site grows? Do people make </a:t>
            </a:r>
            <a:r>
              <a:rPr lang="ja-JP" altLang="en-US" dirty="0"/>
              <a:t>“</a:t>
            </a:r>
            <a:r>
              <a:rPr lang="en-US" altLang="ja-JP" dirty="0"/>
              <a:t>new friends</a:t>
            </a:r>
            <a:r>
              <a:rPr lang="ja-JP" altLang="en-US" dirty="0"/>
              <a:t>”</a:t>
            </a:r>
            <a:r>
              <a:rPr lang="en-US" altLang="ja-JP" dirty="0"/>
              <a:t> on a social site or hang out with their existing friends mostly? Aare “friends” the same as “followers”?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5.4,</a:t>
            </a:r>
            <a:r>
              <a:rPr lang="en-US" altLang="en-US" baseline="0" dirty="0"/>
              <a:t> Page 172.</a:t>
            </a:r>
          </a:p>
          <a:p>
            <a:r>
              <a:rPr lang="en-US" sz="1200" b="0" i="1" u="none" strike="noStrike" kern="1200" cap="none" baseline="0" dirty="0">
                <a:solidFill>
                  <a:schemeClr val="tx1"/>
                </a:solidFill>
                <a:latin typeface="+mn-lt"/>
                <a:ea typeface="Arial"/>
                <a:cs typeface="Arial"/>
                <a:sym typeface="Arial"/>
              </a:rPr>
              <a:t>Packing more than 5 billion transistors into a tiny microprocessor has exponentially increased processing power. Processing power has increased to more than 250,000 MIPS (about 2.6 billion instructions per second).</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At what point, if any, do students believe that the doubling trend of Moore</a:t>
            </a:r>
            <a:r>
              <a:rPr lang="en-US" altLang="ja-JP" dirty="0"/>
              <a:t>’s Law might come to an end? Ask them to speculate and give reasons for their answers.</a:t>
            </a:r>
          </a:p>
          <a:p>
            <a:endParaRPr lang="en-US" altLang="en-US" dirty="0"/>
          </a:p>
          <a:p>
            <a:pPr marL="0" marR="0">
              <a:lnSpc>
                <a:spcPct val="115000"/>
              </a:lnSpc>
              <a:spcBef>
                <a:spcPts val="0"/>
              </a:spcBef>
              <a:spcAft>
                <a:spcPts val="0"/>
              </a:spcAft>
            </a:pPr>
            <a:r>
              <a:rPr lang="en-US" altLang="en-US" sz="1100" u="sng" dirty="0"/>
              <a:t>Alt Text</a:t>
            </a:r>
          </a:p>
          <a:p>
            <a:pPr marL="0" marR="0">
              <a:lnSpc>
                <a:spcPct val="115000"/>
              </a:lnSpc>
              <a:spcBef>
                <a:spcPts val="0"/>
              </a:spcBef>
              <a:spcAft>
                <a:spcPts val="0"/>
              </a:spcAft>
            </a:pPr>
            <a:r>
              <a:rPr lang="en-US" altLang="en-US" sz="1100" dirty="0"/>
              <a:t>Long description:</a:t>
            </a:r>
            <a:r>
              <a:rPr lang="en-US" altLang="en-US" sz="1100" baseline="0" dirty="0"/>
              <a:t> </a:t>
            </a:r>
            <a:r>
              <a:rPr lang="en-US" sz="1100" dirty="0">
                <a:solidFill>
                  <a:srgbClr val="000000"/>
                </a:solidFill>
                <a:effectLst/>
                <a:ea typeface="Times New Roman" panose="02020603050405020304" pitchFamily="18" charset="0"/>
              </a:rPr>
              <a:t>A three-dimensional bar graph explains the correlation between the number of transistors and millions of instructions per second over the years. The details of the graph are as follows: </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The vertical axis represents the years and ranges from 1970 to 1974, in increments of 4. </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The first horizontal axis represents the processing power in millions of instructions per second and ranges from 0 to 250,000. </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The second horizontal axis represents the number of transistors and ranges from 0 to 5 billion. </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It explains that the number of transistors, and therefore its processing power shows an increasing trend over the years.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400" dirty="0"/>
              <a:t>Figure 5.5,</a:t>
            </a:r>
            <a:r>
              <a:rPr lang="en-US" altLang="en-US" sz="1400" baseline="0" dirty="0"/>
              <a:t> Page 172.</a:t>
            </a:r>
          </a:p>
          <a:p>
            <a:r>
              <a:rPr lang="en-US" sz="1400" b="0" i="1" u="none" strike="noStrike" kern="1200" cap="none" baseline="0" dirty="0">
                <a:solidFill>
                  <a:schemeClr val="tx1"/>
                </a:solidFill>
                <a:latin typeface="+mn-lt"/>
                <a:ea typeface="Arial"/>
                <a:cs typeface="Arial"/>
                <a:sym typeface="Arial"/>
              </a:rPr>
              <a:t>Packing more transistors into less space has driven dramatic reductions in their cost and in the cost of the products they populate.</a:t>
            </a:r>
          </a:p>
          <a:p>
            <a:endParaRPr lang="en-US" altLang="en-US" sz="1400" b="0" i="0" u="none" strike="noStrike" kern="1200" cap="none" baseline="0" dirty="0">
              <a:solidFill>
                <a:schemeClr val="tx1"/>
              </a:solidFill>
              <a:latin typeface="+mn-lt"/>
              <a:ea typeface="Arial"/>
              <a:cs typeface="Arial"/>
              <a:sym typeface="Arial"/>
            </a:endParaRPr>
          </a:p>
          <a:p>
            <a:r>
              <a:rPr lang="en-US" altLang="en-US" sz="1400" dirty="0"/>
              <a:t>What do students think the implications of such drastically reduced costs of computer chips might be in the future? Explain the connection to concepts such as the digital divide and cloud computing.</a:t>
            </a:r>
          </a:p>
          <a:p>
            <a:endParaRPr lang="en-US" altLang="en-US" dirty="0"/>
          </a:p>
          <a:p>
            <a:pPr marL="0" marR="0">
              <a:lnSpc>
                <a:spcPct val="115000"/>
              </a:lnSpc>
              <a:spcBef>
                <a:spcPts val="0"/>
              </a:spcBef>
              <a:spcAft>
                <a:spcPts val="0"/>
              </a:spcAft>
            </a:pPr>
            <a:r>
              <a:rPr lang="en-US" altLang="en-US" u="sng" dirty="0">
                <a:latin typeface="+mn-lt"/>
              </a:rPr>
              <a:t>Alt Text</a:t>
            </a:r>
          </a:p>
          <a:p>
            <a:pPr marL="0" marR="0">
              <a:lnSpc>
                <a:spcPct val="115000"/>
              </a:lnSpc>
              <a:spcBef>
                <a:spcPts val="0"/>
              </a:spcBef>
              <a:spcAft>
                <a:spcPts val="0"/>
              </a:spcAft>
            </a:pPr>
            <a:r>
              <a:rPr lang="en-US" altLang="en-US" dirty="0">
                <a:latin typeface="+mn-lt"/>
              </a:rPr>
              <a:t>Long</a:t>
            </a:r>
            <a:r>
              <a:rPr lang="en-US" altLang="en-US" baseline="0" dirty="0">
                <a:latin typeface="+mn-lt"/>
              </a:rPr>
              <a:t> description: </a:t>
            </a:r>
            <a:r>
              <a:rPr lang="en-US" dirty="0">
                <a:solidFill>
                  <a:srgbClr val="000000"/>
                </a:solidFill>
                <a:effectLst/>
                <a:latin typeface="+mn-lt"/>
                <a:ea typeface="Times New Roman" panose="02020603050405020304" pitchFamily="18" charset="0"/>
              </a:rPr>
              <a:t>A line graph illustrates the declining trend in the cost of chips over the years. </a:t>
            </a:r>
            <a:r>
              <a:rPr lang="en-US" dirty="0">
                <a:solidFill>
                  <a:srgbClr val="000000"/>
                </a:solidFill>
                <a:effectLst/>
                <a:latin typeface="+mn-lt"/>
                <a:ea typeface="Times New Roman" panose="02020603050405020304" pitchFamily="18" charset="0"/>
                <a:cs typeface="Calibri" panose="020F0502020204030204" pitchFamily="34" charset="0"/>
              </a:rPr>
              <a:t>The horizontal axis represents the years and ranges from 1965 to 2020 in increments of 5 except between 1965 and 1968. The vertical axis represents the transistor price in U.S. dollars and ranges from ten to one ten millionth in intervals listed below: </a:t>
            </a:r>
            <a:endParaRPr lang="en-US"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Ten</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Tenth</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Hundredth</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Thousandth</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Ten-Thousandth</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Hundred-Thousandth</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Millionth</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One Ten-Millionth.</a:t>
            </a:r>
            <a:endParaRPr lang="en-US" dirty="0">
              <a:effectLst/>
              <a:latin typeface="+mn-lt"/>
              <a:ea typeface="Calibri" panose="020F0502020204030204" pitchFamily="34" charset="0"/>
            </a:endParaRPr>
          </a:p>
          <a:p>
            <a:pPr marL="0" marR="0">
              <a:lnSpc>
                <a:spcPct val="115000"/>
              </a:lnSpc>
              <a:spcBef>
                <a:spcPts val="0"/>
              </a:spcBef>
              <a:spcAft>
                <a:spcPts val="0"/>
              </a:spcAft>
            </a:pPr>
            <a:endParaRPr lang="en-US"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The curve appears to be sloping downward and shows a drastic plunge in the trend. Between 1965 and 1993 the price reduced to one millionth and thereafter the price further drops to One Ten-Millionth. </a:t>
            </a:r>
            <a:endParaRPr lang="en-US" dirty="0">
              <a:solidFill>
                <a:srgbClr val="000000"/>
              </a:solidFill>
              <a:effectLst/>
              <a:latin typeface="+mn-lt"/>
              <a:ea typeface="Times New Roman" panose="02020603050405020304" pitchFamily="18" charset="0"/>
            </a:endParaRPr>
          </a:p>
          <a:p>
            <a:r>
              <a:rPr lang="en-US" dirty="0">
                <a:solidFill>
                  <a:srgbClr val="000000"/>
                </a:solidFill>
                <a:effectLst/>
                <a:latin typeface="+mn-lt"/>
                <a:ea typeface="Times New Roman" panose="02020603050405020304" pitchFamily="18" charset="0"/>
              </a:rPr>
              <a:t>Text in the graph reads: Packing more transistors into less space has driven dramatic reductions in their cost and in the cost of the products they populate.</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a:t>
            </a:r>
            <a:r>
              <a:rPr lang="en-US" altLang="en-US" baseline="0" dirty="0"/>
              <a:t> Page 173.</a:t>
            </a:r>
          </a:p>
          <a:p>
            <a:r>
              <a:rPr lang="en-US" sz="1200" b="0" i="1" u="none" strike="noStrike" kern="1200" cap="none" baseline="0" dirty="0">
                <a:solidFill>
                  <a:schemeClr val="tx1"/>
                </a:solidFill>
                <a:latin typeface="+mn-lt"/>
                <a:ea typeface="Arial"/>
                <a:cs typeface="Arial"/>
                <a:sym typeface="Arial"/>
              </a:rPr>
              <a:t>Nanotubes are tiny tubes about 10,000 times thinner than a human hair. They consist of rolled-up sheets of carbon hexagons and have potential use as minuscule wires or in ultra-small electronic devices and are very powerful conductors of electrical current.</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Nanotechnology is used to create transistors of the tiny size previously mentioned. Can students describe any other applications of this type of technology (for example, medical)?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5.6,</a:t>
            </a:r>
            <a:r>
              <a:rPr lang="en-US" altLang="en-US" baseline="0" dirty="0"/>
              <a:t> Page 174.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cap="none" baseline="0" dirty="0">
                <a:solidFill>
                  <a:schemeClr val="tx1"/>
                </a:solidFill>
                <a:latin typeface="+mn-lt"/>
                <a:ea typeface="Arial"/>
                <a:cs typeface="Arial"/>
                <a:sym typeface="Arial"/>
              </a:rPr>
              <a:t>Cloud storage services like Google Drive provide 100 gigabytes of storage for $1.99 per month.</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Explain the importance of the exponential growth in hard drive capacity, which is that the world is producing an increasing amount of digital information requiring storage each year as well. Fortunately, the cost of storing that information is decreasing at an even quicker rate. Explain that this figure displays the number of kilobytes of data that can be stored with one dollar. Point out that the Y-axis is greatly compressed to display the doubling effect, and that if it weren</a:t>
            </a:r>
            <a:r>
              <a:rPr lang="en-US" altLang="ja-JP" dirty="0"/>
              <a:t>’t, the increase from year to year would become increasingly enormous.</a:t>
            </a:r>
          </a:p>
          <a:p>
            <a:endParaRPr lang="en-US" altLang="ja-JP" dirty="0"/>
          </a:p>
          <a:p>
            <a:pPr marL="0" marR="0">
              <a:lnSpc>
                <a:spcPct val="115000"/>
              </a:lnSpc>
              <a:spcBef>
                <a:spcPts val="0"/>
              </a:spcBef>
              <a:spcAft>
                <a:spcPts val="0"/>
              </a:spcAft>
            </a:pPr>
            <a:r>
              <a:rPr lang="en-US" altLang="ja-JP" sz="1100" u="sng" dirty="0">
                <a:latin typeface="+mn-lt"/>
              </a:rPr>
              <a:t>Alt Text</a:t>
            </a:r>
          </a:p>
          <a:p>
            <a:pPr marL="0" marR="0">
              <a:lnSpc>
                <a:spcPct val="115000"/>
              </a:lnSpc>
              <a:spcBef>
                <a:spcPts val="0"/>
              </a:spcBef>
              <a:spcAft>
                <a:spcPts val="0"/>
              </a:spcAft>
            </a:pPr>
            <a:r>
              <a:rPr lang="en-US" altLang="ja-JP" sz="1100" dirty="0">
                <a:latin typeface="+mn-lt"/>
              </a:rPr>
              <a:t>Long description: </a:t>
            </a:r>
            <a:r>
              <a:rPr lang="en-US" sz="1100" dirty="0">
                <a:solidFill>
                  <a:srgbClr val="000000"/>
                </a:solidFill>
                <a:effectLst/>
                <a:latin typeface="+mn-lt"/>
                <a:ea typeface="Times New Roman" panose="02020603050405020304" pitchFamily="18" charset="0"/>
              </a:rPr>
              <a:t>A line graph explains how the cost of data storage has increased over the years. </a:t>
            </a:r>
            <a:r>
              <a:rPr lang="en-US" sz="1100" dirty="0">
                <a:solidFill>
                  <a:srgbClr val="000000"/>
                </a:solidFill>
                <a:effectLst/>
                <a:latin typeface="+mn-lt"/>
                <a:ea typeface="Times New Roman" panose="02020603050405020304" pitchFamily="18" charset="0"/>
                <a:cs typeface="Calibri" panose="020F0502020204030204" pitchFamily="34" charset="0"/>
              </a:rPr>
              <a:t>The horizontal axis represents the years and ranges from 1950 to 2020 in irregular intervals. The vertical axis represents the storage in gigabytes and ranges from 0 to 100, in intervals of 2 except between 10 and 100. </a:t>
            </a:r>
            <a:endParaRPr lang="en-US" sz="11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11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100" dirty="0">
                <a:solidFill>
                  <a:srgbClr val="000000"/>
                </a:solidFill>
                <a:effectLst/>
                <a:latin typeface="+mn-lt"/>
                <a:ea typeface="Times New Roman" panose="02020603050405020304" pitchFamily="18" charset="0"/>
                <a:cs typeface="Calibri" panose="020F0502020204030204" pitchFamily="34" charset="0"/>
              </a:rPr>
              <a:t>Approximate data corresponding to the years and the storage are summarized below: </a:t>
            </a:r>
            <a:endParaRPr lang="en-US" sz="1100" dirty="0">
              <a:solidFill>
                <a:srgbClr val="000000"/>
              </a:solidFill>
              <a:effectLst/>
              <a:latin typeface="+mn-lt"/>
              <a:ea typeface="Times New Roman" panose="02020603050405020304" pitchFamily="18" charset="0"/>
            </a:endParaRPr>
          </a:p>
          <a:p>
            <a:r>
              <a:rPr lang="en-US" sz="1100" dirty="0">
                <a:solidFill>
                  <a:srgbClr val="000000"/>
                </a:solidFill>
                <a:effectLst/>
                <a:latin typeface="+mn-lt"/>
                <a:ea typeface="Times New Roman" panose="02020603050405020304" pitchFamily="18" charset="0"/>
              </a:rPr>
              <a:t>1952: 0.3; 1957: 1.2; 1962: 2.4; 1966: 3.0; 1971: 3.1; 1976: 3.1; 1981: 3.7; 1985: 3.8; 1990: 4.7; 1995: 5.3; 2000: 12.6; 2004: 43.2; 2009: 87.3; 2013: 103.8</a:t>
            </a:r>
            <a:r>
              <a:rPr lang="en-US" sz="1200" dirty="0">
                <a:solidFill>
                  <a:srgbClr val="000000"/>
                </a:solidFill>
                <a:effectLst/>
                <a:latin typeface="+mn-lt"/>
                <a:ea typeface="Times New Roman" panose="02020603050405020304" pitchFamily="18" charset="0"/>
              </a:rPr>
              <a:t>.</a:t>
            </a:r>
            <a:endParaRPr lang="en-US" altLang="ja-JP"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Are students aware of any friends or family that do not have Internet access or choose</a:t>
            </a:r>
            <a:r>
              <a:rPr lang="en-US" altLang="en-US" baseline="0" dirty="0"/>
              <a:t> not to have access</a:t>
            </a:r>
            <a:r>
              <a:rPr lang="en-US" altLang="en-US" dirty="0"/>
              <a:t>?  </a:t>
            </a:r>
            <a:r>
              <a:rPr lang="en-US" altLang="ja-JP" dirty="0"/>
              <a:t>You might ask students to guess how fast (slow) were the telephone modems used by most Internet users in 1990s. Fifty-six kbps was the fastest telephone modem which is about 1/20</a:t>
            </a:r>
            <a:r>
              <a:rPr lang="en-US" altLang="ja-JP" baseline="30000" dirty="0"/>
              <a:t>th</a:t>
            </a:r>
            <a:r>
              <a:rPr lang="en-US" altLang="ja-JP" dirty="0"/>
              <a:t> of a megabit per second. Most cable Internet to the home today is running at 50 mbps, nearly</a:t>
            </a:r>
            <a:r>
              <a:rPr lang="en-US" altLang="ja-JP" baseline="0" dirty="0"/>
              <a:t> a </a:t>
            </a:r>
            <a:r>
              <a:rPr lang="en-US" altLang="ja-JP" dirty="0"/>
              <a:t>thousand times faster than telephone modems; 892 to be exact. </a:t>
            </a:r>
            <a:r>
              <a:rPr lang="en-US" altLang="en-US" dirty="0"/>
              <a:t>What might today</a:t>
            </a:r>
            <a:r>
              <a:rPr lang="en-US" altLang="ja-JP" dirty="0"/>
              <a:t>’s enterprise infrastructure and Internet have been like without widespread and universal standards, such as Windows, Microsoft Office, Unix, and Ethernet? (Greatly decreased efficiency and confusion, inability to develop innovative products everyone can use based on a single standard, etc.)</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5.7,</a:t>
            </a:r>
            <a:r>
              <a:rPr lang="en-US" altLang="en-US" baseline="0" dirty="0"/>
              <a:t> Page 175.</a:t>
            </a:r>
          </a:p>
          <a:p>
            <a:r>
              <a:rPr lang="en-US" sz="1200" b="0" i="1" u="none" strike="noStrike" kern="1200" cap="none" baseline="0" dirty="0">
                <a:solidFill>
                  <a:schemeClr val="dk1"/>
                </a:solidFill>
                <a:latin typeface="+mn-lt"/>
                <a:ea typeface="Arial"/>
                <a:cs typeface="Arial"/>
                <a:sym typeface="Arial"/>
              </a:rPr>
              <a:t>The cost of communication over the Internet and over telephone networks has declined exponentially, fueling the explosive growth of communication and computing worldwide.</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Emphasize to students how close the communication cost per kilobit has come to an infinitesimal number (nearly 0) since 1995. What implications does this have for the number of people using the Internet? You could once again relate this to the digital divide and emphasize that even now a significant portion of the world lacks access to the Internet and other services, though it has more to do with reasons of insufficient infrastructure than Internet communication costs. One implication: it costs no more to move a gigabyte from New York to San Francisco than it does to move the same amount of information from the top of a building to the basement. This means that data no longer needs to be located </a:t>
            </a:r>
            <a:r>
              <a:rPr lang="ja-JP" altLang="en-US" dirty="0"/>
              <a:t>“</a:t>
            </a:r>
            <a:r>
              <a:rPr lang="en-US" altLang="ja-JP" dirty="0"/>
              <a:t>close by</a:t>
            </a:r>
            <a:r>
              <a:rPr lang="ja-JP" altLang="en-US" dirty="0"/>
              <a:t>”</a:t>
            </a:r>
            <a:r>
              <a:rPr lang="en-US" altLang="ja-JP" dirty="0"/>
              <a:t> the user.</a:t>
            </a:r>
          </a:p>
          <a:p>
            <a:endParaRPr lang="en-US" dirty="0"/>
          </a:p>
          <a:p>
            <a:pPr marL="0" marR="0">
              <a:lnSpc>
                <a:spcPct val="115000"/>
              </a:lnSpc>
              <a:spcBef>
                <a:spcPts val="0"/>
              </a:spcBef>
              <a:spcAft>
                <a:spcPts val="0"/>
              </a:spcAft>
            </a:pPr>
            <a:r>
              <a:rPr lang="en-US" sz="1100" u="sng" dirty="0">
                <a:latin typeface="+mn-lt"/>
              </a:rPr>
              <a:t>Alt Text</a:t>
            </a:r>
          </a:p>
          <a:p>
            <a:pPr marL="0" marR="0">
              <a:lnSpc>
                <a:spcPct val="115000"/>
              </a:lnSpc>
              <a:spcBef>
                <a:spcPts val="0"/>
              </a:spcBef>
              <a:spcAft>
                <a:spcPts val="0"/>
              </a:spcAft>
            </a:pPr>
            <a:r>
              <a:rPr lang="en-US" sz="1100" dirty="0">
                <a:latin typeface="+mn-lt"/>
              </a:rPr>
              <a:t>Long description: </a:t>
            </a:r>
            <a:r>
              <a:rPr lang="en-US" sz="1100" dirty="0">
                <a:solidFill>
                  <a:srgbClr val="000000"/>
                </a:solidFill>
                <a:effectLst/>
                <a:latin typeface="+mn-lt"/>
                <a:ea typeface="Times New Roman" panose="02020603050405020304" pitchFamily="18" charset="0"/>
              </a:rPr>
              <a:t>A line graph explains how the internet costs have plunged over the years. </a:t>
            </a:r>
            <a:r>
              <a:rPr lang="en-US" sz="1100" dirty="0">
                <a:solidFill>
                  <a:srgbClr val="000000"/>
                </a:solidFill>
                <a:effectLst/>
                <a:latin typeface="+mn-lt"/>
                <a:ea typeface="Times New Roman" panose="02020603050405020304" pitchFamily="18" charset="0"/>
                <a:cs typeface="Calibri" panose="020F0502020204030204" pitchFamily="34" charset="0"/>
              </a:rPr>
              <a:t>The horizontal axis represents the years and ranges from 2000 to 2019, in increments of 1. The vertical axis represents the cost per kilobit in dollars and ranges from 0 to 6000, in increments of 1000. </a:t>
            </a:r>
            <a:endParaRPr lang="en-US" sz="11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100" dirty="0">
                <a:solidFill>
                  <a:srgbClr val="000000"/>
                </a:solidFill>
                <a:effectLst/>
                <a:latin typeface="+mn-lt"/>
                <a:ea typeface="Times New Roman" panose="02020603050405020304" pitchFamily="18" charset="0"/>
                <a:cs typeface="Calibri" panose="020F0502020204030204" pitchFamily="34" charset="0"/>
              </a:rPr>
              <a:t>Approximate data corresponding to the years and cost are summarized below:</a:t>
            </a:r>
            <a:endParaRPr lang="en-US" sz="1100" dirty="0">
              <a:solidFill>
                <a:srgbClr val="000000"/>
              </a:solidFill>
              <a:effectLst/>
              <a:latin typeface="+mn-lt"/>
              <a:ea typeface="Times New Roman" panose="02020603050405020304" pitchFamily="18" charset="0"/>
            </a:endParaRPr>
          </a:p>
          <a:p>
            <a:r>
              <a:rPr lang="en-US" sz="1100" dirty="0">
                <a:solidFill>
                  <a:srgbClr val="000000"/>
                </a:solidFill>
                <a:effectLst/>
                <a:latin typeface="+mn-lt"/>
                <a:ea typeface="Times New Roman" panose="02020603050405020304" pitchFamily="18" charset="0"/>
              </a:rPr>
              <a:t>2000: 5077; 2001: 3478; 2002: 2157; 2004: 970; 2005: 639; 2006: 493; 2007: 380; 2008: 172; 2009: 274; 2010: 315; 2011: 293; 2012: 240; 2013: 157; 2014: 166; 2015: 175; 2016: 153; 2017: 195; 2018: 234; 2019: 244.</a:t>
            </a:r>
            <a:endParaRPr lang="en-US" sz="11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upcoming slides will go over each component in more detail.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t>Figure 5.8,</a:t>
            </a:r>
            <a:r>
              <a:rPr lang="en-US" altLang="en-US" sz="1000" baseline="0" dirty="0"/>
              <a:t> Page 177.</a:t>
            </a:r>
          </a:p>
          <a:p>
            <a:r>
              <a:rPr lang="en-US" sz="1000" b="0" i="1" u="none" strike="noStrike" kern="1200" cap="none" baseline="0" dirty="0">
                <a:solidFill>
                  <a:schemeClr val="tx1"/>
                </a:solidFill>
                <a:latin typeface="+mn-lt"/>
                <a:ea typeface="Arial"/>
                <a:cs typeface="Arial"/>
                <a:sym typeface="Arial"/>
              </a:rPr>
              <a:t>There are seven major components that must be coordinated to provide the firm with a coherent IT infrastructure. Listed here are major technologies and suppliers for each component</a:t>
            </a:r>
            <a:r>
              <a:rPr lang="en-US" sz="1000" b="0" i="0" u="none" strike="noStrike" kern="1200" cap="none" baseline="0" dirty="0">
                <a:solidFill>
                  <a:schemeClr val="tx1"/>
                </a:solidFill>
                <a:latin typeface="+mn-lt"/>
                <a:ea typeface="Arial"/>
                <a:cs typeface="Arial"/>
                <a:sym typeface="Arial"/>
              </a:rPr>
              <a:t>.</a:t>
            </a:r>
          </a:p>
          <a:p>
            <a:endParaRPr lang="en-US" altLang="en-US" sz="1000" b="0" i="0" u="none" strike="noStrike" kern="1200" cap="none" baseline="0" dirty="0">
              <a:solidFill>
                <a:schemeClr val="tx1"/>
              </a:solidFill>
              <a:latin typeface="+mn-lt"/>
              <a:ea typeface="Arial"/>
              <a:cs typeface="Arial"/>
              <a:sym typeface="Arial"/>
            </a:endParaRPr>
          </a:p>
          <a:p>
            <a:r>
              <a:rPr lang="en-US" altLang="en-US" sz="1000" dirty="0"/>
              <a:t>Ask students to take a look at the example companies that appear under each heading. What companies appear repeatedly? How many items are unfamiliar?</a:t>
            </a:r>
          </a:p>
          <a:p>
            <a:endParaRPr lang="en-US" altLang="en-US" sz="1000" dirty="0"/>
          </a:p>
          <a:p>
            <a:pPr marL="0" marR="0">
              <a:lnSpc>
                <a:spcPct val="115000"/>
              </a:lnSpc>
              <a:spcBef>
                <a:spcPts val="0"/>
              </a:spcBef>
              <a:spcAft>
                <a:spcPts val="0"/>
              </a:spcAft>
            </a:pPr>
            <a:r>
              <a:rPr lang="en-US" altLang="en-US" sz="1000" u="sng" dirty="0"/>
              <a:t>Alt Text</a:t>
            </a:r>
          </a:p>
          <a:p>
            <a:pPr marL="0" marR="0">
              <a:lnSpc>
                <a:spcPct val="115000"/>
              </a:lnSpc>
              <a:spcBef>
                <a:spcPts val="0"/>
              </a:spcBef>
              <a:spcAft>
                <a:spcPts val="0"/>
              </a:spcAft>
            </a:pPr>
            <a:r>
              <a:rPr lang="en-US" altLang="en-US" sz="1000" dirty="0"/>
              <a:t>Long description: </a:t>
            </a:r>
            <a:r>
              <a:rPr lang="en-US" sz="1000" dirty="0">
                <a:solidFill>
                  <a:srgbClr val="000000"/>
                </a:solidFill>
                <a:effectLst/>
                <a:ea typeface="Times New Roman" panose="02020603050405020304" pitchFamily="18" charset="0"/>
              </a:rPr>
              <a:t>A circular diagram explains the various components of an IT infrastructure ecosystem. </a:t>
            </a:r>
            <a:r>
              <a:rPr lang="en-US" sz="1000" dirty="0">
                <a:solidFill>
                  <a:srgbClr val="000000"/>
                </a:solidFill>
                <a:effectLst/>
                <a:ea typeface="Times New Roman" panose="02020603050405020304" pitchFamily="18" charset="0"/>
                <a:cs typeface="Calibri" panose="020F0502020204030204" pitchFamily="34" charset="0"/>
              </a:rPr>
              <a:t>The aspects connected in the ecosystem are: Internet platforms, computer hardware platforms, operating systems platforms, enterprise software applications, networking or telecommunications, consultants and system integrators, and data management and storage. </a:t>
            </a:r>
            <a:endParaRPr lang="en-US" sz="1000" dirty="0">
              <a:solidFill>
                <a:srgbClr val="000000"/>
              </a:solidFill>
              <a:effectLst/>
              <a:ea typeface="Times New Roman" panose="02020603050405020304" pitchFamily="18" charset="0"/>
            </a:endParaRPr>
          </a:p>
          <a:p>
            <a:pPr marL="285750" marR="0" lvl="0" indent="-2857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Internet platforms include: Apache; Microsoft IIS, .NET; Unix; Cisco; Java. </a:t>
            </a:r>
            <a:endParaRPr lang="en-US" sz="10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Computer hardware platforms include: IBM; Oracle Sun; HP; Apple.</a:t>
            </a:r>
            <a:endParaRPr lang="en-US" sz="10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Operating systems platforms include: Microsoft Windows; Unix; Linux; MacOS; Chrome; Android; iOS.</a:t>
            </a:r>
            <a:endParaRPr lang="en-US" sz="10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Enterprise Software Applications (including middleware) include: SAP; Oracle; Microsoft; IBM. </a:t>
            </a:r>
            <a:endParaRPr lang="en-US" sz="10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Networking or Telecommunications include: Microsoft Windows Server; Linux; Cisco; AT&amp;T, Verizon.</a:t>
            </a:r>
            <a:endParaRPr lang="en-US" sz="10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Consultants and System Integrators include: IBM; HP; Accenture. </a:t>
            </a:r>
          </a:p>
          <a:p>
            <a:pPr marL="285750" marR="0" lvl="0" indent="-285750">
              <a:lnSpc>
                <a:spcPct val="115000"/>
              </a:lnSpc>
              <a:spcBef>
                <a:spcPts val="0"/>
              </a:spcBef>
              <a:spcAft>
                <a:spcPts val="0"/>
              </a:spcAft>
              <a:buFont typeface="Arial" panose="020B0604020202020204" pitchFamily="34" charset="0"/>
              <a:buChar char="•"/>
            </a:pPr>
            <a:r>
              <a:rPr lang="en-US" sz="1000" dirty="0">
                <a:solidFill>
                  <a:srgbClr val="000000"/>
                </a:solidFill>
                <a:effectLst/>
                <a:ea typeface="Times New Roman" panose="02020603050405020304" pitchFamily="18" charset="0"/>
              </a:rPr>
              <a:t>Data Management and Storage includes: IBM DB2; Oracle; SQL Server; Sybase; MySQL; Apache; Hadoop.</a:t>
            </a:r>
            <a:endParaRPr lang="en-US" sz="10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To give students an idea of the size of the market for computer hardware and devices, in 2020, firms worldwide will spend around</a:t>
            </a:r>
            <a:r>
              <a:rPr lang="en-US" altLang="en-US" baseline="0" dirty="0"/>
              <a:t> $900 billion </a:t>
            </a:r>
            <a:r>
              <a:rPr lang="en-US" altLang="en-US" dirty="0"/>
              <a:t>on computer hardware, from mainframes to tablets and smartphones.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Emphasize Microsoft</a:t>
            </a:r>
            <a:r>
              <a:rPr lang="en-US" altLang="ja-JP" dirty="0"/>
              <a:t>’s traditional dominance in PC operating systems (Windows) and productivity software (Office)</a:t>
            </a:r>
            <a:r>
              <a:rPr lang="en-US" altLang="ja-JP" baseline="0" dirty="0"/>
              <a:t> </a:t>
            </a:r>
            <a:r>
              <a:rPr lang="en-US" altLang="ja-JP" dirty="0"/>
              <a:t> and explain that it is the most important reason for their success to date. Currently, Microsoft’s revenues from</a:t>
            </a:r>
            <a:r>
              <a:rPr lang="en-US" altLang="ja-JP" baseline="0" dirty="0"/>
              <a:t> cloud services and corporate services are their fastest growing segments.  </a:t>
            </a:r>
            <a:r>
              <a:rPr lang="en-US" altLang="ja-JP" dirty="0"/>
              <a:t>Today, the proliferation of operating systems for smartphones and tablet computers (mostly </a:t>
            </a:r>
            <a:r>
              <a:rPr lang="en-US" altLang="ja-JP" dirty="0" err="1"/>
              <a:t>iOS</a:t>
            </a:r>
            <a:r>
              <a:rPr lang="en-US" altLang="ja-JP" dirty="0"/>
              <a:t> and Android) are mounting a challenge to Microsoft’s dominance which depends heavily on the continued existence of personal computers</a:t>
            </a:r>
            <a:r>
              <a:rPr lang="en-US" altLang="ja-JP" baseline="0" dirty="0"/>
              <a:t> on corporate local area networks.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ja-JP" dirty="0"/>
              <a:t>The market for enterprise software applications in 2020 is over $500 billion dollars. These applications are considered to be part of IT infrastructure. Traditionally, large firms were the most prominent users of enterprise software, but firms such as Microsoft have moved into the market of small- and medium-size businesses that can</a:t>
            </a:r>
            <a:r>
              <a:rPr lang="en-US" altLang="ja-JP" baseline="0" dirty="0"/>
              <a:t> benefit from enterprise </a:t>
            </a:r>
            <a:r>
              <a:rPr lang="en-US" altLang="ja-JP" dirty="0"/>
              <a:t>software.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Remind students that the amount of new information in the world is doubling every three years, driving the need for more efficient data management and storage.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Companies worldwide are expected to spend $1.5 trillion for telecommunications services in 2020.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trend since the late 1990s has been to reduce the number of servers by increasing their size and power. Dell, HP/Compaq, and IBM have been the beneficiaries of this trend. Multi-core processors, blade servers, and virtualization are ways in which server power can be radically increased without increasing the physical</a:t>
            </a:r>
            <a:r>
              <a:rPr lang="en-US" altLang="en-US" baseline="0" dirty="0"/>
              <a:t> </a:t>
            </a:r>
            <a:r>
              <a:rPr lang="en-US" altLang="en-US" dirty="0"/>
              <a:t>footprint of data centers although power requirements continue to grow. Web development tools/suites are yet another area where Microsoft is featured prominently. Students at this point should be able to appreciate the sheer size of the company.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Implementing new infrastructure requires significant changes in business processes and procedures, training and education, and software integration. This is a task that firms struggle to achieve on their own, which drives the need for these services. The MIS course provides students with an excellent background to be a business systems consultant. Most business consulting today involves developing business processes and supporting systems. You might visit a job/career site in class to review the kinds of jobs available to students with IS or MIS majors. In recent surveys MIS majors are among the highest paid college graduates, and after graduation they are</a:t>
            </a:r>
            <a:r>
              <a:rPr lang="en-US" altLang="en-US" baseline="0" dirty="0"/>
              <a:t> the</a:t>
            </a:r>
            <a:r>
              <a:rPr lang="en-US" altLang="en-US" dirty="0"/>
              <a:t> most satisfied group of college graduates because their education led directly to a job!</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Business computing is increasingly moving from PCs and desktops to mobile devices, and managers are increasingly using these to coordinate work and communicate with employees and customers.</a:t>
            </a:r>
            <a:r>
              <a:rPr lang="en-US" altLang="en-US" baseline="0" dirty="0"/>
              <a:t>  </a:t>
            </a:r>
            <a:r>
              <a:rPr lang="en-US" altLang="en-US" dirty="0"/>
              <a:t>Ask students for examples of how they are using smartphones in their business or work.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In the past, IT departments in large firms dictated to their employees what kinds of devices they could use, both on site and off site while traveling. Increasingly, employees are telling the IT department what tools they want to use and demanding that IT support these tools.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Quantum computing is in its infancy but has the potential to revolutionize computing speeds and power. Virtualization allows organizations to optimize their use of resources in new ways, and also to take advantage of spare computing power by allowing a single resource to act as multiple resources.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Explain that on-demand or utility computing describes a payment structure in which cost is dependent upon actual computing</a:t>
            </a:r>
            <a:r>
              <a:rPr lang="en-US" altLang="en-US" baseline="0" dirty="0"/>
              <a:t> </a:t>
            </a:r>
            <a:r>
              <a:rPr lang="en-US" altLang="en-US" dirty="0"/>
              <a:t>power used. Cloud computing refers to online</a:t>
            </a:r>
            <a:r>
              <a:rPr lang="en-US" altLang="en-US" baseline="0" dirty="0"/>
              <a:t> </a:t>
            </a:r>
            <a:r>
              <a:rPr lang="en-US" altLang="en-US" dirty="0"/>
              <a:t>access to hardware, software,</a:t>
            </a:r>
            <a:r>
              <a:rPr lang="en-US" altLang="en-US" baseline="0" dirty="0"/>
              <a:t> and related </a:t>
            </a:r>
            <a:r>
              <a:rPr lang="en-US" altLang="en-US" dirty="0"/>
              <a:t>services that are located and managed remotely. Cloud computing allows organizations to avoid the expenses of maintaining their own hardware and software, relying on the cloud instead. Ask students if they have used Google’s G Suite or other forms of cloud computing, such as </a:t>
            </a:r>
            <a:r>
              <a:rPr lang="en-US" altLang="en-US" baseline="0" dirty="0"/>
              <a:t>like storage services Dropbox, iCloud, Google Drive, or OneDrive.  </a:t>
            </a:r>
            <a:r>
              <a:rPr lang="en-US" altLang="en-US" dirty="0"/>
              <a:t> Are there any other concerns they might have over transferring computing resources to a shared </a:t>
            </a:r>
            <a:r>
              <a:rPr lang="ja-JP" altLang="en-US" dirty="0"/>
              <a:t>“</a:t>
            </a:r>
            <a:r>
              <a:rPr lang="en-US" altLang="ja-JP" dirty="0"/>
              <a:t>cloud</a:t>
            </a:r>
            <a:r>
              <a:rPr lang="ja-JP" altLang="en-US" dirty="0"/>
              <a:t>”</a:t>
            </a:r>
            <a:r>
              <a:rPr lang="en-US" altLang="ja-JP" dirty="0"/>
              <a:t>? Have they read about Amazon Web Services or other cloud services going down and offline for short periods of time?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5.9,</a:t>
            </a:r>
            <a:r>
              <a:rPr lang="en-US" altLang="en-US" baseline="0" dirty="0"/>
              <a:t> Page 184.</a:t>
            </a:r>
          </a:p>
          <a:p>
            <a:r>
              <a:rPr lang="en-US" sz="1200" b="0" i="1" u="none" strike="noStrike" kern="1200" cap="none" baseline="0" dirty="0">
                <a:solidFill>
                  <a:schemeClr val="tx1"/>
                </a:solidFill>
                <a:latin typeface="+mn-lt"/>
                <a:ea typeface="Arial"/>
                <a:cs typeface="Arial"/>
                <a:sym typeface="Arial"/>
              </a:rPr>
              <a:t>In cloud computing, hardware and software capabilities are a pool of virtualized resources provided over a network, often the Internet. Businesses and employees have access to applications and IT infrastructure anywhere, at any time, and on any device.</a:t>
            </a:r>
          </a:p>
          <a:p>
            <a:endParaRPr lang="en-US" altLang="en-US" sz="1200" b="0" i="0" u="none" strike="noStrike" kern="1200" cap="none" baseline="0" dirty="0">
              <a:solidFill>
                <a:schemeClr val="tx1"/>
              </a:solidFill>
              <a:latin typeface="+mn-lt"/>
              <a:ea typeface="Arial"/>
              <a:cs typeface="Arial"/>
              <a:sym typeface="Arial"/>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t>
            </a:r>
            <a:r>
              <a:rPr lang="en-US" sz="1200" dirty="0">
                <a:solidFill>
                  <a:srgbClr val="000000"/>
                </a:solidFill>
                <a:effectLst/>
                <a:latin typeface="+mn-lt"/>
                <a:ea typeface="Times New Roman" panose="02020603050405020304" pitchFamily="18" charset="0"/>
              </a:rPr>
              <a:t>An illustration explains the concept of cloud computing. </a:t>
            </a:r>
            <a:r>
              <a:rPr lang="en-US" sz="1200" dirty="0">
                <a:solidFill>
                  <a:srgbClr val="000000"/>
                </a:solidFill>
                <a:effectLst/>
                <a:latin typeface="+mn-lt"/>
                <a:ea typeface="Times New Roman" panose="02020603050405020304" pitchFamily="18" charset="0"/>
                <a:cs typeface="Calibri" panose="020F0502020204030204" pitchFamily="34" charset="0"/>
              </a:rPr>
              <a:t>The illustration shows a cloud virtually connected to multiple devices such as: Servers, desktops, tablet computers, smart phones, and laptops via various services.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details of the services are as below: </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Platform services: Block storage, communication networks, identity management, and content services.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Application services: Content management, enterprise software, collaboration environments, and process management. </a:t>
            </a: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mn-lt"/>
                <a:ea typeface="Times New Roman" panose="02020603050405020304" pitchFamily="18" charset="0"/>
              </a:rPr>
              <a:t>Infrastructure services: Computing resource management, network management, and storage management.</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5.10,</a:t>
            </a:r>
            <a:r>
              <a:rPr lang="en-US" altLang="en-US" baseline="0" dirty="0"/>
              <a:t> Page 185.</a:t>
            </a:r>
          </a:p>
          <a:p>
            <a:r>
              <a:rPr lang="en-US" sz="1200" b="0" i="1" u="none" strike="noStrike" kern="1200" cap="none" baseline="0" dirty="0">
                <a:solidFill>
                  <a:schemeClr val="tx1"/>
                </a:solidFill>
                <a:latin typeface="+mn-lt"/>
                <a:ea typeface="Arial"/>
                <a:cs typeface="Arial"/>
                <a:sym typeface="Arial"/>
              </a:rPr>
              <a:t>Amazon Web Services (AWS) is a collection of web services that Amazon provides to users of its cloud platform. AWS is the largest provider of cloud computing services In the United States.  </a:t>
            </a:r>
          </a:p>
          <a:p>
            <a:endParaRPr lang="en-US" sz="1200" b="0" i="1" u="none" strike="noStrike" kern="1200" cap="none" baseline="0" dirty="0">
              <a:solidFill>
                <a:schemeClr val="tx1"/>
              </a:solidFill>
              <a:latin typeface="+mn-lt"/>
              <a:cs typeface="Arial"/>
              <a:sym typeface="Arial"/>
            </a:endParaRPr>
          </a:p>
          <a:p>
            <a:pPr marL="0" marR="0">
              <a:lnSpc>
                <a:spcPct val="115000"/>
              </a:lnSpc>
              <a:spcBef>
                <a:spcPts val="0"/>
              </a:spcBef>
              <a:spcAft>
                <a:spcPts val="0"/>
              </a:spcAft>
            </a:pPr>
            <a:r>
              <a:rPr lang="en-US" b="0" i="0" u="sng" strike="noStrike" kern="1200" cap="none" baseline="0" dirty="0">
                <a:solidFill>
                  <a:schemeClr val="tx1"/>
                </a:solidFill>
                <a:cs typeface="Arial"/>
                <a:sym typeface="Arial"/>
              </a:rPr>
              <a:t>Alt Text</a:t>
            </a:r>
          </a:p>
          <a:p>
            <a:pPr marL="0" marR="0">
              <a:lnSpc>
                <a:spcPct val="115000"/>
              </a:lnSpc>
              <a:spcBef>
                <a:spcPts val="0"/>
              </a:spcBef>
              <a:spcAft>
                <a:spcPts val="0"/>
              </a:spcAft>
            </a:pPr>
            <a:r>
              <a:rPr lang="en-US" b="0" i="0" u="none" strike="noStrike" kern="1200" cap="none" baseline="0" dirty="0">
                <a:solidFill>
                  <a:schemeClr val="tx1"/>
                </a:solidFill>
                <a:cs typeface="Arial"/>
                <a:sym typeface="Arial"/>
              </a:rPr>
              <a:t>Long description: </a:t>
            </a:r>
            <a:r>
              <a:rPr lang="en-US" dirty="0">
                <a:solidFill>
                  <a:srgbClr val="000000"/>
                </a:solidFill>
                <a:effectLst/>
                <a:ea typeface="Times New Roman" panose="02020603050405020304" pitchFamily="18" charset="0"/>
              </a:rPr>
              <a:t>A circular diagram lists the various web services that Amazon provides to the users of its cloud platform. </a:t>
            </a:r>
            <a:r>
              <a:rPr lang="en-US" dirty="0">
                <a:solidFill>
                  <a:srgbClr val="000000"/>
                </a:solidFill>
                <a:effectLst/>
                <a:ea typeface="Times New Roman" panose="02020603050405020304" pitchFamily="18" charset="0"/>
                <a:cs typeface="Calibri" panose="020F0502020204030204" pitchFamily="34" charset="0"/>
              </a:rPr>
              <a:t>Details of the services are as follows: </a:t>
            </a:r>
            <a:endParaRPr lang="en-US" dirty="0">
              <a:solidFill>
                <a:srgbClr val="000000"/>
              </a:solidFill>
              <a:effectLs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Computing</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Networking</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Content delivery</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Data storage</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Database</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Deployment</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Management</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Application services</a:t>
            </a:r>
          </a:p>
          <a:p>
            <a:pPr marL="171450" marR="0" lvl="0" indent="-171450">
              <a:lnSpc>
                <a:spcPct val="115000"/>
              </a:lnSpc>
              <a:spcBef>
                <a:spcPts val="0"/>
              </a:spcBef>
              <a:spcAft>
                <a:spcPts val="0"/>
              </a:spcAft>
              <a:buFont typeface="Arial" panose="020B0604020202020204" pitchFamily="34" charset="0"/>
              <a:buChar char="•"/>
            </a:pPr>
            <a:r>
              <a:rPr lang="en-US" dirty="0">
                <a:solidFill>
                  <a:srgbClr val="000000"/>
                </a:solidFill>
                <a:effectLst/>
                <a:ea typeface="Times New Roman" panose="02020603050405020304" pitchFamily="18" charset="0"/>
              </a:rPr>
              <a:t>Analytics. </a:t>
            </a:r>
            <a:endParaRPr lang="en-US" i="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Edge</a:t>
            </a:r>
            <a:r>
              <a:rPr lang="en-US" altLang="en-US" baseline="0" dirty="0"/>
              <a:t> computing is needed to provide efficient service to consumers located across the country.  It works by reducing the distance between local computers and web resources and sharing the total load across many regional computing facilities.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Data centers consume approximately 1.5% of all energy use in the world. Cutting power consumption in data centers has become both a serious business and environmental challenge. Ask students what forms of green computing they have noticed. Answers may range from more publicized local management of electronic equipment disposal and recycling to the use of solar chargers, and so on. Another driver in minimizing the power consumption of computer processors is the proliferation of handheld devices; to reduce heat in the devices as well as lengthen time between battery charges.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Linux plays a major role in the administration of local area networks. Ask students to give reasons why an open-source operating system might be a better choice for network administrators than alternatives that are not open-source (such as Microsoft</a:t>
            </a:r>
            <a:r>
              <a:rPr lang="en-US" altLang="ja-JP" dirty="0"/>
              <a:t>’s Windows server).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Java is designed to run on any computing device by use of the Java Virtual Machine. This includes mobile devices such as smartphones. HTML is a markup/formatting tool that creates web pages that all browsers can interpret and display regardless of the type or manufacture of the computer being used. HTML5 is the latest evolution of HTML. Ruby and Python are popular programming tools for web applications.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Firms are collections of thousands of computer programs and systems built over many years. In general, these systems cannot </a:t>
            </a:r>
            <a:r>
              <a:rPr lang="ja-JP" altLang="en-US" dirty="0"/>
              <a:t>“</a:t>
            </a:r>
            <a:r>
              <a:rPr lang="en-US" altLang="ja-JP" dirty="0"/>
              <a:t>talk</a:t>
            </a:r>
            <a:r>
              <a:rPr lang="ja-JP" altLang="en-US" dirty="0"/>
              <a:t>”</a:t>
            </a:r>
            <a:r>
              <a:rPr lang="en-US" altLang="ja-JP" dirty="0"/>
              <a:t> with one another, and sharing information among them is very expensive. One way to get to work together is to build software links among them. This is the web services approach. You can compare it to the web: any computer with a browser can access billions of web pages and draw down the information or download PDF files that work on all computers that have a version of Adobe Acrobat installed. In a business firm, you want a similar environment: any computer program can get data from any other computer program. Web services makes this possible. </a:t>
            </a:r>
          </a:p>
          <a:p>
            <a:endParaRPr lang="en-US" altLang="ja-JP" dirty="0"/>
          </a:p>
          <a:p>
            <a:r>
              <a:rPr lang="en-US" altLang="en-US" dirty="0"/>
              <a:t>Ensure that students are able to explain the difference between XML and HTML (in other words, the additional features XML has compared to HTML). These include classifying, presenting, communicating, and storing data, as opposed to HTML being able to merely present data. These features also allow computers to manipulate documents written in XML automatically. </a:t>
            </a:r>
          </a:p>
          <a:p>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Emphasize that SOA is a method of developing infrastructure using web services with an eye toward creating applications that draw data from several underlying (usually older </a:t>
            </a:r>
            <a:r>
              <a:rPr lang="ja-JP" altLang="en-US" dirty="0"/>
              <a:t>“</a:t>
            </a:r>
            <a:r>
              <a:rPr lang="en-US" altLang="ja-JP" dirty="0"/>
              <a:t>legacy</a:t>
            </a:r>
            <a:r>
              <a:rPr lang="ja-JP" altLang="en-US" dirty="0"/>
              <a:t>”</a:t>
            </a:r>
            <a:r>
              <a:rPr lang="en-US" altLang="ja-JP" dirty="0"/>
              <a:t> programs). All programs are built or redesigned to provide certain information (services) to all other programs. With SOA, developers incorporate each individual service into an application that successfully meets the needs of the organization.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Figure 5.11,</a:t>
            </a:r>
            <a:r>
              <a:rPr lang="en-US" altLang="en-US" sz="1100" baseline="0" dirty="0"/>
              <a:t> Page 193.</a:t>
            </a:r>
          </a:p>
          <a:p>
            <a:r>
              <a:rPr lang="en-US" sz="1100" b="0" i="1" u="none" strike="noStrike" kern="1200" cap="none" baseline="0" dirty="0">
                <a:solidFill>
                  <a:schemeClr val="tx1"/>
                </a:solidFill>
                <a:latin typeface="+mn-lt"/>
                <a:ea typeface="Arial"/>
                <a:cs typeface="Arial"/>
                <a:sym typeface="Arial"/>
              </a:rPr>
              <a:t>Dollar Rent A Car uses web services to provide a standard intermediate layer of software to “talk” to other companies’ information systems. Dollar Rent A Car can use this set of web services to link to other companies’ information systems without having to build a separate link to each firm’s systems.</a:t>
            </a:r>
          </a:p>
          <a:p>
            <a:endParaRPr lang="en-US" sz="11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Emphasize that the task Dollar wants to complete (interacting with other companies</a:t>
            </a:r>
            <a:r>
              <a:rPr lang="en-US" altLang="ja-JP" sz="1100" dirty="0"/>
              <a:t>’ information systems) is represented here as a collection of individual services, in keeping with the SOA model. Dollar wants to be able to quickly and easily share data with other companies—the series of services provided above are combined to accomplish that task.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100" dirty="0"/>
          </a:p>
          <a:p>
            <a:pPr marL="0" marR="0">
              <a:lnSpc>
                <a:spcPct val="115000"/>
              </a:lnSpc>
              <a:spcBef>
                <a:spcPts val="0"/>
              </a:spcBef>
              <a:spcAft>
                <a:spcPts val="0"/>
              </a:spcAft>
            </a:pPr>
            <a:r>
              <a:rPr lang="en-US" altLang="en-US" sz="1100" u="sng" dirty="0"/>
              <a:t>Alt Text</a:t>
            </a:r>
          </a:p>
          <a:p>
            <a:pPr marL="0" marR="0">
              <a:lnSpc>
                <a:spcPct val="115000"/>
              </a:lnSpc>
              <a:spcBef>
                <a:spcPts val="0"/>
              </a:spcBef>
              <a:spcAft>
                <a:spcPts val="0"/>
              </a:spcAft>
            </a:pPr>
            <a:r>
              <a:rPr lang="en-US" altLang="en-US" sz="1100" dirty="0"/>
              <a:t>Long description:</a:t>
            </a:r>
            <a:r>
              <a:rPr lang="en-US" altLang="en-US" sz="1100" baseline="0" dirty="0"/>
              <a:t> </a:t>
            </a:r>
            <a:r>
              <a:rPr lang="en-US" sz="1100" dirty="0">
                <a:solidFill>
                  <a:srgbClr val="000000"/>
                </a:solidFill>
                <a:effectLst/>
                <a:ea typeface="Times New Roman" panose="02020603050405020304" pitchFamily="18" charset="0"/>
              </a:rPr>
              <a:t>A sequential flow diagram explains how “Dollar Rent A Car” uses a set of web services to link to other companies’ information systems without creating separate links. </a:t>
            </a:r>
            <a:r>
              <a:rPr lang="en-US" sz="1100" dirty="0">
                <a:solidFill>
                  <a:srgbClr val="000000"/>
                </a:solidFill>
                <a:effectLst/>
                <a:ea typeface="Times New Roman" panose="02020603050405020304" pitchFamily="18" charset="0"/>
                <a:cs typeface="Calibri" panose="020F0502020204030204" pitchFamily="34" charset="0"/>
              </a:rPr>
              <a:t>The details of the diagram are as follows: </a:t>
            </a:r>
            <a:endParaRPr lang="en-US" sz="1100" dirty="0">
              <a:solidFill>
                <a:srgbClr val="000000"/>
              </a:solidFill>
              <a:effectLst/>
              <a:ea typeface="Times New Roman" panose="02020603050405020304" pitchFamily="18" charset="0"/>
            </a:endParaRPr>
          </a:p>
          <a:p>
            <a:pPr marL="285750" marR="0" lvl="0" indent="-2857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cs typeface="Calibri" panose="020F0502020204030204" pitchFamily="34" charset="0"/>
              </a:rPr>
              <a:t>An interconnection between the web services, servers, and legacy reservation systems is shown to explain the systems of </a:t>
            </a:r>
            <a:r>
              <a:rPr lang="en-US" sz="1100" dirty="0">
                <a:effectLst/>
                <a:ea typeface="Calibri" panose="020F0502020204030204" pitchFamily="34" charset="0"/>
              </a:rPr>
              <a:t>“Dollar Rent A Car”. </a:t>
            </a:r>
          </a:p>
          <a:p>
            <a:pPr marL="285750" marR="0" lvl="0" indent="-2857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The web services are separately interconnected to the systems of: Southwest airlines, tour operator, travel reservation system, wireless website and future business partners. </a:t>
            </a:r>
          </a:p>
          <a:p>
            <a:endParaRPr lang="en-US" sz="1100" dirty="0">
              <a:solidFill>
                <a:srgbClr val="000000"/>
              </a:solidFill>
              <a:effectLst/>
              <a:ea typeface="Times New Roman" panose="02020603050405020304" pitchFamily="18" charset="0"/>
            </a:endParaRPr>
          </a:p>
          <a:p>
            <a:r>
              <a:rPr lang="en-US" sz="1100" dirty="0">
                <a:solidFill>
                  <a:srgbClr val="000000"/>
                </a:solidFill>
                <a:effectLst/>
                <a:ea typeface="Times New Roman" panose="02020603050405020304" pitchFamily="18" charset="0"/>
              </a:rPr>
              <a:t>All the interconnections are indicated by two opposite up and down solid arrows except the connection between the web services and future business partners’ systems. The same is indicated by two opposite up and down dashed arrows. </a:t>
            </a:r>
            <a:endParaRPr lang="en-US" sz="11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discusses the trends in software outsourcing and in cloud software services. Remind students that internal sources for software refers to developing software fully in house. Most companies today purchase or lease software or outsource development. Why do students think that software outsourcing is growing quickly in popularity? How about offshore outsourcing (mostly to India and other English-speaking, developing countries)? Ask students what types of software they have used online. Note that service level agreements are formal contracts between customers and their service providers that define the specific responsibilities of the service provider and the service expected by the customer. These are important to establish communication between the two firms and to manage the project efficiently.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In addition to the large enterprise software packages and services, some business tasks can be enabled through smaller programs or components that are combined to create a new function. The open-source movement, and the universal standards of Internet technologies, have created an environment in which software components can be created, used, and shared easily. Ask students which </a:t>
            </a:r>
            <a:r>
              <a:rPr lang="en-US" altLang="en-US" dirty="0" err="1"/>
              <a:t>mashups</a:t>
            </a:r>
            <a:r>
              <a:rPr lang="en-US" altLang="en-US" dirty="0"/>
              <a:t> and apps they have used. Have any students created any </a:t>
            </a:r>
            <a:r>
              <a:rPr lang="en-US" altLang="en-US" dirty="0" err="1"/>
              <a:t>mashups</a:t>
            </a:r>
            <a:r>
              <a:rPr lang="en-US" altLang="en-US" dirty="0"/>
              <a:t> or apps?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648201"/>
          </a:xfrm>
        </p:spPr>
        <p:txBody>
          <a:bodyP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Figure 5.12,</a:t>
            </a:r>
            <a:r>
              <a:rPr lang="en-US" altLang="en-US" sz="1800" baseline="0" dirty="0"/>
              <a:t> Page 194</a:t>
            </a:r>
          </a:p>
          <a:p>
            <a:r>
              <a:rPr lang="en-US" sz="1800" i="1" dirty="0">
                <a:solidFill>
                  <a:srgbClr val="000000"/>
                </a:solidFill>
                <a:latin typeface="+mn-lt"/>
              </a:rPr>
              <a:t>Spending for software that originated outside the firm, provided by a variety of vendors, has been growing steadily.</a:t>
            </a:r>
          </a:p>
          <a:p>
            <a:endParaRPr lang="en-US" sz="1800" b="0" i="0" u="none" strike="noStrike" kern="1200" cap="none" baseline="0" dirty="0">
              <a:solidFill>
                <a:schemeClr val="tx1"/>
              </a:solidFill>
              <a:latin typeface="+mn-lt"/>
              <a:ea typeface="Arial"/>
              <a:cs typeface="Arial"/>
              <a:sym typeface="Arial"/>
            </a:endParaRPr>
          </a:p>
          <a:p>
            <a:r>
              <a:rPr lang="en-US" altLang="en-US" sz="1800" dirty="0"/>
              <a:t>Note the recent jump in SaaS spending within the last several years. What are the positives and negatives of acquiring software through the </a:t>
            </a:r>
            <a:r>
              <a:rPr lang="en-US" altLang="en-US" sz="1800" dirty="0" err="1"/>
              <a:t>SaaS</a:t>
            </a:r>
            <a:r>
              <a:rPr lang="en-US" altLang="en-US" sz="1800" dirty="0"/>
              <a:t> model? Positives: allows companies to focus on business issues rather than technology; for many companies, </a:t>
            </a:r>
            <a:r>
              <a:rPr lang="en-US" altLang="en-US" sz="1800" dirty="0" err="1"/>
              <a:t>SaaS</a:t>
            </a:r>
            <a:r>
              <a:rPr lang="en-US" altLang="en-US" sz="1800" dirty="0"/>
              <a:t> could cut costs. Negatives: </a:t>
            </a:r>
            <a:r>
              <a:rPr lang="en-US" altLang="en-US" sz="1800" dirty="0" err="1"/>
              <a:t>SaaS</a:t>
            </a:r>
            <a:r>
              <a:rPr lang="en-US" altLang="en-US" sz="1800" dirty="0"/>
              <a:t> increases the firm</a:t>
            </a:r>
            <a:r>
              <a:rPr lang="en-US" altLang="ja-JP" sz="1800" dirty="0"/>
              <a:t>’s dependency on external suppliers. What happens if your supplier of </a:t>
            </a:r>
            <a:r>
              <a:rPr lang="en-US" altLang="ja-JP" sz="1800" dirty="0" err="1"/>
              <a:t>SaaS</a:t>
            </a:r>
            <a:r>
              <a:rPr lang="en-US" altLang="ja-JP" sz="1800" dirty="0"/>
              <a:t> services goes into bankruptcy? What is your backup plan?</a:t>
            </a:r>
          </a:p>
          <a:p>
            <a:endParaRPr lang="en-US" altLang="en-US" sz="1800" dirty="0"/>
          </a:p>
          <a:p>
            <a:pPr marL="0" marR="0">
              <a:lnSpc>
                <a:spcPct val="115000"/>
              </a:lnSpc>
              <a:spcBef>
                <a:spcPts val="0"/>
              </a:spcBef>
              <a:spcAft>
                <a:spcPts val="0"/>
              </a:spcAft>
            </a:pPr>
            <a:r>
              <a:rPr lang="en-US" altLang="en-US" sz="1800" u="sng" dirty="0">
                <a:latin typeface="+mn-lt"/>
              </a:rPr>
              <a:t>Alt Text</a:t>
            </a:r>
          </a:p>
          <a:p>
            <a:pPr marL="0" marR="0">
              <a:lnSpc>
                <a:spcPct val="115000"/>
              </a:lnSpc>
              <a:spcBef>
                <a:spcPts val="0"/>
              </a:spcBef>
              <a:spcAft>
                <a:spcPts val="0"/>
              </a:spcAft>
            </a:pPr>
            <a:r>
              <a:rPr lang="en-US" altLang="en-US" sz="1800" dirty="0">
                <a:latin typeface="+mn-lt"/>
              </a:rPr>
              <a:t>Long description: </a:t>
            </a:r>
            <a:r>
              <a:rPr lang="en-US" sz="1800" dirty="0">
                <a:solidFill>
                  <a:srgbClr val="000000"/>
                </a:solidFill>
                <a:effectLst/>
                <a:latin typeface="+mn-lt"/>
                <a:ea typeface="Times New Roman" panose="02020603050405020304" pitchFamily="18" charset="0"/>
              </a:rPr>
              <a:t>A line graph explains how the spending on software has increased over the years. </a:t>
            </a:r>
            <a:r>
              <a:rPr lang="en-US" sz="1800" dirty="0">
                <a:solidFill>
                  <a:srgbClr val="000000"/>
                </a:solidFill>
                <a:effectLst/>
                <a:latin typeface="+mn-lt"/>
                <a:ea typeface="Times New Roman" panose="02020603050405020304" pitchFamily="18" charset="0"/>
                <a:cs typeface="Calibri" panose="020F0502020204030204" pitchFamily="34" charset="0"/>
              </a:rPr>
              <a:t>The horizontal axis represents years and ranges from 2007 to 2017, in increments of 1. The vertical axis represents the expenditure in billion dollars and ranges from 0 to 400, in increments of 50. </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There are three curves in the graph belonging to: Software as a service (SaaS); Outsourced software; Total software spending. </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Approximate data corresponding to the year and Software as a service curve are summarized below: </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2007: 4.7; 2008: 6.0; 2009: 7.4; 2010: 12.2; 2011: 10.1; 2012: 19.4; 2013: 20.8; 2014: 27.8; 2015: 33.8; 2016: 39.7; 2017: 53.6.</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Approximate data corresponding to the year and outsourced software curve are summarized below: </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2007: 66.4; 2008: 74.6; 2009: 82.8; 2010: 92.2; 2011: 98.1; 2012: 109.7; 2013: 123.6; 2014: 135.3; 2015: 151.5; 2016: 162.0; 2017: 182.8. </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Approximate data corresponding to the year and total software spending curve are summarized below: </a:t>
            </a:r>
            <a:endParaRPr lang="en-US" sz="18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800" dirty="0">
                <a:solidFill>
                  <a:srgbClr val="000000"/>
                </a:solidFill>
                <a:effectLst/>
                <a:latin typeface="+mn-lt"/>
                <a:ea typeface="Times New Roman" panose="02020603050405020304" pitchFamily="18" charset="0"/>
                <a:cs typeface="Calibri" panose="020F0502020204030204" pitchFamily="34" charset="0"/>
              </a:rPr>
              <a:t>2007: 243.5; 2008: 256.3; 2009: 257.7; 2010: 252.2; 2011: 268.4; 2012: 286.9; 2013: 297.4; 2014: 321.6; 2015: 329.8; 2016: 356.3; 2017: 382.8.</a:t>
            </a:r>
            <a:endParaRPr lang="en-US" sz="1800" dirty="0">
              <a:solidFill>
                <a:srgbClr val="000000"/>
              </a:solidFill>
              <a:effectLst/>
              <a:latin typeface="+mn-lt"/>
              <a:ea typeface="Times New Roman" panose="02020603050405020304" pitchFamily="18" charset="0"/>
            </a:endParaRPr>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How can IT be flexible and still make long-term investments in hardware and software? </a:t>
            </a:r>
            <a:r>
              <a:rPr lang="en-US" altLang="en-US" dirty="0" err="1"/>
              <a:t>SaaS</a:t>
            </a:r>
            <a:r>
              <a:rPr lang="en-US" altLang="en-US" dirty="0"/>
              <a:t> may solve some problems, but ask students to envision some of the pitfalls of working with an external hardware or software vendor such as Google or Salesforce.com. What are some nightmare scenarios that companies must guard against? For instance, the vendor fails to make critical applications available when needed, poor customer service, and so on, or the vendor fails to upgrade equipment in order to save investment monies.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What are the ramifications of poor IT governance at a firm? For example, if a company does not clearly define what departments have the responsibility to make their own IT decisions, what could be the consequences? Some potential consequences are data mismanagement, poor communication, and slower response times to crises.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What types of companies should opt to rent as opposed to buy software? Possibly, companies with seasonal employees or semi-annual workloads. What differences between the two can students point to?</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TCO is a way of quantifying some of the hidden costs of hardware and software. Ask students to make the connection between the TCO of handling software and hardware infrastructure internally as opposed to acquiring it from an outside vendor. Is this an additional incentive to outsource?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How great of an impact do competitors</a:t>
            </a:r>
            <a:r>
              <a:rPr lang="ja-JP" altLang="en-US" dirty="0"/>
              <a:t>’</a:t>
            </a:r>
            <a:r>
              <a:rPr lang="en-US" altLang="ja-JP" dirty="0"/>
              <a:t> services and investments have on a firm’s IT services and infrastructure? Is it wise to rely on those factors alone to determine what kind of services your firm provides? For instance, your competitors may not be the industry’s best example of how to develop IT services. In fact, your entire industry might be technological laggards. In this case, it might be better to look at best practices in other industries which have a reputation for superior IT services and capabilities.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5.13,</a:t>
            </a:r>
            <a:r>
              <a:rPr lang="en-US" altLang="en-US" baseline="0" dirty="0"/>
              <a:t> Page 199.</a:t>
            </a:r>
          </a:p>
          <a:p>
            <a:r>
              <a:rPr lang="en-US" sz="1200" b="0" i="1" u="none" strike="noStrike" kern="1200" cap="none" baseline="0" dirty="0">
                <a:solidFill>
                  <a:schemeClr val="tx1"/>
                </a:solidFill>
                <a:latin typeface="+mn-lt"/>
                <a:ea typeface="Arial"/>
                <a:cs typeface="Arial"/>
                <a:sym typeface="Arial"/>
              </a:rPr>
              <a:t>There are six factors you can use to answer the question “How much should our firm spend on IT infrastructure?”</a:t>
            </a:r>
          </a:p>
          <a:p>
            <a:endParaRPr lang="en-US" sz="1200" b="0" i="0" u="none" strike="noStrike" kern="1200" cap="none" baseline="0" dirty="0">
              <a:solidFill>
                <a:schemeClr val="tx1"/>
              </a:solidFill>
              <a:latin typeface="+mn-lt"/>
              <a:ea typeface="Arial"/>
              <a:cs typeface="Arial"/>
              <a:sym typeface="Arial"/>
            </a:endParaRPr>
          </a:p>
          <a:p>
            <a:r>
              <a:rPr lang="en-US" altLang="en-US" dirty="0"/>
              <a:t>Ask students to explain how each item affects a firm</a:t>
            </a:r>
            <a:r>
              <a:rPr lang="en-US" altLang="ja-JP" dirty="0"/>
              <a:t>’s IT services and infrastructure. Do they feel that any one of the six is especially important (or unimportant)? You can also use this diagram as a framework for understanding why some firms fail to develop a workable, powerful IT infrastructure. </a:t>
            </a:r>
          </a:p>
          <a:p>
            <a:endParaRPr lang="en-US" altLang="en-US" sz="1200" dirty="0">
              <a:latin typeface="+mn-lt"/>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t>
            </a:r>
            <a:r>
              <a:rPr lang="en-US" sz="1200" dirty="0">
                <a:solidFill>
                  <a:srgbClr val="000000"/>
                </a:solidFill>
                <a:effectLst/>
                <a:latin typeface="+mn-lt"/>
                <a:ea typeface="Times New Roman" panose="02020603050405020304" pitchFamily="18" charset="0"/>
              </a:rPr>
              <a:t>A converging radial diagram illustrates the forces acting upon a firm’s IT services and infrastructure. </a:t>
            </a:r>
            <a:r>
              <a:rPr lang="en-US" sz="1200" dirty="0">
                <a:solidFill>
                  <a:srgbClr val="000000"/>
                </a:solidFill>
                <a:effectLst/>
                <a:latin typeface="+mn-lt"/>
                <a:ea typeface="Times New Roman" panose="02020603050405020304" pitchFamily="18" charset="0"/>
                <a:cs typeface="Calibri" panose="020F0502020204030204" pitchFamily="34" charset="0"/>
              </a:rPr>
              <a:t>To the left of the radial diagram are the internal forces such as: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Your firm’s business strategy</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Your firm’s IT strategy, infrastructure, and cost</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Information technology. </a:t>
            </a:r>
            <a:endParaRPr lang="en-US" sz="1200" dirty="0">
              <a:effectLst/>
              <a:latin typeface="+mn-lt"/>
              <a:ea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These forces are numbered: 2, 3, and 4 respectively.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To the right of the radial diagram are the external market forces such as: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Market demand for your firm’s customer services, supplier services, and enterprise services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Competitor firms’ IT infrastructure investments</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Competitor firms’ IT services.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on how MIS will help students with their current or future careers. Would any in the class be interested in a job like this? What do they think are the most important skills the employer is looking for? How would they answer the interviewer questions?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E0F5468A-C0DA-4E23-8F17-36791C011A3D}"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CD18E3A8-5B8C-4745-8D5C-8CE4A4A7268D}"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421CB06F-0942-4E7D-9239-7833598E8D2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F4F265E2-EEAE-49B4-AA80-E6980999F4A9}" type="datetime1">
              <a:rPr lang="en-US" smtClean="0"/>
              <a:t>5/28/2021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F45ED34E-9636-45F8-8578-23A4C94FAB39}"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CE39E108-1F39-4C57-B10E-73E1D601C4C7}"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058CF06B-211A-4AE1-BF1E-CC2BAB4718D7}"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430491"/>
            <a:ext cx="8229600" cy="553998"/>
          </a:xfrm>
        </p:spPr>
        <p:txBody>
          <a:bodyPr>
            <a:spAutoFit/>
          </a:bodyPr>
          <a:lstStyle/>
          <a:p>
            <a:r>
              <a:rPr lang="en-US" dirty="0"/>
              <a:t>Click to edit Master title style</a:t>
            </a:r>
          </a:p>
        </p:txBody>
      </p:sp>
      <p:sp>
        <p:nvSpPr>
          <p:cNvPr id="3" name="Content Placeholder 2"/>
          <p:cNvSpPr>
            <a:spLocks noGrp="1"/>
          </p:cNvSpPr>
          <p:nvPr>
            <p:ph idx="1"/>
          </p:nvPr>
        </p:nvSpPr>
        <p:spPr>
          <a:xfrm>
            <a:off x="457200" y="1200151"/>
            <a:ext cx="8229600" cy="857249"/>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43151"/>
            <a:ext cx="8229600" cy="800100"/>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7B88D1E4-E1C2-44AB-829D-B7861B8810AE}"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9" name="Content Placeholder 2"/>
          <p:cNvSpPr>
            <a:spLocks noGrp="1"/>
          </p:cNvSpPr>
          <p:nvPr>
            <p:ph idx="14"/>
          </p:nvPr>
        </p:nvSpPr>
        <p:spPr>
          <a:xfrm>
            <a:off x="457200" y="3257550"/>
            <a:ext cx="8229600" cy="800100"/>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5"/>
          </p:nvPr>
        </p:nvSpPr>
        <p:spPr>
          <a:xfrm>
            <a:off x="457200" y="4171950"/>
            <a:ext cx="8229600" cy="34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13850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54762389-AB86-4F99-8CAC-50CF247D50A0}"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9F7EED5B-F83F-4125-B183-1A2CC8BA26FE}"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54E1DAA7-82B7-4AEA-A9F5-4B3F3BE234D7}"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7E0EA24C-86E6-4193-BC4D-C1996FC815B7}"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B99C0A30-B9E8-4CFB-94B3-555ED458B884}"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629150"/>
            <a:ext cx="8595359" cy="176597"/>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8DB40FDB-0065-469B-BCE7-4AA3FA8D0D03}" type="datetime1">
              <a:rPr lang="en-US" smtClean="0"/>
              <a:t>5/28/2021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60E4C7A7-F20D-4AD7-BCD0-18351E926C55}" type="datetime1">
              <a:rPr lang="en-US" smtClean="0"/>
              <a:t>5/28/2021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5" r:id="rId9"/>
    <p:sldLayoutId id="2147483662" r:id="rId10"/>
    <p:sldLayoutId id="2147483651" r:id="rId11"/>
    <p:sldLayoutId id="2147483654" r:id="rId12"/>
    <p:sldLayoutId id="2147483655" r:id="rId13"/>
    <p:sldLayoutId id="2147483663" r:id="rId14"/>
    <p:sldLayoutId id="2147483664" r:id="rId15"/>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739"/>
            <a:ext cx="8229600" cy="1097026"/>
          </a:xfrm>
        </p:spPr>
        <p:txBody>
          <a:bodyPr wrap="square" anchor="b">
            <a:spAutoFit/>
          </a:bodyPr>
          <a:lstStyle/>
          <a:p>
            <a:r>
              <a:rPr lang="en-IN" dirty="0"/>
              <a:t>Management Information Systems: Managing the Digital Firm</a:t>
            </a:r>
            <a:endParaRPr lang="en-IN" sz="3600" dirty="0">
              <a:latin typeface="+mj-lt"/>
            </a:endParaRPr>
          </a:p>
        </p:txBody>
      </p:sp>
      <p:sp>
        <p:nvSpPr>
          <p:cNvPr id="3" name="Text Placeholder 2"/>
          <p:cNvSpPr>
            <a:spLocks noGrp="1"/>
          </p:cNvSpPr>
          <p:nvPr>
            <p:ph type="body" sz="quarter" idx="13"/>
          </p:nvPr>
        </p:nvSpPr>
        <p:spPr>
          <a:xfrm>
            <a:off x="457200" y="1243473"/>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71248"/>
            <a:ext cx="4117765" cy="492443"/>
          </a:xfrm>
        </p:spPr>
        <p:txBody>
          <a:bodyPr wrap="square">
            <a:spAutoFit/>
          </a:bodyPr>
          <a:lstStyle/>
          <a:p>
            <a:r>
              <a:rPr lang="en-IN" sz="3200" dirty="0"/>
              <a:t>Chapter 5</a:t>
            </a:r>
          </a:p>
        </p:txBody>
      </p:sp>
      <p:sp>
        <p:nvSpPr>
          <p:cNvPr id="5" name="Text Placeholder 4"/>
          <p:cNvSpPr>
            <a:spLocks noGrp="1"/>
          </p:cNvSpPr>
          <p:nvPr>
            <p:ph type="body" sz="quarter" idx="15"/>
          </p:nvPr>
        </p:nvSpPr>
        <p:spPr>
          <a:xfrm>
            <a:off x="4569035" y="2571750"/>
            <a:ext cx="4117765" cy="615553"/>
          </a:xfrm>
        </p:spPr>
        <p:txBody>
          <a:bodyPr wrap="square">
            <a:spAutoFit/>
          </a:bodyPr>
          <a:lstStyle/>
          <a:p>
            <a:r>
              <a:rPr lang="en-IN" altLang="en-US" sz="2000" spc="-300" dirty="0"/>
              <a:t>I </a:t>
            </a:r>
            <a:r>
              <a:rPr lang="en-IN" altLang="en-US" sz="2000" dirty="0"/>
              <a:t>T Infrastructure and Emerging Technologies</a:t>
            </a:r>
          </a:p>
        </p:txBody>
      </p:sp>
      <p:sp>
        <p:nvSpPr>
          <p:cNvPr id="11" name="Text Placeholder 3"/>
          <p:cNvSpPr>
            <a:spLocks noGrp="1"/>
          </p:cNvSpPr>
          <p:nvPr>
            <p:ph type="body" sz="quarter" idx="14"/>
          </p:nvPr>
        </p:nvSpPr>
        <p:spPr>
          <a:xfrm>
            <a:off x="2297839" y="4845259"/>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p:cNvSpPr txBox="1"/>
          <p:nvPr/>
        </p:nvSpPr>
        <p:spPr>
          <a:xfrm>
            <a:off x="4961460" y="3797299"/>
            <a:ext cx="2971808" cy="553998"/>
          </a:xfrm>
          <a:prstGeom prst="rect">
            <a:avLst/>
          </a:prstGeom>
          <a:noFill/>
        </p:spPr>
        <p:txBody>
          <a:bodyPr wrap="square" rtlCol="0">
            <a:spAutoFit/>
          </a:bodyPr>
          <a:lstStyle/>
          <a:p>
            <a:r>
              <a:rPr lang="en-IN" sz="1000" dirty="0">
                <a:solidFill>
                  <a:schemeClr val="bg1"/>
                </a:solidFill>
              </a:rPr>
              <a:t>Slide in this Presentation Contain Hyperlinks. JAWS users should be able to get a list of links by using INSERT+F7</a:t>
            </a:r>
          </a:p>
        </p:txBody>
      </p:sp>
      <p:pic>
        <p:nvPicPr>
          <p:cNvPr id="6" name="Picture 5">
            <a:extLst>
              <a:ext uri="{FF2B5EF4-FFF2-40B4-BE49-F238E27FC236}">
                <a16:creationId xmlns:a16="http://schemas.microsoft.com/office/drawing/2014/main" id="{D5278B9A-EEA9-4EBB-ADA6-440572B6619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89456" y="1555229"/>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765039"/>
            <a:ext cx="8229600" cy="3670236"/>
          </a:xfrm>
        </p:spPr>
        <p:txBody>
          <a:bodyPr vert="horz" lIns="0" tIns="0" rIns="0" bIns="0" rtlCol="0" anchor="t">
            <a:spAutoFit/>
          </a:bodyPr>
          <a:lstStyle/>
          <a:p>
            <a:pPr marL="541338" indent="-541338">
              <a:buNone/>
              <a:tabLst>
                <a:tab pos="542925" algn="l"/>
              </a:tabLst>
            </a:pPr>
            <a:r>
              <a:rPr lang="en-IN" altLang="en-US" sz="2200" b="1" dirty="0">
                <a:solidFill>
                  <a:schemeClr val="bg2"/>
                </a:solidFill>
              </a:rPr>
              <a:t>5.1 </a:t>
            </a:r>
            <a:r>
              <a:rPr lang="en-IN" altLang="en-US" sz="2200" dirty="0"/>
              <a:t>What is </a:t>
            </a:r>
            <a:r>
              <a:rPr lang="en-IN" altLang="en-US" sz="2200" spc="-300" dirty="0"/>
              <a:t>I T</a:t>
            </a:r>
            <a:r>
              <a:rPr lang="en-IN" altLang="en-US" sz="2200" dirty="0"/>
              <a:t> infrastructure, and what are the stages and drivers of </a:t>
            </a:r>
            <a:r>
              <a:rPr lang="en-IN" altLang="en-US" sz="2200" spc="-300" dirty="0"/>
              <a:t>I T</a:t>
            </a:r>
            <a:r>
              <a:rPr lang="en-IN" altLang="en-US" sz="2200" dirty="0"/>
              <a:t> infrastructure evolution?</a:t>
            </a:r>
          </a:p>
          <a:p>
            <a:pPr marL="0" indent="0">
              <a:buNone/>
            </a:pPr>
            <a:r>
              <a:rPr lang="en-IN" altLang="en-US" sz="2200" b="1" dirty="0">
                <a:solidFill>
                  <a:schemeClr val="bg2"/>
                </a:solidFill>
              </a:rPr>
              <a:t>5.2 </a:t>
            </a:r>
            <a:r>
              <a:rPr lang="en-IN" altLang="en-US" sz="2200" dirty="0"/>
              <a:t>What are the components of </a:t>
            </a:r>
            <a:r>
              <a:rPr lang="en-IN" altLang="en-US" sz="2200" spc="-300" dirty="0"/>
              <a:t>I T</a:t>
            </a:r>
            <a:r>
              <a:rPr lang="en-IN" altLang="en-US" sz="2200" dirty="0"/>
              <a:t> infrastructure?</a:t>
            </a:r>
          </a:p>
          <a:p>
            <a:pPr marL="541338" indent="-541338">
              <a:buNone/>
              <a:tabLst>
                <a:tab pos="542925" algn="l"/>
              </a:tabLst>
            </a:pPr>
            <a:r>
              <a:rPr lang="en-IN" altLang="en-US" sz="2200" b="1" dirty="0">
                <a:solidFill>
                  <a:schemeClr val="bg2"/>
                </a:solidFill>
              </a:rPr>
              <a:t>5.3 </a:t>
            </a:r>
            <a:r>
              <a:rPr lang="en-IN" altLang="en-US" sz="2200" dirty="0"/>
              <a:t>What are the current trends in computer hardware platforms?</a:t>
            </a:r>
          </a:p>
          <a:p>
            <a:pPr marL="541338" indent="-541338">
              <a:buNone/>
              <a:tabLst>
                <a:tab pos="542925" algn="l"/>
              </a:tabLst>
            </a:pPr>
            <a:r>
              <a:rPr lang="en-IN" altLang="en-US" sz="2200" b="1" dirty="0">
                <a:solidFill>
                  <a:schemeClr val="bg2"/>
                </a:solidFill>
              </a:rPr>
              <a:t>5.4 </a:t>
            </a:r>
            <a:r>
              <a:rPr lang="en-IN" altLang="en-US" sz="2200" dirty="0"/>
              <a:t>What are the current computer software platforms and trends?</a:t>
            </a:r>
          </a:p>
          <a:p>
            <a:pPr marL="541338" indent="-541338">
              <a:buNone/>
              <a:tabLst>
                <a:tab pos="541338" algn="l"/>
              </a:tabLst>
            </a:pPr>
            <a:r>
              <a:rPr lang="en-IN" altLang="en-US" sz="2200" b="1" dirty="0">
                <a:solidFill>
                  <a:schemeClr val="bg2"/>
                </a:solidFill>
              </a:rPr>
              <a:t>5.5 </a:t>
            </a:r>
            <a:r>
              <a:rPr lang="en-IN" altLang="en-US" sz="2200" dirty="0"/>
              <a:t>What are the challenges of managing </a:t>
            </a:r>
            <a:r>
              <a:rPr lang="en-IN" altLang="en-US" sz="2200" spc="-300" dirty="0"/>
              <a:t>I T</a:t>
            </a:r>
            <a:r>
              <a:rPr lang="en-IN" altLang="en-US" sz="2200" dirty="0"/>
              <a:t> infrastructure and management solutions?</a:t>
            </a:r>
          </a:p>
          <a:p>
            <a:pPr marL="0" indent="0">
              <a:buNone/>
            </a:pPr>
            <a:r>
              <a:rPr lang="en-IN" altLang="en-US" sz="2200" b="1" dirty="0">
                <a:solidFill>
                  <a:schemeClr val="bg2"/>
                </a:solidFill>
              </a:rPr>
              <a:t>5.6 </a:t>
            </a:r>
            <a:r>
              <a:rPr lang="en-IN" altLang="en-US" sz="2200" dirty="0"/>
              <a:t>How will </a:t>
            </a:r>
            <a:r>
              <a:rPr lang="en-IN" altLang="en-US" sz="2200" spc="-300" dirty="0"/>
              <a:t>M I </a:t>
            </a:r>
            <a:r>
              <a:rPr lang="en-IN" altLang="en-US" sz="2200" dirty="0"/>
              <a:t>S help my career?</a:t>
            </a:r>
          </a:p>
        </p:txBody>
      </p:sp>
      <p:sp>
        <p:nvSpPr>
          <p:cNvPr id="2" name="Footer Placeholder 1">
            <a:extLst>
              <a:ext uri="{FF2B5EF4-FFF2-40B4-BE49-F238E27FC236}">
                <a16:creationId xmlns:a16="http://schemas.microsoft.com/office/drawing/2014/main" id="{E563E0E6-92E8-4012-B68E-50368F9A580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722228"/>
            <a:ext cx="8229600" cy="2231380"/>
          </a:xfrm>
        </p:spPr>
        <p:txBody>
          <a:bodyPr>
            <a:spAutoFit/>
          </a:bodyPr>
          <a:lstStyle/>
          <a:p>
            <a:pPr marL="343332" indent="-342900"/>
            <a:r>
              <a:rPr lang="en-IN" dirty="0"/>
              <a:t>Case 1: </a:t>
            </a:r>
            <a:r>
              <a:rPr lang="en-US" dirty="0"/>
              <a:t>Rockwell Automation Fuels the Oil and Gas Industry with the Internet of Things (</a:t>
            </a:r>
            <a:r>
              <a:rPr lang="en-US" spc="-300" dirty="0"/>
              <a:t>I o </a:t>
            </a:r>
            <a:r>
              <a:rPr lang="en-US" dirty="0"/>
              <a:t>T)</a:t>
            </a:r>
            <a:r>
              <a:rPr lang="en-IN" dirty="0"/>
              <a:t> </a:t>
            </a:r>
          </a:p>
          <a:p>
            <a:pPr marL="343332" indent="-342900"/>
            <a:r>
              <a:rPr lang="en-IN" dirty="0"/>
              <a:t>Case 2: ESPN.com: The Future of Sports Broadcasting in the Cloud</a:t>
            </a:r>
          </a:p>
          <a:p>
            <a:pPr marL="343332" indent="-342900"/>
            <a:r>
              <a:rPr lang="en-IN" dirty="0"/>
              <a:t>Case 3: Netflix: Building a Business in the Cloud</a:t>
            </a:r>
          </a:p>
        </p:txBody>
      </p:sp>
      <p:sp>
        <p:nvSpPr>
          <p:cNvPr id="2" name="Footer Placeholder 1">
            <a:extLst>
              <a:ext uri="{FF2B5EF4-FFF2-40B4-BE49-F238E27FC236}">
                <a16:creationId xmlns:a16="http://schemas.microsoft.com/office/drawing/2014/main" id="{CD46C67A-A087-4CD2-BB42-E55958110E5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706"/>
            <a:ext cx="8229600" cy="984885"/>
          </a:xfrm>
        </p:spPr>
        <p:txBody>
          <a:bodyPr>
            <a:spAutoFit/>
          </a:bodyPr>
          <a:lstStyle/>
          <a:p>
            <a:r>
              <a:rPr lang="en-US" altLang="en-US" sz="3200" dirty="0"/>
              <a:t>Grab Leverages Information Technology to Enhance Its Services</a:t>
            </a:r>
            <a:endParaRPr lang="en-US" sz="2400" dirty="0"/>
          </a:p>
        </p:txBody>
      </p:sp>
      <p:sp>
        <p:nvSpPr>
          <p:cNvPr id="5" name="Content Placeholder 4"/>
          <p:cNvSpPr>
            <a:spLocks noGrp="1"/>
          </p:cNvSpPr>
          <p:nvPr>
            <p:ph idx="1"/>
          </p:nvPr>
        </p:nvSpPr>
        <p:spPr>
          <a:xfrm>
            <a:off x="468775" y="1243608"/>
            <a:ext cx="8229600" cy="3431709"/>
          </a:xfrm>
        </p:spPr>
        <p:txBody>
          <a:bodyPr>
            <a:spAutoFit/>
          </a:bodyPr>
          <a:lstStyle/>
          <a:p>
            <a:pPr>
              <a:spcBef>
                <a:spcPts val="600"/>
              </a:spcBef>
            </a:pPr>
            <a:r>
              <a:rPr lang="en-US" altLang="en-US" sz="2000" dirty="0"/>
              <a:t>Problem</a:t>
            </a:r>
          </a:p>
          <a:p>
            <a:pPr lvl="1">
              <a:spcBef>
                <a:spcPts val="300"/>
              </a:spcBef>
            </a:pPr>
            <a:r>
              <a:rPr lang="en-US" sz="2000" dirty="0"/>
              <a:t>providing customers with timely service and drivers with enough fares</a:t>
            </a:r>
          </a:p>
          <a:p>
            <a:pPr lvl="1">
              <a:spcBef>
                <a:spcPts val="300"/>
              </a:spcBef>
            </a:pPr>
            <a:r>
              <a:rPr lang="en-US" sz="2000" dirty="0"/>
              <a:t>matching demand with resources in an unpredictable sector</a:t>
            </a:r>
          </a:p>
          <a:p>
            <a:pPr>
              <a:spcBef>
                <a:spcPts val="600"/>
              </a:spcBef>
            </a:pPr>
            <a:r>
              <a:rPr lang="en-US" altLang="en-US" sz="2000" dirty="0"/>
              <a:t>Solutions</a:t>
            </a:r>
          </a:p>
          <a:p>
            <a:pPr lvl="1">
              <a:spcBef>
                <a:spcPts val="300"/>
              </a:spcBef>
            </a:pPr>
            <a:r>
              <a:rPr lang="en-US" sz="2000" dirty="0"/>
              <a:t>Managed cloud infrastructure</a:t>
            </a:r>
          </a:p>
          <a:p>
            <a:pPr lvl="1">
              <a:spcBef>
                <a:spcPts val="300"/>
              </a:spcBef>
            </a:pPr>
            <a:r>
              <a:rPr lang="en-US" sz="2000" dirty="0"/>
              <a:t>On-demand, scalable services</a:t>
            </a:r>
          </a:p>
          <a:p>
            <a:pPr>
              <a:spcBef>
                <a:spcPts val="600"/>
              </a:spcBef>
            </a:pPr>
            <a:r>
              <a:rPr lang="en-US" altLang="en-US" sz="2000" dirty="0"/>
              <a:t>Illustrates use of cloud computing to improve effectiveness and control costs</a:t>
            </a:r>
          </a:p>
          <a:p>
            <a:pPr>
              <a:spcBef>
                <a:spcPts val="600"/>
              </a:spcBef>
            </a:pPr>
            <a:endParaRPr lang="en-US" altLang="en-US" sz="1800" dirty="0"/>
          </a:p>
        </p:txBody>
      </p:sp>
      <p:sp>
        <p:nvSpPr>
          <p:cNvPr id="2" name="Footer Placeholder 1">
            <a:extLst>
              <a:ext uri="{FF2B5EF4-FFF2-40B4-BE49-F238E27FC236}">
                <a16:creationId xmlns:a16="http://schemas.microsoft.com/office/drawing/2014/main" id="{FE7F2E20-1736-4852-B45A-970BEE12010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36954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452"/>
            <a:ext cx="8229600" cy="553998"/>
          </a:xfrm>
        </p:spPr>
        <p:txBody>
          <a:bodyPr>
            <a:spAutoFit/>
          </a:bodyPr>
          <a:lstStyle/>
          <a:p>
            <a:r>
              <a:rPr lang="en-IN" altLang="en-US" dirty="0"/>
              <a:t>Defining </a:t>
            </a:r>
            <a:r>
              <a:rPr lang="en-IN" altLang="en-US" spc="-450" dirty="0"/>
              <a:t>I T</a:t>
            </a:r>
            <a:r>
              <a:rPr lang="en-IN" altLang="en-US" dirty="0"/>
              <a:t> Infrastructure</a:t>
            </a:r>
            <a:endParaRPr lang="en-US" sz="2800" dirty="0"/>
          </a:p>
        </p:txBody>
      </p:sp>
      <p:sp>
        <p:nvSpPr>
          <p:cNvPr id="5" name="Content Placeholder 4"/>
          <p:cNvSpPr>
            <a:spLocks noGrp="1"/>
          </p:cNvSpPr>
          <p:nvPr>
            <p:ph idx="1"/>
          </p:nvPr>
        </p:nvSpPr>
        <p:spPr>
          <a:xfrm>
            <a:off x="457200" y="730248"/>
            <a:ext cx="8229600" cy="3647152"/>
          </a:xfrm>
        </p:spPr>
        <p:txBody>
          <a:bodyPr>
            <a:spAutoFit/>
          </a:bodyPr>
          <a:lstStyle/>
          <a:p>
            <a:r>
              <a:rPr lang="en-IN" dirty="0"/>
              <a:t>Set of physical devices and software required to operate an enterprise</a:t>
            </a:r>
          </a:p>
          <a:p>
            <a:r>
              <a:rPr lang="en-IN" dirty="0"/>
              <a:t>Set of firm-wide services including:</a:t>
            </a:r>
          </a:p>
          <a:p>
            <a:pPr lvl="1"/>
            <a:r>
              <a:rPr lang="en-IN" sz="2400" dirty="0"/>
              <a:t>Computing platforms providing computing services</a:t>
            </a:r>
          </a:p>
          <a:p>
            <a:pPr lvl="1"/>
            <a:r>
              <a:rPr lang="en-IN" sz="2400" dirty="0"/>
              <a:t>Physical facilities management services</a:t>
            </a:r>
          </a:p>
          <a:p>
            <a:pPr lvl="1"/>
            <a:r>
              <a:rPr lang="en-IN" sz="2400" spc="-300" dirty="0"/>
              <a:t>I </a:t>
            </a:r>
            <a:r>
              <a:rPr lang="en-IN" sz="2400" dirty="0"/>
              <a:t>T management, education, and other services</a:t>
            </a:r>
          </a:p>
          <a:p>
            <a:r>
              <a:rPr lang="en-IN" dirty="0"/>
              <a:t>“Service platform” perspective</a:t>
            </a:r>
          </a:p>
          <a:p>
            <a:pPr lvl="1"/>
            <a:r>
              <a:rPr lang="en-IN" sz="2400" dirty="0"/>
              <a:t>More accurate view of value of investments</a:t>
            </a:r>
          </a:p>
        </p:txBody>
      </p:sp>
      <p:sp>
        <p:nvSpPr>
          <p:cNvPr id="2" name="Footer Placeholder 1">
            <a:extLst>
              <a:ext uri="{FF2B5EF4-FFF2-40B4-BE49-F238E27FC236}">
                <a16:creationId xmlns:a16="http://schemas.microsoft.com/office/drawing/2014/main" id="{033B7658-A484-453C-AC21-CA2F0C3C7BB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84563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6600"/>
            <a:ext cx="8229600" cy="923330"/>
          </a:xfrm>
        </p:spPr>
        <p:txBody>
          <a:bodyPr>
            <a:spAutoFit/>
          </a:bodyPr>
          <a:lstStyle/>
          <a:p>
            <a:r>
              <a:rPr lang="en-IN" altLang="en-US" sz="3000" dirty="0"/>
              <a:t>Figure 5.1 Connection Between the Firm, </a:t>
            </a:r>
            <a:r>
              <a:rPr lang="en-IN" altLang="en-US" sz="3000" spc="-450" dirty="0"/>
              <a:t>I T</a:t>
            </a:r>
            <a:r>
              <a:rPr lang="en-IN" altLang="en-US" sz="3000" dirty="0"/>
              <a:t> Infrastructure, and Business Capabilities</a:t>
            </a:r>
            <a:endParaRPr lang="en-US" sz="3000" dirty="0"/>
          </a:p>
        </p:txBody>
      </p:sp>
      <p:pic>
        <p:nvPicPr>
          <p:cNvPr id="1026" name="Picture 2" descr="A path diagram illustrates how the firm, IT infrastructure, and business capabilities are connected.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48583" y="1239070"/>
            <a:ext cx="5646834" cy="346628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2CD960B-6543-4717-B56C-E6C051573455}"/>
              </a:ext>
            </a:extLst>
          </p:cNvPr>
          <p:cNvSpPr>
            <a:spLocks noGrp="1"/>
          </p:cNvSpPr>
          <p:nvPr>
            <p:ph type="ftr" sz="quarter" idx="11"/>
          </p:nvPr>
        </p:nvSpPr>
        <p:spPr>
          <a:xfrm>
            <a:off x="93969" y="4629151"/>
            <a:ext cx="8595360" cy="265339"/>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936333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IN" altLang="en-US" dirty="0"/>
              <a:t>Evolution of </a:t>
            </a:r>
            <a:r>
              <a:rPr lang="en-IN" altLang="en-US" spc="-450" dirty="0"/>
              <a:t>I T</a:t>
            </a:r>
            <a:r>
              <a:rPr lang="en-IN" altLang="en-US" dirty="0"/>
              <a:t> Infrastructure</a:t>
            </a:r>
            <a:endParaRPr lang="en-US" sz="2800" dirty="0"/>
          </a:p>
        </p:txBody>
      </p:sp>
      <p:sp>
        <p:nvSpPr>
          <p:cNvPr id="5" name="Content Placeholder 4"/>
          <p:cNvSpPr>
            <a:spLocks noGrp="1"/>
          </p:cNvSpPr>
          <p:nvPr>
            <p:ph idx="1"/>
          </p:nvPr>
        </p:nvSpPr>
        <p:spPr>
          <a:xfrm>
            <a:off x="457200" y="731375"/>
            <a:ext cx="8229600" cy="2985433"/>
          </a:xfrm>
        </p:spPr>
        <p:txBody>
          <a:bodyPr>
            <a:spAutoFit/>
          </a:bodyPr>
          <a:lstStyle/>
          <a:p>
            <a:r>
              <a:rPr lang="en-IN" dirty="0"/>
              <a:t>General-purpose mainframe and minicomputer era: 1959 to present</a:t>
            </a:r>
          </a:p>
          <a:p>
            <a:r>
              <a:rPr lang="en-IN" dirty="0"/>
              <a:t>Personal computer era: 1981 to present</a:t>
            </a:r>
          </a:p>
          <a:p>
            <a:r>
              <a:rPr lang="en-IN" dirty="0"/>
              <a:t>Client/server era: 1983 to present</a:t>
            </a:r>
          </a:p>
          <a:p>
            <a:r>
              <a:rPr lang="en-IN" dirty="0"/>
              <a:t>Enterprise computing era: 1992 to present</a:t>
            </a:r>
          </a:p>
          <a:p>
            <a:r>
              <a:rPr lang="en-IN" dirty="0"/>
              <a:t>Cloud and mobile computing: 2000 to present</a:t>
            </a:r>
          </a:p>
        </p:txBody>
      </p:sp>
      <p:sp>
        <p:nvSpPr>
          <p:cNvPr id="2" name="Footer Placeholder 1">
            <a:extLst>
              <a:ext uri="{FF2B5EF4-FFF2-40B4-BE49-F238E27FC236}">
                <a16:creationId xmlns:a16="http://schemas.microsoft.com/office/drawing/2014/main" id="{5EBBC786-6664-41D0-8B54-74345134B2F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73532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6500"/>
            <a:ext cx="8229600" cy="430887"/>
          </a:xfrm>
        </p:spPr>
        <p:txBody>
          <a:bodyPr>
            <a:spAutoFit/>
          </a:bodyPr>
          <a:lstStyle/>
          <a:p>
            <a:r>
              <a:rPr lang="en-IN" altLang="en-US" sz="2800" dirty="0"/>
              <a:t>Figure 5.2 Stages in </a:t>
            </a:r>
            <a:r>
              <a:rPr lang="en-IN" altLang="en-US" sz="2800" spc="-450" dirty="0"/>
              <a:t>I T</a:t>
            </a:r>
            <a:r>
              <a:rPr lang="en-IN" altLang="en-US" sz="2800" dirty="0"/>
              <a:t> Infrastructure Evolution</a:t>
            </a:r>
            <a:endParaRPr lang="en-US" sz="2800" dirty="0"/>
          </a:p>
        </p:txBody>
      </p:sp>
      <p:pic>
        <p:nvPicPr>
          <p:cNvPr id="1026" name="Picture 2" descr="A network diagram illustrates the various stages in the evolution of IT infrastructure.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432517" y="742950"/>
            <a:ext cx="2278966" cy="396011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DF6FCEA7-7B83-415B-B98C-EFC0655A5043}"/>
              </a:ext>
            </a:extLst>
          </p:cNvPr>
          <p:cNvSpPr>
            <a:spLocks noGrp="1"/>
          </p:cNvSpPr>
          <p:nvPr>
            <p:ph type="ftr" sz="quarter" idx="11"/>
          </p:nvPr>
        </p:nvSpPr>
        <p:spPr>
          <a:xfrm>
            <a:off x="93969" y="4629151"/>
            <a:ext cx="8595360" cy="357849"/>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2093647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757"/>
            <a:ext cx="8229600" cy="1107996"/>
          </a:xfrm>
        </p:spPr>
        <p:txBody>
          <a:bodyPr>
            <a:spAutoFit/>
          </a:bodyPr>
          <a:lstStyle/>
          <a:p>
            <a:r>
              <a:rPr lang="en-IN" altLang="en-US" dirty="0"/>
              <a:t>Figure 5.3 A </a:t>
            </a:r>
            <a:r>
              <a:rPr lang="en-IN" altLang="en-US" dirty="0" err="1"/>
              <a:t>Multitiered</a:t>
            </a:r>
            <a:r>
              <a:rPr lang="en-IN" altLang="en-US" dirty="0"/>
              <a:t> (N-Tier) Client/Server Network</a:t>
            </a:r>
            <a:endParaRPr lang="en-US" sz="2800" dirty="0"/>
          </a:p>
        </p:txBody>
      </p:sp>
      <p:pic>
        <p:nvPicPr>
          <p:cNvPr id="4098" name="Picture 2" descr="A sequential flow diagram explains the client server network.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918295" y="1462310"/>
            <a:ext cx="7307411" cy="302090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1FDEF82-7D2F-42FC-9734-F3FD8C61B7A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29210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Technology Drivers of Infrastructure Evolution </a:t>
            </a:r>
            <a:r>
              <a:rPr lang="en-IN" altLang="en-US" sz="2800" dirty="0"/>
              <a:t>(1 of 2)</a:t>
            </a:r>
            <a:endParaRPr lang="en-US" sz="2800" dirty="0"/>
          </a:p>
        </p:txBody>
      </p:sp>
      <p:sp>
        <p:nvSpPr>
          <p:cNvPr id="5" name="Content Placeholder 4"/>
          <p:cNvSpPr>
            <a:spLocks noGrp="1"/>
          </p:cNvSpPr>
          <p:nvPr>
            <p:ph idx="1"/>
          </p:nvPr>
        </p:nvSpPr>
        <p:spPr>
          <a:xfrm>
            <a:off x="457200" y="1368519"/>
            <a:ext cx="8229600" cy="3400931"/>
          </a:xfrm>
        </p:spPr>
        <p:txBody>
          <a:bodyPr>
            <a:spAutoFit/>
          </a:bodyPr>
          <a:lstStyle/>
          <a:p>
            <a:r>
              <a:rPr lang="en-IN" sz="2200" dirty="0"/>
              <a:t>Moore’s law and </a:t>
            </a:r>
            <a:r>
              <a:rPr lang="en-IN" sz="2200" dirty="0" err="1"/>
              <a:t>microprocessing</a:t>
            </a:r>
            <a:r>
              <a:rPr lang="en-IN" sz="2200" dirty="0"/>
              <a:t> power</a:t>
            </a:r>
          </a:p>
          <a:p>
            <a:pPr lvl="1"/>
            <a:r>
              <a:rPr lang="en-IN" dirty="0"/>
              <a:t>Computing power doubles every 2 years</a:t>
            </a:r>
          </a:p>
          <a:p>
            <a:pPr lvl="1"/>
            <a:r>
              <a:rPr lang="en-IN" dirty="0"/>
              <a:t>Nanotechnology</a:t>
            </a:r>
          </a:p>
          <a:p>
            <a:r>
              <a:rPr lang="en-IN" sz="2200" dirty="0"/>
              <a:t>Law of Mass Digital Storage</a:t>
            </a:r>
          </a:p>
          <a:p>
            <a:pPr lvl="1"/>
            <a:r>
              <a:rPr lang="en-IN" dirty="0"/>
              <a:t>The amount of data being stored each year doubles</a:t>
            </a:r>
          </a:p>
          <a:p>
            <a:r>
              <a:rPr lang="en-IN" sz="2200" dirty="0"/>
              <a:t>Metcalfe’s Law and network economics</a:t>
            </a:r>
          </a:p>
          <a:p>
            <a:pPr lvl="1"/>
            <a:r>
              <a:rPr lang="en-IN" dirty="0"/>
              <a:t>Value or power of a network grows exponentially as a function of the number of network members</a:t>
            </a:r>
          </a:p>
        </p:txBody>
      </p:sp>
      <p:sp>
        <p:nvSpPr>
          <p:cNvPr id="2" name="Footer Placeholder 1">
            <a:extLst>
              <a:ext uri="{FF2B5EF4-FFF2-40B4-BE49-F238E27FC236}">
                <a16:creationId xmlns:a16="http://schemas.microsoft.com/office/drawing/2014/main" id="{3417F2DD-E240-4395-9DF4-FEFF4280C939}"/>
              </a:ext>
            </a:extLst>
          </p:cNvPr>
          <p:cNvSpPr>
            <a:spLocks noGrp="1"/>
          </p:cNvSpPr>
          <p:nvPr>
            <p:ph type="ftr" sz="quarter" idx="11"/>
          </p:nvPr>
        </p:nvSpPr>
        <p:spPr>
          <a:xfrm>
            <a:off x="93969" y="4629151"/>
            <a:ext cx="8595360" cy="344387"/>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4175053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Figure 5.4 Moore’s Law and Microprocessor Performance</a:t>
            </a:r>
            <a:endParaRPr lang="en-US" sz="2800" dirty="0"/>
          </a:p>
        </p:txBody>
      </p:sp>
      <p:pic>
        <p:nvPicPr>
          <p:cNvPr id="5122" name="Picture 2" descr="A three-dimensional bar graph explains the correlation between the number of transistors and millions of instructions per second over the year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683611" y="1428750"/>
            <a:ext cx="3776778" cy="326333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7D58943-22F7-4869-8394-E85935CC9C5D}"/>
              </a:ext>
            </a:extLst>
          </p:cNvPr>
          <p:cNvSpPr>
            <a:spLocks noGrp="1"/>
          </p:cNvSpPr>
          <p:nvPr>
            <p:ph type="ftr" sz="quarter" idx="11"/>
          </p:nvPr>
        </p:nvSpPr>
        <p:spPr>
          <a:xfrm>
            <a:off x="93969" y="4629151"/>
            <a:ext cx="8595360" cy="327256"/>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972593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575"/>
            <a:ext cx="8229600" cy="588080"/>
          </a:xfrm>
        </p:spPr>
        <p:txBody>
          <a:bodyPr anchor="ctr">
            <a:spAutoFit/>
          </a:bodyPr>
          <a:lstStyle/>
          <a:p>
            <a:r>
              <a:rPr lang="en-IN" altLang="en-US" dirty="0"/>
              <a:t>Figure 5.5 Falling Cost of Chips</a:t>
            </a:r>
            <a:endParaRPr lang="en-US" sz="2800" dirty="0"/>
          </a:p>
        </p:txBody>
      </p:sp>
      <p:pic>
        <p:nvPicPr>
          <p:cNvPr id="6146" name="Picture 2" descr="A line graph illustrates the declining trend in the cost of chips over the year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096927" y="982451"/>
            <a:ext cx="4950146" cy="363726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09BB947-E88D-488D-AFE7-EC11C66B9E8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44226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IN" altLang="en-US" dirty="0"/>
              <a:t>Nanotubes</a:t>
            </a:r>
            <a:endParaRPr lang="en-US" sz="2800" dirty="0"/>
          </a:p>
        </p:txBody>
      </p:sp>
      <p:pic>
        <p:nvPicPr>
          <p:cNvPr id="7170" name="Picture 2" descr="A molecular-scale structure of a nanotube shows carbon atoms arranged in a cylindrical layer. The atoms are arranged in a hexagonal tiling pattern so as to form a hollow tube."/>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01912" y="834523"/>
            <a:ext cx="5940176" cy="387424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65CA6DD-8289-4746-A80E-36C2EAA0D3D4}"/>
              </a:ext>
            </a:extLst>
          </p:cNvPr>
          <p:cNvSpPr>
            <a:spLocks noGrp="1"/>
          </p:cNvSpPr>
          <p:nvPr>
            <p:ph type="ftr" sz="quarter" idx="11"/>
          </p:nvPr>
        </p:nvSpPr>
        <p:spPr>
          <a:xfrm>
            <a:off x="93969" y="4629151"/>
            <a:ext cx="8595360" cy="445624"/>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2336923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0300"/>
            <a:ext cx="8229600" cy="1046440"/>
          </a:xfrm>
        </p:spPr>
        <p:txBody>
          <a:bodyPr>
            <a:spAutoFit/>
          </a:bodyPr>
          <a:lstStyle/>
          <a:p>
            <a:r>
              <a:rPr lang="en-IN" altLang="en-US" sz="3400" dirty="0"/>
              <a:t>Figure 5.6 The Amount of Storage Per Dollar Rises Exponentially, 1950–2016</a:t>
            </a:r>
            <a:endParaRPr lang="en-US" sz="3400" dirty="0"/>
          </a:p>
        </p:txBody>
      </p:sp>
      <p:pic>
        <p:nvPicPr>
          <p:cNvPr id="5" name="Picture 4" descr="A line graph explains how the cost of data storage has increased over the years. For a full description, see Notes. Press F6. "/>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576852" y="1375109"/>
            <a:ext cx="3990295" cy="339374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D1D2A18-85C4-445F-B813-C3943EF17E08}"/>
              </a:ext>
            </a:extLst>
          </p:cNvPr>
          <p:cNvSpPr>
            <a:spLocks noGrp="1"/>
          </p:cNvSpPr>
          <p:nvPr>
            <p:ph type="ftr" sz="quarter" idx="11"/>
          </p:nvPr>
        </p:nvSpPr>
        <p:spPr>
          <a:xfrm>
            <a:off x="93969" y="4629151"/>
            <a:ext cx="8595360" cy="388068"/>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962350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Technology Drivers of Infrastructure Evolution </a:t>
            </a:r>
            <a:r>
              <a:rPr lang="en-IN" altLang="en-US" sz="2800" dirty="0"/>
              <a:t>(2 of 2)</a:t>
            </a:r>
            <a:endParaRPr lang="en-US" sz="2800" dirty="0"/>
          </a:p>
        </p:txBody>
      </p:sp>
      <p:sp>
        <p:nvSpPr>
          <p:cNvPr id="5" name="Content Placeholder 4"/>
          <p:cNvSpPr>
            <a:spLocks noGrp="1"/>
          </p:cNvSpPr>
          <p:nvPr>
            <p:ph idx="1"/>
          </p:nvPr>
        </p:nvSpPr>
        <p:spPr>
          <a:xfrm>
            <a:off x="457200" y="1368519"/>
            <a:ext cx="8229600" cy="3208571"/>
          </a:xfrm>
        </p:spPr>
        <p:txBody>
          <a:bodyPr>
            <a:spAutoFit/>
          </a:bodyPr>
          <a:lstStyle/>
          <a:p>
            <a:r>
              <a:rPr lang="en-IN" sz="2200" dirty="0"/>
              <a:t>Declining communication costs and the Internet</a:t>
            </a:r>
          </a:p>
          <a:p>
            <a:pPr lvl="1"/>
            <a:r>
              <a:rPr lang="en-IN" dirty="0"/>
              <a:t>Exponential growth in size of the Internet</a:t>
            </a:r>
          </a:p>
          <a:p>
            <a:r>
              <a:rPr lang="en-IN" sz="2200" dirty="0"/>
              <a:t>Standards and network effects</a:t>
            </a:r>
          </a:p>
          <a:p>
            <a:pPr lvl="1"/>
            <a:r>
              <a:rPr lang="en-IN" dirty="0"/>
              <a:t>Technology standards</a:t>
            </a:r>
          </a:p>
          <a:p>
            <a:pPr lvl="2"/>
            <a:r>
              <a:rPr lang="en-IN" sz="2200" dirty="0"/>
              <a:t>Specifications that establish the compatibility of products and the ability to communicate in a network</a:t>
            </a:r>
          </a:p>
          <a:p>
            <a:pPr lvl="2"/>
            <a:r>
              <a:rPr lang="en-IN" sz="2200" dirty="0"/>
              <a:t>Unleash powerful economies of scale and result in price declines</a:t>
            </a:r>
          </a:p>
        </p:txBody>
      </p:sp>
      <p:sp>
        <p:nvSpPr>
          <p:cNvPr id="2" name="Footer Placeholder 1">
            <a:extLst>
              <a:ext uri="{FF2B5EF4-FFF2-40B4-BE49-F238E27FC236}">
                <a16:creationId xmlns:a16="http://schemas.microsoft.com/office/drawing/2014/main" id="{6ED307CC-8B3F-4C68-A7DC-65B29E82CED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73677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450"/>
            <a:ext cx="8229600" cy="984885"/>
          </a:xfrm>
        </p:spPr>
        <p:txBody>
          <a:bodyPr>
            <a:spAutoFit/>
          </a:bodyPr>
          <a:lstStyle/>
          <a:p>
            <a:r>
              <a:rPr lang="en-IN" altLang="en-US" sz="3200" dirty="0"/>
              <a:t>Figure 5.7 Exponential Declines in Internet Communications Costs ($/</a:t>
            </a:r>
            <a:r>
              <a:rPr lang="en-IN" altLang="en-US" sz="3200" spc="-450" dirty="0"/>
              <a:t>M B P </a:t>
            </a:r>
            <a:r>
              <a:rPr lang="en-IN" altLang="en-US" sz="3200" dirty="0"/>
              <a:t>S)</a:t>
            </a:r>
            <a:endParaRPr lang="en-US" sz="3200" dirty="0"/>
          </a:p>
        </p:txBody>
      </p:sp>
      <p:pic>
        <p:nvPicPr>
          <p:cNvPr id="9218" name="Picture 2" descr="A line graph explains how Internet costs have plunged over the year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2255" y="1252442"/>
            <a:ext cx="7679491" cy="352910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07D5495-7EAC-4CDB-9423-87B65F232D7A}"/>
              </a:ext>
            </a:extLst>
          </p:cNvPr>
          <p:cNvSpPr>
            <a:spLocks noGrp="1"/>
          </p:cNvSpPr>
          <p:nvPr>
            <p:ph type="ftr" sz="quarter" idx="11"/>
          </p:nvPr>
        </p:nvSpPr>
        <p:spPr>
          <a:xfrm>
            <a:off x="93969" y="4629151"/>
            <a:ext cx="8595360" cy="410899"/>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482291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What Are the Components of </a:t>
            </a:r>
            <a:r>
              <a:rPr lang="en-IN" altLang="en-US" spc="-450" dirty="0"/>
              <a:t>I T</a:t>
            </a:r>
            <a:r>
              <a:rPr lang="en-IN" altLang="en-US" dirty="0"/>
              <a:t> Infrastructure?</a:t>
            </a:r>
            <a:endParaRPr lang="en-US" sz="2800" dirty="0"/>
          </a:p>
        </p:txBody>
      </p:sp>
      <p:sp>
        <p:nvSpPr>
          <p:cNvPr id="5" name="Content Placeholder 4"/>
          <p:cNvSpPr>
            <a:spLocks noGrp="1"/>
          </p:cNvSpPr>
          <p:nvPr>
            <p:ph idx="1"/>
          </p:nvPr>
        </p:nvSpPr>
        <p:spPr>
          <a:xfrm>
            <a:off x="457200" y="1368519"/>
            <a:ext cx="8229600" cy="2831544"/>
          </a:xfrm>
        </p:spPr>
        <p:txBody>
          <a:bodyPr>
            <a:spAutoFit/>
          </a:bodyPr>
          <a:lstStyle/>
          <a:p>
            <a:pPr marL="457200" indent="-457200">
              <a:spcBef>
                <a:spcPts val="600"/>
              </a:spcBef>
              <a:buFont typeface="+mj-lt"/>
              <a:buAutoNum type="arabicPeriod"/>
            </a:pPr>
            <a:r>
              <a:rPr lang="en-IN" sz="2200" dirty="0"/>
              <a:t>Computer hardware platforms</a:t>
            </a:r>
          </a:p>
          <a:p>
            <a:pPr marL="457200" indent="-457200">
              <a:spcBef>
                <a:spcPts val="600"/>
              </a:spcBef>
              <a:buFont typeface="+mj-lt"/>
              <a:buAutoNum type="arabicPeriod"/>
            </a:pPr>
            <a:r>
              <a:rPr lang="en-IN" sz="2200" dirty="0"/>
              <a:t>Operating system platforms</a:t>
            </a:r>
          </a:p>
          <a:p>
            <a:pPr marL="457200" indent="-457200">
              <a:spcBef>
                <a:spcPts val="600"/>
              </a:spcBef>
              <a:buFont typeface="+mj-lt"/>
              <a:buAutoNum type="arabicPeriod"/>
            </a:pPr>
            <a:r>
              <a:rPr lang="en-IN" sz="2200" dirty="0"/>
              <a:t>Enterprise software applications</a:t>
            </a:r>
          </a:p>
          <a:p>
            <a:pPr marL="457200" indent="-457200">
              <a:spcBef>
                <a:spcPts val="600"/>
              </a:spcBef>
              <a:buFont typeface="+mj-lt"/>
              <a:buAutoNum type="arabicPeriod"/>
            </a:pPr>
            <a:r>
              <a:rPr lang="en-IN" sz="2200" dirty="0"/>
              <a:t>Data management and storage</a:t>
            </a:r>
          </a:p>
          <a:p>
            <a:pPr marL="457200" indent="-457200">
              <a:spcBef>
                <a:spcPts val="600"/>
              </a:spcBef>
              <a:buFont typeface="+mj-lt"/>
              <a:buAutoNum type="arabicPeriod"/>
            </a:pPr>
            <a:r>
              <a:rPr lang="en-IN" sz="2200" dirty="0"/>
              <a:t>Networking/telecommunications platforms</a:t>
            </a:r>
          </a:p>
          <a:p>
            <a:pPr marL="457200" indent="-457200">
              <a:spcBef>
                <a:spcPts val="600"/>
              </a:spcBef>
              <a:buFont typeface="+mj-lt"/>
              <a:buAutoNum type="arabicPeriod"/>
            </a:pPr>
            <a:r>
              <a:rPr lang="en-IN" sz="2200" dirty="0"/>
              <a:t>Internet platforms</a:t>
            </a:r>
          </a:p>
          <a:p>
            <a:pPr marL="457200" indent="-457200">
              <a:spcBef>
                <a:spcPts val="600"/>
              </a:spcBef>
              <a:buFont typeface="+mj-lt"/>
              <a:buAutoNum type="arabicPeriod"/>
            </a:pPr>
            <a:r>
              <a:rPr lang="en-IN" sz="2200" dirty="0"/>
              <a:t>Consulting system integration services</a:t>
            </a:r>
          </a:p>
        </p:txBody>
      </p:sp>
      <p:sp>
        <p:nvSpPr>
          <p:cNvPr id="2" name="Footer Placeholder 1">
            <a:extLst>
              <a:ext uri="{FF2B5EF4-FFF2-40B4-BE49-F238E27FC236}">
                <a16:creationId xmlns:a16="http://schemas.microsoft.com/office/drawing/2014/main" id="{2274C157-A89B-4FF9-BBE0-8A1C67D44C1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11501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Figure 5.8 The </a:t>
            </a:r>
            <a:r>
              <a:rPr lang="en-IN" altLang="en-US" spc="-450" dirty="0"/>
              <a:t>I T</a:t>
            </a:r>
            <a:r>
              <a:rPr lang="en-IN" altLang="en-US" dirty="0"/>
              <a:t> Infrastructure Ecosystem</a:t>
            </a:r>
            <a:endParaRPr lang="en-US" sz="2800" dirty="0"/>
          </a:p>
        </p:txBody>
      </p:sp>
      <p:pic>
        <p:nvPicPr>
          <p:cNvPr id="10242" name="Picture 2" descr="A circular diagram explains the various components of an IT infrastructure ecosystem.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316934" y="1268526"/>
            <a:ext cx="4510133" cy="352459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881AD38-78F5-4222-985B-D6832BB06F3D}"/>
              </a:ext>
            </a:extLst>
          </p:cNvPr>
          <p:cNvSpPr>
            <a:spLocks noGrp="1"/>
          </p:cNvSpPr>
          <p:nvPr>
            <p:ph type="ftr" sz="quarter" idx="11"/>
          </p:nvPr>
        </p:nvSpPr>
        <p:spPr>
          <a:xfrm>
            <a:off x="93969" y="4629151"/>
            <a:ext cx="8595360" cy="457914"/>
          </a:xfrm>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71096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nchor="ctr">
            <a:spAutoFit/>
          </a:bodyPr>
          <a:lstStyle/>
          <a:p>
            <a:r>
              <a:rPr lang="en-IN" altLang="en-US" dirty="0"/>
              <a:t>Computer Hardware Platforms</a:t>
            </a:r>
            <a:endParaRPr lang="en-US" sz="2800" dirty="0"/>
          </a:p>
        </p:txBody>
      </p:sp>
      <p:sp>
        <p:nvSpPr>
          <p:cNvPr id="5" name="Content Placeholder 4"/>
          <p:cNvSpPr>
            <a:spLocks noGrp="1"/>
          </p:cNvSpPr>
          <p:nvPr>
            <p:ph idx="1"/>
          </p:nvPr>
        </p:nvSpPr>
        <p:spPr>
          <a:xfrm>
            <a:off x="457200" y="819150"/>
            <a:ext cx="8229600" cy="3585597"/>
          </a:xfrm>
        </p:spPr>
        <p:txBody>
          <a:bodyPr>
            <a:spAutoFit/>
          </a:bodyPr>
          <a:lstStyle/>
          <a:p>
            <a:r>
              <a:rPr lang="en-IN" sz="2200" dirty="0"/>
              <a:t>Client machines</a:t>
            </a:r>
          </a:p>
          <a:p>
            <a:pPr lvl="1"/>
            <a:r>
              <a:rPr lang="en-IN" dirty="0"/>
              <a:t>Desktop </a:t>
            </a:r>
            <a:r>
              <a:rPr lang="en-IN" spc="-300" dirty="0"/>
              <a:t>P C </a:t>
            </a:r>
            <a:r>
              <a:rPr lang="en-IN" dirty="0"/>
              <a:t>s, laptops</a:t>
            </a:r>
          </a:p>
          <a:p>
            <a:pPr lvl="1"/>
            <a:r>
              <a:rPr lang="en-IN" dirty="0"/>
              <a:t>Mobile computing: smartphones, tablets</a:t>
            </a:r>
          </a:p>
          <a:p>
            <a:pPr lvl="1"/>
            <a:r>
              <a:rPr lang="en-IN" dirty="0"/>
              <a:t>Desktop chips vs. mobile chips</a:t>
            </a:r>
          </a:p>
          <a:p>
            <a:pPr>
              <a:spcBef>
                <a:spcPts val="600"/>
              </a:spcBef>
            </a:pPr>
            <a:r>
              <a:rPr lang="en-IN" sz="2200" dirty="0"/>
              <a:t>Servers</a:t>
            </a:r>
          </a:p>
          <a:p>
            <a:pPr>
              <a:spcBef>
                <a:spcPts val="600"/>
              </a:spcBef>
            </a:pPr>
            <a:r>
              <a:rPr lang="en-IN" sz="2200" dirty="0"/>
              <a:t>Mainframes</a:t>
            </a:r>
          </a:p>
          <a:p>
            <a:pPr lvl="1"/>
            <a:r>
              <a:rPr lang="en-IN" spc="-300" dirty="0"/>
              <a:t>I B M</a:t>
            </a:r>
            <a:r>
              <a:rPr lang="en-IN" dirty="0"/>
              <a:t> mainframe</a:t>
            </a:r>
          </a:p>
          <a:p>
            <a:pPr lvl="1"/>
            <a:r>
              <a:rPr lang="en-IN" dirty="0"/>
              <a:t>Digital workhorse for banking and telecommunications networks</a:t>
            </a:r>
          </a:p>
        </p:txBody>
      </p:sp>
      <p:sp>
        <p:nvSpPr>
          <p:cNvPr id="2" name="Footer Placeholder 1">
            <a:extLst>
              <a:ext uri="{FF2B5EF4-FFF2-40B4-BE49-F238E27FC236}">
                <a16:creationId xmlns:a16="http://schemas.microsoft.com/office/drawing/2014/main" id="{5E56EA59-0C8F-4FBC-AEC8-8C240D4B07D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26834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nchor="ctr">
            <a:spAutoFit/>
          </a:bodyPr>
          <a:lstStyle/>
          <a:p>
            <a:r>
              <a:rPr lang="en-IN" altLang="en-US" dirty="0"/>
              <a:t>Operating System Platforms</a:t>
            </a:r>
            <a:endParaRPr lang="en-US" sz="2800" dirty="0"/>
          </a:p>
        </p:txBody>
      </p:sp>
      <p:sp>
        <p:nvSpPr>
          <p:cNvPr id="5" name="Content Placeholder 4"/>
          <p:cNvSpPr>
            <a:spLocks noGrp="1"/>
          </p:cNvSpPr>
          <p:nvPr>
            <p:ph idx="1"/>
          </p:nvPr>
        </p:nvSpPr>
        <p:spPr>
          <a:xfrm>
            <a:off x="457200" y="842300"/>
            <a:ext cx="8229600" cy="3537574"/>
          </a:xfrm>
        </p:spPr>
        <p:txBody>
          <a:bodyPr>
            <a:spAutoFit/>
          </a:bodyPr>
          <a:lstStyle/>
          <a:p>
            <a:r>
              <a:rPr lang="en-IN" dirty="0"/>
              <a:t>Corporate servers</a:t>
            </a:r>
          </a:p>
          <a:p>
            <a:pPr lvl="1"/>
            <a:r>
              <a:rPr lang="en-IN" sz="2400" dirty="0"/>
              <a:t>Windows Server</a:t>
            </a:r>
          </a:p>
          <a:p>
            <a:pPr lvl="1"/>
            <a:r>
              <a:rPr lang="en-IN" sz="2400" dirty="0"/>
              <a:t>Unix</a:t>
            </a:r>
          </a:p>
          <a:p>
            <a:pPr lvl="1"/>
            <a:r>
              <a:rPr lang="en-IN" sz="2400" dirty="0"/>
              <a:t>Linux</a:t>
            </a:r>
          </a:p>
          <a:p>
            <a:pPr>
              <a:spcBef>
                <a:spcPts val="600"/>
              </a:spcBef>
            </a:pPr>
            <a:r>
              <a:rPr lang="en-IN" dirty="0"/>
              <a:t>Client level</a:t>
            </a:r>
          </a:p>
          <a:p>
            <a:pPr lvl="1"/>
            <a:r>
              <a:rPr lang="en-IN" sz="2400" dirty="0"/>
              <a:t>Microsoft Windows</a:t>
            </a:r>
          </a:p>
          <a:p>
            <a:pPr lvl="1"/>
            <a:r>
              <a:rPr lang="en-IN" sz="2400" dirty="0"/>
              <a:t>Android, </a:t>
            </a:r>
            <a:r>
              <a:rPr lang="en-IN" sz="2400" spc="-300" dirty="0" err="1"/>
              <a:t>i</a:t>
            </a:r>
            <a:r>
              <a:rPr lang="en-IN" sz="2400" spc="-300" dirty="0"/>
              <a:t> O </a:t>
            </a:r>
            <a:r>
              <a:rPr lang="en-IN" sz="2400" dirty="0"/>
              <a:t>S, Windows 10 (mobile/</a:t>
            </a:r>
            <a:r>
              <a:rPr lang="en-IN" sz="2400" dirty="0" err="1"/>
              <a:t>multitouch</a:t>
            </a:r>
            <a:r>
              <a:rPr lang="en-IN" sz="2400" dirty="0"/>
              <a:t>)</a:t>
            </a:r>
          </a:p>
          <a:p>
            <a:pPr lvl="1"/>
            <a:r>
              <a:rPr lang="en-IN" sz="2400" dirty="0"/>
              <a:t>Google’s Chrome </a:t>
            </a:r>
            <a:r>
              <a:rPr lang="en-IN" sz="2400" spc="-300" dirty="0"/>
              <a:t>O S</a:t>
            </a:r>
            <a:r>
              <a:rPr lang="en-IN" sz="2400" dirty="0"/>
              <a:t> (cloud computing)</a:t>
            </a:r>
          </a:p>
        </p:txBody>
      </p:sp>
      <p:sp>
        <p:nvSpPr>
          <p:cNvPr id="2" name="Footer Placeholder 1">
            <a:extLst>
              <a:ext uri="{FF2B5EF4-FFF2-40B4-BE49-F238E27FC236}">
                <a16:creationId xmlns:a16="http://schemas.microsoft.com/office/drawing/2014/main" id="{5BEBB69B-07A4-43E3-A0D8-B9340B9E715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35001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nchor="ctr">
            <a:spAutoFit/>
          </a:bodyPr>
          <a:lstStyle/>
          <a:p>
            <a:r>
              <a:rPr lang="en-IN" altLang="en-US" dirty="0"/>
              <a:t>Enterprise Software Applications</a:t>
            </a:r>
            <a:endParaRPr lang="en-US" sz="2800" dirty="0"/>
          </a:p>
        </p:txBody>
      </p:sp>
      <p:sp>
        <p:nvSpPr>
          <p:cNvPr id="5" name="Content Placeholder 4"/>
          <p:cNvSpPr>
            <a:spLocks noGrp="1"/>
          </p:cNvSpPr>
          <p:nvPr>
            <p:ph idx="1"/>
          </p:nvPr>
        </p:nvSpPr>
        <p:spPr>
          <a:xfrm>
            <a:off x="457200" y="842300"/>
            <a:ext cx="8229600" cy="1862048"/>
          </a:xfrm>
        </p:spPr>
        <p:txBody>
          <a:bodyPr>
            <a:spAutoFit/>
          </a:bodyPr>
          <a:lstStyle/>
          <a:p>
            <a:r>
              <a:rPr lang="en-IN" dirty="0"/>
              <a:t>In 2020, firms are expected to spend over $500 billion on software for enterprise applications</a:t>
            </a:r>
          </a:p>
          <a:p>
            <a:r>
              <a:rPr lang="en-IN" dirty="0"/>
              <a:t>Largest providers: </a:t>
            </a:r>
            <a:r>
              <a:rPr lang="en-IN" spc="-300" dirty="0"/>
              <a:t>S A P</a:t>
            </a:r>
            <a:r>
              <a:rPr lang="en-IN" dirty="0"/>
              <a:t> and Oracle</a:t>
            </a:r>
          </a:p>
          <a:p>
            <a:r>
              <a:rPr lang="en-IN" dirty="0"/>
              <a:t>Middleware providers: </a:t>
            </a:r>
            <a:r>
              <a:rPr lang="en-IN" spc="-300" dirty="0"/>
              <a:t>I B </a:t>
            </a:r>
            <a:r>
              <a:rPr lang="en-IN" dirty="0"/>
              <a:t>M, Oracle</a:t>
            </a:r>
          </a:p>
        </p:txBody>
      </p:sp>
      <p:sp>
        <p:nvSpPr>
          <p:cNvPr id="2" name="Footer Placeholder 1">
            <a:extLst>
              <a:ext uri="{FF2B5EF4-FFF2-40B4-BE49-F238E27FC236}">
                <a16:creationId xmlns:a16="http://schemas.microsoft.com/office/drawing/2014/main" id="{74BBCD21-F50E-47BF-8FE0-A29DB50AF0D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84668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nchor="ctr">
            <a:spAutoFit/>
          </a:bodyPr>
          <a:lstStyle/>
          <a:p>
            <a:r>
              <a:rPr lang="en-IN" altLang="en-US" dirty="0"/>
              <a:t>Data Management and Storage</a:t>
            </a:r>
            <a:endParaRPr lang="en-US" sz="2800" dirty="0"/>
          </a:p>
        </p:txBody>
      </p:sp>
      <p:sp>
        <p:nvSpPr>
          <p:cNvPr id="5" name="Content Placeholder 4"/>
          <p:cNvSpPr>
            <a:spLocks noGrp="1"/>
          </p:cNvSpPr>
          <p:nvPr>
            <p:ph idx="1"/>
          </p:nvPr>
        </p:nvSpPr>
        <p:spPr>
          <a:xfrm>
            <a:off x="457200" y="763138"/>
            <a:ext cx="8229600" cy="2831544"/>
          </a:xfrm>
        </p:spPr>
        <p:txBody>
          <a:bodyPr>
            <a:spAutoFit/>
          </a:bodyPr>
          <a:lstStyle/>
          <a:p>
            <a:pPr>
              <a:spcBef>
                <a:spcPts val="600"/>
              </a:spcBef>
            </a:pPr>
            <a:r>
              <a:rPr lang="en-IN" sz="2200" dirty="0"/>
              <a:t>Database software providers</a:t>
            </a:r>
          </a:p>
          <a:p>
            <a:pPr lvl="1"/>
            <a:r>
              <a:rPr lang="en-IN" spc="-300" dirty="0"/>
              <a:t>I B M</a:t>
            </a:r>
            <a:r>
              <a:rPr lang="en-IN" dirty="0"/>
              <a:t> (</a:t>
            </a:r>
            <a:r>
              <a:rPr lang="en-IN" spc="-300" dirty="0"/>
              <a:t>D B 2</a:t>
            </a:r>
            <a:r>
              <a:rPr lang="en-IN" dirty="0"/>
              <a:t>)</a:t>
            </a:r>
          </a:p>
          <a:p>
            <a:pPr lvl="1"/>
            <a:r>
              <a:rPr lang="en-IN" dirty="0"/>
              <a:t>Oracle</a:t>
            </a:r>
          </a:p>
          <a:p>
            <a:pPr lvl="1"/>
            <a:r>
              <a:rPr lang="en-IN" dirty="0"/>
              <a:t>Microsoft (</a:t>
            </a:r>
            <a:r>
              <a:rPr lang="en-IN" spc="-300" dirty="0"/>
              <a:t>S Q L</a:t>
            </a:r>
            <a:r>
              <a:rPr lang="en-IN" dirty="0"/>
              <a:t> Server)</a:t>
            </a:r>
          </a:p>
          <a:p>
            <a:pPr lvl="1"/>
            <a:r>
              <a:rPr lang="en-IN" dirty="0"/>
              <a:t>SAP Sybase (Adaptive Server Enterprise),</a:t>
            </a:r>
          </a:p>
          <a:p>
            <a:pPr lvl="1"/>
            <a:r>
              <a:rPr lang="en-IN" dirty="0" err="1"/>
              <a:t>My</a:t>
            </a:r>
            <a:r>
              <a:rPr lang="en-IN" spc="-300" dirty="0" err="1"/>
              <a:t>S</a:t>
            </a:r>
            <a:r>
              <a:rPr lang="en-IN" spc="-300" dirty="0"/>
              <a:t> Q L  </a:t>
            </a:r>
            <a:r>
              <a:rPr lang="en-IN" dirty="0"/>
              <a:t>(Oracle)</a:t>
            </a:r>
            <a:endParaRPr lang="en-IN" spc="-300" dirty="0"/>
          </a:p>
          <a:p>
            <a:pPr lvl="1"/>
            <a:r>
              <a:rPr lang="en-IN" dirty="0"/>
              <a:t>Apache Hadoop</a:t>
            </a:r>
          </a:p>
        </p:txBody>
      </p:sp>
      <p:sp>
        <p:nvSpPr>
          <p:cNvPr id="2" name="Footer Placeholder 1">
            <a:extLst>
              <a:ext uri="{FF2B5EF4-FFF2-40B4-BE49-F238E27FC236}">
                <a16:creationId xmlns:a16="http://schemas.microsoft.com/office/drawing/2014/main" id="{9F5F70C1-DC93-4A79-B66D-29DB9DD8D3B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63606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Networking/Telecommunications Platforms</a:t>
            </a:r>
            <a:endParaRPr lang="en-US" sz="2800" dirty="0"/>
          </a:p>
        </p:txBody>
      </p:sp>
      <p:sp>
        <p:nvSpPr>
          <p:cNvPr id="5" name="Content Placeholder 4"/>
          <p:cNvSpPr>
            <a:spLocks noGrp="1"/>
          </p:cNvSpPr>
          <p:nvPr>
            <p:ph idx="1"/>
          </p:nvPr>
        </p:nvSpPr>
        <p:spPr>
          <a:xfrm>
            <a:off x="457200" y="1354480"/>
            <a:ext cx="8229600" cy="3382495"/>
          </a:xfrm>
        </p:spPr>
        <p:txBody>
          <a:bodyPr>
            <a:spAutoFit/>
          </a:bodyPr>
          <a:lstStyle/>
          <a:p>
            <a:r>
              <a:rPr lang="en-IN" dirty="0"/>
              <a:t>Network operating systems</a:t>
            </a:r>
          </a:p>
          <a:p>
            <a:pPr lvl="1"/>
            <a:r>
              <a:rPr lang="en-IN" sz="2400" dirty="0"/>
              <a:t>Windows Server, Linux, Unix</a:t>
            </a:r>
          </a:p>
          <a:p>
            <a:pPr>
              <a:spcBef>
                <a:spcPts val="600"/>
              </a:spcBef>
            </a:pPr>
            <a:r>
              <a:rPr lang="en-IN" dirty="0"/>
              <a:t>Network hardware providers</a:t>
            </a:r>
          </a:p>
          <a:p>
            <a:pPr lvl="1"/>
            <a:r>
              <a:rPr lang="en-IN" sz="2400" dirty="0"/>
              <a:t>Cisco, Juniper Networks</a:t>
            </a:r>
          </a:p>
          <a:p>
            <a:pPr>
              <a:spcBef>
                <a:spcPts val="600"/>
              </a:spcBef>
            </a:pPr>
            <a:r>
              <a:rPr lang="en-IN" dirty="0"/>
              <a:t>Telecommunication services</a:t>
            </a:r>
          </a:p>
          <a:p>
            <a:pPr lvl="1"/>
            <a:r>
              <a:rPr lang="en-IN" sz="2400" dirty="0"/>
              <a:t>Telecommunications, cable, telephone company charges for voice lines and Internet access</a:t>
            </a:r>
          </a:p>
          <a:p>
            <a:pPr lvl="1"/>
            <a:r>
              <a:rPr lang="en-IN" sz="2400" spc="-300" dirty="0"/>
              <a:t>A T</a:t>
            </a:r>
            <a:r>
              <a:rPr lang="en-IN" sz="2400" dirty="0"/>
              <a:t>&amp;T, Verizon</a:t>
            </a:r>
          </a:p>
        </p:txBody>
      </p:sp>
      <p:sp>
        <p:nvSpPr>
          <p:cNvPr id="2" name="Footer Placeholder 1">
            <a:extLst>
              <a:ext uri="{FF2B5EF4-FFF2-40B4-BE49-F238E27FC236}">
                <a16:creationId xmlns:a16="http://schemas.microsoft.com/office/drawing/2014/main" id="{A998B258-F459-45A6-9C32-B7781C76F6C9}"/>
              </a:ext>
            </a:extLst>
          </p:cNvPr>
          <p:cNvSpPr>
            <a:spLocks noGrp="1"/>
          </p:cNvSpPr>
          <p:nvPr>
            <p:ph type="ftr" sz="quarter" idx="11"/>
          </p:nvPr>
        </p:nvSpPr>
        <p:spPr>
          <a:xfrm>
            <a:off x="93969" y="4629151"/>
            <a:ext cx="8595360" cy="457914"/>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4151223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IN" altLang="en-US" dirty="0"/>
              <a:t>Internet Platforms</a:t>
            </a:r>
            <a:endParaRPr lang="en-US" sz="2800" dirty="0"/>
          </a:p>
        </p:txBody>
      </p:sp>
      <p:sp>
        <p:nvSpPr>
          <p:cNvPr id="5" name="Content Placeholder 4"/>
          <p:cNvSpPr>
            <a:spLocks noGrp="1"/>
          </p:cNvSpPr>
          <p:nvPr>
            <p:ph idx="1"/>
          </p:nvPr>
        </p:nvSpPr>
        <p:spPr>
          <a:xfrm>
            <a:off x="468775" y="766100"/>
            <a:ext cx="8229600" cy="3924151"/>
          </a:xfrm>
        </p:spPr>
        <p:txBody>
          <a:bodyPr>
            <a:spAutoFit/>
          </a:bodyPr>
          <a:lstStyle/>
          <a:p>
            <a:r>
              <a:rPr lang="en-IN" sz="2200" dirty="0"/>
              <a:t>Hardware, software, management services to support company websites, intranets</a:t>
            </a:r>
          </a:p>
          <a:p>
            <a:pPr lvl="1"/>
            <a:r>
              <a:rPr lang="en-IN" dirty="0"/>
              <a:t>Web-hosting services</a:t>
            </a:r>
          </a:p>
          <a:p>
            <a:pPr lvl="1"/>
            <a:r>
              <a:rPr lang="en-IN" dirty="0"/>
              <a:t>Routers</a:t>
            </a:r>
          </a:p>
          <a:p>
            <a:pPr lvl="1"/>
            <a:r>
              <a:rPr lang="en-IN" dirty="0"/>
              <a:t>Cabling or wireless equipment</a:t>
            </a:r>
          </a:p>
          <a:p>
            <a:pPr>
              <a:spcBef>
                <a:spcPts val="600"/>
              </a:spcBef>
            </a:pPr>
            <a:r>
              <a:rPr lang="en-IN" sz="2200" dirty="0"/>
              <a:t>Internet hardware server market</a:t>
            </a:r>
          </a:p>
          <a:p>
            <a:pPr lvl="1"/>
            <a:r>
              <a:rPr lang="en-IN" spc="-300" dirty="0"/>
              <a:t>I B M</a:t>
            </a:r>
            <a:r>
              <a:rPr lang="en-IN" dirty="0"/>
              <a:t>, Dell, Oracle, </a:t>
            </a:r>
            <a:r>
              <a:rPr lang="en-IN" spc="-300" dirty="0"/>
              <a:t>H P</a:t>
            </a:r>
          </a:p>
          <a:p>
            <a:pPr>
              <a:spcBef>
                <a:spcPts val="600"/>
              </a:spcBef>
            </a:pPr>
            <a:r>
              <a:rPr lang="en-IN" sz="2200" dirty="0"/>
              <a:t>Web development tools/suites</a:t>
            </a:r>
          </a:p>
          <a:p>
            <a:pPr lvl="1"/>
            <a:r>
              <a:rPr lang="en-IN" dirty="0"/>
              <a:t>Microsoft (Visual Studio and .NET), Oracle-Sun (Java), Adobe</a:t>
            </a:r>
          </a:p>
        </p:txBody>
      </p:sp>
      <p:sp>
        <p:nvSpPr>
          <p:cNvPr id="2" name="Footer Placeholder 1">
            <a:extLst>
              <a:ext uri="{FF2B5EF4-FFF2-40B4-BE49-F238E27FC236}">
                <a16:creationId xmlns:a16="http://schemas.microsoft.com/office/drawing/2014/main" id="{45CC88D1-7980-46FB-85BE-6AD973D23A18}"/>
              </a:ext>
            </a:extLst>
          </p:cNvPr>
          <p:cNvSpPr>
            <a:spLocks noGrp="1"/>
          </p:cNvSpPr>
          <p:nvPr>
            <p:ph type="ftr" sz="quarter" idx="11"/>
          </p:nvPr>
        </p:nvSpPr>
        <p:spPr>
          <a:xfrm>
            <a:off x="93969" y="4629151"/>
            <a:ext cx="8595360" cy="380999"/>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273988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Consulting and System Integration Services</a:t>
            </a:r>
            <a:endParaRPr lang="en-US" sz="2800" dirty="0"/>
          </a:p>
        </p:txBody>
      </p:sp>
      <p:sp>
        <p:nvSpPr>
          <p:cNvPr id="5" name="Content Placeholder 4"/>
          <p:cNvSpPr>
            <a:spLocks noGrp="1"/>
          </p:cNvSpPr>
          <p:nvPr>
            <p:ph idx="1"/>
          </p:nvPr>
        </p:nvSpPr>
        <p:spPr>
          <a:xfrm>
            <a:off x="457200" y="1352550"/>
            <a:ext cx="8229600" cy="3185487"/>
          </a:xfrm>
        </p:spPr>
        <p:txBody>
          <a:bodyPr>
            <a:spAutoFit/>
          </a:bodyPr>
          <a:lstStyle/>
          <a:p>
            <a:pPr>
              <a:spcBef>
                <a:spcPts val="600"/>
              </a:spcBef>
            </a:pPr>
            <a:r>
              <a:rPr lang="en-IN" dirty="0"/>
              <a:t>Even large firms do not have resources for full range of support for new, complex infrastructure</a:t>
            </a:r>
          </a:p>
          <a:p>
            <a:pPr>
              <a:spcBef>
                <a:spcPts val="600"/>
              </a:spcBef>
            </a:pPr>
            <a:r>
              <a:rPr lang="en-IN" dirty="0"/>
              <a:t>Leading consulting firms: Accenture, </a:t>
            </a:r>
            <a:r>
              <a:rPr lang="en-IN" spc="-300" dirty="0"/>
              <a:t>I B M</a:t>
            </a:r>
            <a:r>
              <a:rPr lang="en-IN" dirty="0"/>
              <a:t> Global Services, </a:t>
            </a:r>
            <a:r>
              <a:rPr lang="en-IN" spc="-300" dirty="0"/>
              <a:t>H P</a:t>
            </a:r>
            <a:r>
              <a:rPr lang="en-IN" dirty="0"/>
              <a:t>, Infosys, Wipro Technologies</a:t>
            </a:r>
          </a:p>
          <a:p>
            <a:pPr>
              <a:spcBef>
                <a:spcPts val="600"/>
              </a:spcBef>
            </a:pPr>
            <a:r>
              <a:rPr lang="en-IN" dirty="0"/>
              <a:t>Software integration: ensuring new infrastructure works with legacy systems</a:t>
            </a:r>
          </a:p>
          <a:p>
            <a:pPr>
              <a:spcBef>
                <a:spcPts val="600"/>
              </a:spcBef>
            </a:pPr>
            <a:r>
              <a:rPr lang="en-IN" dirty="0"/>
              <a:t>Legacy systems: older </a:t>
            </a:r>
            <a:r>
              <a:rPr lang="en-IN" spc="-300" dirty="0"/>
              <a:t>T P S</a:t>
            </a:r>
            <a:r>
              <a:rPr lang="en-IN" dirty="0"/>
              <a:t> created for mainframes that would be too costly to replace or redesign</a:t>
            </a:r>
          </a:p>
        </p:txBody>
      </p:sp>
      <p:sp>
        <p:nvSpPr>
          <p:cNvPr id="2" name="Footer Placeholder 1">
            <a:extLst>
              <a:ext uri="{FF2B5EF4-FFF2-40B4-BE49-F238E27FC236}">
                <a16:creationId xmlns:a16="http://schemas.microsoft.com/office/drawing/2014/main" id="{D1FE93EB-47DB-4F45-9FCE-7519AD1C71F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78947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What Are the Current Trends in Computer Hardware Platforms? </a:t>
            </a:r>
            <a:r>
              <a:rPr lang="en-IN" altLang="en-US" sz="2800" dirty="0"/>
              <a:t>(1 of 5)</a:t>
            </a:r>
            <a:endParaRPr lang="en-US" sz="2800" dirty="0"/>
          </a:p>
        </p:txBody>
      </p:sp>
      <p:sp>
        <p:nvSpPr>
          <p:cNvPr id="5" name="Content Placeholder 4"/>
          <p:cNvSpPr>
            <a:spLocks noGrp="1"/>
          </p:cNvSpPr>
          <p:nvPr>
            <p:ph idx="1"/>
          </p:nvPr>
        </p:nvSpPr>
        <p:spPr>
          <a:xfrm>
            <a:off x="468775" y="1373129"/>
            <a:ext cx="8229600" cy="2923877"/>
          </a:xfrm>
        </p:spPr>
        <p:txBody>
          <a:bodyPr>
            <a:spAutoFit/>
          </a:bodyPr>
          <a:lstStyle/>
          <a:p>
            <a:r>
              <a:rPr lang="en-IN" sz="2000" dirty="0"/>
              <a:t>The mobile digital platform</a:t>
            </a:r>
          </a:p>
          <a:p>
            <a:pPr lvl="1"/>
            <a:r>
              <a:rPr lang="en-IN" sz="2000" dirty="0"/>
              <a:t>Smartphones</a:t>
            </a:r>
          </a:p>
          <a:p>
            <a:pPr lvl="1"/>
            <a:r>
              <a:rPr lang="en-IN" sz="2000" dirty="0"/>
              <a:t>Tablet computers</a:t>
            </a:r>
          </a:p>
          <a:p>
            <a:pPr lvl="1"/>
            <a:r>
              <a:rPr lang="en-IN" sz="2000" dirty="0"/>
              <a:t>Digital e-book readers and apps (Kindle)</a:t>
            </a:r>
          </a:p>
          <a:p>
            <a:pPr lvl="1"/>
            <a:r>
              <a:rPr lang="en-IN" sz="2000" dirty="0"/>
              <a:t>Wearable devices</a:t>
            </a:r>
          </a:p>
          <a:p>
            <a:pPr>
              <a:spcBef>
                <a:spcPts val="600"/>
              </a:spcBef>
            </a:pPr>
            <a:r>
              <a:rPr lang="en-IN" sz="2000" dirty="0" err="1"/>
              <a:t>Consumerization</a:t>
            </a:r>
            <a:r>
              <a:rPr lang="en-IN" sz="2000" dirty="0"/>
              <a:t> of </a:t>
            </a:r>
            <a:r>
              <a:rPr lang="en-IN" sz="2000" spc="-300" dirty="0"/>
              <a:t>I T</a:t>
            </a:r>
            <a:r>
              <a:rPr lang="en-IN" sz="2000" dirty="0"/>
              <a:t> and </a:t>
            </a:r>
            <a:r>
              <a:rPr lang="en-IN" sz="2000" spc="-300" dirty="0"/>
              <a:t>B Y O D</a:t>
            </a:r>
            <a:r>
              <a:rPr lang="en-IN" sz="2000" dirty="0"/>
              <a:t> (bring your own device)</a:t>
            </a:r>
          </a:p>
          <a:p>
            <a:pPr lvl="1"/>
            <a:r>
              <a:rPr lang="en-IN" sz="2000" dirty="0"/>
              <a:t>Forces businesses and </a:t>
            </a:r>
            <a:r>
              <a:rPr lang="en-IN" sz="2000" spc="-300" dirty="0"/>
              <a:t>I T</a:t>
            </a:r>
            <a:r>
              <a:rPr lang="en-IN" sz="2000" dirty="0"/>
              <a:t> departments to rethink how   </a:t>
            </a:r>
            <a:r>
              <a:rPr lang="en-IN" sz="2000" spc="-300" dirty="0"/>
              <a:t>I T</a:t>
            </a:r>
            <a:r>
              <a:rPr lang="en-IN" sz="2000" dirty="0"/>
              <a:t> equipment and services are acquired and managed</a:t>
            </a:r>
          </a:p>
        </p:txBody>
      </p:sp>
      <p:sp>
        <p:nvSpPr>
          <p:cNvPr id="2" name="Footer Placeholder 1">
            <a:extLst>
              <a:ext uri="{FF2B5EF4-FFF2-40B4-BE49-F238E27FC236}">
                <a16:creationId xmlns:a16="http://schemas.microsoft.com/office/drawing/2014/main" id="{321B03B4-3398-4B9E-BC58-DF1887ADA66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48084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5915"/>
            <a:ext cx="8229600" cy="984885"/>
          </a:xfrm>
        </p:spPr>
        <p:txBody>
          <a:bodyPr anchor="ctr">
            <a:spAutoFit/>
          </a:bodyPr>
          <a:lstStyle/>
          <a:p>
            <a:r>
              <a:rPr lang="en-US" altLang="en-US" sz="3200" dirty="0"/>
              <a:t>Interactive Session: Technology: Open Source Innovation</a:t>
            </a:r>
            <a:endParaRPr lang="en-US" sz="2400" dirty="0"/>
          </a:p>
        </p:txBody>
      </p:sp>
      <p:sp>
        <p:nvSpPr>
          <p:cNvPr id="5" name="Content Placeholder 4"/>
          <p:cNvSpPr>
            <a:spLocks noGrp="1"/>
          </p:cNvSpPr>
          <p:nvPr>
            <p:ph idx="1"/>
          </p:nvPr>
        </p:nvSpPr>
        <p:spPr>
          <a:xfrm>
            <a:off x="457200" y="1218053"/>
            <a:ext cx="8229600" cy="2569934"/>
          </a:xfrm>
        </p:spPr>
        <p:txBody>
          <a:bodyPr>
            <a:spAutoFit/>
          </a:bodyPr>
          <a:lstStyle/>
          <a:p>
            <a:r>
              <a:rPr lang="en-IN" sz="2000" dirty="0"/>
              <a:t>Class discussion</a:t>
            </a:r>
          </a:p>
          <a:p>
            <a:pPr marL="740664" marR="0" lvl="1" indent="-283464" algn="l" defTabSz="914400" rtl="0" eaLnBrk="1" fontAlgn="auto" latinLnBrk="0" hangingPunct="1">
              <a:lnSpc>
                <a:spcPct val="100000"/>
              </a:lnSpc>
              <a:spcBef>
                <a:spcPts val="600"/>
              </a:spcBef>
              <a:spcAft>
                <a:spcPts val="0"/>
              </a:spcAft>
              <a:buClr>
                <a:srgbClr val="007FA3"/>
              </a:buClr>
              <a:buSzTx/>
              <a:buFont typeface="Arial" panose="020B0604020202020204" pitchFamily="34" charset="0"/>
              <a:buChar char="–"/>
              <a:tabLst/>
              <a:defRPr/>
            </a:pPr>
            <a:r>
              <a:rPr kumimoji="0" lang="en-IN" sz="2200" b="0" i="0" u="none" strike="noStrike" kern="1200" cap="none" spc="0" normalizeH="0" baseline="0" noProof="0" dirty="0">
                <a:ln>
                  <a:noFill/>
                </a:ln>
                <a:solidFill>
                  <a:prstClr val="black"/>
                </a:solidFill>
                <a:effectLst/>
                <a:uLnTx/>
                <a:uFillTx/>
                <a:latin typeface="Arial"/>
                <a:ea typeface="+mn-ea"/>
                <a:cs typeface="+mn-cs"/>
              </a:rPr>
              <a:t>How do companies benefit from releasing their </a:t>
            </a:r>
            <a:r>
              <a:rPr kumimoji="0" lang="en-US" sz="2200" b="0" i="0" u="none" strike="noStrike" kern="1200" cap="none" spc="0" normalizeH="0" baseline="0" noProof="0" dirty="0">
                <a:ln>
                  <a:noFill/>
                </a:ln>
                <a:solidFill>
                  <a:prstClr val="black"/>
                </a:solidFill>
                <a:effectLst/>
                <a:uLnTx/>
                <a:uFillTx/>
                <a:latin typeface="Arial"/>
                <a:ea typeface="+mn-ea"/>
                <a:cs typeface="+mn-cs"/>
              </a:rPr>
              <a:t>proprietary software as open source?</a:t>
            </a:r>
            <a:endParaRPr kumimoji="0" lang="en-IN" sz="2200" b="0" i="0" u="none" strike="noStrike" kern="1200" cap="none" spc="0" normalizeH="0" baseline="0" noProof="0" dirty="0">
              <a:ln>
                <a:noFill/>
              </a:ln>
              <a:solidFill>
                <a:prstClr val="black"/>
              </a:solidFill>
              <a:effectLst/>
              <a:uLnTx/>
              <a:uFillTx/>
              <a:latin typeface="Arial"/>
              <a:ea typeface="+mn-ea"/>
              <a:cs typeface="+mn-cs"/>
            </a:endParaRPr>
          </a:p>
          <a:p>
            <a:pPr marL="740664" marR="0" lvl="1" indent="-283464" algn="l" defTabSz="914400" rtl="0" eaLnBrk="1" fontAlgn="auto" latinLnBrk="0" hangingPunct="1">
              <a:lnSpc>
                <a:spcPct val="100000"/>
              </a:lnSpc>
              <a:spcBef>
                <a:spcPts val="600"/>
              </a:spcBef>
              <a:spcAft>
                <a:spcPts val="0"/>
              </a:spcAft>
              <a:buClr>
                <a:srgbClr val="007FA3"/>
              </a:buClr>
              <a:buSzTx/>
              <a:buFont typeface="Arial" panose="020B0604020202020204" pitchFamily="34" charset="0"/>
              <a:buChar char="–"/>
              <a:tabLst/>
              <a:defRPr/>
            </a:pPr>
            <a:r>
              <a:rPr kumimoji="0" lang="en-IN" sz="2200" b="0" i="0" u="none" strike="noStrike" kern="1200" cap="none" spc="0" normalizeH="0" baseline="0" noProof="0" dirty="0">
                <a:ln>
                  <a:noFill/>
                </a:ln>
                <a:solidFill>
                  <a:prstClr val="black"/>
                </a:solidFill>
                <a:effectLst/>
                <a:uLnTx/>
                <a:uFillTx/>
                <a:latin typeface="Arial"/>
                <a:ea typeface="+mn-ea"/>
                <a:cs typeface="+mn-cs"/>
              </a:rPr>
              <a:t>How do software firms in the East in particular benefit from releasing their source code?</a:t>
            </a:r>
          </a:p>
          <a:p>
            <a:pPr marL="740664" marR="0" lvl="1" indent="-283464" algn="l" defTabSz="914400" rtl="0" eaLnBrk="1" fontAlgn="auto" latinLnBrk="0" hangingPunct="1">
              <a:lnSpc>
                <a:spcPct val="100000"/>
              </a:lnSpc>
              <a:spcBef>
                <a:spcPts val="600"/>
              </a:spcBef>
              <a:spcAft>
                <a:spcPts val="0"/>
              </a:spcAft>
              <a:buClr>
                <a:srgbClr val="007FA3"/>
              </a:buClr>
              <a:buSzTx/>
              <a:buFont typeface="Arial" panose="020B0604020202020204" pitchFamily="34" charset="0"/>
              <a:buChar char="–"/>
              <a:tabLst/>
              <a:defRPr/>
            </a:pPr>
            <a:r>
              <a:rPr kumimoji="0" lang="en-IN" sz="2200" b="0" i="0" u="none" strike="noStrike" kern="1200" cap="none" spc="0" normalizeH="0" baseline="0" noProof="0" dirty="0">
                <a:ln>
                  <a:noFill/>
                </a:ln>
                <a:solidFill>
                  <a:prstClr val="black"/>
                </a:solidFill>
                <a:effectLst/>
                <a:uLnTx/>
                <a:uFillTx/>
                <a:latin typeface="Arial"/>
                <a:ea typeface="+mn-ea"/>
                <a:cs typeface="+mn-cs"/>
              </a:rPr>
              <a:t>Select a business and describe how open source innovation can give it a comparative advantage.</a:t>
            </a:r>
          </a:p>
        </p:txBody>
      </p:sp>
      <p:sp>
        <p:nvSpPr>
          <p:cNvPr id="2" name="Footer Placeholder 1">
            <a:extLst>
              <a:ext uri="{FF2B5EF4-FFF2-40B4-BE49-F238E27FC236}">
                <a16:creationId xmlns:a16="http://schemas.microsoft.com/office/drawing/2014/main" id="{5950BC53-4464-4094-8621-5B8F03F5F16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40428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757"/>
            <a:ext cx="8229600" cy="1107996"/>
          </a:xfrm>
        </p:spPr>
        <p:txBody>
          <a:bodyPr>
            <a:spAutoFit/>
          </a:bodyPr>
          <a:lstStyle/>
          <a:p>
            <a:r>
              <a:rPr lang="en-IN" altLang="en-US" dirty="0"/>
              <a:t>What Are the Current Trends in Computer Hardware Platforms? </a:t>
            </a:r>
            <a:r>
              <a:rPr lang="en-IN" altLang="en-US" sz="2800" dirty="0"/>
              <a:t>(2 of 5)</a:t>
            </a:r>
            <a:endParaRPr lang="en-US" sz="2800" dirty="0"/>
          </a:p>
        </p:txBody>
      </p:sp>
      <p:sp>
        <p:nvSpPr>
          <p:cNvPr id="5" name="Content Placeholder 4"/>
          <p:cNvSpPr>
            <a:spLocks noGrp="1"/>
          </p:cNvSpPr>
          <p:nvPr>
            <p:ph idx="1"/>
          </p:nvPr>
        </p:nvSpPr>
        <p:spPr>
          <a:xfrm>
            <a:off x="468775" y="1371600"/>
            <a:ext cx="8229600" cy="3539430"/>
          </a:xfrm>
        </p:spPr>
        <p:txBody>
          <a:bodyPr>
            <a:spAutoFit/>
          </a:bodyPr>
          <a:lstStyle/>
          <a:p>
            <a:r>
              <a:rPr lang="en-IN" sz="2000" dirty="0"/>
              <a:t>Quantum computing</a:t>
            </a:r>
          </a:p>
          <a:p>
            <a:pPr lvl="1"/>
            <a:r>
              <a:rPr lang="en-IN" sz="2000" dirty="0"/>
              <a:t>Uses quantum physics to represent and operate on data</a:t>
            </a:r>
          </a:p>
          <a:p>
            <a:pPr lvl="1"/>
            <a:r>
              <a:rPr lang="en-IN" sz="2000" dirty="0"/>
              <a:t>Dramatic increases in computing speed</a:t>
            </a:r>
          </a:p>
          <a:p>
            <a:pPr>
              <a:spcBef>
                <a:spcPts val="600"/>
              </a:spcBef>
            </a:pPr>
            <a:r>
              <a:rPr lang="en-IN" sz="2000" dirty="0"/>
              <a:t>Virtualization</a:t>
            </a:r>
          </a:p>
          <a:p>
            <a:pPr lvl="1"/>
            <a:r>
              <a:rPr lang="en-IN" sz="2000" dirty="0"/>
              <a:t>Allows single physical resource to act as multiple resources (i.e., run multiple instances of </a:t>
            </a:r>
            <a:r>
              <a:rPr lang="en-IN" sz="2000" spc="-300" dirty="0"/>
              <a:t>O S</a:t>
            </a:r>
            <a:r>
              <a:rPr lang="en-IN" sz="2000" dirty="0"/>
              <a:t>); also enables multiple physical resources (such as storage devices) to appear as a single logical resource (such as in software-defined storage (SDS))</a:t>
            </a:r>
          </a:p>
          <a:p>
            <a:pPr lvl="1"/>
            <a:r>
              <a:rPr lang="en-IN" sz="2000" dirty="0"/>
              <a:t>Reduces hardware and power expenditures</a:t>
            </a:r>
          </a:p>
          <a:p>
            <a:pPr lvl="1"/>
            <a:r>
              <a:rPr lang="en-IN" sz="2000" dirty="0"/>
              <a:t>Facilitates hardware centralization</a:t>
            </a:r>
          </a:p>
        </p:txBody>
      </p:sp>
      <p:sp>
        <p:nvSpPr>
          <p:cNvPr id="2" name="Footer Placeholder 1">
            <a:extLst>
              <a:ext uri="{FF2B5EF4-FFF2-40B4-BE49-F238E27FC236}">
                <a16:creationId xmlns:a16="http://schemas.microsoft.com/office/drawing/2014/main" id="{D3F78E2D-ADEB-4E3D-B498-11CBEA53E9A3}"/>
              </a:ext>
            </a:extLst>
          </p:cNvPr>
          <p:cNvSpPr>
            <a:spLocks noGrp="1"/>
          </p:cNvSpPr>
          <p:nvPr>
            <p:ph type="ftr" sz="quarter" idx="11"/>
          </p:nvPr>
        </p:nvSpPr>
        <p:spPr>
          <a:xfrm>
            <a:off x="93969" y="4629151"/>
            <a:ext cx="8595360" cy="486726"/>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408759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757"/>
            <a:ext cx="8229600" cy="1107996"/>
          </a:xfrm>
        </p:spPr>
        <p:txBody>
          <a:bodyPr>
            <a:spAutoFit/>
          </a:bodyPr>
          <a:lstStyle/>
          <a:p>
            <a:r>
              <a:rPr lang="en-IN" altLang="en-US" dirty="0"/>
              <a:t>What Are the Current Trends in Computer Hardware Platforms? </a:t>
            </a:r>
            <a:r>
              <a:rPr lang="en-IN" altLang="en-US" sz="2800" dirty="0"/>
              <a:t>(3 of 5)</a:t>
            </a:r>
            <a:endParaRPr lang="en-US" sz="2800" dirty="0"/>
          </a:p>
        </p:txBody>
      </p:sp>
      <p:sp>
        <p:nvSpPr>
          <p:cNvPr id="5" name="Content Placeholder 4"/>
          <p:cNvSpPr>
            <a:spLocks noGrp="1"/>
          </p:cNvSpPr>
          <p:nvPr>
            <p:ph idx="1"/>
          </p:nvPr>
        </p:nvSpPr>
        <p:spPr>
          <a:xfrm>
            <a:off x="468775" y="1371600"/>
            <a:ext cx="8229600" cy="3385542"/>
          </a:xfrm>
        </p:spPr>
        <p:txBody>
          <a:bodyPr>
            <a:spAutoFit/>
          </a:bodyPr>
          <a:lstStyle/>
          <a:p>
            <a:r>
              <a:rPr lang="en-IN" sz="2000" dirty="0"/>
              <a:t>Cloud computing</a:t>
            </a:r>
          </a:p>
          <a:p>
            <a:pPr lvl="1"/>
            <a:r>
              <a:rPr lang="en-IN" sz="2000" dirty="0"/>
              <a:t>On-demand computing services obtained over network</a:t>
            </a:r>
          </a:p>
          <a:p>
            <a:pPr lvl="2"/>
            <a:r>
              <a:rPr lang="en-IN" dirty="0"/>
              <a:t>Infrastructure as a service (</a:t>
            </a:r>
            <a:r>
              <a:rPr lang="en-IN" spc="-300" dirty="0"/>
              <a:t>I a </a:t>
            </a:r>
            <a:r>
              <a:rPr lang="en-IN" spc="-300" dirty="0" err="1"/>
              <a:t>a</a:t>
            </a:r>
            <a:r>
              <a:rPr lang="en-IN" spc="-300" dirty="0"/>
              <a:t> S</a:t>
            </a:r>
            <a:r>
              <a:rPr lang="en-IN" dirty="0"/>
              <a:t>)</a:t>
            </a:r>
          </a:p>
          <a:p>
            <a:pPr lvl="2"/>
            <a:r>
              <a:rPr lang="en-IN" dirty="0"/>
              <a:t>Software as a service (</a:t>
            </a:r>
            <a:r>
              <a:rPr lang="en-IN" spc="-300" dirty="0"/>
              <a:t>S a </a:t>
            </a:r>
            <a:r>
              <a:rPr lang="en-IN" spc="-300" dirty="0" err="1"/>
              <a:t>a</a:t>
            </a:r>
            <a:r>
              <a:rPr lang="en-IN" spc="-300" dirty="0"/>
              <a:t> S</a:t>
            </a:r>
            <a:r>
              <a:rPr lang="en-IN" dirty="0"/>
              <a:t>)</a:t>
            </a:r>
          </a:p>
          <a:p>
            <a:pPr lvl="2"/>
            <a:r>
              <a:rPr lang="en-IN" dirty="0"/>
              <a:t>Platform as a service (</a:t>
            </a:r>
            <a:r>
              <a:rPr lang="en-IN" spc="-300" dirty="0"/>
              <a:t>P a </a:t>
            </a:r>
            <a:r>
              <a:rPr lang="en-IN" spc="-300" dirty="0" err="1"/>
              <a:t>a</a:t>
            </a:r>
            <a:r>
              <a:rPr lang="en-IN" spc="-300" dirty="0"/>
              <a:t> S</a:t>
            </a:r>
            <a:r>
              <a:rPr lang="en-IN" dirty="0"/>
              <a:t>)</a:t>
            </a:r>
          </a:p>
          <a:p>
            <a:pPr lvl="1"/>
            <a:r>
              <a:rPr lang="en-IN" sz="2000" dirty="0"/>
              <a:t>Cloud can be public or private</a:t>
            </a:r>
          </a:p>
          <a:p>
            <a:pPr lvl="1"/>
            <a:r>
              <a:rPr lang="en-IN" sz="2000" dirty="0"/>
              <a:t>Allows companies to minimize </a:t>
            </a:r>
            <a:r>
              <a:rPr lang="en-IN" sz="2000" spc="-300" dirty="0"/>
              <a:t>I T</a:t>
            </a:r>
            <a:r>
              <a:rPr lang="en-IN" sz="2000" dirty="0"/>
              <a:t> investments</a:t>
            </a:r>
          </a:p>
          <a:p>
            <a:pPr lvl="1"/>
            <a:r>
              <a:rPr lang="en-IN" sz="2000" dirty="0"/>
              <a:t>Drawbacks: Concerns of security, reliability</a:t>
            </a:r>
          </a:p>
          <a:p>
            <a:pPr lvl="1"/>
            <a:r>
              <a:rPr lang="en-IN" sz="2000" dirty="0"/>
              <a:t>Hybrid cloud computing model</a:t>
            </a:r>
          </a:p>
        </p:txBody>
      </p:sp>
      <p:sp>
        <p:nvSpPr>
          <p:cNvPr id="2" name="Footer Placeholder 1">
            <a:extLst>
              <a:ext uri="{FF2B5EF4-FFF2-40B4-BE49-F238E27FC236}">
                <a16:creationId xmlns:a16="http://schemas.microsoft.com/office/drawing/2014/main" id="{EDAB125D-68F1-42E0-A6FF-D0E56F186D9C}"/>
              </a:ext>
            </a:extLst>
          </p:cNvPr>
          <p:cNvSpPr>
            <a:spLocks noGrp="1"/>
          </p:cNvSpPr>
          <p:nvPr>
            <p:ph type="ftr" sz="quarter" idx="11"/>
          </p:nvPr>
        </p:nvSpPr>
        <p:spPr>
          <a:xfrm>
            <a:off x="93969" y="4629151"/>
            <a:ext cx="8595360" cy="455592"/>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4039730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9702"/>
            <a:ext cx="8229600" cy="553998"/>
          </a:xfrm>
        </p:spPr>
        <p:txBody>
          <a:bodyPr>
            <a:spAutoFit/>
          </a:bodyPr>
          <a:lstStyle/>
          <a:p>
            <a:r>
              <a:rPr lang="en-IN" altLang="en-US" dirty="0"/>
              <a:t>Figure 5.9 Cloud Computing Platform</a:t>
            </a:r>
            <a:endParaRPr lang="en-US" sz="2800" dirty="0"/>
          </a:p>
        </p:txBody>
      </p:sp>
      <p:pic>
        <p:nvPicPr>
          <p:cNvPr id="11266" name="Picture 2" descr="An illustration explains the concept of cloud computing.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151929" y="819150"/>
            <a:ext cx="4840143" cy="390360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5534B3A-E95E-4D78-96C5-8DB95FF72B23}"/>
              </a:ext>
            </a:extLst>
          </p:cNvPr>
          <p:cNvSpPr>
            <a:spLocks noGrp="1"/>
          </p:cNvSpPr>
          <p:nvPr>
            <p:ph type="ftr" sz="quarter" idx="11"/>
          </p:nvPr>
        </p:nvSpPr>
        <p:spPr>
          <a:xfrm>
            <a:off x="93969" y="4629151"/>
            <a:ext cx="8595360" cy="454647"/>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087778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IN" altLang="en-US" dirty="0"/>
              <a:t>Figure 5.10 Amazon Web Services</a:t>
            </a:r>
            <a:endParaRPr lang="en-US" sz="2800" dirty="0"/>
          </a:p>
        </p:txBody>
      </p:sp>
      <p:pic>
        <p:nvPicPr>
          <p:cNvPr id="12290" name="Picture 2" descr="A circular diagram lists the various web services that Amazon provides to the users of its cloud platform.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616958" y="883429"/>
            <a:ext cx="3910084" cy="386201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BD4275C-BE56-4670-8DC5-395590131D78}"/>
              </a:ext>
            </a:extLst>
          </p:cNvPr>
          <p:cNvSpPr>
            <a:spLocks noGrp="1"/>
          </p:cNvSpPr>
          <p:nvPr>
            <p:ph type="ftr" sz="quarter" idx="11"/>
          </p:nvPr>
        </p:nvSpPr>
        <p:spPr>
          <a:xfrm>
            <a:off x="93969" y="4629151"/>
            <a:ext cx="8595360" cy="445624"/>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346891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757"/>
            <a:ext cx="8229600" cy="1107996"/>
          </a:xfrm>
        </p:spPr>
        <p:txBody>
          <a:bodyPr>
            <a:spAutoFit/>
          </a:bodyPr>
          <a:lstStyle/>
          <a:p>
            <a:r>
              <a:rPr lang="en-US" altLang="en-US" dirty="0"/>
              <a:t>Interactive Session: Organizations: Glory Finds Solutions in the Cloud</a:t>
            </a:r>
            <a:endParaRPr lang="en-US" sz="2800" dirty="0"/>
          </a:p>
        </p:txBody>
      </p:sp>
      <p:sp>
        <p:nvSpPr>
          <p:cNvPr id="5" name="Content Placeholder 4"/>
          <p:cNvSpPr>
            <a:spLocks noGrp="1"/>
          </p:cNvSpPr>
          <p:nvPr>
            <p:ph idx="1"/>
          </p:nvPr>
        </p:nvSpPr>
        <p:spPr>
          <a:xfrm>
            <a:off x="457200" y="1371600"/>
            <a:ext cx="8229600" cy="3262432"/>
          </a:xfrm>
        </p:spPr>
        <p:txBody>
          <a:bodyPr>
            <a:spAutoFit/>
          </a:bodyPr>
          <a:lstStyle/>
          <a:p>
            <a:r>
              <a:rPr lang="en-IN" dirty="0"/>
              <a:t>Class discussion</a:t>
            </a:r>
          </a:p>
          <a:p>
            <a:pPr lvl="1"/>
            <a:r>
              <a:rPr lang="en-US" sz="2400" dirty="0"/>
              <a:t>Why did Glory choose a cloud solution as opposed to modernizing the systems it had?</a:t>
            </a:r>
          </a:p>
          <a:p>
            <a:pPr lvl="1"/>
            <a:r>
              <a:rPr lang="en-US" sz="2400" dirty="0"/>
              <a:t>Why was it necessary to hire a systems integrator firm?</a:t>
            </a:r>
          </a:p>
          <a:p>
            <a:pPr lvl="1"/>
            <a:r>
              <a:rPr lang="en-US" sz="2400" dirty="0"/>
              <a:t>What were the main organizational change requirements for implementing the new cloud platform?</a:t>
            </a:r>
          </a:p>
          <a:p>
            <a:pPr lvl="1"/>
            <a:r>
              <a:rPr lang="en-US" sz="2400" dirty="0"/>
              <a:t>Why did management choose a regional rollout strategy? Why in the UK?</a:t>
            </a:r>
          </a:p>
        </p:txBody>
      </p:sp>
      <p:sp>
        <p:nvSpPr>
          <p:cNvPr id="2" name="Footer Placeholder 1">
            <a:extLst>
              <a:ext uri="{FF2B5EF4-FFF2-40B4-BE49-F238E27FC236}">
                <a16:creationId xmlns:a16="http://schemas.microsoft.com/office/drawing/2014/main" id="{50468F47-3E37-43D7-972D-FAD631A89A6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44931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757"/>
            <a:ext cx="8229600" cy="1107996"/>
          </a:xfrm>
        </p:spPr>
        <p:txBody>
          <a:bodyPr>
            <a:spAutoFit/>
          </a:bodyPr>
          <a:lstStyle/>
          <a:p>
            <a:r>
              <a:rPr lang="en-IN" altLang="en-US" dirty="0"/>
              <a:t>What Are the Current Trends in Computer Hardware Platforms? </a:t>
            </a:r>
            <a:r>
              <a:rPr lang="en-IN" altLang="en-US" sz="2800" dirty="0"/>
              <a:t>(4 of 5)</a:t>
            </a:r>
            <a:endParaRPr lang="en-US" sz="2800" dirty="0"/>
          </a:p>
        </p:txBody>
      </p:sp>
      <p:sp>
        <p:nvSpPr>
          <p:cNvPr id="5" name="Content Placeholder 4"/>
          <p:cNvSpPr>
            <a:spLocks noGrp="1"/>
          </p:cNvSpPr>
          <p:nvPr>
            <p:ph idx="1"/>
          </p:nvPr>
        </p:nvSpPr>
        <p:spPr>
          <a:xfrm>
            <a:off x="457200" y="1371600"/>
            <a:ext cx="8229600" cy="1631216"/>
          </a:xfrm>
        </p:spPr>
        <p:txBody>
          <a:bodyPr>
            <a:spAutoFit/>
          </a:bodyPr>
          <a:lstStyle/>
          <a:p>
            <a:r>
              <a:rPr lang="en-IN" dirty="0"/>
              <a:t>Edge computing</a:t>
            </a:r>
          </a:p>
          <a:p>
            <a:pPr lvl="1"/>
            <a:r>
              <a:rPr lang="en-IN" sz="2400" dirty="0"/>
              <a:t>Servers at the edge of the network, near the source of the data</a:t>
            </a:r>
          </a:p>
          <a:p>
            <a:pPr lvl="1"/>
            <a:r>
              <a:rPr lang="en-IN" sz="2400" dirty="0"/>
              <a:t>Reduces latency and network traffic</a:t>
            </a:r>
          </a:p>
        </p:txBody>
      </p:sp>
      <p:sp>
        <p:nvSpPr>
          <p:cNvPr id="2" name="Footer Placeholder 1">
            <a:extLst>
              <a:ext uri="{FF2B5EF4-FFF2-40B4-BE49-F238E27FC236}">
                <a16:creationId xmlns:a16="http://schemas.microsoft.com/office/drawing/2014/main" id="{7DE63145-D5BB-49B6-847F-BA8D024FE55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34962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757"/>
            <a:ext cx="8229600" cy="1107996"/>
          </a:xfrm>
        </p:spPr>
        <p:txBody>
          <a:bodyPr>
            <a:spAutoFit/>
          </a:bodyPr>
          <a:lstStyle/>
          <a:p>
            <a:r>
              <a:rPr lang="en-IN" altLang="en-US" dirty="0"/>
              <a:t>What Are the Current Trends in Computer Hardware Platforms? </a:t>
            </a:r>
            <a:r>
              <a:rPr lang="en-IN" altLang="en-US" sz="2800" dirty="0"/>
              <a:t>(5 of 5)</a:t>
            </a:r>
            <a:endParaRPr lang="en-US" sz="2800" dirty="0"/>
          </a:p>
        </p:txBody>
      </p:sp>
      <p:sp>
        <p:nvSpPr>
          <p:cNvPr id="5" name="Content Placeholder 4"/>
          <p:cNvSpPr>
            <a:spLocks noGrp="1"/>
          </p:cNvSpPr>
          <p:nvPr>
            <p:ph idx="1"/>
          </p:nvPr>
        </p:nvSpPr>
        <p:spPr>
          <a:xfrm>
            <a:off x="468775" y="1352550"/>
            <a:ext cx="8229600" cy="3393929"/>
          </a:xfrm>
        </p:spPr>
        <p:txBody>
          <a:bodyPr>
            <a:spAutoFit/>
          </a:bodyPr>
          <a:lstStyle/>
          <a:p>
            <a:r>
              <a:rPr lang="en-IN" dirty="0"/>
              <a:t>Green computing (Green </a:t>
            </a:r>
            <a:r>
              <a:rPr lang="en-IN" spc="-300" dirty="0"/>
              <a:t>I T </a:t>
            </a:r>
            <a:r>
              <a:rPr lang="en-IN" dirty="0"/>
              <a:t>)</a:t>
            </a:r>
          </a:p>
          <a:p>
            <a:pPr lvl="1"/>
            <a:r>
              <a:rPr lang="en-IN" sz="2400" dirty="0"/>
              <a:t>Practices and technologies for manufacturing, using, disposing of computing and networking hardware</a:t>
            </a:r>
          </a:p>
          <a:p>
            <a:pPr lvl="1"/>
            <a:r>
              <a:rPr lang="en-IN" sz="2400" dirty="0"/>
              <a:t>Reducing power consumption a high priority</a:t>
            </a:r>
          </a:p>
          <a:p>
            <a:pPr lvl="1"/>
            <a:r>
              <a:rPr lang="en-IN" sz="2400" dirty="0"/>
              <a:t>Green data </a:t>
            </a:r>
            <a:r>
              <a:rPr lang="en-IN" sz="2400" dirty="0" err="1"/>
              <a:t>centers</a:t>
            </a:r>
            <a:endParaRPr lang="en-IN" sz="2400" dirty="0"/>
          </a:p>
          <a:p>
            <a:pPr>
              <a:spcBef>
                <a:spcPts val="600"/>
              </a:spcBef>
            </a:pPr>
            <a:r>
              <a:rPr lang="en-IN" dirty="0"/>
              <a:t>High-performance, power-saving processors</a:t>
            </a:r>
          </a:p>
          <a:p>
            <a:pPr lvl="1"/>
            <a:r>
              <a:rPr lang="en-IN" sz="2400" dirty="0"/>
              <a:t>Multicore processors</a:t>
            </a:r>
          </a:p>
          <a:p>
            <a:pPr lvl="1"/>
            <a:r>
              <a:rPr lang="en-IN" sz="2400" dirty="0"/>
              <a:t>Power-efficient microprocessors</a:t>
            </a:r>
          </a:p>
        </p:txBody>
      </p:sp>
      <p:sp>
        <p:nvSpPr>
          <p:cNvPr id="2" name="Footer Placeholder 1">
            <a:extLst>
              <a:ext uri="{FF2B5EF4-FFF2-40B4-BE49-F238E27FC236}">
                <a16:creationId xmlns:a16="http://schemas.microsoft.com/office/drawing/2014/main" id="{56ECC505-3FBA-4410-84B9-59851BCD2169}"/>
              </a:ext>
            </a:extLst>
          </p:cNvPr>
          <p:cNvSpPr>
            <a:spLocks noGrp="1"/>
          </p:cNvSpPr>
          <p:nvPr>
            <p:ph type="ftr" sz="quarter" idx="11"/>
          </p:nvPr>
        </p:nvSpPr>
        <p:spPr>
          <a:xfrm>
            <a:off x="93969" y="4629151"/>
            <a:ext cx="8595360" cy="455592"/>
          </a:xfrm>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39641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450"/>
            <a:ext cx="8229600" cy="984885"/>
          </a:xfrm>
        </p:spPr>
        <p:txBody>
          <a:bodyPr>
            <a:spAutoFit/>
          </a:bodyPr>
          <a:lstStyle/>
          <a:p>
            <a:r>
              <a:rPr lang="en-IN" altLang="en-US" sz="3200" dirty="0"/>
              <a:t>What Are the Current Computer Software Platforms and Trends? </a:t>
            </a:r>
            <a:r>
              <a:rPr lang="en-IN" altLang="en-US" sz="2400" dirty="0"/>
              <a:t>(1 of 3)</a:t>
            </a:r>
            <a:endParaRPr lang="en-US" sz="2400" dirty="0"/>
          </a:p>
        </p:txBody>
      </p:sp>
      <p:sp>
        <p:nvSpPr>
          <p:cNvPr id="5" name="Content Placeholder 4"/>
          <p:cNvSpPr>
            <a:spLocks noGrp="1"/>
          </p:cNvSpPr>
          <p:nvPr>
            <p:ph idx="1"/>
          </p:nvPr>
        </p:nvSpPr>
        <p:spPr>
          <a:xfrm>
            <a:off x="468775" y="1176167"/>
            <a:ext cx="8229600" cy="3623881"/>
          </a:xfrm>
        </p:spPr>
        <p:txBody>
          <a:bodyPr>
            <a:spAutoFit/>
          </a:bodyPr>
          <a:lstStyle/>
          <a:p>
            <a:r>
              <a:rPr lang="en-IN" sz="2000" dirty="0"/>
              <a:t>Linux and open-source software</a:t>
            </a:r>
          </a:p>
          <a:p>
            <a:pPr lvl="1">
              <a:spcBef>
                <a:spcPts val="400"/>
              </a:spcBef>
            </a:pPr>
            <a:r>
              <a:rPr lang="en-IN" sz="2000" dirty="0"/>
              <a:t>Produced by community of programmers</a:t>
            </a:r>
          </a:p>
          <a:p>
            <a:pPr lvl="1"/>
            <a:r>
              <a:rPr lang="en-IN" sz="2000" dirty="0"/>
              <a:t>Examples: Apache web server, Mozilla Firefox browser, </a:t>
            </a:r>
            <a:r>
              <a:rPr lang="en-IN" sz="2000" dirty="0" err="1"/>
              <a:t>OpenOffice</a:t>
            </a:r>
            <a:endParaRPr lang="en-IN" sz="2000" dirty="0"/>
          </a:p>
          <a:p>
            <a:pPr lvl="1"/>
            <a:r>
              <a:rPr lang="en-IN" sz="2000" dirty="0"/>
              <a:t>Linux</a:t>
            </a:r>
          </a:p>
          <a:p>
            <a:pPr>
              <a:spcBef>
                <a:spcPts val="600"/>
              </a:spcBef>
            </a:pPr>
            <a:r>
              <a:rPr lang="en-IN" sz="2000" dirty="0"/>
              <a:t>Software for the web: Java, </a:t>
            </a:r>
            <a:r>
              <a:rPr lang="en-IN" sz="2000" spc="-300" dirty="0"/>
              <a:t>H T M L</a:t>
            </a:r>
            <a:r>
              <a:rPr lang="en-IN" sz="2000" dirty="0"/>
              <a:t>, and </a:t>
            </a:r>
            <a:r>
              <a:rPr lang="en-IN" sz="2000" spc="-300" dirty="0"/>
              <a:t>H T M L </a:t>
            </a:r>
            <a:r>
              <a:rPr lang="en-IN" sz="2000" dirty="0"/>
              <a:t>5</a:t>
            </a:r>
          </a:p>
          <a:p>
            <a:pPr lvl="1"/>
            <a:r>
              <a:rPr lang="en-IN" sz="2000" dirty="0"/>
              <a:t>Java Virtual Machine</a:t>
            </a:r>
          </a:p>
          <a:p>
            <a:pPr lvl="1"/>
            <a:r>
              <a:rPr lang="en-IN" sz="2000" dirty="0"/>
              <a:t>Web browsers</a:t>
            </a:r>
          </a:p>
          <a:p>
            <a:pPr lvl="1"/>
            <a:r>
              <a:rPr lang="en-IN" sz="2000" spc="-300" dirty="0"/>
              <a:t>H T M L</a:t>
            </a:r>
            <a:r>
              <a:rPr lang="en-IN" sz="2000" dirty="0"/>
              <a:t> and </a:t>
            </a:r>
            <a:r>
              <a:rPr lang="en-IN" sz="2000" spc="-300" dirty="0"/>
              <a:t>H T M L </a:t>
            </a:r>
            <a:r>
              <a:rPr lang="en-IN" sz="2000" dirty="0"/>
              <a:t>5</a:t>
            </a:r>
          </a:p>
          <a:p>
            <a:pPr lvl="1"/>
            <a:r>
              <a:rPr lang="en-IN" sz="2000" dirty="0"/>
              <a:t>Ruby and Python</a:t>
            </a:r>
          </a:p>
        </p:txBody>
      </p:sp>
      <p:sp>
        <p:nvSpPr>
          <p:cNvPr id="2" name="Footer Placeholder 1">
            <a:extLst>
              <a:ext uri="{FF2B5EF4-FFF2-40B4-BE49-F238E27FC236}">
                <a16:creationId xmlns:a16="http://schemas.microsoft.com/office/drawing/2014/main" id="{1D69BE8D-C05C-49F4-9B56-AAD23D528EFF}"/>
              </a:ext>
            </a:extLst>
          </p:cNvPr>
          <p:cNvSpPr>
            <a:spLocks noGrp="1"/>
          </p:cNvSpPr>
          <p:nvPr>
            <p:ph type="ftr" sz="quarter" idx="11"/>
          </p:nvPr>
        </p:nvSpPr>
        <p:spPr>
          <a:xfrm>
            <a:off x="93969" y="4629151"/>
            <a:ext cx="8595360" cy="514349"/>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4000953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0200"/>
            <a:ext cx="8229600" cy="984885"/>
          </a:xfrm>
        </p:spPr>
        <p:txBody>
          <a:bodyPr>
            <a:spAutoFit/>
          </a:bodyPr>
          <a:lstStyle/>
          <a:p>
            <a:r>
              <a:rPr lang="en-IN" altLang="en-US" sz="3200" dirty="0"/>
              <a:t>What Are the Current Computer Software Platforms and Trends? </a:t>
            </a:r>
            <a:r>
              <a:rPr lang="en-IN" altLang="en-US" sz="2400" dirty="0"/>
              <a:t>(2 of 3)</a:t>
            </a:r>
            <a:endParaRPr lang="en-US" sz="2400" dirty="0"/>
          </a:p>
        </p:txBody>
      </p:sp>
      <p:sp>
        <p:nvSpPr>
          <p:cNvPr id="5" name="Content Placeholder 4"/>
          <p:cNvSpPr>
            <a:spLocks noGrp="1"/>
          </p:cNvSpPr>
          <p:nvPr>
            <p:ph idx="1"/>
          </p:nvPr>
        </p:nvSpPr>
        <p:spPr>
          <a:xfrm>
            <a:off x="468775" y="1158675"/>
            <a:ext cx="8229600" cy="3093154"/>
          </a:xfrm>
        </p:spPr>
        <p:txBody>
          <a:bodyPr>
            <a:spAutoFit/>
          </a:bodyPr>
          <a:lstStyle/>
          <a:p>
            <a:r>
              <a:rPr lang="en-IN" sz="2200" dirty="0"/>
              <a:t>Web services and service-oriented architecture</a:t>
            </a:r>
          </a:p>
          <a:p>
            <a:pPr lvl="1"/>
            <a:r>
              <a:rPr lang="en-IN" dirty="0"/>
              <a:t>Web services</a:t>
            </a:r>
          </a:p>
          <a:p>
            <a:pPr lvl="1"/>
            <a:r>
              <a:rPr lang="en-IN" spc="-300" dirty="0"/>
              <a:t>X M L </a:t>
            </a:r>
            <a:r>
              <a:rPr lang="en-IN" dirty="0"/>
              <a:t>: Extensible </a:t>
            </a:r>
            <a:r>
              <a:rPr lang="en-IN" dirty="0" err="1"/>
              <a:t>Markup</a:t>
            </a:r>
            <a:r>
              <a:rPr lang="en-IN" dirty="0"/>
              <a:t> Language</a:t>
            </a:r>
          </a:p>
          <a:p>
            <a:pPr lvl="1"/>
            <a:r>
              <a:rPr lang="en-IN" spc="-300" dirty="0"/>
              <a:t>S O A </a:t>
            </a:r>
            <a:r>
              <a:rPr lang="en-IN" dirty="0"/>
              <a:t>: service-oriented architecture</a:t>
            </a:r>
          </a:p>
          <a:p>
            <a:pPr lvl="2"/>
            <a:r>
              <a:rPr lang="en-IN" sz="2200" dirty="0"/>
              <a:t>Set of self-contained services that communicate with one another to create a working software application</a:t>
            </a:r>
          </a:p>
          <a:p>
            <a:pPr lvl="2"/>
            <a:r>
              <a:rPr lang="en-IN" sz="2200" dirty="0"/>
              <a:t>Software developers reuse these services in other combinations to assemble other applications as needed</a:t>
            </a:r>
          </a:p>
        </p:txBody>
      </p:sp>
      <p:sp>
        <p:nvSpPr>
          <p:cNvPr id="2" name="Footer Placeholder 1">
            <a:extLst>
              <a:ext uri="{FF2B5EF4-FFF2-40B4-BE49-F238E27FC236}">
                <a16:creationId xmlns:a16="http://schemas.microsoft.com/office/drawing/2014/main" id="{E075FF2A-AACD-4078-9F14-20858068496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701665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Figure 5.11 How Dollar Rent A Car Uses Web Services</a:t>
            </a:r>
            <a:endParaRPr lang="en-US" sz="2800" dirty="0"/>
          </a:p>
        </p:txBody>
      </p:sp>
      <p:pic>
        <p:nvPicPr>
          <p:cNvPr id="13314" name="Picture 2" descr="A sequential flow diagram explains how &quot;Dollar Rent A Car&quot; uses a set of web services to link to other companies' information systems without creating separate link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68590" y="1311237"/>
            <a:ext cx="5206821" cy="349147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D534088-F948-42B1-80EE-98782BBE6B73}"/>
              </a:ext>
            </a:extLst>
          </p:cNvPr>
          <p:cNvSpPr>
            <a:spLocks noGrp="1"/>
          </p:cNvSpPr>
          <p:nvPr>
            <p:ph type="ftr" sz="quarter" idx="11"/>
          </p:nvPr>
        </p:nvSpPr>
        <p:spPr>
          <a:xfrm>
            <a:off x="93969" y="4629151"/>
            <a:ext cx="8595360" cy="457914"/>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3106473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0200"/>
            <a:ext cx="8229600" cy="984885"/>
          </a:xfrm>
        </p:spPr>
        <p:txBody>
          <a:bodyPr>
            <a:spAutoFit/>
          </a:bodyPr>
          <a:lstStyle/>
          <a:p>
            <a:r>
              <a:rPr lang="en-IN" altLang="en-US" sz="3200" dirty="0"/>
              <a:t>What Are the Current Computer Software Platforms and Trends? </a:t>
            </a:r>
            <a:r>
              <a:rPr lang="en-IN" altLang="en-US" sz="2400" dirty="0"/>
              <a:t>(3 of 3)</a:t>
            </a:r>
            <a:endParaRPr lang="en-US" sz="2400" dirty="0"/>
          </a:p>
        </p:txBody>
      </p:sp>
      <p:sp>
        <p:nvSpPr>
          <p:cNvPr id="5" name="Content Placeholder 4"/>
          <p:cNvSpPr>
            <a:spLocks noGrp="1"/>
          </p:cNvSpPr>
          <p:nvPr>
            <p:ph idx="1"/>
          </p:nvPr>
        </p:nvSpPr>
        <p:spPr>
          <a:xfrm>
            <a:off x="468775" y="1375933"/>
            <a:ext cx="8229600" cy="2994717"/>
          </a:xfrm>
        </p:spPr>
        <p:txBody>
          <a:bodyPr>
            <a:spAutoFit/>
          </a:bodyPr>
          <a:lstStyle/>
          <a:p>
            <a:r>
              <a:rPr lang="en-IN" dirty="0"/>
              <a:t>Software outsourcing and cloud services</a:t>
            </a:r>
          </a:p>
          <a:p>
            <a:pPr lvl="1"/>
            <a:r>
              <a:rPr lang="en-IN" sz="2400" dirty="0"/>
              <a:t>Software packages and enterprise software</a:t>
            </a:r>
          </a:p>
          <a:p>
            <a:pPr lvl="1"/>
            <a:r>
              <a:rPr lang="en-IN" sz="2400" dirty="0"/>
              <a:t>Software outsourcing</a:t>
            </a:r>
          </a:p>
          <a:p>
            <a:pPr lvl="1"/>
            <a:r>
              <a:rPr lang="en-IN" sz="2400" dirty="0"/>
              <a:t>Cloud-based software services and tools</a:t>
            </a:r>
          </a:p>
          <a:p>
            <a:pPr lvl="2"/>
            <a:r>
              <a:rPr lang="en-IN" sz="2400" dirty="0"/>
              <a:t>Service Level Agreements (</a:t>
            </a:r>
            <a:r>
              <a:rPr lang="en-IN" sz="2400" spc="-300" dirty="0"/>
              <a:t>S L A s</a:t>
            </a:r>
            <a:r>
              <a:rPr lang="en-IN" sz="2400" dirty="0"/>
              <a:t>): formal agreement with service providers</a:t>
            </a:r>
          </a:p>
          <a:p>
            <a:pPr>
              <a:spcBef>
                <a:spcPts val="600"/>
              </a:spcBef>
            </a:pPr>
            <a:r>
              <a:rPr lang="en-IN" dirty="0" err="1"/>
              <a:t>Mashups</a:t>
            </a:r>
            <a:r>
              <a:rPr lang="en-IN" dirty="0"/>
              <a:t> and apps</a:t>
            </a:r>
          </a:p>
        </p:txBody>
      </p:sp>
      <p:sp>
        <p:nvSpPr>
          <p:cNvPr id="2" name="Footer Placeholder 1">
            <a:extLst>
              <a:ext uri="{FF2B5EF4-FFF2-40B4-BE49-F238E27FC236}">
                <a16:creationId xmlns:a16="http://schemas.microsoft.com/office/drawing/2014/main" id="{B3AE01C2-7E2A-4DC9-945E-8AF408C6799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74803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7538"/>
            <a:ext cx="8229600" cy="1023216"/>
          </a:xfrm>
        </p:spPr>
        <p:txBody>
          <a:bodyPr anchor="ctr">
            <a:spAutoFit/>
          </a:bodyPr>
          <a:lstStyle/>
          <a:p>
            <a:r>
              <a:rPr lang="en-IN" dirty="0"/>
              <a:t>Figure 5.12 Changing Sources of Firm Software</a:t>
            </a:r>
            <a:endParaRPr lang="en-US" sz="2800" dirty="0"/>
          </a:p>
        </p:txBody>
      </p:sp>
      <p:pic>
        <p:nvPicPr>
          <p:cNvPr id="7" name="Picture 2" descr="A line graph explains how the spending on software has increased over the year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63177" y="1234980"/>
            <a:ext cx="5839148" cy="356972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1064D88-951B-48AB-A63B-4C07C56B0F90}"/>
              </a:ext>
            </a:extLst>
          </p:cNvPr>
          <p:cNvSpPr>
            <a:spLocks noGrp="1"/>
          </p:cNvSpPr>
          <p:nvPr>
            <p:ph type="ftr" sz="quarter" idx="11"/>
          </p:nvPr>
        </p:nvSpPr>
        <p:spPr>
          <a:xfrm>
            <a:off x="93969" y="4755739"/>
            <a:ext cx="8595360" cy="406811"/>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3503348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340"/>
            <a:ext cx="8229600" cy="984885"/>
          </a:xfrm>
        </p:spPr>
        <p:txBody>
          <a:bodyPr>
            <a:spAutoFit/>
          </a:bodyPr>
          <a:lstStyle/>
          <a:p>
            <a:r>
              <a:rPr lang="en-IN" altLang="en-US" sz="3200" dirty="0"/>
              <a:t>Dealing with Platform and Infrastructure Change</a:t>
            </a:r>
            <a:endParaRPr lang="en-US" sz="2400" dirty="0"/>
          </a:p>
        </p:txBody>
      </p:sp>
      <p:sp>
        <p:nvSpPr>
          <p:cNvPr id="5" name="Content Placeholder 4"/>
          <p:cNvSpPr>
            <a:spLocks noGrp="1"/>
          </p:cNvSpPr>
          <p:nvPr>
            <p:ph idx="1"/>
          </p:nvPr>
        </p:nvSpPr>
        <p:spPr>
          <a:xfrm>
            <a:off x="468775" y="1352550"/>
            <a:ext cx="8229600" cy="3093154"/>
          </a:xfrm>
        </p:spPr>
        <p:txBody>
          <a:bodyPr>
            <a:spAutoFit/>
          </a:bodyPr>
          <a:lstStyle/>
          <a:p>
            <a:r>
              <a:rPr lang="en-IN" sz="2200" dirty="0"/>
              <a:t>As firms shrink or grow, </a:t>
            </a:r>
            <a:r>
              <a:rPr lang="en-IN" sz="2200" spc="-300" dirty="0"/>
              <a:t>I T</a:t>
            </a:r>
            <a:r>
              <a:rPr lang="en-IN" sz="2200" dirty="0"/>
              <a:t> needs to be flexible and scalable</a:t>
            </a:r>
          </a:p>
          <a:p>
            <a:pPr>
              <a:spcBef>
                <a:spcPts val="600"/>
              </a:spcBef>
            </a:pPr>
            <a:r>
              <a:rPr lang="en-IN" sz="2200" dirty="0"/>
              <a:t>Scalability</a:t>
            </a:r>
          </a:p>
          <a:p>
            <a:pPr lvl="1"/>
            <a:r>
              <a:rPr lang="en-IN" dirty="0"/>
              <a:t>Ability to expand to serve larger number of users</a:t>
            </a:r>
          </a:p>
          <a:p>
            <a:pPr>
              <a:spcBef>
                <a:spcPts val="600"/>
              </a:spcBef>
            </a:pPr>
            <a:r>
              <a:rPr lang="en-IN" sz="2200" dirty="0"/>
              <a:t>For mobile computing and cloud computing</a:t>
            </a:r>
          </a:p>
          <a:p>
            <a:pPr lvl="1"/>
            <a:r>
              <a:rPr lang="en-IN" dirty="0"/>
              <a:t>New policies and procedures for managing these new platforms</a:t>
            </a:r>
          </a:p>
          <a:p>
            <a:pPr lvl="1"/>
            <a:r>
              <a:rPr lang="en-IN" dirty="0"/>
              <a:t>Contractual agreements with firms running clouds and distributing software required</a:t>
            </a:r>
          </a:p>
        </p:txBody>
      </p:sp>
      <p:sp>
        <p:nvSpPr>
          <p:cNvPr id="2" name="Footer Placeholder 1">
            <a:extLst>
              <a:ext uri="{FF2B5EF4-FFF2-40B4-BE49-F238E27FC236}">
                <a16:creationId xmlns:a16="http://schemas.microsoft.com/office/drawing/2014/main" id="{902C1044-FD31-4CD4-8D02-E9D393E72AE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79948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nchor="ctr">
            <a:spAutoFit/>
          </a:bodyPr>
          <a:lstStyle/>
          <a:p>
            <a:r>
              <a:rPr lang="en-IN" altLang="en-US" dirty="0"/>
              <a:t>Management and Governance</a:t>
            </a:r>
            <a:endParaRPr lang="en-US" sz="2800" dirty="0"/>
          </a:p>
        </p:txBody>
      </p:sp>
      <p:sp>
        <p:nvSpPr>
          <p:cNvPr id="5" name="Content Placeholder 4"/>
          <p:cNvSpPr>
            <a:spLocks noGrp="1"/>
          </p:cNvSpPr>
          <p:nvPr>
            <p:ph idx="1"/>
          </p:nvPr>
        </p:nvSpPr>
        <p:spPr>
          <a:xfrm>
            <a:off x="457200" y="731375"/>
            <a:ext cx="8229600" cy="3502549"/>
          </a:xfrm>
        </p:spPr>
        <p:txBody>
          <a:bodyPr>
            <a:spAutoFit/>
          </a:bodyPr>
          <a:lstStyle/>
          <a:p>
            <a:pPr>
              <a:spcBef>
                <a:spcPts val="600"/>
              </a:spcBef>
            </a:pPr>
            <a:r>
              <a:rPr lang="en-IN" dirty="0"/>
              <a:t>Governance</a:t>
            </a:r>
          </a:p>
          <a:p>
            <a:pPr>
              <a:spcBef>
                <a:spcPts val="600"/>
              </a:spcBef>
            </a:pPr>
            <a:r>
              <a:rPr lang="en-IN" dirty="0"/>
              <a:t>Who controls </a:t>
            </a:r>
            <a:r>
              <a:rPr lang="en-IN" spc="-300" dirty="0"/>
              <a:t>I T</a:t>
            </a:r>
            <a:r>
              <a:rPr lang="en-IN" dirty="0"/>
              <a:t> infrastructure?</a:t>
            </a:r>
          </a:p>
          <a:p>
            <a:pPr>
              <a:spcBef>
                <a:spcPts val="600"/>
              </a:spcBef>
            </a:pPr>
            <a:r>
              <a:rPr lang="en-IN" dirty="0"/>
              <a:t>How should </a:t>
            </a:r>
            <a:r>
              <a:rPr lang="en-IN" spc="-300" dirty="0"/>
              <a:t>I T</a:t>
            </a:r>
            <a:r>
              <a:rPr lang="en-IN" dirty="0"/>
              <a:t> department be organized?</a:t>
            </a:r>
          </a:p>
          <a:p>
            <a:pPr lvl="1"/>
            <a:r>
              <a:rPr lang="en-IN" sz="2400" dirty="0"/>
              <a:t>Centralized</a:t>
            </a:r>
          </a:p>
          <a:p>
            <a:pPr lvl="2"/>
            <a:r>
              <a:rPr lang="en-IN" sz="2400" dirty="0"/>
              <a:t>Central </a:t>
            </a:r>
            <a:r>
              <a:rPr lang="en-IN" sz="2400" spc="-300" dirty="0"/>
              <a:t>I T</a:t>
            </a:r>
            <a:r>
              <a:rPr lang="en-IN" sz="2400" dirty="0"/>
              <a:t> department makes decisions</a:t>
            </a:r>
          </a:p>
          <a:p>
            <a:pPr lvl="1"/>
            <a:r>
              <a:rPr lang="en-IN" sz="2400" dirty="0"/>
              <a:t>Decentralized</a:t>
            </a:r>
          </a:p>
          <a:p>
            <a:pPr lvl="2"/>
            <a:r>
              <a:rPr lang="en-IN" sz="2400" dirty="0"/>
              <a:t>Business unit </a:t>
            </a:r>
            <a:r>
              <a:rPr lang="en-IN" sz="2400" spc="-300" dirty="0"/>
              <a:t>I T</a:t>
            </a:r>
            <a:r>
              <a:rPr lang="en-IN" sz="2400" dirty="0"/>
              <a:t> departments make own decisions</a:t>
            </a:r>
          </a:p>
          <a:p>
            <a:pPr>
              <a:spcBef>
                <a:spcPts val="600"/>
              </a:spcBef>
            </a:pPr>
            <a:r>
              <a:rPr lang="en-IN" dirty="0"/>
              <a:t>How are costs allocated between divisions, departments?</a:t>
            </a:r>
          </a:p>
        </p:txBody>
      </p:sp>
      <p:sp>
        <p:nvSpPr>
          <p:cNvPr id="2" name="Footer Placeholder 1">
            <a:extLst>
              <a:ext uri="{FF2B5EF4-FFF2-40B4-BE49-F238E27FC236}">
                <a16:creationId xmlns:a16="http://schemas.microsoft.com/office/drawing/2014/main" id="{D0251F8C-6D4D-4798-A5FA-3729EF1B8A6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2611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1875"/>
            <a:ext cx="8229600" cy="523220"/>
          </a:xfrm>
        </p:spPr>
        <p:txBody>
          <a:bodyPr>
            <a:spAutoFit/>
          </a:bodyPr>
          <a:lstStyle/>
          <a:p>
            <a:r>
              <a:rPr lang="en-IN" altLang="en-US" sz="3400" dirty="0"/>
              <a:t>Making Wise Infrastructure Investments</a:t>
            </a:r>
            <a:endParaRPr lang="en-US" sz="3400" dirty="0"/>
          </a:p>
        </p:txBody>
      </p:sp>
      <p:sp>
        <p:nvSpPr>
          <p:cNvPr id="5" name="Content Placeholder 4"/>
          <p:cNvSpPr>
            <a:spLocks noGrp="1"/>
          </p:cNvSpPr>
          <p:nvPr>
            <p:ph idx="1"/>
          </p:nvPr>
        </p:nvSpPr>
        <p:spPr>
          <a:xfrm>
            <a:off x="468775" y="742950"/>
            <a:ext cx="8229600" cy="3316292"/>
          </a:xfrm>
        </p:spPr>
        <p:txBody>
          <a:bodyPr>
            <a:spAutoFit/>
          </a:bodyPr>
          <a:lstStyle/>
          <a:p>
            <a:r>
              <a:rPr lang="en-IN" dirty="0"/>
              <a:t>Under-investment and over-investment can hamper firm performance</a:t>
            </a:r>
          </a:p>
          <a:p>
            <a:r>
              <a:rPr lang="en-IN" dirty="0"/>
              <a:t>Rent-versus-buy</a:t>
            </a:r>
          </a:p>
          <a:p>
            <a:r>
              <a:rPr lang="en-IN" dirty="0"/>
              <a:t>Cloud computing</a:t>
            </a:r>
          </a:p>
          <a:p>
            <a:pPr lvl="1"/>
            <a:r>
              <a:rPr lang="en-IN" sz="2400" dirty="0"/>
              <a:t>Security requirements</a:t>
            </a:r>
          </a:p>
          <a:p>
            <a:pPr lvl="1"/>
            <a:r>
              <a:rPr lang="en-IN" sz="2400" dirty="0"/>
              <a:t>Impact on business processes and workflow</a:t>
            </a:r>
          </a:p>
          <a:p>
            <a:r>
              <a:rPr lang="en-IN" dirty="0"/>
              <a:t>Outsourcing</a:t>
            </a:r>
          </a:p>
        </p:txBody>
      </p:sp>
      <p:sp>
        <p:nvSpPr>
          <p:cNvPr id="2" name="Footer Placeholder 1">
            <a:extLst>
              <a:ext uri="{FF2B5EF4-FFF2-40B4-BE49-F238E27FC236}">
                <a16:creationId xmlns:a16="http://schemas.microsoft.com/office/drawing/2014/main" id="{414A8991-B0F9-4AE1-8A25-E11CFA50342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444468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IN" altLang="en-US" dirty="0"/>
              <a:t>Total Cost of Ownership (</a:t>
            </a:r>
            <a:r>
              <a:rPr lang="en-IN" altLang="en-US" spc="-450" dirty="0"/>
              <a:t>T C O</a:t>
            </a:r>
            <a:r>
              <a:rPr lang="en-IN" altLang="en-US" dirty="0"/>
              <a:t>) Model</a:t>
            </a:r>
            <a:endParaRPr lang="en-US" sz="2800" dirty="0"/>
          </a:p>
        </p:txBody>
      </p:sp>
      <p:sp>
        <p:nvSpPr>
          <p:cNvPr id="5" name="Content Placeholder 4"/>
          <p:cNvSpPr>
            <a:spLocks noGrp="1"/>
          </p:cNvSpPr>
          <p:nvPr>
            <p:ph idx="1"/>
          </p:nvPr>
        </p:nvSpPr>
        <p:spPr>
          <a:xfrm>
            <a:off x="457200" y="731375"/>
            <a:ext cx="8229600" cy="3239348"/>
          </a:xfrm>
        </p:spPr>
        <p:txBody>
          <a:bodyPr>
            <a:spAutoFit/>
          </a:bodyPr>
          <a:lstStyle/>
          <a:p>
            <a:r>
              <a:rPr lang="en-IN" dirty="0" err="1"/>
              <a:t>Analyzes</a:t>
            </a:r>
            <a:r>
              <a:rPr lang="en-IN" dirty="0"/>
              <a:t> direct and indirect costs</a:t>
            </a:r>
          </a:p>
          <a:p>
            <a:r>
              <a:rPr lang="en-IN" dirty="0"/>
              <a:t>Hardware, software account for only about 20% of </a:t>
            </a:r>
            <a:r>
              <a:rPr lang="en-IN" spc="-300" dirty="0"/>
              <a:t>T C O</a:t>
            </a:r>
          </a:p>
          <a:p>
            <a:r>
              <a:rPr lang="en-IN" dirty="0"/>
              <a:t>Other costs: Installation, training, support, maintenance, infrastructure, downtime, space, and energy</a:t>
            </a:r>
          </a:p>
          <a:p>
            <a:r>
              <a:rPr lang="en-IN" spc="-300" dirty="0"/>
              <a:t>T C O</a:t>
            </a:r>
            <a:r>
              <a:rPr lang="en-IN" dirty="0"/>
              <a:t> can be reduced</a:t>
            </a:r>
          </a:p>
          <a:p>
            <a:pPr lvl="1"/>
            <a:r>
              <a:rPr lang="en-IN" sz="2400" dirty="0"/>
              <a:t>Use of cloud services, greater centralization and standardization of hardware and software resources</a:t>
            </a:r>
          </a:p>
        </p:txBody>
      </p:sp>
      <p:sp>
        <p:nvSpPr>
          <p:cNvPr id="2" name="Footer Placeholder 1">
            <a:extLst>
              <a:ext uri="{FF2B5EF4-FFF2-40B4-BE49-F238E27FC236}">
                <a16:creationId xmlns:a16="http://schemas.microsoft.com/office/drawing/2014/main" id="{8DEC97A4-8CE8-43AD-952F-CEDD7121FB7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95921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en-IN" altLang="en-US" dirty="0"/>
              <a:t>Competitive Forces Model for </a:t>
            </a:r>
            <a:r>
              <a:rPr lang="en-IN" altLang="en-US" spc="-450" dirty="0"/>
              <a:t>I T</a:t>
            </a:r>
            <a:r>
              <a:rPr lang="en-IN" altLang="en-US" dirty="0"/>
              <a:t> Infrastructure Investment</a:t>
            </a:r>
            <a:endParaRPr lang="en-US" sz="2800" dirty="0"/>
          </a:p>
        </p:txBody>
      </p:sp>
      <p:sp>
        <p:nvSpPr>
          <p:cNvPr id="5" name="Content Placeholder 4"/>
          <p:cNvSpPr>
            <a:spLocks noGrp="1"/>
          </p:cNvSpPr>
          <p:nvPr>
            <p:ph idx="1"/>
          </p:nvPr>
        </p:nvSpPr>
        <p:spPr>
          <a:xfrm>
            <a:off x="457200" y="1382539"/>
            <a:ext cx="8229600" cy="3177793"/>
          </a:xfrm>
        </p:spPr>
        <p:txBody>
          <a:bodyPr>
            <a:spAutoFit/>
          </a:bodyPr>
          <a:lstStyle/>
          <a:p>
            <a:r>
              <a:rPr lang="en-IN" dirty="0"/>
              <a:t>Market demand for firm’s services</a:t>
            </a:r>
          </a:p>
          <a:p>
            <a:r>
              <a:rPr lang="en-IN" dirty="0"/>
              <a:t>Firm’s business strategy</a:t>
            </a:r>
          </a:p>
          <a:p>
            <a:r>
              <a:rPr lang="en-IN" dirty="0"/>
              <a:t>Firm’s </a:t>
            </a:r>
            <a:r>
              <a:rPr lang="en-IN" spc="-300" dirty="0"/>
              <a:t>I T</a:t>
            </a:r>
            <a:r>
              <a:rPr lang="en-IN" dirty="0"/>
              <a:t> strategy, infrastructure, and cost</a:t>
            </a:r>
          </a:p>
          <a:p>
            <a:r>
              <a:rPr lang="en-IN" dirty="0"/>
              <a:t>Information technology assessment</a:t>
            </a:r>
          </a:p>
          <a:p>
            <a:r>
              <a:rPr lang="en-IN" dirty="0"/>
              <a:t>Competitor firm services</a:t>
            </a:r>
          </a:p>
          <a:p>
            <a:r>
              <a:rPr lang="en-IN" dirty="0"/>
              <a:t>Competitor firm </a:t>
            </a:r>
            <a:r>
              <a:rPr lang="en-IN" spc="-300" dirty="0"/>
              <a:t>I T</a:t>
            </a:r>
            <a:r>
              <a:rPr lang="en-IN" dirty="0"/>
              <a:t> infrastructure investments</a:t>
            </a:r>
          </a:p>
        </p:txBody>
      </p:sp>
      <p:sp>
        <p:nvSpPr>
          <p:cNvPr id="2" name="Footer Placeholder 1">
            <a:extLst>
              <a:ext uri="{FF2B5EF4-FFF2-40B4-BE49-F238E27FC236}">
                <a16:creationId xmlns:a16="http://schemas.microsoft.com/office/drawing/2014/main" id="{C1A5067E-1342-4B35-B0D9-DD01FE2B878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9198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435"/>
            <a:ext cx="8229600" cy="1107996"/>
          </a:xfrm>
        </p:spPr>
        <p:txBody>
          <a:bodyPr>
            <a:spAutoFit/>
          </a:bodyPr>
          <a:lstStyle/>
          <a:p>
            <a:r>
              <a:rPr lang="fr-FR" altLang="en-US" dirty="0"/>
              <a:t>Figure 5.13 </a:t>
            </a:r>
            <a:r>
              <a:rPr lang="fr-FR" altLang="en-US" dirty="0" err="1"/>
              <a:t>Competitive</a:t>
            </a:r>
            <a:r>
              <a:rPr lang="fr-FR" altLang="en-US" dirty="0"/>
              <a:t> Forces Model for </a:t>
            </a:r>
            <a:r>
              <a:rPr lang="fr-FR" altLang="en-US" spc="-450" dirty="0"/>
              <a:t>I T</a:t>
            </a:r>
            <a:r>
              <a:rPr lang="fr-FR" altLang="en-US" dirty="0"/>
              <a:t> Infrastructure</a:t>
            </a:r>
            <a:endParaRPr lang="en-US" sz="2800" dirty="0"/>
          </a:p>
        </p:txBody>
      </p:sp>
      <p:pic>
        <p:nvPicPr>
          <p:cNvPr id="15362" name="Picture 2" descr="A converging radial diagram illustrates the forces acting upon a firm's IT services and infrastructur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76921" y="1264106"/>
            <a:ext cx="5390159" cy="352001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CD0670C-6108-4272-A2E4-A29AC052B8EC}"/>
              </a:ext>
            </a:extLst>
          </p:cNvPr>
          <p:cNvSpPr>
            <a:spLocks noGrp="1"/>
          </p:cNvSpPr>
          <p:nvPr>
            <p:ph type="ftr" sz="quarter" idx="11"/>
          </p:nvPr>
        </p:nvSpPr>
        <p:spPr>
          <a:xfrm>
            <a:off x="93969" y="4629151"/>
            <a:ext cx="8595360" cy="380999"/>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22192200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725"/>
            <a:ext cx="8229600" cy="553998"/>
          </a:xfrm>
        </p:spPr>
        <p:txBody>
          <a:bodyPr>
            <a:spAutoFit/>
          </a:bodyPr>
          <a:lstStyle/>
          <a:p>
            <a:r>
              <a:rPr lang="en-IN" altLang="en-US" dirty="0"/>
              <a:t>How Will </a:t>
            </a:r>
            <a:r>
              <a:rPr lang="en-IN" altLang="en-US" spc="-450" dirty="0"/>
              <a:t>M I </a:t>
            </a:r>
            <a:r>
              <a:rPr lang="en-IN" altLang="en-US" dirty="0"/>
              <a:t>S Help My Career?</a:t>
            </a:r>
            <a:endParaRPr lang="en-US" sz="2800" dirty="0"/>
          </a:p>
        </p:txBody>
      </p:sp>
      <p:sp>
        <p:nvSpPr>
          <p:cNvPr id="5" name="Content Placeholder 4"/>
          <p:cNvSpPr>
            <a:spLocks noGrp="1"/>
          </p:cNvSpPr>
          <p:nvPr>
            <p:ph idx="1"/>
          </p:nvPr>
        </p:nvSpPr>
        <p:spPr>
          <a:xfrm>
            <a:off x="457200" y="731375"/>
            <a:ext cx="8229600" cy="2616101"/>
          </a:xfrm>
        </p:spPr>
        <p:txBody>
          <a:bodyPr>
            <a:spAutoFit/>
          </a:bodyPr>
          <a:lstStyle/>
          <a:p>
            <a:r>
              <a:rPr lang="en-IN" dirty="0"/>
              <a:t>The Company: </a:t>
            </a:r>
            <a:r>
              <a:rPr lang="en-IN" spc="-300" dirty="0"/>
              <a:t>A1</a:t>
            </a:r>
            <a:r>
              <a:rPr lang="en-IN" dirty="0"/>
              <a:t> Tech </a:t>
            </a:r>
            <a:r>
              <a:rPr lang="en-IN" spc="-300" dirty="0"/>
              <a:t>I T</a:t>
            </a:r>
            <a:r>
              <a:rPr lang="en-IN" dirty="0"/>
              <a:t> Consulting</a:t>
            </a:r>
          </a:p>
          <a:p>
            <a:r>
              <a:rPr lang="en-IN" dirty="0"/>
              <a:t>Position Description: Entry-level </a:t>
            </a:r>
            <a:r>
              <a:rPr lang="en-IN" spc="-300" dirty="0"/>
              <a:t>I T</a:t>
            </a:r>
            <a:r>
              <a:rPr lang="en-IN" dirty="0"/>
              <a:t> consultant</a:t>
            </a:r>
          </a:p>
          <a:p>
            <a:r>
              <a:rPr lang="en-IN" dirty="0"/>
              <a:t>Job Requirements</a:t>
            </a:r>
          </a:p>
          <a:p>
            <a:r>
              <a:rPr lang="en-IN" dirty="0"/>
              <a:t>Interview Questions</a:t>
            </a:r>
          </a:p>
          <a:p>
            <a:r>
              <a:rPr lang="en-IN" dirty="0"/>
              <a:t>Author Tips</a:t>
            </a:r>
          </a:p>
        </p:txBody>
      </p:sp>
      <p:sp>
        <p:nvSpPr>
          <p:cNvPr id="2" name="Footer Placeholder 1">
            <a:extLst>
              <a:ext uri="{FF2B5EF4-FFF2-40B4-BE49-F238E27FC236}">
                <a16:creationId xmlns:a16="http://schemas.microsoft.com/office/drawing/2014/main" id="{CE3069DD-5A7C-42D6-8F03-A651358184E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641248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64547" y="68725"/>
            <a:ext cx="8214779" cy="553998"/>
          </a:xfrm>
        </p:spPr>
        <p:txBody>
          <a:bodyPr wrap="square" lIns="0" tIns="0" rIns="0" bIns="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738019"/>
            <a:ext cx="1078992" cy="1078992"/>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1151970"/>
            <a:ext cx="6858001" cy="263870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Font typeface="Arial" panose="020B0604020202020204" pitchFamily="34" charse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4506</TotalTime>
  <Words>8173</Words>
  <Application>Microsoft Office PowerPoint</Application>
  <PresentationFormat>On-screen Show (16:9)</PresentationFormat>
  <Paragraphs>551</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Grab Leverages Information Technology to Enhance Its Services</vt:lpstr>
      <vt:lpstr>Defining I T Infrastructure</vt:lpstr>
      <vt:lpstr>Figure 5.1 Connection Between the Firm, I T Infrastructure, and Business Capabilities</vt:lpstr>
      <vt:lpstr>Evolution of I T Infrastructure</vt:lpstr>
      <vt:lpstr>Figure 5.2 Stages in I T Infrastructure Evolution</vt:lpstr>
      <vt:lpstr>Figure 5.3 A Multitiered (N-Tier) Client/Server Network</vt:lpstr>
      <vt:lpstr>Technology Drivers of Infrastructure Evolution (1 of 2)</vt:lpstr>
      <vt:lpstr>Figure 5.4 Moore’s Law and Microprocessor Performance</vt:lpstr>
      <vt:lpstr>Figure 5.5 Falling Cost of Chips</vt:lpstr>
      <vt:lpstr>Nanotubes</vt:lpstr>
      <vt:lpstr>Figure 5.6 The Amount of Storage Per Dollar Rises Exponentially, 1950–2016</vt:lpstr>
      <vt:lpstr>Technology Drivers of Infrastructure Evolution (2 of 2)</vt:lpstr>
      <vt:lpstr>Figure 5.7 Exponential Declines in Internet Communications Costs ($/M B P S)</vt:lpstr>
      <vt:lpstr>What Are the Components of I T Infrastructure?</vt:lpstr>
      <vt:lpstr>Figure 5.8 The I T Infrastructure Ecosystem</vt:lpstr>
      <vt:lpstr>Computer Hardware Platforms</vt:lpstr>
      <vt:lpstr>Operating System Platforms</vt:lpstr>
      <vt:lpstr>Enterprise Software Applications</vt:lpstr>
      <vt:lpstr>Data Management and Storage</vt:lpstr>
      <vt:lpstr>Networking/Telecommunications Platforms</vt:lpstr>
      <vt:lpstr>Internet Platforms</vt:lpstr>
      <vt:lpstr>Consulting and System Integration Services</vt:lpstr>
      <vt:lpstr>What Are the Current Trends in Computer Hardware Platforms? (1 of 5)</vt:lpstr>
      <vt:lpstr>Interactive Session: Technology: Open Source Innovation</vt:lpstr>
      <vt:lpstr>What Are the Current Trends in Computer Hardware Platforms? (2 of 5)</vt:lpstr>
      <vt:lpstr>What Are the Current Trends in Computer Hardware Platforms? (3 of 5)</vt:lpstr>
      <vt:lpstr>Figure 5.9 Cloud Computing Platform</vt:lpstr>
      <vt:lpstr>Figure 5.10 Amazon Web Services</vt:lpstr>
      <vt:lpstr>Interactive Session: Organizations: Glory Finds Solutions in the Cloud</vt:lpstr>
      <vt:lpstr>What Are the Current Trends in Computer Hardware Platforms? (4 of 5)</vt:lpstr>
      <vt:lpstr>What Are the Current Trends in Computer Hardware Platforms? (5 of 5)</vt:lpstr>
      <vt:lpstr>What Are the Current Computer Software Platforms and Trends? (1 of 3)</vt:lpstr>
      <vt:lpstr>What Are the Current Computer Software Platforms and Trends? (2 of 3)</vt:lpstr>
      <vt:lpstr>Figure 5.11 How Dollar Rent A Car Uses Web Services</vt:lpstr>
      <vt:lpstr>What Are the Current Computer Software Platforms and Trends? (3 of 3)</vt:lpstr>
      <vt:lpstr>Figure 5.12 Changing Sources of Firm Software</vt:lpstr>
      <vt:lpstr>Dealing with Platform and Infrastructure Change</vt:lpstr>
      <vt:lpstr>Management and Governance</vt:lpstr>
      <vt:lpstr>Making Wise Infrastructure Investments</vt:lpstr>
      <vt:lpstr>Total Cost of Ownership (T C O) Model</vt:lpstr>
      <vt:lpstr>Competitive Forces Model for I T Infrastructure Investment</vt:lpstr>
      <vt:lpstr>Figure 5.13 Competitive Forces Model for I T Infrastructure</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1174</cp:revision>
  <dcterms:created xsi:type="dcterms:W3CDTF">2014-07-14T20:04:21Z</dcterms:created>
  <dcterms:modified xsi:type="dcterms:W3CDTF">2021-05-28T12:58:21Z</dcterms:modified>
</cp:coreProperties>
</file>