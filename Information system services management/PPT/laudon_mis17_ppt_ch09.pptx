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handoutMasterIdLst>
    <p:handoutMasterId r:id="rId40"/>
  </p:handoutMasterIdLst>
  <p:sldIdLst>
    <p:sldId id="506" r:id="rId2"/>
    <p:sldId id="380" r:id="rId3"/>
    <p:sldId id="518" r:id="rId4"/>
    <p:sldId id="519" r:id="rId5"/>
    <p:sldId id="520" r:id="rId6"/>
    <p:sldId id="521" r:id="rId7"/>
    <p:sldId id="555" r:id="rId8"/>
    <p:sldId id="523" r:id="rId9"/>
    <p:sldId id="524" r:id="rId10"/>
    <p:sldId id="525" r:id="rId11"/>
    <p:sldId id="556" r:id="rId12"/>
    <p:sldId id="527" r:id="rId13"/>
    <p:sldId id="557" r:id="rId14"/>
    <p:sldId id="529" r:id="rId15"/>
    <p:sldId id="530" r:id="rId16"/>
    <p:sldId id="531" r:id="rId17"/>
    <p:sldId id="558" r:id="rId18"/>
    <p:sldId id="559" r:id="rId19"/>
    <p:sldId id="534" r:id="rId20"/>
    <p:sldId id="536" r:id="rId21"/>
    <p:sldId id="560" r:id="rId22"/>
    <p:sldId id="538" r:id="rId23"/>
    <p:sldId id="539" r:id="rId24"/>
    <p:sldId id="561" r:id="rId25"/>
    <p:sldId id="562" r:id="rId26"/>
    <p:sldId id="563" r:id="rId27"/>
    <p:sldId id="544" r:id="rId28"/>
    <p:sldId id="564" r:id="rId29"/>
    <p:sldId id="546" r:id="rId30"/>
    <p:sldId id="565" r:id="rId31"/>
    <p:sldId id="566" r:id="rId32"/>
    <p:sldId id="547" r:id="rId33"/>
    <p:sldId id="548" r:id="rId34"/>
    <p:sldId id="549" r:id="rId35"/>
    <p:sldId id="545" r:id="rId36"/>
    <p:sldId id="550" r:id="rId37"/>
    <p:sldId id="514" r:id="rId38"/>
  </p:sldIdLst>
  <p:sldSz cx="9144000" cy="5143500" type="screen16x9"/>
  <p:notesSz cx="6858000" cy="91440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orient="horz" pos="252" userDrawn="1">
          <p15:clr>
            <a:srgbClr val="A4A3A4"/>
          </p15:clr>
        </p15:guide>
        <p15:guide id="4" orient="horz" pos="432" userDrawn="1">
          <p15:clr>
            <a:srgbClr val="A4A3A4"/>
          </p15:clr>
        </p15:guide>
        <p15:guide id="5" orient="horz" pos="3024" userDrawn="1">
          <p15:clr>
            <a:srgbClr val="A4A3A4"/>
          </p15:clr>
        </p15:guide>
        <p15:guide id="6" orient="horz" pos="792" userDrawn="1">
          <p15:clr>
            <a:srgbClr val="A4A3A4"/>
          </p15:clr>
        </p15:guide>
        <p15:guide id="7" pos="288" userDrawn="1">
          <p15:clr>
            <a:srgbClr val="A4A3A4"/>
          </p15:clr>
        </p15:guide>
        <p15:guide id="8" pos="5472" userDrawn="1">
          <p15:clr>
            <a:srgbClr val="A4A3A4"/>
          </p15:clr>
        </p15:guide>
        <p15:guide id="9" orient="horz" pos="648" userDrawn="1">
          <p15:clr>
            <a:srgbClr val="A4A3A4"/>
          </p15:clr>
        </p15:guide>
        <p15:guide id="10" orient="horz" pos="900" userDrawn="1">
          <p15:clr>
            <a:srgbClr val="A4A3A4"/>
          </p15:clr>
        </p15:guide>
        <p15:guide id="11" orient="horz" pos="1152" userDrawn="1">
          <p15:clr>
            <a:srgbClr val="A4A3A4"/>
          </p15:clr>
        </p15:guide>
        <p15:guide id="12" orient="horz" pos="326">
          <p15:clr>
            <a:srgbClr val="A4A3A4"/>
          </p15:clr>
        </p15:guide>
        <p15:guide id="13" orient="horz" pos="11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ane Kosharek" initials="DK" lastIdx="3" clrIdx="0">
    <p:extLst>
      <p:ext uri="{19B8F6BF-5375-455C-9EA6-DF929625EA0E}">
        <p15:presenceInfo xmlns:p15="http://schemas.microsoft.com/office/powerpoint/2012/main" userId="f80e80a411c6fffc" providerId="Windows Live"/>
      </p:ext>
    </p:extLst>
  </p:cmAuthor>
  <p:cmAuthor id="2" name="Carol Traver" initials="CT" lastIdx="2" clrIdx="1">
    <p:extLst>
      <p:ext uri="{19B8F6BF-5375-455C-9EA6-DF929625EA0E}">
        <p15:presenceInfo xmlns:p15="http://schemas.microsoft.com/office/powerpoint/2012/main" userId="017e1d6f1d8651f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13" autoAdjust="0"/>
    <p:restoredTop sz="83704" autoAdjust="0"/>
  </p:normalViewPr>
  <p:slideViewPr>
    <p:cSldViewPr>
      <p:cViewPr varScale="1">
        <p:scale>
          <a:sx n="79" d="100"/>
          <a:sy n="79" d="100"/>
        </p:scale>
        <p:origin x="936" y="96"/>
      </p:cViewPr>
      <p:guideLst>
        <p:guide orient="horz" pos="1620"/>
        <p:guide pos="2880"/>
        <p:guide orient="horz" pos="252"/>
        <p:guide orient="horz" pos="432"/>
        <p:guide orient="horz" pos="3024"/>
        <p:guide orient="horz" pos="792"/>
        <p:guide pos="288"/>
        <p:guide pos="5472"/>
        <p:guide orient="horz" pos="648"/>
        <p:guide orient="horz" pos="900"/>
        <p:guide orient="horz" pos="1152"/>
        <p:guide orient="horz" pos="326"/>
        <p:guide orient="horz" pos="1140"/>
      </p:guideLst>
    </p:cSldViewPr>
  </p:slideViewPr>
  <p:outlineViewPr>
    <p:cViewPr>
      <p:scale>
        <a:sx n="33" d="100"/>
        <a:sy n="33" d="100"/>
      </p:scale>
      <p:origin x="0" y="50676"/>
    </p:cViewPr>
  </p:outlineViewPr>
  <p:notesTextViewPr>
    <p:cViewPr>
      <p:scale>
        <a:sx n="1" d="1"/>
        <a:sy n="1" d="1"/>
      </p:scale>
      <p:origin x="0" y="0"/>
    </p:cViewPr>
  </p:notesText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5/28/2021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5/28/2021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en-US" dirty="0">
                <a:latin typeface="Times New Roman" panose="02020603050405020304" pitchFamily="18" charset="0"/>
              </a:rPr>
              <a:t>This chapter looks at enterprise applications, which collect and integrate data from many different departments and systems throughout the business. Ask students to review what operational excellence is. What is customer intimacy and why does this help the business? Have they ever heard of </a:t>
            </a:r>
            <a:r>
              <a:rPr lang="ja-JP" altLang="en-US" dirty="0">
                <a:latin typeface="Times New Roman" panose="02020603050405020304" pitchFamily="18" charset="0"/>
              </a:rPr>
              <a:t>“</a:t>
            </a:r>
            <a:r>
              <a:rPr lang="en-US" altLang="ja-JP" dirty="0">
                <a:latin typeface="Times New Roman" panose="02020603050405020304" pitchFamily="18" charset="0"/>
              </a:rPr>
              <a:t>supply chains</a:t>
            </a:r>
            <a:r>
              <a:rPr lang="ja-JP" altLang="en-US" dirty="0">
                <a:latin typeface="Times New Roman" panose="02020603050405020304" pitchFamily="18" charset="0"/>
              </a:rPr>
              <a:t>”</a:t>
            </a:r>
            <a:r>
              <a:rPr lang="en-US" altLang="ja-JP" dirty="0">
                <a:latin typeface="Times New Roman" panose="02020603050405020304" pitchFamily="18" charset="0"/>
              </a:rPr>
              <a:t> before?</a:t>
            </a:r>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describes the main purpose of enterprise systems. Ask students for examples of why it might be valuable to have information from one process instantly available to another process.</a:t>
            </a:r>
          </a:p>
          <a:p>
            <a:pPr eaLnBrk="1" hangingPunct="1"/>
            <a:endParaRPr lang="en-US" altLang="en-US" dirty="0">
              <a:latin typeface="Times New Roman" panose="02020603050405020304" pitchFamily="18" charset="0"/>
            </a:endParaRPr>
          </a:p>
          <a:p>
            <a:pPr eaLnBrk="1" hangingPunct="1"/>
            <a:r>
              <a:rPr lang="en-US" altLang="en-US" dirty="0">
                <a:latin typeface="Times New Roman" panose="02020603050405020304" pitchFamily="18" charset="0"/>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9.1,</a:t>
            </a:r>
            <a:r>
              <a:rPr lang="en-US" altLang="en-US" baseline="0" dirty="0"/>
              <a:t> Page 340.</a:t>
            </a:r>
          </a:p>
          <a:p>
            <a:r>
              <a:rPr lang="en-US" sz="1200" b="0" i="1" u="none" strike="noStrike" kern="1200" cap="none" baseline="0" dirty="0">
                <a:solidFill>
                  <a:schemeClr val="tx1"/>
                </a:solidFill>
                <a:latin typeface="+mn-lt"/>
                <a:ea typeface="Arial"/>
                <a:cs typeface="Arial"/>
                <a:sym typeface="Arial"/>
              </a:rPr>
              <a:t>Enterprise systems feature a set of integrated software modules and a central database by which business processes and functional areas throughout the enterprise can share data.</a:t>
            </a:r>
          </a:p>
          <a:p>
            <a:endParaRPr lang="en-US" sz="1200" b="0" i="0"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function of enterprise software to integrate and share data between the different business functions. One of the key ideas of enterprise solutions is that there</a:t>
            </a:r>
            <a:r>
              <a:rPr lang="en-US" altLang="ja-JP" dirty="0"/>
              <a:t>’s </a:t>
            </a:r>
            <a:r>
              <a:rPr lang="ja-JP" altLang="en-US" dirty="0"/>
              <a:t>“</a:t>
            </a:r>
            <a:r>
              <a:rPr lang="en-US" altLang="ja-JP" dirty="0"/>
              <a:t>one company, one database</a:t>
            </a:r>
            <a:r>
              <a:rPr lang="ja-JP" altLang="en-US" dirty="0"/>
              <a:t>”</a:t>
            </a:r>
            <a:r>
              <a:rPr lang="en-US" altLang="ja-JP" dirty="0"/>
              <a:t> and not a collection of disconnected databases.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latin typeface="+mn-lt"/>
            </a:endParaRPr>
          </a:p>
          <a:p>
            <a:pPr marL="0" marR="0">
              <a:lnSpc>
                <a:spcPct val="115000"/>
              </a:lnSpc>
              <a:spcBef>
                <a:spcPts val="0"/>
              </a:spcBef>
              <a:spcAft>
                <a:spcPts val="0"/>
              </a:spcAft>
            </a:pPr>
            <a:r>
              <a:rPr lang="en-US" altLang="ja-JP" sz="1200" u="sng" dirty="0">
                <a:latin typeface="+mn-lt"/>
              </a:rPr>
              <a:t>Alt Text</a:t>
            </a:r>
          </a:p>
          <a:p>
            <a:pPr marL="0" marR="0">
              <a:lnSpc>
                <a:spcPct val="115000"/>
              </a:lnSpc>
              <a:spcBef>
                <a:spcPts val="0"/>
              </a:spcBef>
              <a:spcAft>
                <a:spcPts val="0"/>
              </a:spcAft>
            </a:pPr>
            <a:r>
              <a:rPr lang="en-US" altLang="ja-JP" sz="1200" dirty="0">
                <a:latin typeface="+mn-lt"/>
              </a:rPr>
              <a:t>Long description: A radial diagram explains how enterprise systems work. </a:t>
            </a:r>
            <a:r>
              <a:rPr lang="en-US" sz="1200" dirty="0">
                <a:solidFill>
                  <a:srgbClr val="000000"/>
                </a:solidFill>
                <a:effectLst/>
                <a:latin typeface="+mn-lt"/>
                <a:ea typeface="Times New Roman" panose="02020603050405020304" pitchFamily="18" charset="0"/>
                <a:cs typeface="Calibri" panose="020F0502020204030204" pitchFamily="34" charset="0"/>
              </a:rPr>
              <a:t>The details of the diagram are as below:</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At the center of the radial diagram is the central database which is connected to various business processes and functional areas in an enterprise.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The various business processes and functional areas are as follows:</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Finance and Accounting: Cash on hand; Accounts receivable; Customer credit; Revenue.</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Human Resources: Hours worked; Labor cost; Job skills.</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Manufacturing and Production: Materials; Production schedules; Shipment dates; Production capacity; Purchases.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Sales and Marketing: Orders; Sales forecasts; Return requests; Price changes.</a:t>
            </a:r>
            <a:endParaRPr lang="en-US" sz="1200" dirty="0">
              <a:effectLst/>
              <a:latin typeface="+mn-lt"/>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the functions in an enterprise software package and how it would be implemented by a firm. Ask students why it is typically best to perform only minimal changes to enterprise software, and instead, change the way the firm works in order to conform to the software</a:t>
            </a:r>
            <a:r>
              <a:rPr lang="en-US" altLang="ja-JP" dirty="0"/>
              <a:t>’s business processes.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business values of enterprise systems. What does it mean for the firm that enterprise systems enforce the use of common standardized definitions and formats for data by the entire organization?</a:t>
            </a:r>
          </a:p>
          <a:p>
            <a:endParaRPr lang="en-US" dirty="0"/>
          </a:p>
          <a:p>
            <a:r>
              <a:rPr lang="en-US" altLang="en-US" dirty="0"/>
              <a:t>The text cites the example of Alcoa, which implemented enterprise software to eliminate redundant processes and systems, reduce requisition-pay-to-cycle time, reduce 20 percent of worldwide costs. This illustrates the tremendous value that an effective implementation of enterprise software can have.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introduces the concept of the supply chain. Supply chain management software is a type of enterprise software for managing complicated supply chains that may include thousands of suppliers. </a:t>
            </a:r>
          </a:p>
          <a:p>
            <a:pPr eaLnBrk="1" hangingPunct="1"/>
            <a:endParaRPr lang="en-US" altLang="en-US" dirty="0"/>
          </a:p>
          <a:p>
            <a:pPr eaLnBrk="1" hangingPunct="1"/>
            <a:r>
              <a:rPr lang="en-US" altLang="en-US" dirty="0"/>
              <a:t>The text gives the example of Nike</a:t>
            </a:r>
            <a:r>
              <a:rPr lang="en-US" altLang="ja-JP" dirty="0"/>
              <a:t>’s sneakers’ supply chain. What types of firms are in the upstream supply chain? In the downstream supply chain?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9.2,</a:t>
            </a:r>
            <a:r>
              <a:rPr lang="en-US" altLang="en-US" baseline="0" dirty="0"/>
              <a:t> Page 343.</a:t>
            </a:r>
          </a:p>
          <a:p>
            <a:r>
              <a:rPr lang="en-US" sz="1200" b="0" i="1" u="none" strike="noStrike" kern="1200" cap="none" baseline="0" dirty="0">
                <a:solidFill>
                  <a:schemeClr val="tx1"/>
                </a:solidFill>
                <a:latin typeface="+mn-lt"/>
                <a:ea typeface="Arial"/>
                <a:cs typeface="Arial"/>
                <a:sym typeface="Arial"/>
              </a:rPr>
              <a:t>This figure illustrates the major entities in Nike’s supply chain and the flow of information upstream and downstream to coordinate the activities involved in buying, making, and moving a product. Shown here is a simplified supply chain, with the upstream portion focusing only on the suppliers for sneakers and sneaker soles.</a:t>
            </a:r>
          </a:p>
          <a:p>
            <a:endParaRPr lang="en-US" sz="1200" b="0" i="0" u="none" strike="noStrike" kern="1200" cap="none" baseline="0" dirty="0">
              <a:solidFill>
                <a:schemeClr val="tx1"/>
              </a:solidFill>
              <a:latin typeface="+mn-lt"/>
              <a:ea typeface="Arial"/>
              <a:cs typeface="Arial"/>
              <a:sym typeface="Arial"/>
            </a:endParaRPr>
          </a:p>
          <a:p>
            <a:pPr eaLnBrk="1" hangingPunct="1"/>
            <a:r>
              <a:rPr lang="en-US" altLang="en-US" dirty="0"/>
              <a:t>This graphic illustrates the major entities in Nike</a:t>
            </a:r>
            <a:r>
              <a:rPr lang="en-US" altLang="ja-JP" dirty="0"/>
              <a:t>’s supply chain. Ask students what the difference is between tier 1, 2, and 3 suppliers.</a:t>
            </a:r>
          </a:p>
          <a:p>
            <a:pPr eaLnBrk="1" hangingPunct="1"/>
            <a:endParaRPr lang="en-US" altLang="ja-JP" sz="1200" dirty="0">
              <a:latin typeface="+mn-lt"/>
            </a:endParaRPr>
          </a:p>
          <a:p>
            <a:pPr marL="0" marR="0">
              <a:lnSpc>
                <a:spcPct val="115000"/>
              </a:lnSpc>
              <a:spcBef>
                <a:spcPts val="0"/>
              </a:spcBef>
              <a:spcAft>
                <a:spcPts val="0"/>
              </a:spcAft>
            </a:pPr>
            <a:r>
              <a:rPr lang="en-US" altLang="ja-JP" sz="1200" u="sng" dirty="0">
                <a:latin typeface="+mn-lt"/>
              </a:rPr>
              <a:t>Alt Text</a:t>
            </a:r>
          </a:p>
          <a:p>
            <a:pPr marL="0" marR="0">
              <a:lnSpc>
                <a:spcPct val="115000"/>
              </a:lnSpc>
              <a:spcBef>
                <a:spcPts val="0"/>
              </a:spcBef>
              <a:spcAft>
                <a:spcPts val="0"/>
              </a:spcAft>
            </a:pPr>
            <a:r>
              <a:rPr lang="en-US" altLang="ja-JP" sz="1200" dirty="0">
                <a:latin typeface="+mn-lt"/>
              </a:rPr>
              <a:t>Long description: A process diagram illustrates Nike’s supply chain and the flow of information. </a:t>
            </a:r>
            <a:r>
              <a:rPr lang="en-US" sz="1200" dirty="0">
                <a:solidFill>
                  <a:srgbClr val="000000"/>
                </a:solidFill>
                <a:effectLst/>
                <a:latin typeface="+mn-lt"/>
                <a:ea typeface="Times New Roman" panose="02020603050405020304" pitchFamily="18" charset="0"/>
                <a:cs typeface="Calibri" panose="020F0502020204030204" pitchFamily="34" charset="0"/>
              </a:rPr>
              <a:t>The process diagram is divided into two sections: Upstream and downstream.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Several tier three supplies connect to suppliers in tier two who in turn connect to the contract suppliers in tier one. This process of the flow diagram is labeled upstream.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endParaRPr lang="en-US" sz="12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From the contract suppliers a two-way path is depicted to illustrate the downstream process.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first flow is illustrated as follows: Nike; Distributor; Retailer; Customer. The capacity, inventory level, delivery schedule, and payment terms are handled here.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The second flow is illustrated as follows: Customer; Retailer; Distributor; Nike. The orders, return requests, repair and services, and payments are handled here.</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altLang="en-US" dirty="0"/>
              <a:t>This slide discusses the effects of timely and untimely information on a supply chain. Ask students what causes inefficiencies in a supply chain (parts shortages, underutilized plant capacity, excessive finished goods inventory, high transportation costs). These are caused by untimely information. Perfect information can result in a just-in-time strategy. </a:t>
            </a:r>
          </a:p>
          <a:p>
            <a:pPr eaLnBrk="1" hangingPunct="1"/>
            <a:endParaRPr lang="en-US" altLang="en-US" dirty="0"/>
          </a:p>
          <a:p>
            <a:pPr eaLnBrk="1" hangingPunct="1"/>
            <a:r>
              <a:rPr lang="en-US" altLang="en-US" dirty="0"/>
              <a:t>Because of uncertainties, manufacturers keep a safety stock. Why is this an inefficient result? Another effect of uncertainties is the bullwhip effect.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267200"/>
          </a:xfrm>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9.3,</a:t>
            </a:r>
            <a:r>
              <a:rPr lang="en-US" altLang="en-US" baseline="0" dirty="0"/>
              <a:t> Page 345.</a:t>
            </a:r>
          </a:p>
          <a:p>
            <a:r>
              <a:rPr lang="en-US" sz="1200" b="0" i="1" u="none" strike="noStrike" kern="1200" cap="none" baseline="0" dirty="0">
                <a:solidFill>
                  <a:schemeClr val="tx1"/>
                </a:solidFill>
                <a:latin typeface="+mn-lt"/>
                <a:ea typeface="Arial"/>
                <a:cs typeface="Arial"/>
                <a:sym typeface="Arial"/>
              </a:rPr>
              <a:t>Inaccurate information can cause minor fluctuations in demand for a product to be amplified as one moves further back in the supply chain. Minor fluctuations in retail sales for a product can create excess inventory for distributors, manufacturers, and suppliers.</a:t>
            </a:r>
          </a:p>
          <a:p>
            <a:endParaRPr 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how a slight rise in demand by customers for an item will cause successive participants to slightly overstock related inventory </a:t>
            </a:r>
            <a:r>
              <a:rPr lang="ja-JP" altLang="en-US" dirty="0"/>
              <a:t>“</a:t>
            </a:r>
            <a:r>
              <a:rPr lang="en-US" altLang="ja-JP" dirty="0"/>
              <a:t>just in case.</a:t>
            </a:r>
            <a:r>
              <a:rPr lang="ja-JP" altLang="en-US" dirty="0"/>
              <a:t>”</a:t>
            </a:r>
            <a:r>
              <a:rPr lang="en-US" altLang="ja-JP" dirty="0"/>
              <a:t> These changes are amplified as one moves back further in the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latin typeface="Times New Roman" panose="02020603050405020304" pitchFamily="18" charset="0"/>
            </a:endParaRPr>
          </a:p>
          <a:p>
            <a:pPr marL="0" marR="0">
              <a:lnSpc>
                <a:spcPct val="115000"/>
              </a:lnSpc>
              <a:spcBef>
                <a:spcPts val="0"/>
              </a:spcBef>
              <a:spcAft>
                <a:spcPts val="0"/>
              </a:spcAft>
            </a:pPr>
            <a:r>
              <a:rPr lang="en-US" altLang="ja-JP" sz="1200" u="sng" dirty="0">
                <a:latin typeface="+mn-lt"/>
              </a:rPr>
              <a:t>Alt Text</a:t>
            </a:r>
          </a:p>
          <a:p>
            <a:pPr marL="0" marR="0">
              <a:lnSpc>
                <a:spcPct val="115000"/>
              </a:lnSpc>
              <a:spcBef>
                <a:spcPts val="0"/>
              </a:spcBef>
              <a:spcAft>
                <a:spcPts val="0"/>
              </a:spcAft>
            </a:pPr>
            <a:r>
              <a:rPr lang="en-US" altLang="ja-JP" sz="1200" dirty="0">
                <a:latin typeface="+mn-lt"/>
              </a:rPr>
              <a:t>Long description:</a:t>
            </a:r>
            <a:r>
              <a:rPr lang="en-US" altLang="ja-JP" sz="1200" baseline="0" dirty="0">
                <a:latin typeface="+mn-lt"/>
              </a:rPr>
              <a:t> A process diagram illustrates the bullwhip effect using a sample supply chain. </a:t>
            </a:r>
            <a:r>
              <a:rPr lang="en-US" sz="1200" dirty="0">
                <a:solidFill>
                  <a:srgbClr val="000000"/>
                </a:solidFill>
                <a:effectLst/>
                <a:latin typeface="+mn-lt"/>
                <a:ea typeface="Times New Roman" panose="02020603050405020304" pitchFamily="18" charset="0"/>
                <a:cs typeface="Calibri" panose="020F0502020204030204" pitchFamily="34" charset="0"/>
              </a:rPr>
              <a:t>The process diagram is divided into two sections: Upstream and downstream.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Several tier three supplies connect to suppliers in tier two who in turn connect to the contract suppliers in tier one. This process of the flow diagram is labeled upstream.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endParaRPr lang="en-US" sz="12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From the contract suppliers a two-way path is depicted to illustrate the downstream process.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first flow is illustrated as follows: Manufacturer; Distributor; Retailer; Customer. </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The second flow is illustrated as follows: Customer; Retailer; Distributor; Manufacturer. </a:t>
            </a:r>
            <a:endParaRPr lang="en-US" sz="1200" dirty="0">
              <a:effectLst/>
              <a:latin typeface="+mn-lt"/>
              <a:ea typeface="Calibri" panose="020F0502020204030204" pitchFamily="34" charset="0"/>
            </a:endParaRPr>
          </a:p>
          <a:p>
            <a:pPr marL="0" marR="0">
              <a:lnSpc>
                <a:spcPct val="115000"/>
              </a:lnSpc>
              <a:spcBef>
                <a:spcPts val="0"/>
              </a:spcBef>
              <a:spcAft>
                <a:spcPts val="0"/>
              </a:spcAft>
            </a:pPr>
            <a:endParaRPr lang="en-US" sz="1200" dirty="0">
              <a:solidFill>
                <a:srgbClr val="000000"/>
              </a:solidFill>
              <a:effectLst/>
              <a:latin typeface="+mn-lt"/>
              <a:ea typeface="Times New Roman" panose="02020603050405020304" pitchFamily="18" charset="0"/>
              <a:cs typeface="Calibri" panose="020F0502020204030204" pitchFamily="34"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Descending intensity of fluctuations is represented by spike waves icons in decreasing order of size, from tier three supplier to customer. </a:t>
            </a:r>
            <a:endParaRPr lang="en-US" sz="1200" dirty="0">
              <a:solidFill>
                <a:srgbClr val="000000"/>
              </a:solidFill>
              <a:effectLst/>
              <a:latin typeface="+mn-lt"/>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two main types of supply chain management systems. Ask students to explain and describe the concept of </a:t>
            </a:r>
            <a:r>
              <a:rPr lang="ja-JP" altLang="en-US" dirty="0"/>
              <a:t>“</a:t>
            </a:r>
            <a:r>
              <a:rPr lang="en-US" altLang="ja-JP" dirty="0"/>
              <a:t>demand planning.</a:t>
            </a:r>
            <a:r>
              <a:rPr lang="ja-JP" altLang="en-US" dirty="0"/>
              <a:t>”</a:t>
            </a:r>
            <a:r>
              <a:rPr lang="en-US" altLang="ja-JP" dirty="0"/>
              <a:t> It determines how much product a business needs to make to satisfy customer demand.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additional complexities experienced by global supply chains. Today</a:t>
            </a:r>
            <a:r>
              <a:rPr lang="en-US" altLang="ja-JP" dirty="0"/>
              <a:t>’s apparel industry relies heavily on outsourcing to contract manufacturers in China and other low-wage countries. Apparel companies use the web extensively to manage their global supply chain and production issues.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fact that SCM systems facilitate efficient customer response, allowing the workings of the business to be driven more by customer demand, moving from push-based, sequential models to pull-based, concurrent models of production. Ask students for examples from the text of the pull-based model (Walmart, Dell).</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400"/>
            <a:ext cx="5486400" cy="4572000"/>
          </a:xfrm>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9.4,</a:t>
            </a:r>
            <a:r>
              <a:rPr lang="en-US" altLang="en-US" baseline="0" dirty="0"/>
              <a:t> Page 347.</a:t>
            </a:r>
          </a:p>
          <a:p>
            <a:r>
              <a:rPr lang="en-US" sz="1200" b="0" i="1" u="none" strike="noStrike" kern="1200" cap="none" baseline="0" dirty="0">
                <a:solidFill>
                  <a:schemeClr val="tx1"/>
                </a:solidFill>
                <a:latin typeface="+mn-lt"/>
                <a:ea typeface="Arial"/>
                <a:cs typeface="Arial"/>
                <a:sym typeface="Arial"/>
              </a:rPr>
              <a:t>The difference between push- and pull-based models is summarized by the slogan “Make what we sell, not sell what we make.”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difference between the earlier, push-based model of supply chains to the pull-based model. Ask students if there are some industries uniquely suited to the pull-based model. How about automobiles, appliances, and consumer durables? What are the drawbacks of a pull-based model?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latin typeface="Times New Roman" panose="02020603050405020304" pitchFamily="18" charset="0"/>
            </a:endParaRPr>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Two linear flow diagrams explain the difference between push- and pull-based supply chain models. </a:t>
            </a:r>
            <a:r>
              <a:rPr lang="en-US" sz="1200" dirty="0">
                <a:solidFill>
                  <a:srgbClr val="000000"/>
                </a:solidFill>
                <a:effectLst/>
                <a:latin typeface="+mn-lt"/>
                <a:ea typeface="Times New Roman" panose="02020603050405020304" pitchFamily="18" charset="0"/>
              </a:rPr>
              <a:t>The details are as below:</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Push-based model: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Manufacturer is connected to both supplier and distributer. The distributer is further connected to the retailer, who in turn is connected to the customer.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In this model, manufacturer produces based on forecasts and supplies it based on the same to the supplier. The distributor has the inventory based on the forecasts and the retailer stocks based on the forecasts. The customer purchases what is on the shelves. </a:t>
            </a:r>
          </a:p>
          <a:p>
            <a:pPr marL="0" marR="0">
              <a:lnSpc>
                <a:spcPct val="115000"/>
              </a:lnSpc>
              <a:spcBef>
                <a:spcPts val="0"/>
              </a:spcBef>
              <a:spcAft>
                <a:spcPts val="0"/>
              </a:spcAft>
            </a:pP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The connections in the pull-based model are as follows: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Customer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Retailer</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Distributor</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Manufacturer</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Supplier</a:t>
            </a:r>
          </a:p>
          <a:p>
            <a:endParaRPr lang="en-US" sz="1200" dirty="0">
              <a:solidFill>
                <a:srgbClr val="000000"/>
              </a:solidFill>
              <a:effectLst/>
              <a:latin typeface="+mn-lt"/>
              <a:ea typeface="Times New Roman" panose="02020603050405020304" pitchFamily="18" charset="0"/>
            </a:endParaRPr>
          </a:p>
          <a:p>
            <a:r>
              <a:rPr lang="en-US" sz="1200" dirty="0">
                <a:solidFill>
                  <a:srgbClr val="000000"/>
                </a:solidFill>
                <a:effectLst/>
                <a:latin typeface="+mn-lt"/>
                <a:ea typeface="Times New Roman" panose="02020603050405020304" pitchFamily="18" charset="0"/>
              </a:rPr>
              <a:t>In this model, the customer orders and the retailer automatically replenishes the stock. The distributor also automatically replenishes the warehouse. The manufacturers produce to order and the supplier supplies to order.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0" dirty="0"/>
              <a:t>Figure 9.5,</a:t>
            </a:r>
            <a:r>
              <a:rPr lang="en-US" altLang="en-US" sz="1000" baseline="0" dirty="0"/>
              <a:t> Page 348.</a:t>
            </a:r>
          </a:p>
          <a:p>
            <a:r>
              <a:rPr lang="en-US" sz="1000" b="0" i="1" u="none" strike="noStrike" kern="1200" cap="none" baseline="0" dirty="0">
                <a:solidFill>
                  <a:schemeClr val="tx1"/>
                </a:solidFill>
                <a:ea typeface="Arial"/>
                <a:cs typeface="Arial"/>
                <a:sym typeface="Arial"/>
              </a:rPr>
              <a:t>The emerging Internet-driven supply chain operates like a digital logistics nervous system. It provides multidirectional communication among firms, networks of firms, and e-marketplaces so that entire networks of supply chain partners can immediately adjust inventories, orders, and capacities.</a:t>
            </a:r>
          </a:p>
          <a:p>
            <a:endParaRPr lang="en-US" altLang="en-US" sz="1000" b="0" i="0"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0" dirty="0"/>
              <a:t>This graphic illustrates the multidirectional communications within a future supply chain driven by the Internet. Private industrial networks and Net marketplaces are discussed in Chapter 10. Private industrial networks are typically a large firm using an extranet to link to its suppliers and other key business partners. Net marketplaces are digital marketplaces based on Internet technology for many different buyers and sellers.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000" dirty="0"/>
          </a:p>
          <a:p>
            <a:pPr marL="0" marR="0">
              <a:lnSpc>
                <a:spcPct val="115000"/>
              </a:lnSpc>
              <a:spcBef>
                <a:spcPts val="0"/>
              </a:spcBef>
              <a:spcAft>
                <a:spcPts val="0"/>
              </a:spcAft>
            </a:pPr>
            <a:r>
              <a:rPr lang="en-US" altLang="en-US" sz="1000" u="sng" dirty="0"/>
              <a:t>Alt Text</a:t>
            </a:r>
          </a:p>
          <a:p>
            <a:pPr marL="0" marR="0">
              <a:lnSpc>
                <a:spcPct val="115000"/>
              </a:lnSpc>
              <a:spcBef>
                <a:spcPts val="0"/>
              </a:spcBef>
              <a:spcAft>
                <a:spcPts val="0"/>
              </a:spcAft>
            </a:pPr>
            <a:r>
              <a:rPr lang="en-US" altLang="en-US" sz="1000" dirty="0"/>
              <a:t>Long description: An illustration explains the Internet-driven supply chain. </a:t>
            </a:r>
            <a:r>
              <a:rPr lang="en-US" sz="1000" dirty="0">
                <a:solidFill>
                  <a:srgbClr val="000000"/>
                </a:solidFill>
                <a:effectLst/>
                <a:ea typeface="Times New Roman" panose="02020603050405020304" pitchFamily="18" charset="0"/>
                <a:cs typeface="Calibri" panose="020F0502020204030204" pitchFamily="34" charset="0"/>
              </a:rPr>
              <a:t>The details are as below:</a:t>
            </a:r>
            <a:endParaRPr lang="en-US" sz="1000" dirty="0">
              <a:solidFill>
                <a:srgbClr val="000000"/>
              </a:solidFill>
              <a:effectLs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The private industrial networks and the net marketplaces are connected to the suppliers, virtual manufacturers, and contract manufacturers. </a:t>
            </a:r>
            <a:endParaRPr lang="en-US" sz="10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The contract manufacturers are connected to the virtual manufacturers, logistics exchanges, and logistics providers. </a:t>
            </a:r>
            <a:endParaRPr lang="en-US" sz="10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The virtual manufacturers are connected to the logistics exchanges. </a:t>
            </a:r>
            <a:endParaRPr lang="en-US" sz="10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Suppliers are connected to the manufacturers. </a:t>
            </a:r>
            <a:endParaRPr lang="en-US" sz="10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Manufacturers are connected to the private industrial networks and the net marketplaces, distributers, logistic providers, and the logistics exchanges.</a:t>
            </a:r>
            <a:endParaRPr lang="en-US" sz="10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Distributers are connected to the retailers, logistic providers, and the logistics exchanges.</a:t>
            </a:r>
            <a:endParaRPr lang="en-US" sz="1000"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000" dirty="0">
                <a:effectLst/>
                <a:ea typeface="Calibri" panose="020F0502020204030204" pitchFamily="34" charset="0"/>
                <a:cs typeface="Calibri" panose="020F0502020204030204" pitchFamily="34" charset="0"/>
              </a:rPr>
              <a:t>Retailers are connected to the customers and the customers to the logistic providers. The logistic provider is connected to the logistics exchanges.</a:t>
            </a:r>
            <a:endParaRPr lang="en-US" sz="1000" dirty="0">
              <a:effectLst/>
              <a:ea typeface="Calibri" panose="020F0502020204030204" pitchFamily="34" charset="0"/>
            </a:endParaRPr>
          </a:p>
          <a:p>
            <a:r>
              <a:rPr lang="en-US" sz="1000" dirty="0">
                <a:solidFill>
                  <a:srgbClr val="000000"/>
                </a:solidFill>
                <a:effectLst/>
                <a:ea typeface="Times New Roman" panose="02020603050405020304" pitchFamily="18" charset="0"/>
              </a:rPr>
              <a:t>All the connections are depicted via bidirectional dashed arrows.</a:t>
            </a:r>
            <a:endParaRPr lang="en-US" sz="1000"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examines the value of using SCM systems to businesses. Ask students how increased sales can result from a more efficient supply chain.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introduces the concept of customer relationship management as a key function of the business and the use of CRM systems to provide a single place to consolidate and analyze data about the customer. </a:t>
            </a:r>
          </a:p>
          <a:p>
            <a:endParaRPr lang="en-US" altLang="en-US" dirty="0"/>
          </a:p>
          <a:p>
            <a:r>
              <a:rPr lang="en-US" altLang="en-US" dirty="0"/>
              <a:t>Ask students to provide examples of the different types of customer data that would be captured by a firm. What types of valuable information does the firm need to know about its customers (most profitable, loyal customers). Have students directly interacted with a CRM? They probably do not know it, but anytime they call into a call center for help they are dealing with some kind of CRM that tracks some or all of their interactions with a firm.</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9.6,</a:t>
            </a:r>
            <a:r>
              <a:rPr lang="en-US" altLang="en-US" baseline="0" dirty="0"/>
              <a:t> Page 350.</a:t>
            </a:r>
          </a:p>
          <a:p>
            <a:r>
              <a:rPr lang="en-US" b="0" i="1" u="none" strike="noStrike" kern="1200" cap="none" baseline="0" dirty="0">
                <a:solidFill>
                  <a:schemeClr val="tx1"/>
                </a:solidFill>
                <a:ea typeface="Arial"/>
                <a:cs typeface="Arial"/>
                <a:sym typeface="Arial"/>
              </a:rPr>
              <a:t>CRM systems examine customers from a multifaceted perspective. These systems use a set of integrated applications to address all aspects of the customer relationship, including customer service, sales, and marketing.</a:t>
            </a:r>
          </a:p>
          <a:p>
            <a:endParaRPr lang="en-US" altLang="en-US" b="0" i="0" u="none" strike="noStrike" kern="1200" cap="none" baseline="0" dirty="0">
              <a:solidFill>
                <a:schemeClr val="tx1"/>
              </a:solidFill>
              <a:ea typeface="Arial"/>
              <a:cs typeface="Arial"/>
              <a:sym typeface="Arial"/>
            </a:endParaRPr>
          </a:p>
          <a:p>
            <a:pPr eaLnBrk="1" hangingPunct="1"/>
            <a:r>
              <a:rPr lang="en-US" altLang="en-US" dirty="0"/>
              <a:t>This graphic illustrates the functions found in the integrated applications of a CRM system.</a:t>
            </a:r>
          </a:p>
          <a:p>
            <a:pPr eaLnBrk="1" hangingPunct="1"/>
            <a:endParaRPr lang="en-US" altLang="en-US" dirty="0"/>
          </a:p>
          <a:p>
            <a:pPr marL="0" marR="0">
              <a:lnSpc>
                <a:spcPct val="115000"/>
              </a:lnSpc>
              <a:spcBef>
                <a:spcPts val="0"/>
              </a:spcBef>
              <a:spcAft>
                <a:spcPts val="0"/>
              </a:spcAft>
            </a:pPr>
            <a:r>
              <a:rPr lang="en-US" altLang="en-US" u="sng" dirty="0"/>
              <a:t>Alt Text</a:t>
            </a:r>
          </a:p>
          <a:p>
            <a:pPr marL="0" marR="0">
              <a:lnSpc>
                <a:spcPct val="115000"/>
              </a:lnSpc>
              <a:spcBef>
                <a:spcPts val="0"/>
              </a:spcBef>
              <a:spcAft>
                <a:spcPts val="0"/>
              </a:spcAft>
            </a:pPr>
            <a:r>
              <a:rPr lang="en-US" altLang="en-US" dirty="0"/>
              <a:t>Long description:</a:t>
            </a:r>
            <a:r>
              <a:rPr lang="en-US" altLang="en-US" baseline="0" dirty="0"/>
              <a:t> A segmented circle explains the concept of customer relationship management. </a:t>
            </a:r>
            <a:r>
              <a:rPr lang="en-US" dirty="0">
                <a:solidFill>
                  <a:srgbClr val="000000"/>
                </a:solidFill>
                <a:effectLst/>
                <a:ea typeface="Times New Roman" panose="02020603050405020304" pitchFamily="18" charset="0"/>
                <a:cs typeface="Calibri" panose="020F0502020204030204" pitchFamily="34" charset="0"/>
              </a:rPr>
              <a:t>The circle is divided into three parts with an ellipse representing the customer at the center of the circle. Each of the parts belong to sales, marketing, and service respectively. The details are as below:</a:t>
            </a:r>
            <a:endParaRPr lang="en-US" dirty="0">
              <a:solidFill>
                <a:srgbClr val="000000"/>
              </a:solidFill>
              <a:effectLs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cs typeface="Calibri" panose="020F0502020204030204" pitchFamily="34" charset="0"/>
              </a:rPr>
              <a:t>Sales: Telephone sales; Web sales; Retail store sales; Field sales. </a:t>
            </a:r>
            <a:endParaRPr lang="en-US" dirty="0">
              <a:effectLs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cs typeface="Calibri" panose="020F0502020204030204" pitchFamily="34" charset="0"/>
              </a:rPr>
              <a:t>Marketing: Campaign data; Content; Data analysis.</a:t>
            </a:r>
          </a:p>
          <a:p>
            <a:pPr marL="171450" marR="0" lvl="0" indent="-171450">
              <a:lnSpc>
                <a:spcPct val="115000"/>
              </a:lnSpc>
              <a:spcBef>
                <a:spcPts val="0"/>
              </a:spcBef>
              <a:spcAft>
                <a:spcPts val="0"/>
              </a:spcAft>
              <a:buFont typeface="Arial" panose="020B0604020202020204" pitchFamily="34" charset="0"/>
              <a:buChar char="•"/>
            </a:pPr>
            <a:r>
              <a:rPr lang="en-US" dirty="0">
                <a:solidFill>
                  <a:srgbClr val="000000"/>
                </a:solidFill>
                <a:effectLst/>
                <a:ea typeface="Times New Roman" panose="02020603050405020304" pitchFamily="18" charset="0"/>
              </a:rPr>
              <a:t>Service: Call center data; Web self-service data; Wireless data; Field service data; Social networking data.</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716276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types of CRM software available, which range from niche tools to full-scale enterprise-wide applications. Ask students for examples of PRM functions (integrating lead generation, pricing, promotions, order configurations, and availability, tools to assess partners</a:t>
            </a:r>
            <a:r>
              <a:rPr lang="en-US" altLang="ja-JP" dirty="0"/>
              <a:t>’ performances) and ERM functions (</a:t>
            </a:r>
            <a:r>
              <a:rPr lang="en-US" altLang="ja-JP" dirty="0">
                <a:cs typeface="Times New Roman" panose="02020603050405020304" pitchFamily="18" charset="0"/>
              </a:rPr>
              <a:t>s</a:t>
            </a:r>
            <a:r>
              <a:rPr lang="en-US" altLang="ja-JP" dirty="0"/>
              <a:t>etting objectives, employee performance management, performance-based compensation, employee training).</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9.7,</a:t>
            </a:r>
            <a:r>
              <a:rPr lang="en-US" altLang="en-US" baseline="0" dirty="0"/>
              <a:t> Page 352.</a:t>
            </a:r>
          </a:p>
          <a:p>
            <a:r>
              <a:rPr lang="en-US" b="0" i="1" u="none" strike="noStrike" kern="1200" cap="none" baseline="0" dirty="0">
                <a:solidFill>
                  <a:schemeClr val="tx1"/>
                </a:solidFill>
                <a:ea typeface="Arial"/>
                <a:cs typeface="Arial"/>
                <a:sym typeface="Arial"/>
              </a:rPr>
              <a:t>Customer relationship management software provides a single point for users to manage and evaluate marketing campaigns across multiple channels, including e-mail, direct mail, telephone, the Web, and social media.</a:t>
            </a:r>
            <a:endParaRPr lang="en-US" altLang="en-US" b="0" i="1" u="none" strike="noStrike" kern="1200" cap="none" baseline="0" dirty="0">
              <a:solidFill>
                <a:schemeClr val="tx1"/>
              </a:solidFil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gives an example of how CRM systems can support marketing by analyzing and evaluating marketing campaigns.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u="sng" dirty="0"/>
              <a:t>Alt Text</a:t>
            </a:r>
          </a:p>
          <a:p>
            <a:pPr marL="0" marR="0">
              <a:lnSpc>
                <a:spcPct val="115000"/>
              </a:lnSpc>
              <a:spcBef>
                <a:spcPts val="0"/>
              </a:spcBef>
              <a:spcAft>
                <a:spcPts val="0"/>
              </a:spcAft>
            </a:pPr>
            <a:r>
              <a:rPr lang="en-US" dirty="0"/>
              <a:t>Long description: A pie chart presents data on how customer relationship management systems support marketing. </a:t>
            </a:r>
            <a:r>
              <a:rPr lang="en-US" dirty="0">
                <a:solidFill>
                  <a:srgbClr val="000000"/>
                </a:solidFill>
                <a:effectLst/>
                <a:ea typeface="Times New Roman" panose="02020603050405020304" pitchFamily="18" charset="0"/>
              </a:rPr>
              <a:t>The details of the pie chart are as below:</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Direct mail: 29.2%</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Telephone: 30.8%</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Web: 16.0%</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Email: 17.3%</a:t>
            </a:r>
          </a:p>
          <a:p>
            <a:pPr marL="171450" marR="0" lvl="0" indent="-171450">
              <a:lnSpc>
                <a:spcPct val="115000"/>
              </a:lnSpc>
              <a:spcBef>
                <a:spcPts val="0"/>
              </a:spcBef>
              <a:spcAft>
                <a:spcPts val="0"/>
              </a:spcAft>
              <a:buFont typeface="Arial" panose="020B0604020202020204" pitchFamily="34" charset="0"/>
              <a:buChar char="•"/>
            </a:pPr>
            <a:r>
              <a:rPr lang="en-US" dirty="0">
                <a:effectLst/>
                <a:ea typeface="Calibri" panose="020F0502020204030204" pitchFamily="34" charset="0"/>
              </a:rPr>
              <a:t>Social media: 6.7%</a:t>
            </a:r>
          </a:p>
          <a:p>
            <a:endParaRPr lang="en-US" dirty="0">
              <a:solidFill>
                <a:srgbClr val="000000"/>
              </a:solidFill>
              <a:effectLst/>
              <a:ea typeface="Times New Roman" panose="02020603050405020304" pitchFamily="18" charset="0"/>
            </a:endParaRPr>
          </a:p>
          <a:p>
            <a:r>
              <a:rPr lang="en-US" dirty="0">
                <a:solidFill>
                  <a:srgbClr val="000000"/>
                </a:solidFill>
                <a:effectLst/>
                <a:ea typeface="Times New Roman" panose="02020603050405020304" pitchFamily="18" charset="0"/>
              </a:rPr>
              <a:t>Text above the pie chart reads: Responses by channel for January 2021 promotional campaign.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23730167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343399"/>
            <a:ext cx="5486400" cy="4341813"/>
          </a:xfrm>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300" dirty="0"/>
              <a:t>Figure 9.8,</a:t>
            </a:r>
            <a:r>
              <a:rPr lang="en-US" altLang="en-US" sz="1300" baseline="0" dirty="0"/>
              <a:t> Page 352.</a:t>
            </a:r>
          </a:p>
          <a:p>
            <a:r>
              <a:rPr lang="en-US" sz="1300" b="0" i="1" u="none" strike="noStrike" kern="1200" cap="none" baseline="0" dirty="0">
                <a:solidFill>
                  <a:schemeClr val="tx1"/>
                </a:solidFill>
                <a:ea typeface="Arial"/>
                <a:cs typeface="Arial"/>
                <a:sym typeface="Arial"/>
              </a:rPr>
              <a:t>The major CRM software products support business processes in sales, service, and marketing, integrating customer information from many sources. Included is support for both the operational and analytical aspects of CRM.</a:t>
            </a:r>
            <a:endParaRPr lang="en-US" altLang="en-US" sz="1300"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sz="1300" dirty="0"/>
          </a:p>
          <a:p>
            <a:r>
              <a:rPr lang="en-US" altLang="en-US" sz="1300" dirty="0"/>
              <a:t>This graphic illustrates the range of functions included in the sales, marketing, and service modules in a CRM package. As noted in the text, CRM software is business-process driven, incorporating hundreds of business processes thought to represent best practices in each of these areas. To achieve maximum benefit, companies need to revise and model their business processes to conform to the best-practice business processes in the CRM software.</a:t>
            </a:r>
          </a:p>
          <a:p>
            <a:endParaRPr lang="en-US" altLang="en-US" dirty="0">
              <a:latin typeface="Times New Roman" panose="02020603050405020304" pitchFamily="18" charset="0"/>
            </a:endParaRPr>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An illustration explains how CRM software products support business processes in sales, service, and marketing. </a:t>
            </a:r>
            <a:r>
              <a:rPr lang="en-US" sz="1200" dirty="0">
                <a:solidFill>
                  <a:srgbClr val="000000"/>
                </a:solidFill>
                <a:effectLst/>
                <a:latin typeface="+mn-lt"/>
                <a:ea typeface="Times New Roman" panose="02020603050405020304" pitchFamily="18" charset="0"/>
              </a:rPr>
              <a:t>The details are as below: </a:t>
            </a: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rPr>
              <a:t>Customer data from various sources is integrated and divided into sales, service, and marketing.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Under sales the CRM software products support the following: Account management; Lead management; Order management; Sales planning; Field sales; Sales analytics.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Under marketing the CRM software products support the following: Campaign management; Channel promotions management; Events management; Market planning; Marketing operations; Marketing analytics.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Under services the CRM software products support the following: Service delivery; Customer satisfaction management; Returns management; Service planning; Call center and help desk; Service analytics.</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3053329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9.9,</a:t>
            </a:r>
            <a:r>
              <a:rPr lang="en-US" altLang="en-US" baseline="0" dirty="0"/>
              <a:t> Page 353.</a:t>
            </a:r>
          </a:p>
          <a:p>
            <a:r>
              <a:rPr lang="en-US" sz="1200" b="0" i="1" u="none" strike="noStrike" kern="1200" cap="none" baseline="0" dirty="0">
                <a:solidFill>
                  <a:schemeClr val="tx1"/>
                </a:solidFill>
                <a:latin typeface="+mn-lt"/>
                <a:ea typeface="Arial"/>
                <a:cs typeface="Arial"/>
                <a:sym typeface="Arial"/>
              </a:rPr>
              <a:t>This process map shows how a best practice for promoting customer loyalty through customer service would be modeled by customer relationship management software. The CRM software helps firms identify high-value customers for preferential treatment.</a:t>
            </a:r>
            <a:endParaRPr lang="en-US" altLang="en-US" i="1" dirty="0">
              <a:latin typeface="Times New Roman" panose="02020603050405020304" pitchFamily="18" charset="0"/>
            </a:endParaRPr>
          </a:p>
          <a:p>
            <a:endParaRPr lang="en-US" altLang="en-US" dirty="0"/>
          </a:p>
          <a:p>
            <a:r>
              <a:rPr lang="en-US" altLang="en-US" dirty="0"/>
              <a:t>This graphic illustrates how a best practice for increasing customer loyalty through customer service might be modeled by CRM software. What kinds of information might indicate that a customer is loyal or high value?</a:t>
            </a:r>
          </a:p>
          <a:p>
            <a:endParaRPr lang="en-US" altLang="en-US" dirty="0">
              <a:latin typeface="Times New Roman" panose="02020603050405020304" pitchFamily="18" charset="0"/>
            </a:endParaRPr>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a:t>
            </a:r>
            <a:r>
              <a:rPr lang="en-US" altLang="en-US" sz="1200" baseline="0" dirty="0">
                <a:latin typeface="+mn-lt"/>
              </a:rPr>
              <a:t> A flowchart explains how CRM software helps firms identify loyal customers for privileged treatment. </a:t>
            </a:r>
            <a:r>
              <a:rPr lang="en-US" sz="1200" dirty="0">
                <a:solidFill>
                  <a:srgbClr val="000000"/>
                </a:solidFill>
                <a:effectLst/>
                <a:latin typeface="+mn-lt"/>
                <a:ea typeface="Times New Roman" panose="02020603050405020304" pitchFamily="18" charset="0"/>
                <a:cs typeface="Calibri" panose="020F0502020204030204" pitchFamily="34" charset="0"/>
              </a:rPr>
              <a:t>The details are as below:</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Receive service request.</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Obtain customer information from the customer database.</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Customer information available?</a:t>
            </a:r>
            <a:endParaRPr lang="en-US" sz="12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200" dirty="0">
                <a:effectLst/>
                <a:latin typeface="+mn-lt"/>
                <a:ea typeface="Calibri" panose="020F0502020204030204" pitchFamily="34" charset="0"/>
                <a:cs typeface="Calibri" panose="020F0502020204030204" pitchFamily="34" charset="0"/>
              </a:rPr>
              <a:t>If yes: Score customer; Check if the customer is high-value and loyal. If yes: </a:t>
            </a:r>
            <a:r>
              <a:rPr lang="en-US" sz="1200" dirty="0">
                <a:solidFill>
                  <a:srgbClr val="000000"/>
                </a:solidFill>
                <a:effectLst/>
                <a:latin typeface="+mn-lt"/>
                <a:ea typeface="Calibri" panose="020F0502020204030204" pitchFamily="34" charset="0"/>
                <a:cs typeface="Calibri" panose="020F0502020204030204" pitchFamily="34" charset="0"/>
              </a:rPr>
              <a:t>Provide special</a:t>
            </a:r>
            <a:r>
              <a:rPr lang="en-US" sz="1200" dirty="0">
                <a:effectLst/>
                <a:latin typeface="+mn-lt"/>
                <a:ea typeface="Calibri" panose="020F0502020204030204" pitchFamily="34" charset="0"/>
                <a:cs typeface="Calibri" panose="020F0502020204030204" pitchFamily="34" charset="0"/>
              </a:rPr>
              <a:t> off</a:t>
            </a:r>
            <a:r>
              <a:rPr lang="en-US" sz="1200" dirty="0">
                <a:solidFill>
                  <a:srgbClr val="000000"/>
                </a:solidFill>
                <a:effectLst/>
                <a:latin typeface="+mn-lt"/>
                <a:ea typeface="Calibri" panose="020F0502020204030204" pitchFamily="34" charset="0"/>
                <a:cs typeface="Calibri" panose="020F0502020204030204" pitchFamily="34" charset="0"/>
              </a:rPr>
              <a:t>ers and service.</a:t>
            </a:r>
            <a:endParaRPr lang="en-US" sz="1200" dirty="0">
              <a:effectLst/>
              <a:latin typeface="+mn-lt"/>
              <a:ea typeface="Calibri" panose="020F0502020204030204" pitchFamily="34" charset="0"/>
            </a:endParaRPr>
          </a:p>
          <a:p>
            <a:pPr marL="628650" marR="0" lvl="1" indent="-171450">
              <a:lnSpc>
                <a:spcPct val="115000"/>
              </a:lnSpc>
              <a:spcBef>
                <a:spcPts val="0"/>
              </a:spcBef>
              <a:spcAft>
                <a:spcPts val="0"/>
              </a:spcAft>
              <a:buFont typeface="Courier New" panose="02070309020205020404" pitchFamily="49" charset="0"/>
              <a:buChar char="o"/>
            </a:pPr>
            <a:r>
              <a:rPr lang="en-US" sz="1200" dirty="0">
                <a:effectLst/>
                <a:latin typeface="+mn-lt"/>
                <a:ea typeface="Calibri" panose="020F0502020204030204" pitchFamily="34" charset="0"/>
                <a:cs typeface="Calibri" panose="020F0502020204030204" pitchFamily="34" charset="0"/>
              </a:rPr>
              <a:t>If no: Route to best agent and resolve issue.</a:t>
            </a:r>
            <a:endParaRPr lang="en-US" sz="1200" dirty="0">
              <a:effectLst/>
              <a:latin typeface="+mn-lt"/>
              <a:ea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23728105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two main types of CRM software</a:t>
            </a:r>
            <a:r>
              <a:rPr lang="en-US" altLang="en-US" dirty="0">
                <a:cs typeface="Times New Roman" panose="02020603050405020304" pitchFamily="18" charset="0"/>
              </a:rPr>
              <a:t>—</a:t>
            </a:r>
            <a:r>
              <a:rPr lang="en-US" altLang="en-US" dirty="0"/>
              <a:t>operational and analytical. Ask students how the CLTV is calculated (it is based on the relationship between the revenue produced by a specific customer, the expenses incurred in acquiring and servicing that customer, and the expected life of the relationship between the customer and the company.)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9.10,</a:t>
            </a:r>
            <a:r>
              <a:rPr lang="en-US" altLang="en-US" baseline="0" dirty="0"/>
              <a:t> Page 354.</a:t>
            </a:r>
          </a:p>
          <a:p>
            <a:r>
              <a:rPr lang="en-US" sz="1200" b="0" i="1" u="none" strike="noStrike" kern="1200" cap="none" baseline="0" dirty="0">
                <a:solidFill>
                  <a:schemeClr val="tx1"/>
                </a:solidFill>
                <a:latin typeface="+mn-lt"/>
                <a:ea typeface="Arial"/>
                <a:cs typeface="Arial"/>
                <a:sym typeface="Arial"/>
              </a:rPr>
              <a:t>Analytical CRM uses a customer data warehouse or analytic platform and tools to analyze customer data collected from the firm’s customer touch points and from other sources.</a:t>
            </a:r>
            <a:endParaRPr lang="en-US" altLang="en-US" i="1" dirty="0">
              <a:latin typeface="Times New Roman" panose="02020603050405020304" pitchFamily="18" charset="0"/>
            </a:endParaRPr>
          </a:p>
          <a:p>
            <a:pPr eaLnBrk="1" hangingPunct="1"/>
            <a:endParaRPr lang="en-US" altLang="en-US" dirty="0"/>
          </a:p>
          <a:p>
            <a:pPr eaLnBrk="1" hangingPunct="1"/>
            <a:r>
              <a:rPr lang="en-US" altLang="en-US" dirty="0"/>
              <a:t>This graphic illustrates the main components of analytical CRM. Data is captured from various channels and fed into a customer data warehouse or analytic platform, where OLAP, data mining, and other analysis tools help identify profitable customers, churn rates, and so on.</a:t>
            </a:r>
          </a:p>
          <a:p>
            <a:pPr eaLnBrk="1" hangingPunct="1"/>
            <a:endParaRPr lang="en-US" altLang="en-US" dirty="0">
              <a:latin typeface="Times New Roman" panose="02020603050405020304" pitchFamily="18" charset="0"/>
            </a:endParaRPr>
          </a:p>
          <a:p>
            <a:pPr marL="0" marR="0">
              <a:lnSpc>
                <a:spcPct val="115000"/>
              </a:lnSpc>
              <a:spcBef>
                <a:spcPts val="0"/>
              </a:spcBef>
              <a:spcAft>
                <a:spcPts val="0"/>
              </a:spcAft>
            </a:pPr>
            <a:r>
              <a:rPr lang="en-US" altLang="en-US" sz="1200" u="sng" dirty="0">
                <a:latin typeface="+mn-lt"/>
              </a:rPr>
              <a:t>Alt Text</a:t>
            </a:r>
          </a:p>
          <a:p>
            <a:pPr marL="0" marR="0">
              <a:lnSpc>
                <a:spcPct val="115000"/>
              </a:lnSpc>
              <a:spcBef>
                <a:spcPts val="0"/>
              </a:spcBef>
              <a:spcAft>
                <a:spcPts val="0"/>
              </a:spcAft>
            </a:pPr>
            <a:r>
              <a:rPr lang="en-US" altLang="en-US" sz="1200" dirty="0">
                <a:latin typeface="+mn-lt"/>
              </a:rPr>
              <a:t>Long description: An illustration explains how analytical CRM uses customer data from various sources to create segments for targeted marketing. </a:t>
            </a:r>
            <a:r>
              <a:rPr lang="en-US" sz="1200" dirty="0">
                <a:solidFill>
                  <a:srgbClr val="000000"/>
                </a:solidFill>
                <a:effectLst/>
                <a:latin typeface="+mn-lt"/>
                <a:ea typeface="Times New Roman" panose="02020603050405020304" pitchFamily="18" charset="0"/>
                <a:cs typeface="Calibri" panose="020F0502020204030204" pitchFamily="34" charset="0"/>
              </a:rPr>
              <a:t>At the center of the illustration is the customer data warehouse or the analytic platform which is connected to the channels for procuring customer data and data analysis tools for obtaining the following results: Profitable customers, market segments, customer profiles, and churn rates.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Customer data is obtained from the below sources:</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Under the channels are the following: Call center; Website; Wireless; Field sales; Direct mail; Email; Retail store; Partner; Social media.</a:t>
            </a:r>
            <a:endParaRPr lang="en-US" sz="1200" dirty="0">
              <a:effectLst/>
              <a:latin typeface="+mn-lt"/>
              <a:ea typeface="Calibri" panose="020F0502020204030204" pitchFamily="34"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Under other sources are: Legacy systems; Demographic data; Third-party data; Marketing campaign data. </a:t>
            </a:r>
            <a:endParaRPr lang="en-US" sz="1200" dirty="0">
              <a:effectLst/>
              <a:latin typeface="+mn-lt"/>
              <a:ea typeface="Calibri" panose="020F0502020204030204" pitchFamily="34" charset="0"/>
            </a:endParaRPr>
          </a:p>
          <a:p>
            <a:r>
              <a:rPr lang="en-US" sz="1200" dirty="0">
                <a:solidFill>
                  <a:srgbClr val="000000"/>
                </a:solidFill>
                <a:effectLst/>
                <a:latin typeface="+mn-lt"/>
                <a:ea typeface="Times New Roman" panose="02020603050405020304" pitchFamily="18" charset="0"/>
              </a:rPr>
              <a:t>Data analysis tools include the following: OLAP; Data mining; other data analysis tools.</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42078741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value to businesses of implementing a CRM system. How would marketing be made more effective by using a CRM system?</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14677396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27389817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the challenges firms face when they implement enterprise applications. Ask students to explain and apply with examples the concept of </a:t>
            </a:r>
            <a:r>
              <a:rPr lang="ja-JP" altLang="en-US" dirty="0"/>
              <a:t>“</a:t>
            </a:r>
            <a:r>
              <a:rPr lang="en-US" altLang="ja-JP" dirty="0"/>
              <a:t>switching costs.</a:t>
            </a:r>
            <a:r>
              <a:rPr lang="ja-JP" altLang="en-US" dirty="0"/>
              <a:t>”</a:t>
            </a:r>
            <a:r>
              <a:rPr lang="en-US" altLang="ja-JP" dirty="0"/>
              <a:t> What problems could result from being dependent on a single software vendor?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the trends in enterprise software. Leading vendors include SAP, Oracle, Microsoft, and </a:t>
            </a:r>
            <a:r>
              <a:rPr lang="en-US" altLang="en-US" dirty="0" err="1"/>
              <a:t>Netsuite</a:t>
            </a:r>
            <a:r>
              <a:rPr lang="en-US" altLang="en-US" dirty="0"/>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A good opportunity for a class discussion of the</a:t>
            </a:r>
            <a:r>
              <a:rPr lang="en-US" baseline="0" dirty="0"/>
              <a:t> section on careers. Would any in the class be interested in a job like this? What do they think are the most important skills the employer is looking for? How would they answer the interviewer questions?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37</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1"/>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B5513237-B48B-4FF2-8C61-524A7151DDFB}"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918000" cy="209936"/>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6"/>
            <a:ext cx="918000" cy="209936"/>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6A622BBB-ADF9-4575-991E-D9A0678F7874}"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1"/>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66BCA476-2A55-4AB1-BD3D-BCA9DC40E446}"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810285"/>
            <a:ext cx="8595360" cy="248411"/>
          </a:xfrm>
        </p:spPr>
        <p:txBody>
          <a:bodyPr/>
          <a:lstStyle/>
          <a:p>
            <a:r>
              <a:rPr lang="en-US"/>
              <a:t>Copyright © 2022, 2020, 2018 Pearson Education, Ltd. All Rights Reserved</a:t>
            </a:r>
            <a:endParaRPr lang="en-US" dirty="0"/>
          </a:p>
        </p:txBody>
      </p:sp>
      <p:sp>
        <p:nvSpPr>
          <p:cNvPr id="9" name="Date Placeholder 3"/>
          <p:cNvSpPr>
            <a:spLocks noGrp="1"/>
          </p:cNvSpPr>
          <p:nvPr>
            <p:ph type="dt" sz="half" idx="10"/>
          </p:nvPr>
        </p:nvSpPr>
        <p:spPr>
          <a:xfrm>
            <a:off x="6335713" y="84804"/>
            <a:ext cx="2133600" cy="137160"/>
          </a:xfrm>
        </p:spPr>
        <p:txBody>
          <a:bodyPr/>
          <a:lstStyle/>
          <a:p>
            <a:fld id="{72F245BA-CD07-4A3D-8B71-73D6DDE299D0}" type="datetime1">
              <a:rPr lang="en-US" smtClean="0"/>
              <a:t>5/28/2021</a:t>
            </a:fld>
            <a:endParaRPr lang="en-US" dirty="0"/>
          </a:p>
        </p:txBody>
      </p:sp>
      <p:sp>
        <p:nvSpPr>
          <p:cNvPr id="10" name="Slide Number Placeholder 5"/>
          <p:cNvSpPr>
            <a:spLocks noGrp="1"/>
          </p:cNvSpPr>
          <p:nvPr>
            <p:ph type="sldNum" sz="quarter" idx="12"/>
          </p:nvPr>
        </p:nvSpPr>
        <p:spPr>
          <a:xfrm>
            <a:off x="8469313"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810285"/>
            <a:ext cx="8595360" cy="248411"/>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2BFA5832-88FA-4C32-9537-E482D734B2ED}"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42D3798C-3F37-4FCD-9998-DA01F200B193}"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6"/>
            <a:ext cx="918000" cy="209936"/>
          </a:xfrm>
          <a:prstGeom prst="rect">
            <a:avLst/>
          </a:prstGeom>
        </p:spPr>
      </p:pic>
      <p:sp>
        <p:nvSpPr>
          <p:cNvPr id="9" name="TextBox 8"/>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857750"/>
            <a:ext cx="8595360" cy="200946"/>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62118404-5030-4CD6-BBE2-4329EF560252}"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93969" y="4857750"/>
            <a:ext cx="8595360" cy="200946"/>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8ED8C887-2586-4DD8-A922-FD03668A9279}"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1"/>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8"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5C5E9243-8988-4347-B05A-88C96714FC02}" type="datetime1">
              <a:rPr lang="en-US" smtClean="0"/>
              <a:t>5/28/2021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a:xfrm>
            <a:off x="93969" y="4857750"/>
            <a:ext cx="8595360" cy="200946"/>
          </a:xfrm>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857750"/>
            <a:ext cx="8595360" cy="200946"/>
          </a:xfrm>
        </p:spPr>
        <p:txBody>
          <a:bodyPr/>
          <a:lstStyle/>
          <a:p>
            <a:r>
              <a:rPr lang="en-US"/>
              <a:t>Copyright © 2022, 2020, 2018 Pearson Education, Ltd. All Rights Reserved</a:t>
            </a:r>
            <a:endParaRPr lang="en-US" dirty="0"/>
          </a:p>
        </p:txBody>
      </p:sp>
      <p:sp>
        <p:nvSpPr>
          <p:cNvPr id="3" name="Date Placeholder 2"/>
          <p:cNvSpPr>
            <a:spLocks noGrp="1"/>
          </p:cNvSpPr>
          <p:nvPr>
            <p:ph type="dt" sz="half" idx="10"/>
          </p:nvPr>
        </p:nvSpPr>
        <p:spPr/>
        <p:txBody>
          <a:bodyPr/>
          <a:lstStyle/>
          <a:p>
            <a:fld id="{D1A0FE6B-7CE7-4FF1-8255-0CF322F375AD}"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B2C34AD3-ECAC-4BF7-985C-C0D94CC5BD47}"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6"/>
            <a:ext cx="918000" cy="209936"/>
          </a:xfrm>
          <a:prstGeom prst="rect">
            <a:avLst/>
          </a:prstGeom>
        </p:spPr>
      </p:pic>
      <p:sp>
        <p:nvSpPr>
          <p:cNvPr id="11" name="TextBox 10"/>
          <p:cNvSpPr txBox="1"/>
          <p:nvPr userDrawn="1"/>
        </p:nvSpPr>
        <p:spPr>
          <a:xfrm>
            <a:off x="95799" y="4828541"/>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3"/>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25C3EA82-B412-4191-8D5C-939B186E5EFF}"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686250" cy="209250"/>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29"/>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0" y="4629150"/>
            <a:ext cx="8595359" cy="429546"/>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dirty="0"/>
              <a:t>Copyright © 2022, 2020, 2018 Pearson Education, Ltd. All Rights Reserved</a:t>
            </a:r>
            <a:endParaRPr dirty="0"/>
          </a:p>
        </p:txBody>
      </p:sp>
      <p:sp>
        <p:nvSpPr>
          <p:cNvPr id="35" name="Shape 35"/>
          <p:cNvSpPr txBox="1">
            <a:spLocks noGrp="1"/>
          </p:cNvSpPr>
          <p:nvPr>
            <p:ph type="dt" idx="10"/>
          </p:nvPr>
        </p:nvSpPr>
        <p:spPr>
          <a:xfrm>
            <a:off x="6335713" y="84804"/>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5B7111E4-EEDD-4B52-A022-CD60A7ABB550}" type="datetime1">
              <a:rPr lang="en-US" smtClean="0"/>
              <a:t>5/28/2021</a:t>
            </a:fld>
            <a:endParaRPr dirty="0"/>
          </a:p>
        </p:txBody>
      </p:sp>
      <p:sp>
        <p:nvSpPr>
          <p:cNvPr id="36" name="Shape 36"/>
          <p:cNvSpPr txBox="1">
            <a:spLocks noGrp="1"/>
          </p:cNvSpPr>
          <p:nvPr>
            <p:ph type="sldNum" idx="12"/>
          </p:nvPr>
        </p:nvSpPr>
        <p:spPr>
          <a:xfrm>
            <a:off x="8469312" y="84804"/>
            <a:ext cx="551783" cy="137159"/>
          </a:xfrm>
          <a:prstGeom prst="rect">
            <a:avLst/>
          </a:prstGeom>
          <a:noFill/>
          <a:ln>
            <a:noFill/>
          </a:ln>
        </p:spPr>
        <p:txBody>
          <a:bodyPr lIns="91425" tIns="45700" rIns="91425" bIns="45700" anchor="ctr" anchorCtr="0">
            <a:noAutofit/>
          </a:bodyPr>
          <a:lstStyle/>
          <a:p>
            <a:pPr>
              <a:buSzPct val="25000"/>
            </a:pPr>
            <a:fld id="{00000000-1234-1234-1234-123412341234}" type="slidenum">
              <a:rPr lang="en-US" smtClean="0">
                <a:solidFill>
                  <a:schemeClr val="lt1"/>
                </a:solidFill>
                <a:ea typeface="Arial"/>
                <a:cs typeface="Arial"/>
                <a:sym typeface="Arial"/>
              </a:rPr>
              <a:pPr>
                <a:buSzPct val="25000"/>
              </a:pPr>
              <a:t>‹#›</a:t>
            </a:fld>
            <a:endParaRPr lang="en-US" dirty="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4"/>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1"/>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B91FB52D-2E56-409C-8395-55CC916E132E}" type="datetime1">
              <a:rPr lang="en-US" smtClean="0"/>
              <a:t>5/28/2021</a:t>
            </a:fld>
            <a:endParaRPr lang="en-US" dirty="0"/>
          </a:p>
        </p:txBody>
      </p:sp>
      <p:sp>
        <p:nvSpPr>
          <p:cNvPr id="6" name="Slide Number Placeholder 5"/>
          <p:cNvSpPr>
            <a:spLocks noGrp="1"/>
          </p:cNvSpPr>
          <p:nvPr>
            <p:ph type="sldNum" sz="quarter" idx="4"/>
          </p:nvPr>
        </p:nvSpPr>
        <p:spPr>
          <a:xfrm>
            <a:off x="8469313"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1"/>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Inc.</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57200" y="4825796"/>
            <a:ext cx="686250" cy="209250"/>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2" r:id="rId9"/>
    <p:sldLayoutId id="2147483651" r:id="rId10"/>
    <p:sldLayoutId id="2147483654" r:id="rId11"/>
    <p:sldLayoutId id="2147483655" r:id="rId12"/>
    <p:sldLayoutId id="2147483663" r:id="rId13"/>
    <p:sldLayoutId id="2147483664" r:id="rId14"/>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0.jpg"/></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14.xml"/><Relationship Id="rId4"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98"/>
            <a:ext cx="8229600" cy="1107996"/>
          </a:xfrm>
        </p:spPr>
        <p:txBody>
          <a:bodyPr wrap="square" anchor="b">
            <a:spAutoFit/>
          </a:bodyPr>
          <a:lstStyle/>
          <a:p>
            <a:r>
              <a:rPr lang="en-IN" dirty="0"/>
              <a:t>Management Information Systems: Managing the Digital Firm</a:t>
            </a:r>
          </a:p>
        </p:txBody>
      </p:sp>
      <p:sp>
        <p:nvSpPr>
          <p:cNvPr id="3" name="Text Placeholder 2"/>
          <p:cNvSpPr>
            <a:spLocks noGrp="1"/>
          </p:cNvSpPr>
          <p:nvPr>
            <p:ph type="body" sz="quarter" idx="13"/>
          </p:nvPr>
        </p:nvSpPr>
        <p:spPr>
          <a:xfrm>
            <a:off x="457200" y="1249979"/>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5" y="1935229"/>
            <a:ext cx="4117765" cy="492443"/>
          </a:xfrm>
        </p:spPr>
        <p:txBody>
          <a:bodyPr wrap="square">
            <a:spAutoFit/>
          </a:bodyPr>
          <a:lstStyle/>
          <a:p>
            <a:r>
              <a:rPr lang="en-IN" sz="3200" dirty="0"/>
              <a:t>Chapter 9</a:t>
            </a:r>
          </a:p>
        </p:txBody>
      </p:sp>
      <p:sp>
        <p:nvSpPr>
          <p:cNvPr id="5" name="Text Placeholder 4"/>
          <p:cNvSpPr>
            <a:spLocks noGrp="1"/>
          </p:cNvSpPr>
          <p:nvPr>
            <p:ph type="body" sz="quarter" idx="15"/>
          </p:nvPr>
        </p:nvSpPr>
        <p:spPr>
          <a:xfrm>
            <a:off x="4569035" y="2571750"/>
            <a:ext cx="4117765" cy="923330"/>
          </a:xfrm>
        </p:spPr>
        <p:txBody>
          <a:bodyPr wrap="square">
            <a:spAutoFit/>
          </a:bodyPr>
          <a:lstStyle/>
          <a:p>
            <a:r>
              <a:rPr lang="en-US" sz="2000" dirty="0"/>
              <a:t>Achieving Operational Excellence and Customer Intimacy: Enterprise Applications</a:t>
            </a:r>
          </a:p>
        </p:txBody>
      </p:sp>
      <p:sp>
        <p:nvSpPr>
          <p:cNvPr id="11" name="Text Placeholder 3"/>
          <p:cNvSpPr>
            <a:spLocks noGrp="1"/>
          </p:cNvSpPr>
          <p:nvPr>
            <p:ph type="body" sz="quarter" idx="14"/>
          </p:nvPr>
        </p:nvSpPr>
        <p:spPr>
          <a:xfrm>
            <a:off x="2309414" y="4845050"/>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id="{8F33577F-B931-4F26-B86D-5BEB394EFCA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65656" y="1557756"/>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553998"/>
          </a:xfrm>
        </p:spPr>
        <p:txBody>
          <a:bodyPr>
            <a:spAutoFit/>
          </a:bodyPr>
          <a:lstStyle/>
          <a:p>
            <a:r>
              <a:rPr lang="en-US" altLang="en-US" dirty="0"/>
              <a:t>Learning Objectives</a:t>
            </a:r>
            <a:endParaRPr lang="en-US" dirty="0"/>
          </a:p>
        </p:txBody>
      </p:sp>
      <p:sp>
        <p:nvSpPr>
          <p:cNvPr id="5" name="Content Placeholder 4"/>
          <p:cNvSpPr>
            <a:spLocks noGrp="1"/>
          </p:cNvSpPr>
          <p:nvPr>
            <p:ph idx="1"/>
          </p:nvPr>
        </p:nvSpPr>
        <p:spPr>
          <a:xfrm>
            <a:off x="457200" y="780455"/>
            <a:ext cx="8229600" cy="4001095"/>
          </a:xfrm>
        </p:spPr>
        <p:txBody>
          <a:bodyPr vert="horz" lIns="0" tIns="0" rIns="0" bIns="0" rtlCol="0" anchor="t">
            <a:spAutoFit/>
          </a:bodyPr>
          <a:lstStyle/>
          <a:p>
            <a:pPr marL="542925" indent="-542925">
              <a:spcBef>
                <a:spcPts val="600"/>
              </a:spcBef>
              <a:buNone/>
              <a:tabLst>
                <a:tab pos="534988" algn="l"/>
              </a:tabLst>
            </a:pPr>
            <a:r>
              <a:rPr lang="en-US" altLang="en-US" b="1" dirty="0">
                <a:solidFill>
                  <a:schemeClr val="bg2"/>
                </a:solidFill>
              </a:rPr>
              <a:t>9.1</a:t>
            </a:r>
            <a:r>
              <a:rPr lang="en-US" altLang="en-US" b="1" dirty="0"/>
              <a:t> </a:t>
            </a:r>
            <a:r>
              <a:rPr lang="en-US" dirty="0"/>
              <a:t>How do enterprise systems help businesses achieve operational excellence?</a:t>
            </a:r>
            <a:endParaRPr lang="en-IN" altLang="en-US" dirty="0"/>
          </a:p>
          <a:p>
            <a:pPr marL="542925" indent="-542925" defTabSz="534988">
              <a:spcBef>
                <a:spcPts val="600"/>
              </a:spcBef>
              <a:buNone/>
            </a:pPr>
            <a:r>
              <a:rPr lang="en-US" altLang="en-US" b="1" dirty="0">
                <a:solidFill>
                  <a:schemeClr val="bg2"/>
                </a:solidFill>
              </a:rPr>
              <a:t>9.2</a:t>
            </a:r>
            <a:r>
              <a:rPr lang="en-US" altLang="en-US" b="1" dirty="0"/>
              <a:t> </a:t>
            </a:r>
            <a:r>
              <a:rPr lang="en-US" dirty="0"/>
              <a:t>How do supply chain management systems coordinate planning, production, and logistics with suppliers?</a:t>
            </a:r>
            <a:endParaRPr lang="en-IN" altLang="en-US" dirty="0"/>
          </a:p>
          <a:p>
            <a:pPr marL="542925" indent="-542925" defTabSz="534988">
              <a:spcBef>
                <a:spcPts val="600"/>
              </a:spcBef>
              <a:buNone/>
            </a:pPr>
            <a:r>
              <a:rPr lang="en-US" altLang="en-US" b="1" dirty="0">
                <a:solidFill>
                  <a:schemeClr val="bg2"/>
                </a:solidFill>
              </a:rPr>
              <a:t>9.3</a:t>
            </a:r>
            <a:r>
              <a:rPr lang="en-US" altLang="en-US" b="1" dirty="0"/>
              <a:t> </a:t>
            </a:r>
            <a:r>
              <a:rPr lang="en-US" dirty="0"/>
              <a:t>How do customer relationship management systems help firms achieve customer intimacy?</a:t>
            </a:r>
            <a:endParaRPr lang="en-IN" altLang="en-US" dirty="0"/>
          </a:p>
          <a:p>
            <a:pPr marL="542925" indent="-542925" defTabSz="534988">
              <a:spcBef>
                <a:spcPts val="600"/>
              </a:spcBef>
              <a:buNone/>
            </a:pPr>
            <a:r>
              <a:rPr lang="en-US" altLang="en-US" b="1" dirty="0">
                <a:solidFill>
                  <a:schemeClr val="bg2"/>
                </a:solidFill>
              </a:rPr>
              <a:t>9.4</a:t>
            </a:r>
            <a:r>
              <a:rPr lang="en-US" altLang="en-US" dirty="0">
                <a:cs typeface="Arial"/>
              </a:rPr>
              <a:t> </a:t>
            </a:r>
            <a:r>
              <a:rPr lang="en-US" dirty="0"/>
              <a:t>What are the challenges that enterprise applications pose, and how are enterprise applications taking advantage of new technologies?</a:t>
            </a:r>
            <a:endParaRPr lang="en-IN" dirty="0"/>
          </a:p>
          <a:p>
            <a:pPr marL="0" indent="0">
              <a:spcBef>
                <a:spcPts val="600"/>
              </a:spcBef>
              <a:buNone/>
            </a:pPr>
            <a:r>
              <a:rPr lang="en-US" altLang="en-US" b="1" dirty="0">
                <a:solidFill>
                  <a:schemeClr val="bg2"/>
                </a:solidFill>
              </a:rPr>
              <a:t>9.5</a:t>
            </a:r>
            <a:r>
              <a:rPr lang="en-US" altLang="en-US" dirty="0">
                <a:cs typeface="Arial"/>
              </a:rPr>
              <a:t> </a:t>
            </a:r>
            <a:r>
              <a:rPr lang="en-US" dirty="0"/>
              <a:t>How will </a:t>
            </a:r>
            <a:r>
              <a:rPr lang="en-US" spc="-300" dirty="0"/>
              <a:t>M I </a:t>
            </a:r>
            <a:r>
              <a:rPr lang="en-US" dirty="0"/>
              <a:t>S help my career?</a:t>
            </a:r>
            <a:endParaRPr lang="en-IN" dirty="0"/>
          </a:p>
        </p:txBody>
      </p:sp>
      <p:sp>
        <p:nvSpPr>
          <p:cNvPr id="2" name="Footer Placeholder 1">
            <a:extLst>
              <a:ext uri="{FF2B5EF4-FFF2-40B4-BE49-F238E27FC236}">
                <a16:creationId xmlns:a16="http://schemas.microsoft.com/office/drawing/2014/main" id="{1D720412-CC30-40A3-9410-2B465A62004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553998"/>
          </a:xfrm>
        </p:spPr>
        <p:txBody>
          <a:bodyPr>
            <a:spAutoFit/>
          </a:bodyPr>
          <a:lstStyle/>
          <a:p>
            <a:r>
              <a:rPr lang="en-IN" altLang="en-US" dirty="0"/>
              <a:t>Video Cases</a:t>
            </a:r>
            <a:endParaRPr lang="en-US" sz="2800" dirty="0"/>
          </a:p>
        </p:txBody>
      </p:sp>
      <p:sp>
        <p:nvSpPr>
          <p:cNvPr id="5" name="Content Placeholder 4"/>
          <p:cNvSpPr>
            <a:spLocks noGrp="1"/>
          </p:cNvSpPr>
          <p:nvPr>
            <p:ph idx="1"/>
          </p:nvPr>
        </p:nvSpPr>
        <p:spPr>
          <a:xfrm>
            <a:off x="457200" y="889179"/>
            <a:ext cx="8229600" cy="738664"/>
          </a:xfrm>
        </p:spPr>
        <p:txBody>
          <a:bodyPr>
            <a:spAutoFit/>
          </a:bodyPr>
          <a:lstStyle/>
          <a:p>
            <a:r>
              <a:rPr lang="en-US" dirty="0"/>
              <a:t>Case 1: Maersk Develops a Global Shipping Management System</a:t>
            </a:r>
            <a:endParaRPr lang="en-US" spc="-300" dirty="0"/>
          </a:p>
        </p:txBody>
      </p:sp>
      <p:sp>
        <p:nvSpPr>
          <p:cNvPr id="2" name="Footer Placeholder 1">
            <a:extLst>
              <a:ext uri="{FF2B5EF4-FFF2-40B4-BE49-F238E27FC236}">
                <a16:creationId xmlns:a16="http://schemas.microsoft.com/office/drawing/2014/main" id="{268302F6-683D-4A6C-A4A5-C0D72D2327D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2946"/>
            <a:ext cx="8229600" cy="1107996"/>
          </a:xfrm>
        </p:spPr>
        <p:txBody>
          <a:bodyPr>
            <a:spAutoFit/>
          </a:bodyPr>
          <a:lstStyle/>
          <a:p>
            <a:r>
              <a:rPr lang="en-US" dirty="0" err="1"/>
              <a:t>Lenzing</a:t>
            </a:r>
            <a:r>
              <a:rPr lang="en-US" dirty="0"/>
              <a:t> Sustainably Balances Supply and Demand </a:t>
            </a:r>
            <a:r>
              <a:rPr lang="en-US" sz="2800" dirty="0"/>
              <a:t>(1 of 2)</a:t>
            </a:r>
          </a:p>
        </p:txBody>
      </p:sp>
      <p:sp>
        <p:nvSpPr>
          <p:cNvPr id="5" name="Content Placeholder 4"/>
          <p:cNvSpPr>
            <a:spLocks noGrp="1"/>
          </p:cNvSpPr>
          <p:nvPr>
            <p:ph idx="1"/>
          </p:nvPr>
        </p:nvSpPr>
        <p:spPr>
          <a:xfrm>
            <a:off x="457200" y="1041321"/>
            <a:ext cx="8229600" cy="3816429"/>
          </a:xfrm>
        </p:spPr>
        <p:txBody>
          <a:bodyPr>
            <a:spAutoFit/>
          </a:bodyPr>
          <a:lstStyle/>
          <a:p>
            <a:r>
              <a:rPr lang="en-US" altLang="en-US" sz="1800" dirty="0"/>
              <a:t>Problem</a:t>
            </a:r>
          </a:p>
          <a:p>
            <a:pPr lvl="1"/>
            <a:r>
              <a:rPr lang="en-US" altLang="en-US" sz="1800" dirty="0"/>
              <a:t> High environmental standards</a:t>
            </a:r>
          </a:p>
          <a:p>
            <a:pPr lvl="1"/>
            <a:r>
              <a:rPr lang="en-US" altLang="en-US" sz="1800" dirty="0"/>
              <a:t> Global operations</a:t>
            </a:r>
          </a:p>
          <a:p>
            <a:pPr lvl="1"/>
            <a:r>
              <a:rPr lang="en-US" altLang="en-US" sz="1800" dirty="0"/>
              <a:t> Inefficient supply chain</a:t>
            </a:r>
          </a:p>
          <a:p>
            <a:pPr lvl="1"/>
            <a:r>
              <a:rPr lang="en-US" altLang="en-US" sz="1800" dirty="0"/>
              <a:t> Manual processes </a:t>
            </a:r>
          </a:p>
          <a:p>
            <a:pPr>
              <a:spcBef>
                <a:spcPts val="600"/>
              </a:spcBef>
            </a:pPr>
            <a:r>
              <a:rPr lang="en-US" altLang="en-US" sz="1800" dirty="0"/>
              <a:t>Solutions</a:t>
            </a:r>
          </a:p>
          <a:p>
            <a:pPr lvl="1"/>
            <a:r>
              <a:rPr lang="en-US" altLang="en-US" sz="1800" dirty="0"/>
              <a:t>Establish sustainability goals</a:t>
            </a:r>
          </a:p>
          <a:p>
            <a:pPr lvl="1"/>
            <a:r>
              <a:rPr lang="en-US" altLang="en-US" sz="1800" dirty="0"/>
              <a:t>Promote innovation</a:t>
            </a:r>
          </a:p>
          <a:p>
            <a:pPr lvl="1"/>
            <a:r>
              <a:rPr lang="en-US" altLang="en-US" sz="1800" dirty="0"/>
              <a:t>Select new technology</a:t>
            </a:r>
          </a:p>
          <a:p>
            <a:pPr lvl="1"/>
            <a:r>
              <a:rPr lang="en-US" altLang="en-US" sz="1800" dirty="0"/>
              <a:t>Revise supply chain processes</a:t>
            </a:r>
          </a:p>
          <a:p>
            <a:pPr lvl="1"/>
            <a:r>
              <a:rPr lang="en-US" altLang="en-US" sz="1800" dirty="0"/>
              <a:t>Deploy </a:t>
            </a:r>
            <a:r>
              <a:rPr lang="en-US" altLang="en-US" sz="1800" spc="-300" dirty="0"/>
              <a:t>J D A</a:t>
            </a:r>
            <a:r>
              <a:rPr lang="en-US" altLang="en-US" sz="1800" dirty="0"/>
              <a:t>  Sales &amp; Operations Planning</a:t>
            </a:r>
          </a:p>
        </p:txBody>
      </p:sp>
      <p:sp>
        <p:nvSpPr>
          <p:cNvPr id="2" name="Footer Placeholder 1">
            <a:extLst>
              <a:ext uri="{FF2B5EF4-FFF2-40B4-BE49-F238E27FC236}">
                <a16:creationId xmlns:a16="http://schemas.microsoft.com/office/drawing/2014/main" id="{6A007D66-1EBA-493A-B154-C11605C22E9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1246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2946"/>
            <a:ext cx="8229600" cy="1107996"/>
          </a:xfrm>
        </p:spPr>
        <p:txBody>
          <a:bodyPr>
            <a:spAutoFit/>
          </a:bodyPr>
          <a:lstStyle/>
          <a:p>
            <a:r>
              <a:rPr lang="en-US" dirty="0" err="1"/>
              <a:t>Lenzing</a:t>
            </a:r>
            <a:r>
              <a:rPr lang="en-US" dirty="0"/>
              <a:t> Sustainably Balances Supply and Demand </a:t>
            </a:r>
            <a:r>
              <a:rPr lang="en-US" sz="2800" dirty="0"/>
              <a:t>(2 of 2)</a:t>
            </a:r>
          </a:p>
        </p:txBody>
      </p:sp>
      <p:sp>
        <p:nvSpPr>
          <p:cNvPr id="5" name="Content Placeholder 4"/>
          <p:cNvSpPr>
            <a:spLocks noGrp="1"/>
          </p:cNvSpPr>
          <p:nvPr>
            <p:ph idx="1"/>
          </p:nvPr>
        </p:nvSpPr>
        <p:spPr>
          <a:xfrm>
            <a:off x="457200" y="1252250"/>
            <a:ext cx="8229600" cy="3093154"/>
          </a:xfrm>
        </p:spPr>
        <p:txBody>
          <a:bodyPr>
            <a:spAutoFit/>
          </a:bodyPr>
          <a:lstStyle/>
          <a:p>
            <a:r>
              <a:rPr lang="en-US" altLang="en-US" sz="2200" dirty="0" err="1"/>
              <a:t>Lenzing</a:t>
            </a:r>
            <a:r>
              <a:rPr lang="en-US" altLang="en-US" sz="2200" dirty="0"/>
              <a:t> implemented </a:t>
            </a:r>
            <a:r>
              <a:rPr lang="en-US" altLang="en-US" sz="2200" spc="-300" dirty="0"/>
              <a:t>J D </a:t>
            </a:r>
            <a:r>
              <a:rPr lang="en-US" altLang="en-US" sz="2200" dirty="0"/>
              <a:t>A’s Sales &amp; Operations Planning software to gain better visibility into its supply chain, leading to greater forecast accuracy, better decisions, and higher operational efficiency across the global enterprise</a:t>
            </a:r>
          </a:p>
          <a:p>
            <a:r>
              <a:rPr lang="en-US" altLang="en-US" sz="2200" dirty="0"/>
              <a:t>Helped </a:t>
            </a:r>
            <a:r>
              <a:rPr lang="en-US" altLang="en-US" sz="2200" dirty="0" err="1"/>
              <a:t>Lenzing</a:t>
            </a:r>
            <a:r>
              <a:rPr lang="en-US" altLang="en-US" sz="2200" dirty="0"/>
              <a:t> minimize waste and made its entire supply chain “leaner”</a:t>
            </a:r>
          </a:p>
          <a:p>
            <a:r>
              <a:rPr lang="en-US" altLang="en-US" sz="2200" dirty="0"/>
              <a:t>Illustrates the critical nature of supply chain management systems in business</a:t>
            </a:r>
          </a:p>
        </p:txBody>
      </p:sp>
      <p:sp>
        <p:nvSpPr>
          <p:cNvPr id="2" name="Footer Placeholder 1">
            <a:extLst>
              <a:ext uri="{FF2B5EF4-FFF2-40B4-BE49-F238E27FC236}">
                <a16:creationId xmlns:a16="http://schemas.microsoft.com/office/drawing/2014/main" id="{628D1541-7538-4230-8531-35D26EC82FA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95182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9502"/>
            <a:ext cx="8229600" cy="553998"/>
          </a:xfrm>
        </p:spPr>
        <p:txBody>
          <a:bodyPr>
            <a:spAutoFit/>
          </a:bodyPr>
          <a:lstStyle/>
          <a:p>
            <a:r>
              <a:rPr lang="en-US" dirty="0"/>
              <a:t>What Are Enterprise Systems</a:t>
            </a:r>
            <a:endParaRPr lang="en-US" sz="2800" dirty="0"/>
          </a:p>
        </p:txBody>
      </p:sp>
      <p:sp>
        <p:nvSpPr>
          <p:cNvPr id="5" name="Content Placeholder 4"/>
          <p:cNvSpPr>
            <a:spLocks noGrp="1"/>
          </p:cNvSpPr>
          <p:nvPr>
            <p:ph idx="1"/>
          </p:nvPr>
        </p:nvSpPr>
        <p:spPr>
          <a:xfrm>
            <a:off x="457200" y="895246"/>
            <a:ext cx="8229600" cy="3531736"/>
          </a:xfrm>
        </p:spPr>
        <p:txBody>
          <a:bodyPr>
            <a:spAutoFit/>
          </a:bodyPr>
          <a:lstStyle/>
          <a:p>
            <a:r>
              <a:rPr lang="en-US" altLang="en-US" dirty="0"/>
              <a:t>Also known as enterprise resource planning (ERP) systems</a:t>
            </a:r>
          </a:p>
          <a:p>
            <a:r>
              <a:rPr lang="en-US" altLang="en-US" dirty="0"/>
              <a:t>Based on a suite of integrated software modules and a common central database</a:t>
            </a:r>
          </a:p>
          <a:p>
            <a:r>
              <a:rPr lang="en-US" altLang="en-US" dirty="0"/>
              <a:t>Collects data from many divisions of firm for use in nearly all of firm’s internal business activities</a:t>
            </a:r>
          </a:p>
          <a:p>
            <a:r>
              <a:rPr lang="en-US" altLang="en-US" dirty="0"/>
              <a:t>Information entered in one process is immediately available for other processes</a:t>
            </a:r>
          </a:p>
        </p:txBody>
      </p:sp>
      <p:sp>
        <p:nvSpPr>
          <p:cNvPr id="2" name="Footer Placeholder 1">
            <a:extLst>
              <a:ext uri="{FF2B5EF4-FFF2-40B4-BE49-F238E27FC236}">
                <a16:creationId xmlns:a16="http://schemas.microsoft.com/office/drawing/2014/main" id="{731881CE-9107-41D5-99B8-B8DE958CC1B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912928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1511"/>
            <a:ext cx="8229600" cy="1013085"/>
          </a:xfrm>
        </p:spPr>
        <p:txBody>
          <a:bodyPr anchor="ctr">
            <a:spAutoFit/>
          </a:bodyPr>
          <a:lstStyle/>
          <a:p>
            <a:r>
              <a:rPr lang="en-US" dirty="0"/>
              <a:t>Figure 9.1 </a:t>
            </a:r>
            <a:r>
              <a:rPr lang="en-US" altLang="en-US" dirty="0"/>
              <a:t>How Enterprise Systems Work</a:t>
            </a:r>
            <a:endParaRPr lang="en-US" sz="2800" dirty="0"/>
          </a:p>
        </p:txBody>
      </p:sp>
      <p:pic>
        <p:nvPicPr>
          <p:cNvPr id="1026" name="Picture 2" descr="A radial diagram explains how enterprise systems work.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468979" y="1310780"/>
            <a:ext cx="4186573" cy="347077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9D6B0478-4D0A-46FC-ABBB-391508D13A6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882563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dirty="0"/>
              <a:t>Enterprise Software</a:t>
            </a:r>
            <a:endParaRPr lang="en-US" sz="2800" dirty="0"/>
          </a:p>
        </p:txBody>
      </p:sp>
      <p:sp>
        <p:nvSpPr>
          <p:cNvPr id="5" name="Content Placeholder 4"/>
          <p:cNvSpPr>
            <a:spLocks noGrp="1"/>
          </p:cNvSpPr>
          <p:nvPr>
            <p:ph idx="1"/>
          </p:nvPr>
        </p:nvSpPr>
        <p:spPr>
          <a:xfrm>
            <a:off x="457200" y="780455"/>
            <a:ext cx="8229600" cy="4001095"/>
          </a:xfrm>
        </p:spPr>
        <p:txBody>
          <a:bodyPr>
            <a:spAutoFit/>
          </a:bodyPr>
          <a:lstStyle/>
          <a:p>
            <a:r>
              <a:rPr lang="en-US" altLang="en-US" sz="2200" dirty="0"/>
              <a:t>Built around thousands of predefined business processes that reflect best practices</a:t>
            </a:r>
          </a:p>
          <a:p>
            <a:pPr lvl="1"/>
            <a:r>
              <a:rPr lang="en-US" altLang="en-US" dirty="0"/>
              <a:t>Finance and accounting</a:t>
            </a:r>
          </a:p>
          <a:p>
            <a:pPr lvl="1"/>
            <a:r>
              <a:rPr lang="en-US" altLang="en-US" dirty="0"/>
              <a:t>Human resources</a:t>
            </a:r>
          </a:p>
          <a:p>
            <a:pPr lvl="1"/>
            <a:r>
              <a:rPr lang="en-US" altLang="en-US" dirty="0"/>
              <a:t>Manufacturing and production</a:t>
            </a:r>
          </a:p>
          <a:p>
            <a:pPr lvl="1"/>
            <a:r>
              <a:rPr lang="en-US" altLang="en-US" dirty="0"/>
              <a:t>Sales and marketing</a:t>
            </a:r>
          </a:p>
          <a:p>
            <a:pPr>
              <a:spcBef>
                <a:spcPts val="600"/>
              </a:spcBef>
            </a:pPr>
            <a:r>
              <a:rPr lang="en-US" altLang="en-US" sz="2200" dirty="0"/>
              <a:t>To implement, firms:</a:t>
            </a:r>
          </a:p>
          <a:p>
            <a:pPr lvl="1"/>
            <a:r>
              <a:rPr lang="en-US" altLang="en-US" dirty="0"/>
              <a:t>Select functions of system they wish to use</a:t>
            </a:r>
          </a:p>
          <a:p>
            <a:pPr lvl="1"/>
            <a:r>
              <a:rPr lang="en-US" altLang="en-US" dirty="0"/>
              <a:t>Map business processes to software processes</a:t>
            </a:r>
          </a:p>
          <a:p>
            <a:pPr lvl="2"/>
            <a:r>
              <a:rPr lang="en-US" altLang="en-US" sz="2200" dirty="0"/>
              <a:t>Use software’s configuration tables for customizing</a:t>
            </a:r>
          </a:p>
        </p:txBody>
      </p:sp>
      <p:sp>
        <p:nvSpPr>
          <p:cNvPr id="2" name="Footer Placeholder 1">
            <a:extLst>
              <a:ext uri="{FF2B5EF4-FFF2-40B4-BE49-F238E27FC236}">
                <a16:creationId xmlns:a16="http://schemas.microsoft.com/office/drawing/2014/main" id="{151930AB-3582-4F3B-B601-32551B73E2A8}"/>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305839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8150"/>
            <a:ext cx="8229600" cy="1107996"/>
          </a:xfrm>
        </p:spPr>
        <p:txBody>
          <a:bodyPr>
            <a:spAutoFit/>
          </a:bodyPr>
          <a:lstStyle/>
          <a:p>
            <a:r>
              <a:rPr lang="en-US" dirty="0">
                <a:cs typeface="ＭＳ Ｐゴシック" charset="0"/>
              </a:rPr>
              <a:t>Business Value of Enterprise Systems</a:t>
            </a:r>
            <a:endParaRPr lang="en-US" sz="2800" dirty="0"/>
          </a:p>
        </p:txBody>
      </p:sp>
      <p:sp>
        <p:nvSpPr>
          <p:cNvPr id="5" name="Content Placeholder 4"/>
          <p:cNvSpPr>
            <a:spLocks noGrp="1"/>
          </p:cNvSpPr>
          <p:nvPr>
            <p:ph idx="1"/>
          </p:nvPr>
        </p:nvSpPr>
        <p:spPr>
          <a:xfrm>
            <a:off x="457200" y="1391578"/>
            <a:ext cx="8229600" cy="2793072"/>
          </a:xfrm>
        </p:spPr>
        <p:txBody>
          <a:bodyPr>
            <a:spAutoFit/>
          </a:bodyPr>
          <a:lstStyle/>
          <a:p>
            <a:r>
              <a:rPr lang="en-US" altLang="en-US" dirty="0"/>
              <a:t>Increase operational efficiency</a:t>
            </a:r>
          </a:p>
          <a:p>
            <a:r>
              <a:rPr lang="en-US" altLang="en-US" dirty="0"/>
              <a:t>Provide firm-wide information to support decision making</a:t>
            </a:r>
          </a:p>
          <a:p>
            <a:r>
              <a:rPr lang="en-US" altLang="en-US" dirty="0"/>
              <a:t>Enable rapid responses to customer requests for information or products</a:t>
            </a:r>
          </a:p>
          <a:p>
            <a:r>
              <a:rPr lang="en-US" altLang="en-US" dirty="0"/>
              <a:t>Include analytical tools to evaluate overall organizational performance and improve decision-making</a:t>
            </a:r>
          </a:p>
        </p:txBody>
      </p:sp>
      <p:sp>
        <p:nvSpPr>
          <p:cNvPr id="2" name="Footer Placeholder 1">
            <a:extLst>
              <a:ext uri="{FF2B5EF4-FFF2-40B4-BE49-F238E27FC236}">
                <a16:creationId xmlns:a16="http://schemas.microsoft.com/office/drawing/2014/main" id="{294F88A0-9AEC-4596-9A66-70C00D8E33F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37483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553998"/>
          </a:xfrm>
        </p:spPr>
        <p:txBody>
          <a:bodyPr>
            <a:spAutoFit/>
          </a:bodyPr>
          <a:lstStyle/>
          <a:p>
            <a:r>
              <a:rPr lang="en-US" dirty="0"/>
              <a:t>The Supply Chain</a:t>
            </a:r>
            <a:endParaRPr lang="en-US" sz="2800" dirty="0"/>
          </a:p>
        </p:txBody>
      </p:sp>
      <p:sp>
        <p:nvSpPr>
          <p:cNvPr id="5" name="Content Placeholder 4"/>
          <p:cNvSpPr>
            <a:spLocks noGrp="1"/>
          </p:cNvSpPr>
          <p:nvPr>
            <p:ph idx="1"/>
          </p:nvPr>
        </p:nvSpPr>
        <p:spPr>
          <a:xfrm>
            <a:off x="457200" y="892895"/>
            <a:ext cx="8229600" cy="3393237"/>
          </a:xfrm>
        </p:spPr>
        <p:txBody>
          <a:bodyPr>
            <a:spAutoFit/>
          </a:bodyPr>
          <a:lstStyle/>
          <a:p>
            <a:r>
              <a:rPr lang="en-US" altLang="en-US" dirty="0"/>
              <a:t>Network of organizations and processes for:</a:t>
            </a:r>
          </a:p>
          <a:p>
            <a:pPr lvl="1"/>
            <a:r>
              <a:rPr lang="en-US" altLang="en-US" sz="2400" dirty="0"/>
              <a:t>Procuring materials</a:t>
            </a:r>
          </a:p>
          <a:p>
            <a:pPr lvl="1"/>
            <a:r>
              <a:rPr lang="en-US" altLang="en-US" sz="2400" dirty="0"/>
              <a:t>Transforming materials into products</a:t>
            </a:r>
          </a:p>
          <a:p>
            <a:pPr lvl="1"/>
            <a:r>
              <a:rPr lang="en-US" altLang="en-US" sz="2400" dirty="0"/>
              <a:t>Distributing the products</a:t>
            </a:r>
          </a:p>
          <a:p>
            <a:r>
              <a:rPr lang="en-US" altLang="en-US" dirty="0"/>
              <a:t>Upstream supply chain</a:t>
            </a:r>
          </a:p>
          <a:p>
            <a:r>
              <a:rPr lang="en-US" altLang="en-US" dirty="0"/>
              <a:t>Downstream supply chain</a:t>
            </a:r>
          </a:p>
          <a:p>
            <a:r>
              <a:rPr lang="en-US" altLang="en-US" dirty="0"/>
              <a:t>Internal supply chain</a:t>
            </a:r>
          </a:p>
        </p:txBody>
      </p:sp>
      <p:sp>
        <p:nvSpPr>
          <p:cNvPr id="2" name="Footer Placeholder 1">
            <a:extLst>
              <a:ext uri="{FF2B5EF4-FFF2-40B4-BE49-F238E27FC236}">
                <a16:creationId xmlns:a16="http://schemas.microsoft.com/office/drawing/2014/main" id="{3CE64DE0-14D4-4451-ADE5-3393D9EC937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502521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1952"/>
            <a:ext cx="8229600" cy="553998"/>
          </a:xfrm>
        </p:spPr>
        <p:txBody>
          <a:bodyPr>
            <a:spAutoFit/>
          </a:bodyPr>
          <a:lstStyle/>
          <a:p>
            <a:r>
              <a:rPr lang="en-US" dirty="0"/>
              <a:t>Figure 9.2 </a:t>
            </a:r>
            <a:r>
              <a:rPr lang="en-US" altLang="en-US" dirty="0"/>
              <a:t>Nike</a:t>
            </a:r>
            <a:r>
              <a:rPr lang="en-US" altLang="ja-JP" dirty="0"/>
              <a:t>’s Supply Chain</a:t>
            </a:r>
            <a:endParaRPr lang="en-US" sz="2800" dirty="0"/>
          </a:p>
        </p:txBody>
      </p:sp>
      <p:pic>
        <p:nvPicPr>
          <p:cNvPr id="2050" name="Picture 2" descr="A process diagram illustrates Nike's supply chain and the flow of informatio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98467" y="904064"/>
            <a:ext cx="7147066" cy="3886476"/>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328D9B01-9161-4855-920B-D1BF7DD69AC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836113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1952"/>
            <a:ext cx="8229600" cy="553998"/>
          </a:xfrm>
        </p:spPr>
        <p:txBody>
          <a:bodyPr>
            <a:spAutoFit/>
          </a:bodyPr>
          <a:lstStyle/>
          <a:p>
            <a:r>
              <a:rPr lang="en-US" altLang="en-US" dirty="0"/>
              <a:t>Supply Chain Management</a:t>
            </a:r>
            <a:endParaRPr lang="en-US" sz="2800" dirty="0"/>
          </a:p>
        </p:txBody>
      </p:sp>
      <p:sp>
        <p:nvSpPr>
          <p:cNvPr id="5" name="Content Placeholder 4"/>
          <p:cNvSpPr>
            <a:spLocks noGrp="1"/>
          </p:cNvSpPr>
          <p:nvPr>
            <p:ph idx="1"/>
          </p:nvPr>
        </p:nvSpPr>
        <p:spPr>
          <a:xfrm>
            <a:off x="457200" y="933230"/>
            <a:ext cx="8229600" cy="3861020"/>
          </a:xfrm>
        </p:spPr>
        <p:txBody>
          <a:bodyPr>
            <a:spAutoFit/>
          </a:bodyPr>
          <a:lstStyle/>
          <a:p>
            <a:r>
              <a:rPr lang="en-US" altLang="en-US" dirty="0"/>
              <a:t>Inefficiencies cut into a company’s operating costs</a:t>
            </a:r>
          </a:p>
          <a:p>
            <a:pPr lvl="1"/>
            <a:r>
              <a:rPr lang="en-US" altLang="en-US" sz="2400" dirty="0"/>
              <a:t>Can waste up to 25 percent of operating expenses</a:t>
            </a:r>
          </a:p>
          <a:p>
            <a:pPr>
              <a:spcBef>
                <a:spcPts val="600"/>
              </a:spcBef>
            </a:pPr>
            <a:r>
              <a:rPr lang="en-US" altLang="en-US" dirty="0"/>
              <a:t>Just-in-time strategy</a:t>
            </a:r>
          </a:p>
          <a:p>
            <a:pPr lvl="1"/>
            <a:r>
              <a:rPr lang="en-US" altLang="en-US" sz="2400" dirty="0"/>
              <a:t>Components arrive as they are needed</a:t>
            </a:r>
          </a:p>
          <a:p>
            <a:pPr lvl="1"/>
            <a:r>
              <a:rPr lang="en-US" altLang="en-US" sz="2400" dirty="0"/>
              <a:t>Finished goods shipped after leaving assembly line</a:t>
            </a:r>
          </a:p>
          <a:p>
            <a:pPr>
              <a:spcBef>
                <a:spcPts val="600"/>
              </a:spcBef>
            </a:pPr>
            <a:r>
              <a:rPr lang="en-US" altLang="en-US" dirty="0"/>
              <a:t>Safety stock: buffer for lack of flexibility in supply chain</a:t>
            </a:r>
          </a:p>
          <a:p>
            <a:pPr>
              <a:spcBef>
                <a:spcPts val="600"/>
              </a:spcBef>
            </a:pPr>
            <a:r>
              <a:rPr lang="en-US" altLang="en-US" dirty="0"/>
              <a:t>Bullwhip effect</a:t>
            </a:r>
          </a:p>
          <a:p>
            <a:pPr lvl="1"/>
            <a:r>
              <a:rPr lang="en-US" altLang="en-US" sz="2400" dirty="0"/>
              <a:t>Information about product demand gets distorted as it passes from one entity to next across supply chain</a:t>
            </a:r>
          </a:p>
        </p:txBody>
      </p:sp>
      <p:sp>
        <p:nvSpPr>
          <p:cNvPr id="2" name="Footer Placeholder 1">
            <a:extLst>
              <a:ext uri="{FF2B5EF4-FFF2-40B4-BE49-F238E27FC236}">
                <a16:creationId xmlns:a16="http://schemas.microsoft.com/office/drawing/2014/main" id="{97AB0DD8-A7F7-4D7E-85F7-5950ABF5BCE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899619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1952"/>
            <a:ext cx="8229600" cy="553998"/>
          </a:xfrm>
        </p:spPr>
        <p:txBody>
          <a:bodyPr>
            <a:spAutoFit/>
          </a:bodyPr>
          <a:lstStyle/>
          <a:p>
            <a:r>
              <a:rPr lang="en-US" dirty="0"/>
              <a:t>Figure 9.3 </a:t>
            </a:r>
            <a:r>
              <a:rPr lang="en-US" altLang="en-US" dirty="0"/>
              <a:t>The Bullwhip Effect</a:t>
            </a:r>
            <a:endParaRPr lang="en-US" sz="2800" dirty="0"/>
          </a:p>
        </p:txBody>
      </p:sp>
      <p:pic>
        <p:nvPicPr>
          <p:cNvPr id="1026" name="Picture 2" descr="A process diagram illustrates the bullwhip effect using a sample supply chai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760416" y="895350"/>
            <a:ext cx="5587250" cy="376055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F241F719-692A-4944-BBE2-A6687DF0469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291303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6694"/>
            <a:ext cx="8229600" cy="553998"/>
          </a:xfrm>
        </p:spPr>
        <p:txBody>
          <a:bodyPr>
            <a:spAutoFit/>
          </a:bodyPr>
          <a:lstStyle/>
          <a:p>
            <a:r>
              <a:rPr lang="en-US" dirty="0">
                <a:cs typeface="ＭＳ Ｐゴシック" charset="0"/>
              </a:rPr>
              <a:t>Supply Chain Management Software</a:t>
            </a:r>
            <a:endParaRPr lang="en-US" sz="2800" dirty="0"/>
          </a:p>
        </p:txBody>
      </p:sp>
      <p:sp>
        <p:nvSpPr>
          <p:cNvPr id="5" name="Content Placeholder 4"/>
          <p:cNvSpPr>
            <a:spLocks noGrp="1"/>
          </p:cNvSpPr>
          <p:nvPr>
            <p:ph idx="1"/>
          </p:nvPr>
        </p:nvSpPr>
        <p:spPr>
          <a:xfrm>
            <a:off x="457200" y="931948"/>
            <a:ext cx="8229600" cy="3822792"/>
          </a:xfrm>
        </p:spPr>
        <p:txBody>
          <a:bodyPr>
            <a:spAutoFit/>
          </a:bodyPr>
          <a:lstStyle/>
          <a:p>
            <a:r>
              <a:rPr lang="en-US" altLang="en-US" dirty="0"/>
              <a:t>Supply chain planning systems</a:t>
            </a:r>
          </a:p>
          <a:p>
            <a:pPr lvl="1"/>
            <a:r>
              <a:rPr lang="en-US" altLang="en-US" sz="2400" dirty="0"/>
              <a:t>Model existing supply chain</a:t>
            </a:r>
          </a:p>
          <a:p>
            <a:pPr lvl="1"/>
            <a:r>
              <a:rPr lang="en-US" altLang="en-US" sz="2400" dirty="0"/>
              <a:t>Enable demand planning</a:t>
            </a:r>
          </a:p>
          <a:p>
            <a:pPr lvl="1"/>
            <a:r>
              <a:rPr lang="en-US" altLang="en-US" sz="2400" dirty="0"/>
              <a:t>Optimize sourcing, manufacturing plans</a:t>
            </a:r>
          </a:p>
          <a:p>
            <a:pPr lvl="1"/>
            <a:r>
              <a:rPr lang="en-US" altLang="en-US" sz="2400" dirty="0"/>
              <a:t>Establish inventory levels</a:t>
            </a:r>
          </a:p>
          <a:p>
            <a:pPr lvl="1"/>
            <a:r>
              <a:rPr lang="en-US" altLang="en-US" sz="2400" dirty="0"/>
              <a:t>Identify transportation modes</a:t>
            </a:r>
          </a:p>
          <a:p>
            <a:pPr>
              <a:spcBef>
                <a:spcPts val="600"/>
              </a:spcBef>
            </a:pPr>
            <a:r>
              <a:rPr lang="en-US" altLang="en-US" dirty="0"/>
              <a:t>Supply chain execution systems</a:t>
            </a:r>
          </a:p>
          <a:p>
            <a:pPr lvl="1"/>
            <a:r>
              <a:rPr lang="en-US" altLang="en-US" sz="2400" dirty="0"/>
              <a:t>Manage flow of products through distribution centers and warehouses</a:t>
            </a:r>
          </a:p>
        </p:txBody>
      </p:sp>
      <p:sp>
        <p:nvSpPr>
          <p:cNvPr id="2" name="Footer Placeholder 1">
            <a:extLst>
              <a:ext uri="{FF2B5EF4-FFF2-40B4-BE49-F238E27FC236}">
                <a16:creationId xmlns:a16="http://schemas.microsoft.com/office/drawing/2014/main" id="{833F6A86-80A1-458A-8220-2E8CC4C81BD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324966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4904"/>
            <a:ext cx="8229600" cy="492443"/>
          </a:xfrm>
        </p:spPr>
        <p:txBody>
          <a:bodyPr>
            <a:spAutoFit/>
          </a:bodyPr>
          <a:lstStyle/>
          <a:p>
            <a:r>
              <a:rPr lang="en-US" sz="3200" dirty="0">
                <a:cs typeface="ＭＳ Ｐゴシック" charset="0"/>
              </a:rPr>
              <a:t>Global Supply Chains and the Internet</a:t>
            </a:r>
            <a:endParaRPr lang="en-US" sz="2400" dirty="0"/>
          </a:p>
        </p:txBody>
      </p:sp>
      <p:sp>
        <p:nvSpPr>
          <p:cNvPr id="5" name="Content Placeholder 4"/>
          <p:cNvSpPr>
            <a:spLocks noGrp="1"/>
          </p:cNvSpPr>
          <p:nvPr>
            <p:ph idx="1"/>
          </p:nvPr>
        </p:nvSpPr>
        <p:spPr>
          <a:xfrm>
            <a:off x="457200" y="717550"/>
            <a:ext cx="8229600" cy="4070128"/>
          </a:xfrm>
        </p:spPr>
        <p:txBody>
          <a:bodyPr>
            <a:spAutoFit/>
          </a:bodyPr>
          <a:lstStyle/>
          <a:p>
            <a:r>
              <a:rPr lang="en-US" sz="2200" dirty="0"/>
              <a:t>Global supply chain issues</a:t>
            </a:r>
          </a:p>
          <a:p>
            <a:pPr lvl="1"/>
            <a:r>
              <a:rPr lang="en-US" dirty="0"/>
              <a:t>Greater geographical distances, time differences</a:t>
            </a:r>
          </a:p>
          <a:p>
            <a:pPr lvl="1"/>
            <a:r>
              <a:rPr lang="en-US" dirty="0"/>
              <a:t>Participants from different countries</a:t>
            </a:r>
          </a:p>
          <a:p>
            <a:pPr lvl="2"/>
            <a:r>
              <a:rPr lang="en-US" sz="2200" dirty="0"/>
              <a:t>Different performance standards</a:t>
            </a:r>
          </a:p>
          <a:p>
            <a:pPr lvl="2"/>
            <a:r>
              <a:rPr lang="en-US" sz="2200" dirty="0"/>
              <a:t>Different legal requirements</a:t>
            </a:r>
          </a:p>
          <a:p>
            <a:pPr>
              <a:spcBef>
                <a:spcPts val="600"/>
              </a:spcBef>
            </a:pPr>
            <a:r>
              <a:rPr lang="en-US" sz="2200" dirty="0"/>
              <a:t>Internet helps manage global complexities</a:t>
            </a:r>
          </a:p>
          <a:p>
            <a:pPr lvl="1"/>
            <a:r>
              <a:rPr lang="en-US" dirty="0"/>
              <a:t>Warehouse management</a:t>
            </a:r>
          </a:p>
          <a:p>
            <a:pPr lvl="1"/>
            <a:r>
              <a:rPr lang="en-US" dirty="0"/>
              <a:t>Transportation management</a:t>
            </a:r>
          </a:p>
          <a:p>
            <a:pPr lvl="1"/>
            <a:r>
              <a:rPr lang="en-US" dirty="0"/>
              <a:t>Logistics</a:t>
            </a:r>
          </a:p>
          <a:p>
            <a:pPr lvl="1"/>
            <a:r>
              <a:rPr lang="en-US" dirty="0"/>
              <a:t>Outsourcing</a:t>
            </a:r>
          </a:p>
        </p:txBody>
      </p:sp>
      <p:sp>
        <p:nvSpPr>
          <p:cNvPr id="2" name="Footer Placeholder 1">
            <a:extLst>
              <a:ext uri="{FF2B5EF4-FFF2-40B4-BE49-F238E27FC236}">
                <a16:creationId xmlns:a16="http://schemas.microsoft.com/office/drawing/2014/main" id="{327597A2-CDA5-4D49-AB63-6FA07EB5241E}"/>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554005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44693"/>
            <a:ext cx="8229600" cy="1292662"/>
          </a:xfrm>
        </p:spPr>
        <p:txBody>
          <a:bodyPr>
            <a:spAutoFit/>
          </a:bodyPr>
          <a:lstStyle/>
          <a:p>
            <a:r>
              <a:rPr lang="en-US" sz="2800" dirty="0">
                <a:cs typeface="ＭＳ Ｐゴシック" charset="0"/>
              </a:rPr>
              <a:t>Demand-Driven Supply Chains: From Push to Pull Manufacturing and Efficient Customer Response</a:t>
            </a:r>
            <a:endParaRPr lang="en-US" sz="2000" dirty="0"/>
          </a:p>
        </p:txBody>
      </p:sp>
      <p:sp>
        <p:nvSpPr>
          <p:cNvPr id="5" name="Content Placeholder 4"/>
          <p:cNvSpPr>
            <a:spLocks noGrp="1"/>
          </p:cNvSpPr>
          <p:nvPr>
            <p:ph idx="1"/>
          </p:nvPr>
        </p:nvSpPr>
        <p:spPr>
          <a:xfrm>
            <a:off x="457200" y="1516229"/>
            <a:ext cx="8229600" cy="3275840"/>
          </a:xfrm>
        </p:spPr>
        <p:txBody>
          <a:bodyPr>
            <a:spAutoFit/>
          </a:bodyPr>
          <a:lstStyle/>
          <a:p>
            <a:r>
              <a:rPr lang="en-US" sz="2000" dirty="0"/>
              <a:t>Push-based model (build-to-stock)</a:t>
            </a:r>
          </a:p>
          <a:p>
            <a:pPr lvl="1"/>
            <a:r>
              <a:rPr lang="en-US" sz="2000" dirty="0"/>
              <a:t>Earlier </a:t>
            </a:r>
            <a:r>
              <a:rPr lang="en-US" sz="2000" spc="-300" dirty="0"/>
              <a:t>S C M</a:t>
            </a:r>
            <a:r>
              <a:rPr lang="en-US" sz="2000" dirty="0"/>
              <a:t> systems</a:t>
            </a:r>
          </a:p>
          <a:p>
            <a:pPr lvl="1"/>
            <a:r>
              <a:rPr lang="en-US" sz="2000" dirty="0"/>
              <a:t>Schedules based on best guesses of demand</a:t>
            </a:r>
          </a:p>
          <a:p>
            <a:pPr>
              <a:spcBef>
                <a:spcPts val="600"/>
              </a:spcBef>
            </a:pPr>
            <a:r>
              <a:rPr lang="en-US" sz="2000" dirty="0"/>
              <a:t>Pull-based model (demand-driven)</a:t>
            </a:r>
          </a:p>
          <a:p>
            <a:pPr lvl="1"/>
            <a:r>
              <a:rPr lang="en-US" sz="2000" dirty="0"/>
              <a:t>Web-based</a:t>
            </a:r>
          </a:p>
          <a:p>
            <a:pPr lvl="1"/>
            <a:r>
              <a:rPr lang="en-US" sz="2000" dirty="0"/>
              <a:t>Customer orders trigger events in supply chain</a:t>
            </a:r>
          </a:p>
          <a:p>
            <a:pPr>
              <a:spcBef>
                <a:spcPts val="600"/>
              </a:spcBef>
            </a:pPr>
            <a:r>
              <a:rPr lang="en-US" sz="2000" dirty="0"/>
              <a:t>Internet enables move from sequential supply chains to concurrent supply chains</a:t>
            </a:r>
          </a:p>
          <a:p>
            <a:pPr lvl="1"/>
            <a:r>
              <a:rPr lang="en-US" sz="2000" dirty="0"/>
              <a:t>Complex networks of suppliers can adjust immediately</a:t>
            </a:r>
          </a:p>
        </p:txBody>
      </p:sp>
      <p:sp>
        <p:nvSpPr>
          <p:cNvPr id="2" name="Footer Placeholder 1">
            <a:extLst>
              <a:ext uri="{FF2B5EF4-FFF2-40B4-BE49-F238E27FC236}">
                <a16:creationId xmlns:a16="http://schemas.microsoft.com/office/drawing/2014/main" id="{23B85D2C-88F2-4D84-8B51-73840EF2585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460170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054"/>
            <a:ext cx="8229600" cy="1107996"/>
          </a:xfrm>
        </p:spPr>
        <p:txBody>
          <a:bodyPr>
            <a:spAutoFit/>
          </a:bodyPr>
          <a:lstStyle/>
          <a:p>
            <a:r>
              <a:rPr lang="en-US" dirty="0"/>
              <a:t>Figure 9.4 Push- Versus Pull-Based Supply Chain Models</a:t>
            </a:r>
            <a:endParaRPr lang="en-US" sz="2800" dirty="0"/>
          </a:p>
        </p:txBody>
      </p:sp>
      <p:pic>
        <p:nvPicPr>
          <p:cNvPr id="2050" name="Picture 2" descr="Two linear flow diagrams explain the difference between push- and pull-based supply chain model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271903" y="1425386"/>
            <a:ext cx="6600195" cy="320376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6AD08E69-F34F-4D5D-B48C-2D225668813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8109089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054"/>
            <a:ext cx="8229600" cy="1107996"/>
          </a:xfrm>
        </p:spPr>
        <p:txBody>
          <a:bodyPr>
            <a:spAutoFit/>
          </a:bodyPr>
          <a:lstStyle/>
          <a:p>
            <a:r>
              <a:rPr lang="en-US" dirty="0"/>
              <a:t>Figure 9.5 The Emerging Internet-Driven Supply Chain</a:t>
            </a:r>
            <a:endParaRPr lang="en-US" sz="2800" dirty="0"/>
          </a:p>
        </p:txBody>
      </p:sp>
      <p:pic>
        <p:nvPicPr>
          <p:cNvPr id="3074" name="Picture 2" descr="An illustration explains the Internet-driven supply chai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815037" y="1351317"/>
            <a:ext cx="5500163" cy="341753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E3A047AF-25A6-424B-BE90-905B01AEC9F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72032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054"/>
            <a:ext cx="8229600" cy="1107996"/>
          </a:xfrm>
        </p:spPr>
        <p:txBody>
          <a:bodyPr>
            <a:spAutoFit/>
          </a:bodyPr>
          <a:lstStyle/>
          <a:p>
            <a:r>
              <a:rPr lang="en-US" dirty="0">
                <a:cs typeface="ＭＳ Ｐゴシック" charset="0"/>
              </a:rPr>
              <a:t>Business Value of Supply Chain Management Systems</a:t>
            </a:r>
            <a:endParaRPr lang="en-US" sz="2800" dirty="0"/>
          </a:p>
        </p:txBody>
      </p:sp>
      <p:sp>
        <p:nvSpPr>
          <p:cNvPr id="5" name="Content Placeholder 4"/>
          <p:cNvSpPr>
            <a:spLocks noGrp="1"/>
          </p:cNvSpPr>
          <p:nvPr>
            <p:ph idx="1"/>
          </p:nvPr>
        </p:nvSpPr>
        <p:spPr>
          <a:xfrm>
            <a:off x="457200" y="1387621"/>
            <a:ext cx="8229600" cy="3393929"/>
          </a:xfrm>
        </p:spPr>
        <p:txBody>
          <a:bodyPr>
            <a:spAutoFit/>
          </a:bodyPr>
          <a:lstStyle/>
          <a:p>
            <a:r>
              <a:rPr lang="en-US" dirty="0"/>
              <a:t>Match supply to demand</a:t>
            </a:r>
          </a:p>
          <a:p>
            <a:pPr>
              <a:spcBef>
                <a:spcPts val="600"/>
              </a:spcBef>
            </a:pPr>
            <a:r>
              <a:rPr lang="en-US" dirty="0"/>
              <a:t>Reduce inventory levels</a:t>
            </a:r>
          </a:p>
          <a:p>
            <a:pPr>
              <a:spcBef>
                <a:spcPts val="600"/>
              </a:spcBef>
            </a:pPr>
            <a:r>
              <a:rPr lang="en-US" dirty="0"/>
              <a:t>Improve delivery service</a:t>
            </a:r>
          </a:p>
          <a:p>
            <a:pPr>
              <a:spcBef>
                <a:spcPts val="600"/>
              </a:spcBef>
            </a:pPr>
            <a:r>
              <a:rPr lang="en-US" dirty="0"/>
              <a:t>Speed product time to market</a:t>
            </a:r>
          </a:p>
          <a:p>
            <a:pPr>
              <a:spcBef>
                <a:spcPts val="600"/>
              </a:spcBef>
            </a:pPr>
            <a:r>
              <a:rPr lang="en-US" dirty="0"/>
              <a:t>Use assets more effectively</a:t>
            </a:r>
          </a:p>
          <a:p>
            <a:pPr lvl="1"/>
            <a:r>
              <a:rPr lang="en-US" sz="2400" dirty="0"/>
              <a:t>Total supply chain costs can be 75 percent of operating budget</a:t>
            </a:r>
          </a:p>
          <a:p>
            <a:pPr>
              <a:spcBef>
                <a:spcPts val="600"/>
              </a:spcBef>
            </a:pPr>
            <a:r>
              <a:rPr lang="en-US" dirty="0"/>
              <a:t>Increase sales</a:t>
            </a:r>
          </a:p>
        </p:txBody>
      </p:sp>
      <p:sp>
        <p:nvSpPr>
          <p:cNvPr id="2" name="Footer Placeholder 1">
            <a:extLst>
              <a:ext uri="{FF2B5EF4-FFF2-40B4-BE49-F238E27FC236}">
                <a16:creationId xmlns:a16="http://schemas.microsoft.com/office/drawing/2014/main" id="{3C597250-C9A2-456B-9F33-619967444A4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553399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1952"/>
            <a:ext cx="8229600" cy="553998"/>
          </a:xfrm>
        </p:spPr>
        <p:txBody>
          <a:bodyPr>
            <a:spAutoFit/>
          </a:bodyPr>
          <a:lstStyle/>
          <a:p>
            <a:r>
              <a:rPr lang="en-US" dirty="0"/>
              <a:t>Customer Relationship Management</a:t>
            </a:r>
            <a:endParaRPr lang="en-US" sz="2800" dirty="0"/>
          </a:p>
        </p:txBody>
      </p:sp>
      <p:sp>
        <p:nvSpPr>
          <p:cNvPr id="5" name="Content Placeholder 4"/>
          <p:cNvSpPr>
            <a:spLocks noGrp="1"/>
          </p:cNvSpPr>
          <p:nvPr>
            <p:ph idx="1"/>
          </p:nvPr>
        </p:nvSpPr>
        <p:spPr>
          <a:xfrm>
            <a:off x="457200" y="845443"/>
            <a:ext cx="8229600" cy="3847207"/>
          </a:xfrm>
        </p:spPr>
        <p:txBody>
          <a:bodyPr>
            <a:spAutoFit/>
          </a:bodyPr>
          <a:lstStyle/>
          <a:p>
            <a:r>
              <a:rPr lang="en-US" sz="2200" dirty="0"/>
              <a:t>Knowing the customer</a:t>
            </a:r>
          </a:p>
          <a:p>
            <a:pPr>
              <a:spcBef>
                <a:spcPts val="600"/>
              </a:spcBef>
            </a:pPr>
            <a:r>
              <a:rPr lang="en-US" sz="2200" dirty="0"/>
              <a:t>In large businesses, too many customers and too many ways customers interact with firm</a:t>
            </a:r>
          </a:p>
          <a:p>
            <a:pPr>
              <a:spcBef>
                <a:spcPts val="600"/>
              </a:spcBef>
            </a:pPr>
            <a:r>
              <a:rPr lang="en-US" sz="2200" spc="-300" dirty="0"/>
              <a:t>C R M</a:t>
            </a:r>
            <a:r>
              <a:rPr lang="en-US" sz="2200" dirty="0"/>
              <a:t> systems</a:t>
            </a:r>
          </a:p>
          <a:p>
            <a:pPr lvl="1"/>
            <a:r>
              <a:rPr lang="en-US" dirty="0"/>
              <a:t>Capture and integrate customer data from all over the organization</a:t>
            </a:r>
          </a:p>
          <a:p>
            <a:pPr lvl="1"/>
            <a:r>
              <a:rPr lang="en-US" dirty="0"/>
              <a:t>Consolidate and analyze customer data</a:t>
            </a:r>
          </a:p>
          <a:p>
            <a:pPr lvl="1"/>
            <a:r>
              <a:rPr lang="en-US" dirty="0"/>
              <a:t>Distribute customer information to various systems and customer touch points across enterprise</a:t>
            </a:r>
          </a:p>
          <a:p>
            <a:pPr lvl="1"/>
            <a:r>
              <a:rPr lang="en-US" dirty="0"/>
              <a:t>Provide single enterprise view of customers</a:t>
            </a:r>
          </a:p>
        </p:txBody>
      </p:sp>
      <p:sp>
        <p:nvSpPr>
          <p:cNvPr id="2" name="Footer Placeholder 1">
            <a:extLst>
              <a:ext uri="{FF2B5EF4-FFF2-40B4-BE49-F238E27FC236}">
                <a16:creationId xmlns:a16="http://schemas.microsoft.com/office/drawing/2014/main" id="{DCBE3088-C66A-4C4B-8A63-AB29E353F7A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559803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054"/>
            <a:ext cx="8229600" cy="1107996"/>
          </a:xfrm>
        </p:spPr>
        <p:txBody>
          <a:bodyPr>
            <a:spAutoFit/>
          </a:bodyPr>
          <a:lstStyle/>
          <a:p>
            <a:r>
              <a:rPr lang="en-US" dirty="0"/>
              <a:t>Figure 9.6 Customer Relationship Management (</a:t>
            </a:r>
            <a:r>
              <a:rPr lang="en-US" spc="-450" dirty="0"/>
              <a:t>C R </a:t>
            </a:r>
            <a:r>
              <a:rPr lang="en-US" dirty="0"/>
              <a:t>M)</a:t>
            </a:r>
            <a:endParaRPr lang="en-US" sz="2800" dirty="0"/>
          </a:p>
        </p:txBody>
      </p:sp>
      <p:pic>
        <p:nvPicPr>
          <p:cNvPr id="4098" name="Picture 2" descr="A segmented circle explains the concept of customer relationship management.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875824" y="1370874"/>
            <a:ext cx="3372576" cy="3372576"/>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93EB024E-B4AC-45CD-B049-1122A40BD52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439445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29600" cy="1107996"/>
          </a:xfrm>
        </p:spPr>
        <p:txBody>
          <a:bodyPr>
            <a:spAutoFit/>
          </a:bodyPr>
          <a:lstStyle/>
          <a:p>
            <a:r>
              <a:rPr lang="en-US" dirty="0"/>
              <a:t>Customer Relationship Management Software </a:t>
            </a:r>
            <a:r>
              <a:rPr lang="en-US" sz="2800" dirty="0"/>
              <a:t>(1 of 2)</a:t>
            </a:r>
            <a:endParaRPr lang="en-US" sz="2000" dirty="0"/>
          </a:p>
        </p:txBody>
      </p:sp>
      <p:sp>
        <p:nvSpPr>
          <p:cNvPr id="5" name="Content Placeholder 4"/>
          <p:cNvSpPr>
            <a:spLocks noGrp="1"/>
          </p:cNvSpPr>
          <p:nvPr>
            <p:ph idx="1"/>
          </p:nvPr>
        </p:nvSpPr>
        <p:spPr>
          <a:xfrm>
            <a:off x="457200" y="1397496"/>
            <a:ext cx="8229600" cy="3231654"/>
          </a:xfrm>
        </p:spPr>
        <p:txBody>
          <a:bodyPr>
            <a:spAutoFit/>
          </a:bodyPr>
          <a:lstStyle/>
          <a:p>
            <a:r>
              <a:rPr lang="en-US" sz="2000" dirty="0"/>
              <a:t>Packages range from niche tools to large-scale enterprise applications</a:t>
            </a:r>
          </a:p>
          <a:p>
            <a:pPr>
              <a:spcBef>
                <a:spcPts val="600"/>
              </a:spcBef>
            </a:pPr>
            <a:r>
              <a:rPr lang="en-US" sz="2000" dirty="0"/>
              <a:t>More comprehensive packages have modules for:</a:t>
            </a:r>
          </a:p>
          <a:p>
            <a:pPr lvl="1"/>
            <a:r>
              <a:rPr lang="en-US" sz="2000" dirty="0"/>
              <a:t>Partner relationship management (</a:t>
            </a:r>
            <a:r>
              <a:rPr lang="en-US" sz="2000" spc="-300" dirty="0"/>
              <a:t>P R </a:t>
            </a:r>
            <a:r>
              <a:rPr lang="en-US" sz="2000" dirty="0"/>
              <a:t>M)</a:t>
            </a:r>
          </a:p>
          <a:p>
            <a:pPr lvl="2"/>
            <a:r>
              <a:rPr lang="en-US" dirty="0"/>
              <a:t>Integrating lead generation, pricing, promotions, order configurations, and availability</a:t>
            </a:r>
          </a:p>
          <a:p>
            <a:pPr lvl="2"/>
            <a:r>
              <a:rPr lang="en-US" dirty="0"/>
              <a:t>Tools to assess partners’ performances</a:t>
            </a:r>
          </a:p>
          <a:p>
            <a:pPr lvl="1"/>
            <a:r>
              <a:rPr lang="en-US" sz="2000" dirty="0"/>
              <a:t>Employee relationship management (</a:t>
            </a:r>
            <a:r>
              <a:rPr lang="en-US" sz="2000" spc="-300" dirty="0"/>
              <a:t>E R </a:t>
            </a:r>
            <a:r>
              <a:rPr lang="en-US" sz="2000" dirty="0"/>
              <a:t>M)</a:t>
            </a:r>
          </a:p>
          <a:p>
            <a:pPr lvl="2"/>
            <a:r>
              <a:rPr lang="en-US" dirty="0"/>
              <a:t>Setting objectives, employee performance management, performance-based compensation, employee training</a:t>
            </a:r>
          </a:p>
        </p:txBody>
      </p:sp>
      <p:sp>
        <p:nvSpPr>
          <p:cNvPr id="2" name="Footer Placeholder 1">
            <a:extLst>
              <a:ext uri="{FF2B5EF4-FFF2-40B4-BE49-F238E27FC236}">
                <a16:creationId xmlns:a16="http://schemas.microsoft.com/office/drawing/2014/main" id="{F964508E-E42B-4EB8-A14C-03AC9FEE060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33538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054"/>
            <a:ext cx="8229600" cy="1107996"/>
          </a:xfrm>
        </p:spPr>
        <p:txBody>
          <a:bodyPr>
            <a:spAutoFit/>
          </a:bodyPr>
          <a:lstStyle/>
          <a:p>
            <a:r>
              <a:rPr lang="en-US" dirty="0"/>
              <a:t>Customer Relationship Management Software </a:t>
            </a:r>
            <a:r>
              <a:rPr lang="en-US" sz="2800" dirty="0"/>
              <a:t>(2 of 2)</a:t>
            </a:r>
            <a:endParaRPr lang="en-US" sz="2000" dirty="0"/>
          </a:p>
        </p:txBody>
      </p:sp>
      <p:sp>
        <p:nvSpPr>
          <p:cNvPr id="5" name="Content Placeholder 4"/>
          <p:cNvSpPr>
            <a:spLocks noGrp="1"/>
          </p:cNvSpPr>
          <p:nvPr>
            <p:ph idx="1"/>
          </p:nvPr>
        </p:nvSpPr>
        <p:spPr>
          <a:xfrm>
            <a:off x="457200" y="1337513"/>
            <a:ext cx="8229600" cy="3393237"/>
          </a:xfrm>
        </p:spPr>
        <p:txBody>
          <a:bodyPr>
            <a:spAutoFit/>
          </a:bodyPr>
          <a:lstStyle/>
          <a:p>
            <a:pPr>
              <a:spcBef>
                <a:spcPts val="300"/>
              </a:spcBef>
            </a:pPr>
            <a:r>
              <a:rPr lang="en-US" sz="1800" spc="-300" dirty="0"/>
              <a:t>C R M</a:t>
            </a:r>
            <a:r>
              <a:rPr lang="en-US" sz="1800" dirty="0"/>
              <a:t> packages typically include tools for:</a:t>
            </a:r>
          </a:p>
          <a:p>
            <a:pPr lvl="1">
              <a:spcBef>
                <a:spcPts val="300"/>
              </a:spcBef>
            </a:pPr>
            <a:r>
              <a:rPr lang="en-US" sz="1800" dirty="0"/>
              <a:t>Sales force automation (</a:t>
            </a:r>
            <a:r>
              <a:rPr lang="en-US" sz="1800" spc="-300" dirty="0"/>
              <a:t>S F </a:t>
            </a:r>
            <a:r>
              <a:rPr lang="en-US" sz="1800" dirty="0"/>
              <a:t>A)</a:t>
            </a:r>
          </a:p>
          <a:p>
            <a:pPr lvl="2">
              <a:spcBef>
                <a:spcPts val="300"/>
              </a:spcBef>
            </a:pPr>
            <a:r>
              <a:rPr lang="en-US" sz="1800" dirty="0"/>
              <a:t>Sales prospect and contact information</a:t>
            </a:r>
          </a:p>
          <a:p>
            <a:pPr lvl="2">
              <a:spcBef>
                <a:spcPts val="300"/>
              </a:spcBef>
            </a:pPr>
            <a:r>
              <a:rPr lang="en-US" sz="1800" dirty="0"/>
              <a:t>Sales quote generation capabilities</a:t>
            </a:r>
          </a:p>
          <a:p>
            <a:pPr lvl="1">
              <a:spcBef>
                <a:spcPts val="300"/>
              </a:spcBef>
            </a:pPr>
            <a:r>
              <a:rPr lang="en-US" sz="1800" dirty="0"/>
              <a:t>Customer service</a:t>
            </a:r>
          </a:p>
          <a:p>
            <a:pPr lvl="2">
              <a:spcBef>
                <a:spcPts val="300"/>
              </a:spcBef>
            </a:pPr>
            <a:r>
              <a:rPr lang="en-US" sz="1800" dirty="0"/>
              <a:t>Assigning and managing customer service requests</a:t>
            </a:r>
          </a:p>
          <a:p>
            <a:pPr lvl="2">
              <a:spcBef>
                <a:spcPts val="300"/>
              </a:spcBef>
            </a:pPr>
            <a:r>
              <a:rPr lang="en-US" sz="1800" dirty="0"/>
              <a:t>Web-based self-service capabilities</a:t>
            </a:r>
          </a:p>
          <a:p>
            <a:pPr lvl="1">
              <a:spcBef>
                <a:spcPts val="300"/>
              </a:spcBef>
            </a:pPr>
            <a:r>
              <a:rPr lang="en-US" sz="1800" dirty="0"/>
              <a:t>Marketing</a:t>
            </a:r>
          </a:p>
          <a:p>
            <a:pPr lvl="2">
              <a:spcBef>
                <a:spcPts val="300"/>
              </a:spcBef>
            </a:pPr>
            <a:r>
              <a:rPr lang="en-US" sz="1800" dirty="0"/>
              <a:t>Capturing prospect and customer data, scheduling and tracking direct-marketing mailings or e-mail</a:t>
            </a:r>
          </a:p>
          <a:p>
            <a:pPr lvl="2">
              <a:spcBef>
                <a:spcPts val="300"/>
              </a:spcBef>
            </a:pPr>
            <a:r>
              <a:rPr lang="en-US" sz="1800" dirty="0"/>
              <a:t>Cross-selling</a:t>
            </a:r>
          </a:p>
        </p:txBody>
      </p:sp>
      <p:sp>
        <p:nvSpPr>
          <p:cNvPr id="2" name="Footer Placeholder 1">
            <a:extLst>
              <a:ext uri="{FF2B5EF4-FFF2-40B4-BE49-F238E27FC236}">
                <a16:creationId xmlns:a16="http://schemas.microsoft.com/office/drawing/2014/main" id="{EF0B2CD0-207F-4089-BF67-8DA32CD9898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56139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054"/>
            <a:ext cx="8229600" cy="1107996"/>
          </a:xfrm>
        </p:spPr>
        <p:txBody>
          <a:bodyPr>
            <a:spAutoFit/>
          </a:bodyPr>
          <a:lstStyle/>
          <a:p>
            <a:r>
              <a:rPr lang="en-US" dirty="0"/>
              <a:t>Figure 9.7 How </a:t>
            </a:r>
            <a:r>
              <a:rPr lang="en-US" spc="-450" dirty="0"/>
              <a:t>C R M</a:t>
            </a:r>
            <a:r>
              <a:rPr lang="en-US" dirty="0"/>
              <a:t> Systems Support Marketing</a:t>
            </a:r>
            <a:endParaRPr lang="en-US" sz="2800" dirty="0"/>
          </a:p>
        </p:txBody>
      </p:sp>
      <p:pic>
        <p:nvPicPr>
          <p:cNvPr id="7" name="Picture 6" descr="A pie chart presents data on how customer relationship management systems support marketing. For a full description, see Notes. Press F6.">
            <a:extLst>
              <a:ext uri="{FF2B5EF4-FFF2-40B4-BE49-F238E27FC236}">
                <a16:creationId xmlns:a16="http://schemas.microsoft.com/office/drawing/2014/main" id="{AB4FD86E-9A98-408B-B72F-79BC350DFD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07328" y="1906240"/>
            <a:ext cx="2313289" cy="2862610"/>
          </a:xfrm>
          <a:prstGeom prst="rect">
            <a:avLst/>
          </a:prstGeom>
        </p:spPr>
      </p:pic>
      <p:pic>
        <p:nvPicPr>
          <p:cNvPr id="3" name="Picture 2" descr="A pie chart presents data on how customer relationship management systems support marketing. For a full description, see Notes. Press F6.">
            <a:extLst>
              <a:ext uri="{FF2B5EF4-FFF2-40B4-BE49-F238E27FC236}">
                <a16:creationId xmlns:a16="http://schemas.microsoft.com/office/drawing/2014/main" id="{DD9760CD-2246-4D07-8842-3EA5635881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1866" y="1276350"/>
            <a:ext cx="2756633" cy="3438783"/>
          </a:xfrm>
          <a:prstGeom prst="rect">
            <a:avLst/>
          </a:prstGeom>
        </p:spPr>
      </p:pic>
      <p:sp>
        <p:nvSpPr>
          <p:cNvPr id="2" name="Footer Placeholder 1">
            <a:extLst>
              <a:ext uri="{FF2B5EF4-FFF2-40B4-BE49-F238E27FC236}">
                <a16:creationId xmlns:a16="http://schemas.microsoft.com/office/drawing/2014/main" id="{4FDEF84F-3D69-4115-B64A-3392B1F0227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4504042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1952"/>
            <a:ext cx="8229600" cy="553998"/>
          </a:xfrm>
        </p:spPr>
        <p:txBody>
          <a:bodyPr>
            <a:spAutoFit/>
          </a:bodyPr>
          <a:lstStyle/>
          <a:p>
            <a:r>
              <a:rPr lang="en-US" dirty="0"/>
              <a:t>Figure 9.8 </a:t>
            </a:r>
            <a:r>
              <a:rPr lang="en-US" spc="-450" dirty="0"/>
              <a:t>C R </a:t>
            </a:r>
            <a:r>
              <a:rPr lang="en-US" spc="-300" dirty="0"/>
              <a:t>M</a:t>
            </a:r>
            <a:r>
              <a:rPr lang="en-US" dirty="0"/>
              <a:t> Software Capabilities</a:t>
            </a:r>
            <a:endParaRPr lang="en-US" sz="2800" dirty="0"/>
          </a:p>
        </p:txBody>
      </p:sp>
      <p:pic>
        <p:nvPicPr>
          <p:cNvPr id="6146" name="Picture 2" descr="An illustration explains how CRM software products support business processes in sales, service, and marketing.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2392598" y="824340"/>
            <a:ext cx="4342579" cy="389347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CBDFB142-4CD4-454A-B757-53704FAEB6E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8935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054"/>
            <a:ext cx="8229600" cy="1107996"/>
          </a:xfrm>
        </p:spPr>
        <p:txBody>
          <a:bodyPr>
            <a:spAutoFit/>
          </a:bodyPr>
          <a:lstStyle/>
          <a:p>
            <a:r>
              <a:rPr lang="en-US" dirty="0"/>
              <a:t>Figure 9.9 Customer Loyalty Management Process Map</a:t>
            </a:r>
            <a:endParaRPr lang="en-US" sz="2800" dirty="0"/>
          </a:p>
        </p:txBody>
      </p:sp>
      <p:pic>
        <p:nvPicPr>
          <p:cNvPr id="7170" name="Picture 2" descr="A flowchart explains how CRM software helps firms identify loyal customers for privileged treatment.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1704" y="1504950"/>
            <a:ext cx="8154179" cy="3019561"/>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870AEF7A-E22F-4165-83C7-91338DA3F28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434418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9252"/>
            <a:ext cx="8229600" cy="553998"/>
          </a:xfrm>
        </p:spPr>
        <p:txBody>
          <a:bodyPr>
            <a:spAutoFit/>
          </a:bodyPr>
          <a:lstStyle/>
          <a:p>
            <a:r>
              <a:rPr lang="en-US" dirty="0"/>
              <a:t>Operational and Analytical </a:t>
            </a:r>
            <a:r>
              <a:rPr lang="en-US" spc="-450" dirty="0"/>
              <a:t>C R M</a:t>
            </a:r>
            <a:endParaRPr lang="en-US" sz="2000" spc="-450" dirty="0"/>
          </a:p>
        </p:txBody>
      </p:sp>
      <p:sp>
        <p:nvSpPr>
          <p:cNvPr id="5" name="Content Placeholder 4"/>
          <p:cNvSpPr>
            <a:spLocks noGrp="1"/>
          </p:cNvSpPr>
          <p:nvPr>
            <p:ph idx="1"/>
          </p:nvPr>
        </p:nvSpPr>
        <p:spPr>
          <a:xfrm>
            <a:off x="457200" y="741983"/>
            <a:ext cx="8229600" cy="4039567"/>
          </a:xfrm>
        </p:spPr>
        <p:txBody>
          <a:bodyPr>
            <a:spAutoFit/>
          </a:bodyPr>
          <a:lstStyle/>
          <a:p>
            <a:r>
              <a:rPr lang="en-US" sz="2200" dirty="0"/>
              <a:t>Operational </a:t>
            </a:r>
            <a:r>
              <a:rPr lang="en-US" sz="2200" spc="-300" dirty="0"/>
              <a:t>C R M</a:t>
            </a:r>
          </a:p>
          <a:p>
            <a:pPr lvl="1"/>
            <a:r>
              <a:rPr lang="en-US" dirty="0"/>
              <a:t>Customer-facing applications</a:t>
            </a:r>
          </a:p>
          <a:p>
            <a:pPr lvl="1"/>
            <a:r>
              <a:rPr lang="en-US" dirty="0"/>
              <a:t>Sales force automation call center and customer service support</a:t>
            </a:r>
          </a:p>
          <a:p>
            <a:pPr lvl="1"/>
            <a:r>
              <a:rPr lang="en-US" dirty="0"/>
              <a:t>Marketing automation</a:t>
            </a:r>
          </a:p>
          <a:p>
            <a:r>
              <a:rPr lang="en-US" sz="2200" dirty="0"/>
              <a:t>Analytical </a:t>
            </a:r>
            <a:r>
              <a:rPr lang="en-US" sz="2200" spc="-300" dirty="0"/>
              <a:t>C R M</a:t>
            </a:r>
          </a:p>
          <a:p>
            <a:pPr lvl="1"/>
            <a:r>
              <a:rPr lang="en-US" dirty="0"/>
              <a:t>Based on data warehouses populated by operational </a:t>
            </a:r>
            <a:r>
              <a:rPr lang="en-US" spc="-300" dirty="0"/>
              <a:t>C R M</a:t>
            </a:r>
            <a:r>
              <a:rPr lang="en-US" dirty="0"/>
              <a:t> systems and customer touch points</a:t>
            </a:r>
          </a:p>
          <a:p>
            <a:pPr lvl="1"/>
            <a:r>
              <a:rPr lang="en-US" dirty="0"/>
              <a:t>Analyzes customer data (</a:t>
            </a:r>
            <a:r>
              <a:rPr lang="en-US" spc="-300" dirty="0"/>
              <a:t>O L A </a:t>
            </a:r>
            <a:r>
              <a:rPr lang="en-US" dirty="0"/>
              <a:t>P, data mining, etc.)</a:t>
            </a:r>
          </a:p>
          <a:p>
            <a:pPr lvl="2"/>
            <a:r>
              <a:rPr lang="en-US" sz="2200" dirty="0"/>
              <a:t>Customer lifetime value (</a:t>
            </a:r>
            <a:r>
              <a:rPr lang="en-US" sz="2200" spc="-300" dirty="0"/>
              <a:t>C L T </a:t>
            </a:r>
            <a:r>
              <a:rPr lang="en-US" sz="2200" dirty="0"/>
              <a:t>V)</a:t>
            </a:r>
          </a:p>
        </p:txBody>
      </p:sp>
      <p:sp>
        <p:nvSpPr>
          <p:cNvPr id="2" name="Footer Placeholder 1">
            <a:extLst>
              <a:ext uri="{FF2B5EF4-FFF2-40B4-BE49-F238E27FC236}">
                <a16:creationId xmlns:a16="http://schemas.microsoft.com/office/drawing/2014/main" id="{D76846C9-A019-4D5E-8C23-8D6104489F01}"/>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307207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054"/>
            <a:ext cx="8229600" cy="1107996"/>
          </a:xfrm>
        </p:spPr>
        <p:txBody>
          <a:bodyPr>
            <a:spAutoFit/>
          </a:bodyPr>
          <a:lstStyle/>
          <a:p>
            <a:r>
              <a:rPr lang="en-US" dirty="0"/>
              <a:t>Figure 9.10 Analytical </a:t>
            </a:r>
            <a:r>
              <a:rPr lang="en-US" spc="-450" dirty="0"/>
              <a:t>C R M</a:t>
            </a:r>
            <a:r>
              <a:rPr lang="en-US" dirty="0"/>
              <a:t> Data Warehouse</a:t>
            </a:r>
            <a:endParaRPr lang="en-US" sz="2800" dirty="0"/>
          </a:p>
        </p:txBody>
      </p:sp>
      <p:pic>
        <p:nvPicPr>
          <p:cNvPr id="8194" name="Picture 2" descr="An illustration explains how analytical CRM uses customer data from various sources to create segments for targeted marketing.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742998" y="1341081"/>
            <a:ext cx="5643122" cy="344046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97C1F8FA-0386-4627-B450-6B5A37FDFC1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153214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8654"/>
            <a:ext cx="8229600" cy="1107996"/>
          </a:xfrm>
        </p:spPr>
        <p:txBody>
          <a:bodyPr>
            <a:spAutoFit/>
          </a:bodyPr>
          <a:lstStyle/>
          <a:p>
            <a:r>
              <a:rPr lang="en-US" dirty="0"/>
              <a:t>Business Value of Customer Relationship Management Systems</a:t>
            </a:r>
            <a:endParaRPr lang="en-US" sz="2000" spc="-450" dirty="0"/>
          </a:p>
        </p:txBody>
      </p:sp>
      <p:sp>
        <p:nvSpPr>
          <p:cNvPr id="5" name="Content Placeholder 4"/>
          <p:cNvSpPr>
            <a:spLocks noGrp="1"/>
          </p:cNvSpPr>
          <p:nvPr>
            <p:ph idx="1"/>
          </p:nvPr>
        </p:nvSpPr>
        <p:spPr>
          <a:xfrm>
            <a:off x="457200" y="1131915"/>
            <a:ext cx="8229600" cy="3656751"/>
          </a:xfrm>
        </p:spPr>
        <p:txBody>
          <a:bodyPr>
            <a:spAutoFit/>
          </a:bodyPr>
          <a:lstStyle/>
          <a:p>
            <a:pPr>
              <a:spcBef>
                <a:spcPts val="600"/>
              </a:spcBef>
            </a:pPr>
            <a:r>
              <a:rPr lang="en-US" sz="2000" dirty="0"/>
              <a:t>Business value of </a:t>
            </a:r>
            <a:r>
              <a:rPr lang="en-US" sz="2000" spc="-300" dirty="0"/>
              <a:t>C R M</a:t>
            </a:r>
            <a:r>
              <a:rPr lang="en-US" sz="2000" dirty="0"/>
              <a:t> systems</a:t>
            </a:r>
          </a:p>
          <a:p>
            <a:pPr lvl="1"/>
            <a:r>
              <a:rPr lang="en-US" sz="2000" dirty="0"/>
              <a:t>Increased customer satisfaction</a:t>
            </a:r>
          </a:p>
          <a:p>
            <a:pPr lvl="1"/>
            <a:r>
              <a:rPr lang="en-US" sz="2000" dirty="0"/>
              <a:t>Reduced direct-marketing costs</a:t>
            </a:r>
          </a:p>
          <a:p>
            <a:pPr lvl="1"/>
            <a:r>
              <a:rPr lang="en-US" sz="2000" dirty="0"/>
              <a:t>More effective marketing</a:t>
            </a:r>
          </a:p>
          <a:p>
            <a:pPr lvl="1"/>
            <a:r>
              <a:rPr lang="en-US" sz="2000" dirty="0"/>
              <a:t>Lower costs for customer acquisition/retention</a:t>
            </a:r>
          </a:p>
          <a:p>
            <a:pPr lvl="1"/>
            <a:r>
              <a:rPr lang="en-US" sz="2000" dirty="0"/>
              <a:t>Increased sales revenue</a:t>
            </a:r>
          </a:p>
          <a:p>
            <a:pPr>
              <a:spcBef>
                <a:spcPts val="600"/>
              </a:spcBef>
            </a:pPr>
            <a:r>
              <a:rPr lang="en-US" sz="2000" dirty="0"/>
              <a:t>Churn rate</a:t>
            </a:r>
          </a:p>
          <a:p>
            <a:pPr lvl="1"/>
            <a:r>
              <a:rPr lang="en-US" sz="2000" dirty="0"/>
              <a:t>Number of customers who stop using or purchasing products or services from a company</a:t>
            </a:r>
          </a:p>
          <a:p>
            <a:pPr lvl="1"/>
            <a:r>
              <a:rPr lang="en-US" sz="2000" dirty="0"/>
              <a:t>Indicator of growth or decline of firm’s customer base</a:t>
            </a:r>
          </a:p>
        </p:txBody>
      </p:sp>
      <p:sp>
        <p:nvSpPr>
          <p:cNvPr id="2" name="Footer Placeholder 1">
            <a:extLst>
              <a:ext uri="{FF2B5EF4-FFF2-40B4-BE49-F238E27FC236}">
                <a16:creationId xmlns:a16="http://schemas.microsoft.com/office/drawing/2014/main" id="{24B8E937-D175-482B-ADA1-6EC5D6FA13EF}"/>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014594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3822"/>
            <a:ext cx="8229600" cy="1477328"/>
          </a:xfrm>
        </p:spPr>
        <p:txBody>
          <a:bodyPr>
            <a:spAutoFit/>
          </a:bodyPr>
          <a:lstStyle/>
          <a:p>
            <a:r>
              <a:rPr lang="en-US" sz="3200" dirty="0">
                <a:cs typeface="ＭＳ Ｐゴシック" charset="0"/>
              </a:rPr>
              <a:t>Interactive Session: Organizations: CRM Helps Adidas Know Its Customers One Shoe Buyer at a Time (1 of 2)</a:t>
            </a:r>
            <a:endParaRPr lang="en-US" sz="3200" dirty="0"/>
          </a:p>
        </p:txBody>
      </p:sp>
      <p:sp>
        <p:nvSpPr>
          <p:cNvPr id="5" name="Content Placeholder 4"/>
          <p:cNvSpPr>
            <a:spLocks noGrp="1"/>
          </p:cNvSpPr>
          <p:nvPr>
            <p:ph idx="1"/>
          </p:nvPr>
        </p:nvSpPr>
        <p:spPr>
          <a:xfrm>
            <a:off x="457200" y="1875294"/>
            <a:ext cx="8229600" cy="2677656"/>
          </a:xfrm>
        </p:spPr>
        <p:txBody>
          <a:bodyPr>
            <a:spAutoFit/>
          </a:bodyPr>
          <a:lstStyle/>
          <a:p>
            <a:r>
              <a:rPr lang="en-US" sz="2200" dirty="0"/>
              <a:t>Class discussion</a:t>
            </a:r>
          </a:p>
          <a:p>
            <a:pPr lvl="1"/>
            <a:r>
              <a:rPr lang="en-US" dirty="0"/>
              <a:t>Analyze Adidas using the competitive forces and value chain model.</a:t>
            </a:r>
          </a:p>
          <a:p>
            <a:pPr lvl="1"/>
            <a:r>
              <a:rPr lang="en-US" dirty="0"/>
              <a:t>What is Adidas’s business strategy? What is the rule of customer relationship management in that strategy?</a:t>
            </a:r>
          </a:p>
          <a:p>
            <a:pPr lvl="1"/>
            <a:r>
              <a:rPr lang="en-US" dirty="0"/>
              <a:t>How do information systems support Adidas’s strategy?</a:t>
            </a:r>
          </a:p>
          <a:p>
            <a:pPr lvl="1"/>
            <a:endParaRPr lang="en-US" dirty="0"/>
          </a:p>
        </p:txBody>
      </p:sp>
      <p:sp>
        <p:nvSpPr>
          <p:cNvPr id="2" name="Footer Placeholder 1">
            <a:extLst>
              <a:ext uri="{FF2B5EF4-FFF2-40B4-BE49-F238E27FC236}">
                <a16:creationId xmlns:a16="http://schemas.microsoft.com/office/drawing/2014/main" id="{CB854800-9EC5-434A-AE32-B92CF62EB6F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5109937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3822"/>
            <a:ext cx="8229600" cy="1477328"/>
          </a:xfrm>
        </p:spPr>
        <p:txBody>
          <a:bodyPr>
            <a:spAutoFit/>
          </a:bodyPr>
          <a:lstStyle/>
          <a:p>
            <a:r>
              <a:rPr lang="en-US" sz="3200" dirty="0">
                <a:cs typeface="ＭＳ Ｐゴシック" charset="0"/>
              </a:rPr>
              <a:t>Interactive Session: Organizations: CRM Helps Adidas Know Its Customers One Shoe Buyer at a Time (2 of 2)</a:t>
            </a:r>
            <a:endParaRPr lang="en-US" sz="3200" dirty="0"/>
          </a:p>
        </p:txBody>
      </p:sp>
      <p:sp>
        <p:nvSpPr>
          <p:cNvPr id="5" name="Content Placeholder 4"/>
          <p:cNvSpPr>
            <a:spLocks noGrp="1"/>
          </p:cNvSpPr>
          <p:nvPr>
            <p:ph idx="1"/>
          </p:nvPr>
        </p:nvSpPr>
        <p:spPr>
          <a:xfrm>
            <a:off x="457200" y="1834336"/>
            <a:ext cx="8229600" cy="2185214"/>
          </a:xfrm>
        </p:spPr>
        <p:txBody>
          <a:bodyPr>
            <a:spAutoFit/>
          </a:bodyPr>
          <a:lstStyle/>
          <a:p>
            <a:r>
              <a:rPr lang="en-US" sz="2200" dirty="0"/>
              <a:t>Class discussion</a:t>
            </a:r>
          </a:p>
          <a:p>
            <a:pPr lvl="1"/>
            <a:r>
              <a:rPr lang="en-US" dirty="0"/>
              <a:t>How did using Salesforce.com make Adidas more competitive? How did it change the way the company ran its business?</a:t>
            </a:r>
          </a:p>
          <a:p>
            <a:pPr lvl="1"/>
            <a:r>
              <a:rPr lang="en-US" dirty="0"/>
              <a:t>Give an example of two business decisions that were improved by using Salesforce.com</a:t>
            </a:r>
          </a:p>
        </p:txBody>
      </p:sp>
      <p:sp>
        <p:nvSpPr>
          <p:cNvPr id="2" name="Footer Placeholder 1">
            <a:extLst>
              <a:ext uri="{FF2B5EF4-FFF2-40B4-BE49-F238E27FC236}">
                <a16:creationId xmlns:a16="http://schemas.microsoft.com/office/drawing/2014/main" id="{C8A5DDA6-9C26-49FA-987F-87B002F1AB7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74952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1952"/>
            <a:ext cx="8229600" cy="553998"/>
          </a:xfrm>
        </p:spPr>
        <p:txBody>
          <a:bodyPr>
            <a:spAutoFit/>
          </a:bodyPr>
          <a:lstStyle/>
          <a:p>
            <a:r>
              <a:rPr lang="en-US" altLang="en-US" dirty="0"/>
              <a:t>Enterprise Application Challenges</a:t>
            </a:r>
            <a:endParaRPr lang="en-US" sz="2000" spc="-450" dirty="0"/>
          </a:p>
        </p:txBody>
      </p:sp>
      <p:sp>
        <p:nvSpPr>
          <p:cNvPr id="5" name="Content Placeholder 4"/>
          <p:cNvSpPr>
            <a:spLocks noGrp="1"/>
          </p:cNvSpPr>
          <p:nvPr>
            <p:ph idx="1"/>
          </p:nvPr>
        </p:nvSpPr>
        <p:spPr>
          <a:xfrm>
            <a:off x="457200" y="868526"/>
            <a:ext cx="8229600" cy="3824124"/>
          </a:xfrm>
        </p:spPr>
        <p:txBody>
          <a:bodyPr>
            <a:spAutoFit/>
          </a:bodyPr>
          <a:lstStyle/>
          <a:p>
            <a:r>
              <a:rPr lang="en-US" sz="2200" dirty="0"/>
              <a:t>Expensive to purchase and implement</a:t>
            </a:r>
          </a:p>
          <a:p>
            <a:pPr lvl="1"/>
            <a:r>
              <a:rPr lang="en-US" dirty="0"/>
              <a:t>Many projects experience cost overruns</a:t>
            </a:r>
          </a:p>
          <a:p>
            <a:pPr lvl="1"/>
            <a:r>
              <a:rPr lang="en-US" dirty="0"/>
              <a:t>Long development times</a:t>
            </a:r>
          </a:p>
          <a:p>
            <a:r>
              <a:rPr lang="en-US" sz="2200" dirty="0"/>
              <a:t>Technology changes</a:t>
            </a:r>
          </a:p>
          <a:p>
            <a:r>
              <a:rPr lang="en-US" sz="2200" dirty="0"/>
              <a:t>Business process changes</a:t>
            </a:r>
          </a:p>
          <a:p>
            <a:r>
              <a:rPr lang="en-US" sz="2200" dirty="0"/>
              <a:t>Organizational learning changes</a:t>
            </a:r>
          </a:p>
          <a:p>
            <a:r>
              <a:rPr lang="en-US" sz="2200" dirty="0"/>
              <a:t>Switching costs, dependence on software vendors</a:t>
            </a:r>
          </a:p>
          <a:p>
            <a:r>
              <a:rPr lang="en-US" sz="2200" dirty="0"/>
              <a:t>Data standardization, management, cleansing</a:t>
            </a:r>
          </a:p>
        </p:txBody>
      </p:sp>
      <p:sp>
        <p:nvSpPr>
          <p:cNvPr id="2" name="Footer Placeholder 1">
            <a:extLst>
              <a:ext uri="{FF2B5EF4-FFF2-40B4-BE49-F238E27FC236}">
                <a16:creationId xmlns:a16="http://schemas.microsoft.com/office/drawing/2014/main" id="{209FB964-24A3-400B-B633-0556FDF90BC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566177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4450"/>
            <a:ext cx="8229600" cy="1107996"/>
          </a:xfrm>
        </p:spPr>
        <p:txBody>
          <a:bodyPr>
            <a:spAutoFit/>
          </a:bodyPr>
          <a:lstStyle/>
          <a:p>
            <a:r>
              <a:rPr lang="en-US" altLang="en-US" dirty="0"/>
              <a:t>Next-Generation Enterprise Applications </a:t>
            </a:r>
            <a:r>
              <a:rPr lang="en-US" altLang="en-US" sz="2800" dirty="0"/>
              <a:t>(1 of 2)</a:t>
            </a:r>
            <a:endParaRPr lang="en-US" sz="1600" spc="-450" dirty="0"/>
          </a:p>
        </p:txBody>
      </p:sp>
      <p:sp>
        <p:nvSpPr>
          <p:cNvPr id="5" name="Content Placeholder 4"/>
          <p:cNvSpPr>
            <a:spLocks noGrp="1"/>
          </p:cNvSpPr>
          <p:nvPr>
            <p:ph idx="1"/>
          </p:nvPr>
        </p:nvSpPr>
        <p:spPr>
          <a:xfrm>
            <a:off x="457200" y="1365230"/>
            <a:ext cx="8229600" cy="2893100"/>
          </a:xfrm>
        </p:spPr>
        <p:txBody>
          <a:bodyPr>
            <a:spAutoFit/>
          </a:bodyPr>
          <a:lstStyle/>
          <a:p>
            <a:r>
              <a:rPr lang="en-US" dirty="0"/>
              <a:t>Enterprise solutions/suites</a:t>
            </a:r>
          </a:p>
          <a:p>
            <a:pPr lvl="1"/>
            <a:r>
              <a:rPr lang="en-US" sz="2400" dirty="0"/>
              <a:t>Make applications more flexible, web-enabled, integrated with other systems</a:t>
            </a:r>
          </a:p>
          <a:p>
            <a:pPr>
              <a:spcBef>
                <a:spcPts val="600"/>
              </a:spcBef>
            </a:pPr>
            <a:r>
              <a:rPr lang="en-US" dirty="0"/>
              <a:t>Cloud-based versions</a:t>
            </a:r>
          </a:p>
          <a:p>
            <a:pPr>
              <a:spcBef>
                <a:spcPts val="600"/>
              </a:spcBef>
            </a:pPr>
            <a:r>
              <a:rPr lang="en-US" dirty="0"/>
              <a:t>Functionality for mobile platform</a:t>
            </a:r>
          </a:p>
          <a:p>
            <a:pPr>
              <a:spcBef>
                <a:spcPts val="600"/>
              </a:spcBef>
            </a:pPr>
            <a:r>
              <a:rPr lang="en-US" dirty="0"/>
              <a:t>Versions also available for small and medium-sized businesses</a:t>
            </a:r>
          </a:p>
        </p:txBody>
      </p:sp>
      <p:sp>
        <p:nvSpPr>
          <p:cNvPr id="2" name="Footer Placeholder 1">
            <a:extLst>
              <a:ext uri="{FF2B5EF4-FFF2-40B4-BE49-F238E27FC236}">
                <a16:creationId xmlns:a16="http://schemas.microsoft.com/office/drawing/2014/main" id="{1CD3A5F6-6F58-4E49-B007-BB2869EBE96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610494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4054"/>
            <a:ext cx="8229600" cy="1107996"/>
          </a:xfrm>
        </p:spPr>
        <p:txBody>
          <a:bodyPr>
            <a:spAutoFit/>
          </a:bodyPr>
          <a:lstStyle/>
          <a:p>
            <a:r>
              <a:rPr lang="en-US" altLang="en-US" dirty="0"/>
              <a:t>Next-Generation Enterprise Applications </a:t>
            </a:r>
            <a:r>
              <a:rPr lang="en-US" altLang="en-US" sz="2800" dirty="0"/>
              <a:t>(2 of 2)</a:t>
            </a:r>
            <a:endParaRPr lang="en-US" sz="1600" spc="-450" dirty="0"/>
          </a:p>
        </p:txBody>
      </p:sp>
      <p:sp>
        <p:nvSpPr>
          <p:cNvPr id="5" name="Content Placeholder 4"/>
          <p:cNvSpPr>
            <a:spLocks noGrp="1"/>
          </p:cNvSpPr>
          <p:nvPr>
            <p:ph idx="1"/>
          </p:nvPr>
        </p:nvSpPr>
        <p:spPr>
          <a:xfrm>
            <a:off x="457200" y="1434852"/>
            <a:ext cx="8229600" cy="3308598"/>
          </a:xfrm>
        </p:spPr>
        <p:txBody>
          <a:bodyPr>
            <a:spAutoFit/>
          </a:bodyPr>
          <a:lstStyle/>
          <a:p>
            <a:r>
              <a:rPr lang="en-US" sz="2000" dirty="0"/>
              <a:t>Social </a:t>
            </a:r>
            <a:r>
              <a:rPr lang="en-US" sz="2000" spc="-300" dirty="0"/>
              <a:t>C R M</a:t>
            </a:r>
          </a:p>
          <a:p>
            <a:pPr lvl="1"/>
            <a:r>
              <a:rPr lang="en-US" sz="2000" dirty="0"/>
              <a:t>Incorporating social networking technologies</a:t>
            </a:r>
          </a:p>
          <a:p>
            <a:pPr lvl="1"/>
            <a:r>
              <a:rPr lang="en-US" sz="2000" dirty="0"/>
              <a:t>Company social networks</a:t>
            </a:r>
          </a:p>
          <a:p>
            <a:pPr lvl="1"/>
            <a:r>
              <a:rPr lang="en-US" sz="2000" dirty="0"/>
              <a:t>Monitor social media activity; social media analytics</a:t>
            </a:r>
          </a:p>
          <a:p>
            <a:pPr lvl="1"/>
            <a:r>
              <a:rPr lang="en-US" sz="2000" dirty="0"/>
              <a:t>Manage social and web-based campaigns</a:t>
            </a:r>
          </a:p>
          <a:p>
            <a:pPr>
              <a:spcBef>
                <a:spcPts val="600"/>
              </a:spcBef>
            </a:pPr>
            <a:r>
              <a:rPr lang="en-US" sz="2000" dirty="0"/>
              <a:t>Business intelligence</a:t>
            </a:r>
          </a:p>
          <a:p>
            <a:pPr lvl="1"/>
            <a:r>
              <a:rPr lang="en-US" sz="2000" dirty="0"/>
              <a:t>Inclusion of </a:t>
            </a:r>
            <a:r>
              <a:rPr lang="en-US" sz="2000" spc="-300" dirty="0"/>
              <a:t>B I</a:t>
            </a:r>
            <a:r>
              <a:rPr lang="en-US" sz="2000" dirty="0"/>
              <a:t> with enterprise applications</a:t>
            </a:r>
          </a:p>
          <a:p>
            <a:pPr lvl="1"/>
            <a:r>
              <a:rPr lang="en-US" sz="2000" dirty="0"/>
              <a:t>Flexible reporting, ad hoc analysis, “what-if” scenarios, digital dashboards, data visualization, AI machine learning</a:t>
            </a:r>
          </a:p>
        </p:txBody>
      </p:sp>
      <p:sp>
        <p:nvSpPr>
          <p:cNvPr id="2" name="Footer Placeholder 1">
            <a:extLst>
              <a:ext uri="{FF2B5EF4-FFF2-40B4-BE49-F238E27FC236}">
                <a16:creationId xmlns:a16="http://schemas.microsoft.com/office/drawing/2014/main" id="{B2892C28-A91F-4F34-9DD5-A9494DFCFFE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525002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0"/>
            <a:ext cx="8229600" cy="984885"/>
          </a:xfrm>
        </p:spPr>
        <p:txBody>
          <a:bodyPr>
            <a:spAutoFit/>
          </a:bodyPr>
          <a:lstStyle/>
          <a:p>
            <a:r>
              <a:rPr lang="en-US" sz="3200" dirty="0"/>
              <a:t>Interactive Session: Technology: </a:t>
            </a:r>
            <a:r>
              <a:rPr lang="en-US" sz="3200" dirty="0" err="1"/>
              <a:t>Versum’s</a:t>
            </a:r>
            <a:r>
              <a:rPr lang="en-US" sz="3200" dirty="0"/>
              <a:t> ERP Transformation</a:t>
            </a:r>
            <a:endParaRPr lang="en-US" sz="1800" spc="-450" dirty="0"/>
          </a:p>
        </p:txBody>
      </p:sp>
      <p:sp>
        <p:nvSpPr>
          <p:cNvPr id="5" name="Content Placeholder 4"/>
          <p:cNvSpPr>
            <a:spLocks noGrp="1"/>
          </p:cNvSpPr>
          <p:nvPr>
            <p:ph idx="1"/>
          </p:nvPr>
        </p:nvSpPr>
        <p:spPr>
          <a:xfrm>
            <a:off x="457200" y="1352550"/>
            <a:ext cx="8229600" cy="3077766"/>
          </a:xfrm>
        </p:spPr>
        <p:txBody>
          <a:bodyPr>
            <a:spAutoFit/>
          </a:bodyPr>
          <a:lstStyle/>
          <a:p>
            <a:r>
              <a:rPr lang="en-US" sz="2000" dirty="0"/>
              <a:t>Class discussion</a:t>
            </a:r>
          </a:p>
          <a:p>
            <a:pPr lvl="1"/>
            <a:r>
              <a:rPr lang="en-US" sz="2000" dirty="0"/>
              <a:t>Define the problem in this case study. What management, organization, and technology factors contributed to this problem?</a:t>
            </a:r>
          </a:p>
          <a:p>
            <a:pPr lvl="1"/>
            <a:r>
              <a:rPr lang="en-US" sz="2000" dirty="0"/>
              <a:t>Was the SAP S/4 HANA SaaS solution a good one for </a:t>
            </a:r>
            <a:r>
              <a:rPr lang="en-US" sz="2000" dirty="0" err="1"/>
              <a:t>Versum</a:t>
            </a:r>
            <a:r>
              <a:rPr lang="en-US" sz="2000" dirty="0"/>
              <a:t>? Explain your answer.</a:t>
            </a:r>
          </a:p>
          <a:p>
            <a:pPr lvl="1"/>
            <a:r>
              <a:rPr lang="en-US" sz="2000" dirty="0"/>
              <a:t>What challenges did </a:t>
            </a:r>
            <a:r>
              <a:rPr lang="en-US" sz="2000" dirty="0" err="1"/>
              <a:t>Versum</a:t>
            </a:r>
            <a:r>
              <a:rPr lang="en-US" sz="2000" dirty="0"/>
              <a:t> encounter implementing the new system?</a:t>
            </a:r>
          </a:p>
          <a:p>
            <a:pPr lvl="1"/>
            <a:r>
              <a:rPr lang="en-US" sz="2000" dirty="0"/>
              <a:t>How did the new system change the way </a:t>
            </a:r>
            <a:r>
              <a:rPr lang="en-US" sz="2000" dirty="0" err="1"/>
              <a:t>Versum</a:t>
            </a:r>
            <a:r>
              <a:rPr lang="en-US" sz="2000" dirty="0"/>
              <a:t> ran its business?</a:t>
            </a:r>
          </a:p>
        </p:txBody>
      </p:sp>
      <p:sp>
        <p:nvSpPr>
          <p:cNvPr id="2" name="Footer Placeholder 1">
            <a:extLst>
              <a:ext uri="{FF2B5EF4-FFF2-40B4-BE49-F238E27FC236}">
                <a16:creationId xmlns:a16="http://schemas.microsoft.com/office/drawing/2014/main" id="{60EBFCC9-6A2B-4D4D-AFD3-A58D6195F2F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623216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248"/>
            <a:ext cx="8229600" cy="553998"/>
          </a:xfrm>
        </p:spPr>
        <p:txBody>
          <a:bodyPr>
            <a:spAutoFit/>
          </a:bodyPr>
          <a:lstStyle/>
          <a:p>
            <a:r>
              <a:rPr lang="en-US" altLang="en-US" dirty="0"/>
              <a:t>How Will </a:t>
            </a:r>
            <a:r>
              <a:rPr lang="en-US" altLang="en-US" spc="-450" dirty="0"/>
              <a:t>M I S</a:t>
            </a:r>
            <a:r>
              <a:rPr lang="en-US" altLang="en-US" dirty="0"/>
              <a:t> Help My Career?</a:t>
            </a:r>
            <a:endParaRPr lang="en-US" sz="2000" spc="-450" dirty="0"/>
          </a:p>
        </p:txBody>
      </p:sp>
      <p:sp>
        <p:nvSpPr>
          <p:cNvPr id="5" name="Content Placeholder 4"/>
          <p:cNvSpPr>
            <a:spLocks noGrp="1"/>
          </p:cNvSpPr>
          <p:nvPr>
            <p:ph idx="1"/>
          </p:nvPr>
        </p:nvSpPr>
        <p:spPr>
          <a:xfrm>
            <a:off x="457200" y="895449"/>
            <a:ext cx="8229600" cy="2616101"/>
          </a:xfrm>
        </p:spPr>
        <p:txBody>
          <a:bodyPr>
            <a:spAutoFit/>
          </a:bodyPr>
          <a:lstStyle/>
          <a:p>
            <a:r>
              <a:rPr lang="en-US" dirty="0"/>
              <a:t>The Company: </a:t>
            </a:r>
            <a:r>
              <a:rPr lang="en-US" spc="-300" dirty="0"/>
              <a:t>X Y </a:t>
            </a:r>
            <a:r>
              <a:rPr lang="en-US" dirty="0"/>
              <a:t>Z Global Industrial Components</a:t>
            </a:r>
          </a:p>
          <a:p>
            <a:r>
              <a:rPr lang="en-US" dirty="0"/>
              <a:t>Position Description: Manufacturing management trainee</a:t>
            </a:r>
          </a:p>
          <a:p>
            <a:r>
              <a:rPr lang="en-US" dirty="0"/>
              <a:t>Job Requirements</a:t>
            </a:r>
          </a:p>
          <a:p>
            <a:r>
              <a:rPr lang="en-US" dirty="0"/>
              <a:t>Interview Questions</a:t>
            </a:r>
          </a:p>
          <a:p>
            <a:r>
              <a:rPr lang="en-US" dirty="0"/>
              <a:t>Author Tips</a:t>
            </a:r>
          </a:p>
        </p:txBody>
      </p:sp>
      <p:sp>
        <p:nvSpPr>
          <p:cNvPr id="2" name="Footer Placeholder 1">
            <a:extLst>
              <a:ext uri="{FF2B5EF4-FFF2-40B4-BE49-F238E27FC236}">
                <a16:creationId xmlns:a16="http://schemas.microsoft.com/office/drawing/2014/main" id="{3D47F89D-9212-4716-A54F-38A730F58DC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7277744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2972" y="61952"/>
            <a:ext cx="8124825" cy="553998"/>
          </a:xfrm>
        </p:spPr>
        <p:txBody>
          <a:bodyPr vert="horz" wrap="square" lIns="0" tIns="0" rIns="0" bIns="0" rtlCol="0" anchor="b" anchorCtr="0">
            <a:spAutoFit/>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73" y="1460109"/>
            <a:ext cx="1277815" cy="1434026"/>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09750" y="994996"/>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
        <p:nvSpPr>
          <p:cNvPr id="3" name="Footer Placeholder 2">
            <a:extLst>
              <a:ext uri="{FF2B5EF4-FFF2-40B4-BE49-F238E27FC236}">
                <a16:creationId xmlns:a16="http://schemas.microsoft.com/office/drawing/2014/main" id="{54E5C04B-193A-4EAD-B891-74EF038F9844}"/>
              </a:ext>
            </a:extLst>
          </p:cNvPr>
          <p:cNvSpPr>
            <a:spLocks noGrp="1"/>
          </p:cNvSpPr>
          <p:nvPr>
            <p:ph type="ft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00316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4736</TotalTime>
  <Words>5130</Words>
  <Application>Microsoft Office PowerPoint</Application>
  <PresentationFormat>On-screen Show (16:9)</PresentationFormat>
  <Paragraphs>441</Paragraphs>
  <Slides>37</Slides>
  <Notes>37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Courier New</vt:lpstr>
      <vt:lpstr>Times New Roman</vt:lpstr>
      <vt:lpstr>Verdana</vt:lpstr>
      <vt:lpstr>Wingdings</vt:lpstr>
      <vt:lpstr>508 Lecture</vt:lpstr>
      <vt:lpstr>Management Information Systems: Managing the Digital Firm</vt:lpstr>
      <vt:lpstr>Learning Objectives</vt:lpstr>
      <vt:lpstr>Video Cases</vt:lpstr>
      <vt:lpstr>Lenzing Sustainably Balances Supply and Demand (1 of 2)</vt:lpstr>
      <vt:lpstr>Lenzing Sustainably Balances Supply and Demand (2 of 2)</vt:lpstr>
      <vt:lpstr>What Are Enterprise Systems</vt:lpstr>
      <vt:lpstr>Figure 9.1 How Enterprise Systems Work</vt:lpstr>
      <vt:lpstr>Enterprise Software</vt:lpstr>
      <vt:lpstr>Business Value of Enterprise Systems</vt:lpstr>
      <vt:lpstr>The Supply Chain</vt:lpstr>
      <vt:lpstr>Figure 9.2 Nike’s Supply Chain</vt:lpstr>
      <vt:lpstr>Supply Chain Management</vt:lpstr>
      <vt:lpstr>Figure 9.3 The Bullwhip Effect</vt:lpstr>
      <vt:lpstr>Supply Chain Management Software</vt:lpstr>
      <vt:lpstr>Global Supply Chains and the Internet</vt:lpstr>
      <vt:lpstr>Demand-Driven Supply Chains: From Push to Pull Manufacturing and Efficient Customer Response</vt:lpstr>
      <vt:lpstr>Figure 9.4 Push- Versus Pull-Based Supply Chain Models</vt:lpstr>
      <vt:lpstr>Figure 9.5 The Emerging Internet-Driven Supply Chain</vt:lpstr>
      <vt:lpstr>Business Value of Supply Chain Management Systems</vt:lpstr>
      <vt:lpstr>Customer Relationship Management</vt:lpstr>
      <vt:lpstr>Figure 9.6 Customer Relationship Management (C R M)</vt:lpstr>
      <vt:lpstr>Customer Relationship Management Software (1 of 2)</vt:lpstr>
      <vt:lpstr>Customer Relationship Management Software (2 of 2)</vt:lpstr>
      <vt:lpstr>Figure 9.7 How C R M Systems Support Marketing</vt:lpstr>
      <vt:lpstr>Figure 9.8 C R M Software Capabilities</vt:lpstr>
      <vt:lpstr>Figure 9.9 Customer Loyalty Management Process Map</vt:lpstr>
      <vt:lpstr>Operational and Analytical C R M</vt:lpstr>
      <vt:lpstr>Figure 9.10 Analytical C R M Data Warehouse</vt:lpstr>
      <vt:lpstr>Business Value of Customer Relationship Management Systems</vt:lpstr>
      <vt:lpstr>Interactive Session: Organizations: CRM Helps Adidas Know Its Customers One Shoe Buyer at a Time (1 of 2)</vt:lpstr>
      <vt:lpstr>Interactive Session: Organizations: CRM Helps Adidas Know Its Customers One Shoe Buyer at a Time (2 of 2)</vt:lpstr>
      <vt:lpstr>Enterprise Application Challenges</vt:lpstr>
      <vt:lpstr>Next-Generation Enterprise Applications (1 of 2)</vt:lpstr>
      <vt:lpstr>Next-Generation Enterprise Applications (2 of 2)</vt:lpstr>
      <vt:lpstr>Interactive Session: Technology: Versum’s ERP Transformation</vt:lpstr>
      <vt:lpstr>How Will M I 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Das, Bedasree</cp:lastModifiedBy>
  <cp:revision>1087</cp:revision>
  <cp:lastPrinted>2020-10-29T22:26:07Z</cp:lastPrinted>
  <dcterms:created xsi:type="dcterms:W3CDTF">2014-07-14T20:04:21Z</dcterms:created>
  <dcterms:modified xsi:type="dcterms:W3CDTF">2021-05-28T11:59:46Z</dcterms:modified>
</cp:coreProperties>
</file>