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506" r:id="rId2"/>
    <p:sldId id="380" r:id="rId3"/>
    <p:sldId id="518" r:id="rId4"/>
    <p:sldId id="516" r:id="rId5"/>
    <p:sldId id="519" r:id="rId6"/>
    <p:sldId id="557" r:id="rId7"/>
    <p:sldId id="521" r:id="rId8"/>
    <p:sldId id="558" r:id="rId9"/>
    <p:sldId id="523" r:id="rId10"/>
    <p:sldId id="559" r:id="rId11"/>
    <p:sldId id="525" r:id="rId12"/>
    <p:sldId id="560" r:id="rId13"/>
    <p:sldId id="527" r:id="rId14"/>
    <p:sldId id="561" r:id="rId15"/>
    <p:sldId id="529" r:id="rId16"/>
    <p:sldId id="530" r:id="rId17"/>
    <p:sldId id="531" r:id="rId18"/>
    <p:sldId id="532" r:id="rId19"/>
    <p:sldId id="533" r:id="rId20"/>
    <p:sldId id="562" r:id="rId21"/>
    <p:sldId id="563" r:id="rId22"/>
    <p:sldId id="564" r:id="rId23"/>
    <p:sldId id="537" r:id="rId24"/>
    <p:sldId id="569" r:id="rId25"/>
    <p:sldId id="544" r:id="rId26"/>
    <p:sldId id="538" r:id="rId27"/>
    <p:sldId id="565" r:id="rId28"/>
    <p:sldId id="540" r:id="rId29"/>
    <p:sldId id="555" r:id="rId30"/>
    <p:sldId id="541" r:id="rId31"/>
    <p:sldId id="542" r:id="rId32"/>
    <p:sldId id="543" r:id="rId33"/>
    <p:sldId id="570" r:id="rId34"/>
    <p:sldId id="566" r:id="rId35"/>
    <p:sldId id="546" r:id="rId36"/>
    <p:sldId id="547" r:id="rId37"/>
    <p:sldId id="548" r:id="rId38"/>
    <p:sldId id="549" r:id="rId39"/>
    <p:sldId id="550" r:id="rId40"/>
    <p:sldId id="551" r:id="rId41"/>
    <p:sldId id="552" r:id="rId42"/>
    <p:sldId id="553" r:id="rId43"/>
    <p:sldId id="554" r:id="rId44"/>
    <p:sldId id="556" r:id="rId45"/>
    <p:sldId id="514" r:id="rId46"/>
  </p:sldIdLst>
  <p:sldSz cx="9144000" cy="5143500" type="screen16x9"/>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313"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8" autoAdjust="0"/>
    <p:restoredTop sz="84859" autoAdjust="0"/>
  </p:normalViewPr>
  <p:slideViewPr>
    <p:cSldViewPr>
      <p:cViewPr varScale="1">
        <p:scale>
          <a:sx n="81" d="100"/>
          <a:sy n="81" d="100"/>
        </p:scale>
        <p:origin x="864" y="90"/>
      </p:cViewPr>
      <p:guideLst>
        <p:guide orient="horz" pos="1620"/>
        <p:guide pos="2880"/>
        <p:guide orient="horz" pos="313"/>
        <p:guide orient="horz" pos="432"/>
        <p:guide orient="horz" pos="3024"/>
        <p:guide orient="horz" pos="792"/>
        <p:guide pos="288"/>
        <p:guide pos="5472"/>
        <p:guide orient="horz" pos="648"/>
        <p:guide orient="horz" pos="900"/>
        <p:guide orient="horz" pos="115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t>This chapter discusses the role of databases for managing a firm</a:t>
            </a:r>
            <a:r>
              <a:rPr lang="en-US" altLang="ja-JP" dirty="0"/>
              <a:t>’s data and providing the foundation for business intelligence. Ask students to describe any databases they have encountered or used at work or in their personal use on the web. For example, Google and Amazon are database-driven websites, as are travel reservation websites, and Facebook. Ask students why these sites are driven by databases—what is it about databases that makes the creation and use of these sites more efficient?</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a hierarchy of data that is used to store information in a database, progressing from the database as the top-level holder of information down through the field, which stores information about an entity</a:t>
            </a:r>
            <a:r>
              <a:rPr lang="en-US" altLang="ja-JP" dirty="0"/>
              <a:t>’s attribute. This hierarchy is illustrated by the graphic on the next slide. Ask students to come up with some other entities that might be found in a university database (Student, Professor, etc.). What attributes (characteristics) would be important to store in the database?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562600" cy="4341813"/>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6.1,</a:t>
            </a:r>
            <a:r>
              <a:rPr lang="en-US" altLang="en-US" baseline="0" dirty="0"/>
              <a:t> Page 214.</a:t>
            </a:r>
          </a:p>
          <a:p>
            <a:r>
              <a:rPr lang="en-US" sz="1200" b="0" i="1" u="none" strike="noStrike" kern="1200" cap="none" baseline="0" dirty="0">
                <a:solidFill>
                  <a:schemeClr val="tx1"/>
                </a:solidFill>
                <a:latin typeface="+mn-lt"/>
                <a:ea typeface="Arial"/>
                <a:cs typeface="Arial"/>
                <a:sym typeface="Arial"/>
              </a:rPr>
              <a:t>A computer system organizes data in a hierarchy that starts with the bit, which represents either a 0 or a 1. Bits can be grouped to form a byte to represent one character, number, or symbol. Bytes can be grouped to form a field, and related fields can be grouped to form a record. Related records can be collected to form a file, and related files can be organized into a database.</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hierarchy of data found in a database. It shows the student course file grouped with files on students</a:t>
            </a:r>
            <a:r>
              <a:rPr lang="ja-JP" altLang="en-US" dirty="0"/>
              <a:t>’</a:t>
            </a:r>
            <a:r>
              <a:rPr lang="en-US" altLang="ja-JP" dirty="0"/>
              <a:t> personal information and financial information that form the student database. It illustrates what data is found at each hierarchical level, from the database level down. Making up the smallest information unit, the field, are smaller units of data, common to all applications: bits and bytes. A bit stores a single binary digit, 0 or 1, and a byte stores a group of digits to represent a single character, number, or other symbol.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a:lnSpc>
                <a:spcPct val="115000"/>
              </a:lnSpc>
              <a:spcBef>
                <a:spcPts val="0"/>
              </a:spcBef>
              <a:spcAft>
                <a:spcPts val="0"/>
              </a:spcAft>
            </a:pPr>
            <a:r>
              <a:rPr lang="en-US" altLang="ja-JP" sz="1100" u="sng" dirty="0"/>
              <a:t>Alt Text</a:t>
            </a:r>
          </a:p>
          <a:p>
            <a:pPr marL="0" marR="0">
              <a:lnSpc>
                <a:spcPct val="115000"/>
              </a:lnSpc>
              <a:spcBef>
                <a:spcPts val="0"/>
              </a:spcBef>
              <a:spcAft>
                <a:spcPts val="0"/>
              </a:spcAft>
            </a:pPr>
            <a:r>
              <a:rPr lang="en-US" altLang="ja-JP" sz="1100" dirty="0"/>
              <a:t>Long description:</a:t>
            </a:r>
            <a:r>
              <a:rPr lang="en-US" altLang="ja-JP" sz="1100" baseline="0" dirty="0"/>
              <a:t> An illustration shows the hierarchy of a student database. </a:t>
            </a:r>
            <a:r>
              <a:rPr lang="en-US" sz="1100" dirty="0">
                <a:solidFill>
                  <a:srgbClr val="000000"/>
                </a:solidFill>
                <a:effectLst/>
                <a:ea typeface="Times New Roman" panose="02020603050405020304" pitchFamily="18" charset="0"/>
                <a:cs typeface="Calibri" panose="020F0502020204030204" pitchFamily="34" charset="0"/>
              </a:rPr>
              <a:t>The hierarchy of the database is as follows: </a:t>
            </a:r>
            <a:endParaRPr lang="en-US" sz="1100" dirty="0">
              <a:solidFill>
                <a:srgbClr val="000000"/>
              </a:solidFill>
              <a:effectLs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Level 1 is database which includes: Course file, financial file, and personal file. </a:t>
            </a:r>
            <a:endParaRPr lang="en-US" sz="11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Level 2 is file in which course is selected in the illustration. It has details of student ID, course, date, and grade. </a:t>
            </a:r>
            <a:endParaRPr lang="en-US" sz="1100" dirty="0">
              <a:effectLs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ea typeface="Calibri" panose="020F0502020204030204" pitchFamily="34" charset="0"/>
                <a:cs typeface="Calibri" panose="020F0502020204030204" pitchFamily="34" charset="0"/>
              </a:rPr>
              <a:t>Student ID: 39044; course, IS 101; Date, F20; Grade, B plus</a:t>
            </a:r>
            <a:endParaRPr lang="en-US" sz="1100" dirty="0">
              <a:effectLs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ea typeface="Calibri" panose="020F0502020204030204" pitchFamily="34" charset="0"/>
                <a:cs typeface="Calibri" panose="020F0502020204030204" pitchFamily="34" charset="0"/>
              </a:rPr>
              <a:t>Student ID: 59432; course, IS 101; Date, F20; Grade, A </a:t>
            </a:r>
            <a:endParaRPr lang="en-US" sz="1100" dirty="0">
              <a:effectLs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ea typeface="Calibri" panose="020F0502020204030204" pitchFamily="34" charset="0"/>
                <a:cs typeface="Calibri" panose="020F0502020204030204" pitchFamily="34" charset="0"/>
              </a:rPr>
              <a:t>Student ID: 64029; course, IS 101; Date, F20; Grade, C. </a:t>
            </a:r>
            <a:endParaRPr lang="en-US" sz="11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Level 3 is the record and includes the following details:</a:t>
            </a:r>
            <a:endParaRPr lang="en-US" sz="1100" dirty="0">
              <a:effectLs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100" dirty="0">
                <a:effectLst/>
                <a:ea typeface="Calibri" panose="020F0502020204030204" pitchFamily="34" charset="0"/>
                <a:cs typeface="Calibri" panose="020F0502020204030204" pitchFamily="34" charset="0"/>
              </a:rPr>
              <a:t>Student ID: 39044; course, IS 101; Date, F20; Grade, B plus. </a:t>
            </a:r>
            <a:endParaRPr lang="en-US" sz="11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Level 4 is the field. Here IS 101 is the course field. </a:t>
            </a:r>
            <a:endParaRPr lang="en-US" sz="11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cs typeface="Calibri" panose="020F0502020204030204" pitchFamily="34" charset="0"/>
              </a:rPr>
              <a:t>Level 5 is the Byte: 0100 1001; Letter I in ASCII. </a:t>
            </a:r>
          </a:p>
          <a:p>
            <a:pPr marL="171450" marR="0" lvl="0" indent="-171450">
              <a:lnSpc>
                <a:spcPct val="115000"/>
              </a:lnSpc>
              <a:spcBef>
                <a:spcPts val="0"/>
              </a:spcBef>
              <a:spcAft>
                <a:spcPts val="0"/>
              </a:spcAft>
              <a:buFont typeface="Arial" panose="020B0604020202020204" pitchFamily="34" charset="0"/>
              <a:buChar char="•"/>
            </a:pPr>
            <a:r>
              <a:rPr lang="en-US" sz="1100" dirty="0">
                <a:solidFill>
                  <a:srgbClr val="000000"/>
                </a:solidFill>
                <a:effectLst/>
                <a:ea typeface="Times New Roman" panose="02020603050405020304" pitchFamily="18" charset="0"/>
              </a:rPr>
              <a:t>Level 6 is the Bit: 0.</a:t>
            </a:r>
            <a:endParaRPr lang="en-US" sz="11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the problems in data management that occur in a traditional file environment. In a traditional file environment, different functions in the business (accounting, finance, HR, etc.) maintained their own separate files and databases. </a:t>
            </a:r>
          </a:p>
          <a:p>
            <a:pPr eaLnBrk="1" hangingPunct="1"/>
            <a:endParaRPr lang="en-US" altLang="en-US" dirty="0"/>
          </a:p>
          <a:p>
            <a:pPr eaLnBrk="1" hangingPunct="1"/>
            <a:r>
              <a:rPr lang="en-US" altLang="en-US" dirty="0"/>
              <a:t>Ask students to describe further why data redundancy and inconsistency pose problems? What kinds of problems happen when data is redundant or inconsistent. Ask students to give an example of program-data dependence. What makes the traditional file environment inflexible?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715000" cy="4114800"/>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Figure 6.2,</a:t>
            </a:r>
            <a:r>
              <a:rPr lang="en-US" altLang="en-US" sz="1100" baseline="0" dirty="0"/>
              <a:t> Page 215.</a:t>
            </a:r>
          </a:p>
          <a:p>
            <a:r>
              <a:rPr lang="en-US" sz="1100" b="0" i="1" u="none" strike="noStrike" kern="1200" cap="none" baseline="0" dirty="0">
                <a:solidFill>
                  <a:schemeClr val="tx1"/>
                </a:solidFill>
                <a:ea typeface="Arial"/>
                <a:cs typeface="Arial"/>
                <a:sym typeface="Arial"/>
              </a:rPr>
              <a:t>The use of a traditional approach to file processing encourages each functional area in a corporation to develop specialized applications. Each application requires a unique data file that is likely to be a subset of the master file. These subsets of the master file lead to data redundancy and inconsistency, processing inflexibility, and wasted storage resources.</a:t>
            </a:r>
          </a:p>
          <a:p>
            <a:endParaRPr lang="en-US" altLang="en-US" sz="11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This graphic illustrates a traditional environment, in which different business functions maintain separate data and applications to store and access that data. Ask students what kinds of data might be shared between accounting/finance and HR. What about between sales and marketing and manufacturing?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100" dirty="0"/>
          </a:p>
          <a:p>
            <a:pPr marL="0" marR="0">
              <a:lnSpc>
                <a:spcPct val="115000"/>
              </a:lnSpc>
              <a:spcBef>
                <a:spcPts val="0"/>
              </a:spcBef>
              <a:spcAft>
                <a:spcPts val="0"/>
              </a:spcAft>
            </a:pPr>
            <a:r>
              <a:rPr lang="en-US" altLang="en-US" sz="1100" u="sng" dirty="0"/>
              <a:t>Alt Text</a:t>
            </a:r>
          </a:p>
          <a:p>
            <a:pPr marL="0" marR="0">
              <a:lnSpc>
                <a:spcPct val="115000"/>
              </a:lnSpc>
              <a:spcBef>
                <a:spcPts val="0"/>
              </a:spcBef>
              <a:spcAft>
                <a:spcPts val="0"/>
              </a:spcAft>
            </a:pPr>
            <a:r>
              <a:rPr lang="en-US" altLang="en-US" sz="1100" dirty="0"/>
              <a:t>Long</a:t>
            </a:r>
            <a:r>
              <a:rPr lang="en-US" altLang="en-US" sz="1100" baseline="0" dirty="0"/>
              <a:t> description: An illustration explains the concept of traditional file sharing. </a:t>
            </a:r>
            <a:r>
              <a:rPr lang="en-US" sz="1100" dirty="0">
                <a:solidFill>
                  <a:srgbClr val="000000"/>
                </a:solidFill>
                <a:effectLst/>
                <a:ea typeface="Times New Roman" panose="02020603050405020304" pitchFamily="18" charset="0"/>
              </a:rPr>
              <a:t>The details are as follows: </a:t>
            </a:r>
          </a:p>
          <a:p>
            <a:pPr marL="0" marR="0">
              <a:lnSpc>
                <a:spcPct val="115000"/>
              </a:lnSpc>
              <a:spcBef>
                <a:spcPts val="0"/>
              </a:spcBef>
              <a:spcAft>
                <a:spcPts val="0"/>
              </a:spcAft>
            </a:pPr>
            <a:r>
              <a:rPr lang="en-US" sz="1100" dirty="0">
                <a:solidFill>
                  <a:srgbClr val="000000"/>
                </a:solidFill>
                <a:effectLst/>
                <a:ea typeface="Times New Roman" panose="02020603050405020304" pitchFamily="18" charset="0"/>
              </a:rPr>
              <a:t>A master file with data elements A to Z is displayed in the illustration. </a:t>
            </a:r>
          </a:p>
          <a:p>
            <a:pPr marL="0" marR="0">
              <a:lnSpc>
                <a:spcPct val="115000"/>
              </a:lnSpc>
              <a:spcBef>
                <a:spcPts val="0"/>
              </a:spcBef>
              <a:spcAft>
                <a:spcPts val="0"/>
              </a:spcAft>
            </a:pPr>
            <a:r>
              <a:rPr lang="en-US" sz="1100" dirty="0">
                <a:solidFill>
                  <a:srgbClr val="000000"/>
                </a:solidFill>
                <a:effectLst/>
                <a:ea typeface="Times New Roman" panose="02020603050405020304" pitchFamily="18" charset="0"/>
              </a:rPr>
              <a:t>Through various departments, users, and application programs a linear flow is depicted to the derivate files. The corresponding details are as below: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Accounting and finance: Users, application program 1, derivative files (A, B, C, and D). </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Human Resources: Users, application program 2, derivative files (A, B, D, and E).</a:t>
            </a:r>
          </a:p>
          <a:p>
            <a:pPr marL="171450" marR="0" lvl="0" indent="-17145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Sales and Marketing: Users, application program 2, derivative files (A, B, E, and G).</a:t>
            </a:r>
          </a:p>
          <a:p>
            <a:pPr marL="171450" marR="0" lvl="0" indent="-171450">
              <a:lnSpc>
                <a:spcPct val="115000"/>
              </a:lnSpc>
              <a:spcBef>
                <a:spcPts val="0"/>
              </a:spcBef>
              <a:spcAft>
                <a:spcPts val="0"/>
              </a:spcAft>
              <a:buFont typeface="Arial" panose="020B0604020202020204" pitchFamily="34" charset="0"/>
              <a:buChar char="•"/>
            </a:pPr>
            <a:r>
              <a:rPr lang="en-US" sz="1100" dirty="0">
                <a:solidFill>
                  <a:srgbClr val="000000"/>
                </a:solidFill>
                <a:effectLst/>
                <a:ea typeface="Times New Roman" panose="02020603050405020304" pitchFamily="18" charset="0"/>
              </a:rPr>
              <a:t>Manufacturing: Users, application program 2, derivative files (A, E, F, and G).</a:t>
            </a:r>
            <a:endParaRPr lang="en-US" sz="11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defines and describes databases and DBMS. Ask students to explain what the difference is between a database and a DBMS. What is the physical view of data? What is the logical view of data?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8"/>
            <a:ext cx="5562600" cy="44958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latin typeface="+mn-lt"/>
              </a:rPr>
              <a:t>Figure 6.3,</a:t>
            </a:r>
            <a:r>
              <a:rPr lang="en-US" altLang="en-US" sz="1000" baseline="0" dirty="0">
                <a:latin typeface="+mn-lt"/>
              </a:rPr>
              <a:t> Page 217.</a:t>
            </a:r>
          </a:p>
          <a:p>
            <a:r>
              <a:rPr lang="en-US" sz="1000" b="0" i="1" u="none" strike="noStrike" kern="1200" cap="none" baseline="0" dirty="0">
                <a:solidFill>
                  <a:schemeClr val="tx1"/>
                </a:solidFill>
                <a:latin typeface="+mn-lt"/>
                <a:ea typeface="Arial"/>
                <a:cs typeface="Arial"/>
                <a:sym typeface="Arial"/>
              </a:rPr>
              <a:t>A single human resources database provides many different views of data, depending on the information requirements of the user. Illustrated here are two possible views, one of interest to a benefits specialist and one of interest to a member of the company’s payroll department.</a:t>
            </a:r>
          </a:p>
          <a:p>
            <a:endParaRPr lang="en-US" altLang="en-US" sz="10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latin typeface="+mn-lt"/>
              </a:rPr>
              <a:t>This graphic illustrates what is meant by providing different logical views of data. The orange rectangles represent two different views in an HR database, one for reviewing employee benefits, the other for accessing payroll records. The students can think of the cylinder as the physical view, which shows how the data are actually organized and stored on the physical media. The physical data do not change, but a DBMS can create many different logical views to suit different needs of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000" u="sng" dirty="0">
              <a:latin typeface="+mn-lt"/>
            </a:endParaRPr>
          </a:p>
          <a:p>
            <a:pPr marL="0" marR="0">
              <a:lnSpc>
                <a:spcPct val="115000"/>
              </a:lnSpc>
              <a:spcBef>
                <a:spcPts val="0"/>
              </a:spcBef>
              <a:spcAft>
                <a:spcPts val="0"/>
              </a:spcAft>
            </a:pPr>
            <a:r>
              <a:rPr lang="en-US" altLang="en-US" sz="900" u="sng" dirty="0">
                <a:latin typeface="+mn-lt"/>
              </a:rPr>
              <a:t>Alt Text</a:t>
            </a:r>
          </a:p>
          <a:p>
            <a:pPr marL="0" marR="0">
              <a:lnSpc>
                <a:spcPct val="115000"/>
              </a:lnSpc>
              <a:spcBef>
                <a:spcPts val="0"/>
              </a:spcBef>
              <a:spcAft>
                <a:spcPts val="0"/>
              </a:spcAft>
            </a:pPr>
            <a:r>
              <a:rPr lang="en-US" altLang="en-US" sz="900" dirty="0">
                <a:latin typeface="+mn-lt"/>
              </a:rPr>
              <a:t>Long description: A flow diagram illustrates the payroll view and benefits view of a human resources database. </a:t>
            </a:r>
            <a:r>
              <a:rPr lang="en-US" sz="900" dirty="0">
                <a:solidFill>
                  <a:srgbClr val="000000"/>
                </a:solidFill>
                <a:effectLst/>
                <a:latin typeface="+mn-lt"/>
                <a:ea typeface="Times New Roman" panose="02020603050405020304" pitchFamily="18" charset="0"/>
              </a:rPr>
              <a:t>The human resource database comprising the below listed details is connected to the database management system through a bi-directional arrow: </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Employee ID</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Name</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SSN</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Position</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Date Hired</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Gross Pay</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Net Pay</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Life Insurance</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Pension Benefit</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Health Care</a:t>
            </a:r>
          </a:p>
          <a:p>
            <a:pPr marL="0" marR="0">
              <a:lnSpc>
                <a:spcPct val="115000"/>
              </a:lnSpc>
              <a:spcBef>
                <a:spcPts val="0"/>
              </a:spcBef>
              <a:spcAft>
                <a:spcPts val="0"/>
              </a:spcAft>
            </a:pPr>
            <a:r>
              <a:rPr lang="en-US" sz="900" dirty="0">
                <a:solidFill>
                  <a:srgbClr val="000000"/>
                </a:solidFill>
                <a:effectLst/>
                <a:latin typeface="+mn-lt"/>
                <a:ea typeface="Times New Roman" panose="02020603050405020304" pitchFamily="18" charset="0"/>
              </a:rPr>
              <a:t>The database management system diverges into benefits view and payroll view. </a:t>
            </a:r>
          </a:p>
          <a:p>
            <a:pPr marL="285750" marR="0" lvl="0" indent="-285750">
              <a:lnSpc>
                <a:spcPct val="115000"/>
              </a:lnSpc>
              <a:spcBef>
                <a:spcPts val="0"/>
              </a:spcBef>
              <a:spcAft>
                <a:spcPts val="0"/>
              </a:spcAft>
              <a:buFont typeface="Arial" panose="020B0604020202020204" pitchFamily="34" charset="0"/>
              <a:buChar char="•"/>
            </a:pPr>
            <a:r>
              <a:rPr lang="en-US" sz="900" dirty="0">
                <a:effectLst/>
                <a:latin typeface="+mn-lt"/>
                <a:ea typeface="Calibri" panose="020F0502020204030204" pitchFamily="34" charset="0"/>
              </a:rPr>
              <a:t>Benefits view comprises of the name, SSN, and health care details</a:t>
            </a:r>
          </a:p>
          <a:p>
            <a:pPr marL="285750" marR="0" lvl="0" indent="-285750">
              <a:lnSpc>
                <a:spcPct val="115000"/>
              </a:lnSpc>
              <a:spcBef>
                <a:spcPts val="0"/>
              </a:spcBef>
              <a:spcAft>
                <a:spcPts val="0"/>
              </a:spcAft>
              <a:buFont typeface="Arial" panose="020B0604020202020204" pitchFamily="34" charset="0"/>
              <a:buChar char="•"/>
            </a:pPr>
            <a:r>
              <a:rPr lang="en-US" sz="900" dirty="0">
                <a:solidFill>
                  <a:srgbClr val="000000"/>
                </a:solidFill>
                <a:effectLst/>
                <a:latin typeface="+mn-lt"/>
                <a:ea typeface="Times New Roman" panose="02020603050405020304" pitchFamily="18" charset="0"/>
              </a:rPr>
              <a:t>Payroll view comprises of the name, SSN, gross pay, and net pay details.</a:t>
            </a:r>
            <a:endParaRPr lang="en-US" sz="9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most common type of DBMS in use with PCs, servers, and mainframes today, the relational database. Ask students why these DBMS are called relational. Ask students for examples of RDBMS software popular today and if they have every used any of this software. You can walk students through an example database that you have prepared in Access or use one of the exercise data tables found at the end of the chapter. Identify rows, fields, and primary key.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Figure 6.4,</a:t>
            </a:r>
            <a:r>
              <a:rPr lang="en-US" altLang="en-US" sz="1000" baseline="0" dirty="0"/>
              <a:t> Page 219.</a:t>
            </a:r>
          </a:p>
          <a:p>
            <a:r>
              <a:rPr lang="en-US" sz="1000" b="0" i="1" u="none" strike="noStrike" kern="1200" cap="none" baseline="0" dirty="0">
                <a:solidFill>
                  <a:schemeClr val="tx1"/>
                </a:solidFill>
                <a:ea typeface="Arial"/>
                <a:cs typeface="Arial"/>
                <a:sym typeface="Arial"/>
              </a:rPr>
              <a:t>A relational database organizes data in the form of two-dimensional tables. Illustrated here are tables for the entities SUPPLIER and PART showing how they represent each entity and its attributes. </a:t>
            </a:r>
            <a:r>
              <a:rPr lang="en-US" sz="1000" b="0" i="1" u="none" strike="noStrike" kern="1200" cap="none" baseline="0" dirty="0" err="1">
                <a:solidFill>
                  <a:schemeClr val="tx1"/>
                </a:solidFill>
                <a:ea typeface="Arial"/>
                <a:cs typeface="Arial"/>
                <a:sym typeface="Arial"/>
              </a:rPr>
              <a:t>Supplier_Number</a:t>
            </a:r>
            <a:r>
              <a:rPr lang="en-US" sz="1000" b="0" i="1" u="none" strike="noStrike" kern="1200" cap="none" baseline="0" dirty="0">
                <a:solidFill>
                  <a:schemeClr val="tx1"/>
                </a:solidFill>
                <a:ea typeface="Arial"/>
                <a:cs typeface="Arial"/>
                <a:sym typeface="Arial"/>
              </a:rPr>
              <a:t> is a primary key for the SUPPLIER table and a foreign key for the PART table.</a:t>
            </a:r>
          </a:p>
          <a:p>
            <a:endParaRPr lang="en-US" altLang="en-US" sz="10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The graphic on this slide illustrates two tables in a relational DBMS. Ask students what the entity on this slide and the next are. The key field in the Supplier table is the Supplier number. What is the purpose of the key field?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700" dirty="0"/>
          </a:p>
          <a:p>
            <a:pPr marL="0" marR="0">
              <a:lnSpc>
                <a:spcPct val="115000"/>
              </a:lnSpc>
              <a:spcBef>
                <a:spcPts val="0"/>
              </a:spcBef>
              <a:spcAft>
                <a:spcPts val="0"/>
              </a:spcAft>
            </a:pPr>
            <a:r>
              <a:rPr lang="en-US" altLang="en-US" sz="700" u="sng" dirty="0"/>
              <a:t>Alt Text</a:t>
            </a:r>
          </a:p>
          <a:p>
            <a:pPr marL="0" marR="0">
              <a:lnSpc>
                <a:spcPct val="115000"/>
              </a:lnSpc>
              <a:spcBef>
                <a:spcPts val="0"/>
              </a:spcBef>
              <a:spcAft>
                <a:spcPts val="0"/>
              </a:spcAft>
            </a:pPr>
            <a:r>
              <a:rPr lang="en-US" altLang="en-US" sz="700" dirty="0"/>
              <a:t>Long description: Two relational database tables with sample data for entities Supplier and Part. </a:t>
            </a:r>
            <a:r>
              <a:rPr lang="en-US" sz="700" dirty="0">
                <a:solidFill>
                  <a:srgbClr val="000000"/>
                </a:solidFill>
                <a:effectLst/>
                <a:ea typeface="Times New Roman" panose="02020603050405020304" pitchFamily="18" charset="0"/>
              </a:rPr>
              <a:t>The database table for supplier has 6 columns and 5 rows. The columns represent the attributes or fields, whereas the rows represent the records and tuples.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column headings along with the sample data are summarized below:</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8259; Supplier name: CBM Inc.; Supplier street: 74 5</a:t>
            </a:r>
            <a:r>
              <a:rPr lang="en-US" sz="700" baseline="30000" dirty="0">
                <a:effectLst/>
                <a:ea typeface="Calibri" panose="020F0502020204030204" pitchFamily="34" charset="0"/>
              </a:rPr>
              <a:t>th</a:t>
            </a:r>
            <a:r>
              <a:rPr lang="en-US" sz="700" dirty="0">
                <a:effectLst/>
                <a:ea typeface="Calibri" panose="020F0502020204030204" pitchFamily="34" charset="0"/>
              </a:rPr>
              <a:t> avenue; Supplier city: Dayton; Supplier state: Ohio; Supplier Zip: 45220. </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8261; Supplier name: B.R Molds.; Supplier street: 1277 </a:t>
            </a:r>
            <a:r>
              <a:rPr lang="en-US" sz="700" dirty="0" err="1">
                <a:effectLst/>
                <a:ea typeface="Calibri" panose="020F0502020204030204" pitchFamily="34" charset="0"/>
              </a:rPr>
              <a:t>Gandolly</a:t>
            </a:r>
            <a:r>
              <a:rPr lang="en-US" sz="700" dirty="0">
                <a:effectLst/>
                <a:ea typeface="Calibri" panose="020F0502020204030204" pitchFamily="34" charset="0"/>
              </a:rPr>
              <a:t> street; Supplier city: Cleveland; Supplier state: Ohio; Supplier Zip: 49345. </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8263; Supplier name: Jackson composites; Supplier street: 8233 </a:t>
            </a:r>
            <a:r>
              <a:rPr lang="en-US" sz="700" dirty="0" err="1">
                <a:effectLst/>
                <a:ea typeface="Calibri" panose="020F0502020204030204" pitchFamily="34" charset="0"/>
              </a:rPr>
              <a:t>Micklin</a:t>
            </a:r>
            <a:r>
              <a:rPr lang="en-US" sz="700" dirty="0">
                <a:effectLst/>
                <a:ea typeface="Calibri" panose="020F0502020204030204" pitchFamily="34" charset="0"/>
              </a:rPr>
              <a:t> street; Supplier city: Lexington; Supplier state: Kentucky; Supplier Zip: 56723. </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8444; Supplier name: Bryant Corporation; Supplier street: 4315 Mill drive; Supplier city: Rochester; Supplier state: New York; Supplier Zip: 11344.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primary key or key field in the above database table is the supplier number. </a:t>
            </a:r>
          </a:p>
          <a:p>
            <a:pPr marL="0" marR="0">
              <a:lnSpc>
                <a:spcPct val="115000"/>
              </a:lnSpc>
              <a:spcBef>
                <a:spcPts val="0"/>
              </a:spcBef>
              <a:spcAft>
                <a:spcPts val="0"/>
              </a:spcAft>
            </a:pPr>
            <a:endParaRPr lang="en-US" sz="7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database table for part has 4 columns and 6 rows. The column headings along with the sample data are summarized below:</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137; Part name: Door latch; Unit price: 22.00; Supplier number: 8259</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145; Part name: Side mirror; Unit price: 12.00; Supplier number: 8444</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150; Part name: Door molding; Unit price: 6.00; Supplier number: 8263</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152; Part name: Door lock; Unit price: 31.00; Supplier number: 8259</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155; Part name: Compressor; Unit price: 54.00; Supplier number: 8261</a:t>
            </a:r>
          </a:p>
          <a:p>
            <a:pPr marL="457200" marR="0" lvl="0" indent="-45720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170; Part name: Door handle; Unit price: 10.00; Supplier number: 8259.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primary key in the above table is the part number and the foreign key is the supplier number.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how information is retrieved from a relational database. These operations (SELECT, JOIN, PROJECT) are like programming statements and are used by DBMS developers. For example, looking at the last two slides showing the Supplier and Parts table, you would use what kind of an operation to show the Parts records along with the appropriate supplier</a:t>
            </a:r>
            <a:r>
              <a:rPr lang="en-US" altLang="ja-JP" dirty="0"/>
              <a:t>'s name? Access has wizards for these commands.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8"/>
            <a:ext cx="5410200" cy="46482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dirty="0"/>
              <a:t>Figure 6.5,</a:t>
            </a:r>
            <a:r>
              <a:rPr lang="en-US" altLang="en-US" sz="800" baseline="0" dirty="0"/>
              <a:t> Page 220.</a:t>
            </a:r>
          </a:p>
          <a:p>
            <a:r>
              <a:rPr lang="en-US" sz="800" b="0" i="1" u="none" strike="noStrike" kern="1200" cap="none" baseline="0" dirty="0">
                <a:solidFill>
                  <a:schemeClr val="tx1"/>
                </a:solidFill>
                <a:ea typeface="Arial"/>
                <a:cs typeface="Arial"/>
                <a:sym typeface="Arial"/>
              </a:rPr>
              <a:t>The select, join, and project operations enable data from two different tables to be combined and only selected attributes to be displayed.</a:t>
            </a:r>
          </a:p>
          <a:p>
            <a:endParaRPr lang="en-US" altLang="en-US" sz="8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dirty="0"/>
              <a:t>This graphic illustrates the result from combining the SELECT, JOIN, and PROJECT operations to create a subset of data. The SELECT operation retrieves just those parts in the PART table whose part number is 137 or 150. The JOIN operation uses the foreign key of the Supplier Number provided by the PART table to locate supplier data from the Supplier Table for just those records selected in the SELECT operation. Finally, the PROJECT operation limits the columns to be shown to be simply the part number, part name, supplier number, and supplier name (orange rectangle).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800" dirty="0"/>
          </a:p>
          <a:p>
            <a:pPr marL="0" marR="0">
              <a:lnSpc>
                <a:spcPct val="115000"/>
              </a:lnSpc>
              <a:spcBef>
                <a:spcPts val="0"/>
              </a:spcBef>
              <a:spcAft>
                <a:spcPts val="0"/>
              </a:spcAft>
            </a:pPr>
            <a:r>
              <a:rPr lang="en-US" altLang="en-US" sz="700" u="sng" dirty="0"/>
              <a:t>Alt Text</a:t>
            </a:r>
          </a:p>
          <a:p>
            <a:pPr marL="0" marR="0">
              <a:lnSpc>
                <a:spcPct val="115000"/>
              </a:lnSpc>
              <a:spcBef>
                <a:spcPts val="0"/>
              </a:spcBef>
              <a:spcAft>
                <a:spcPts val="0"/>
              </a:spcAft>
            </a:pPr>
            <a:r>
              <a:rPr lang="en-US" altLang="en-US" sz="700" dirty="0"/>
              <a:t>Long</a:t>
            </a:r>
            <a:r>
              <a:rPr lang="en-US" altLang="en-US" sz="700" baseline="0" dirty="0"/>
              <a:t> description: Three tables illustrate the basic operations of a relational DBMS. </a:t>
            </a:r>
            <a:r>
              <a:rPr lang="en-US" sz="700" dirty="0">
                <a:solidFill>
                  <a:srgbClr val="000000"/>
                </a:solidFill>
                <a:effectLst/>
                <a:ea typeface="Times New Roman" panose="02020603050405020304" pitchFamily="18" charset="0"/>
              </a:rPr>
              <a:t>The database table for supplier has 6 columns and 5 rows. The columns represent the attributes or fields, whereas the rows represent the records and tuples.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column headings along with the sample data are summarized below:</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8259; Supplier name: CBM Inc.; Supplier street: 74 5</a:t>
            </a:r>
            <a:r>
              <a:rPr lang="en-US" sz="700" baseline="30000" dirty="0">
                <a:effectLst/>
                <a:ea typeface="Calibri" panose="020F0502020204030204" pitchFamily="34" charset="0"/>
              </a:rPr>
              <a:t>th</a:t>
            </a:r>
            <a:r>
              <a:rPr lang="en-US" sz="700" dirty="0">
                <a:effectLst/>
                <a:ea typeface="Calibri" panose="020F0502020204030204" pitchFamily="34" charset="0"/>
              </a:rPr>
              <a:t> avenue; Supplier city: Dayton; Supplier state: Ohio; Supplier Zip: 45220. </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8261; Supplier name: B.R Molds.; Supplier street: 1277 </a:t>
            </a:r>
            <a:r>
              <a:rPr lang="en-US" sz="700" dirty="0" err="1">
                <a:effectLst/>
                <a:ea typeface="Calibri" panose="020F0502020204030204" pitchFamily="34" charset="0"/>
              </a:rPr>
              <a:t>Gandolly</a:t>
            </a:r>
            <a:r>
              <a:rPr lang="en-US" sz="700" dirty="0">
                <a:effectLst/>
                <a:ea typeface="Calibri" panose="020F0502020204030204" pitchFamily="34" charset="0"/>
              </a:rPr>
              <a:t> street; Supplier city: Cleveland; Supplier state: Ohio; Supplier Zip: 49345. </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8263; Supplier name: Jackson composites; Supplier street: 8233 </a:t>
            </a:r>
            <a:r>
              <a:rPr lang="en-US" sz="700" dirty="0" err="1">
                <a:effectLst/>
                <a:ea typeface="Calibri" panose="020F0502020204030204" pitchFamily="34" charset="0"/>
              </a:rPr>
              <a:t>Micklin</a:t>
            </a:r>
            <a:r>
              <a:rPr lang="en-US" sz="700" dirty="0">
                <a:effectLst/>
                <a:ea typeface="Calibri" panose="020F0502020204030204" pitchFamily="34" charset="0"/>
              </a:rPr>
              <a:t> street; Supplier city: Lexington; Supplier state: Kentucky; Supplier Zip: 56723. </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Supplier number: 8444; Supplier name: Bryant Corporation; Supplier street: 4315 Mill drive; Supplier city: Rochester; Supplier state: New York; Supplier Zip: 11344.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primary key or key field in the above database table is the supplier number. </a:t>
            </a:r>
          </a:p>
          <a:p>
            <a:pPr marL="0" marR="0">
              <a:lnSpc>
                <a:spcPct val="115000"/>
              </a:lnSpc>
              <a:spcBef>
                <a:spcPts val="0"/>
              </a:spcBef>
              <a:spcAft>
                <a:spcPts val="0"/>
              </a:spcAft>
            </a:pPr>
            <a:endParaRPr lang="en-US" sz="7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database table for part has 4 columns and 6 rows. The column headings along with the sample data are summarized below:</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137; Part name: Door latch; Unit price: 22.00; Supplier number: 8259</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145; Part name: Side mirror; Unit price: 12.00; Supplier number: 8444</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150; Part name: Door molding; Unit price: 6.00; Supplier number: 8263</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152; Part name: Door lock; Unit price: 31.00; Supplier number: 8259</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155; Part name: Compressor; Unit price: 54.00; Supplier number: 8261</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170; Part name: Door handle; Unit price: 10.00; Supplier number: 8259. </a:t>
            </a: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The primary key in the above table is the part number and the foreign key is the supplier number.  </a:t>
            </a:r>
          </a:p>
          <a:p>
            <a:pPr marL="0" marR="0">
              <a:lnSpc>
                <a:spcPct val="115000"/>
              </a:lnSpc>
              <a:spcBef>
                <a:spcPts val="0"/>
              </a:spcBef>
              <a:spcAft>
                <a:spcPts val="0"/>
              </a:spcAft>
            </a:pPr>
            <a:endParaRPr lang="en-US" sz="7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700" dirty="0">
                <a:solidFill>
                  <a:srgbClr val="000000"/>
                </a:solidFill>
                <a:effectLst/>
                <a:ea typeface="Times New Roman" panose="02020603050405020304" pitchFamily="18" charset="0"/>
              </a:rPr>
              <a:t>Part number 137 and 150 are selected and are joined by supplier number to give the below project selected columns table. </a:t>
            </a:r>
          </a:p>
          <a:p>
            <a:pPr marL="171450" marR="0" lvl="0" indent="-171450">
              <a:lnSpc>
                <a:spcPct val="115000"/>
              </a:lnSpc>
              <a:spcBef>
                <a:spcPts val="0"/>
              </a:spcBef>
              <a:spcAft>
                <a:spcPts val="0"/>
              </a:spcAft>
              <a:buFont typeface="Arial" panose="020B0604020202020204" pitchFamily="34" charset="0"/>
              <a:buChar char="•"/>
            </a:pPr>
            <a:r>
              <a:rPr lang="en-US" sz="700" dirty="0">
                <a:effectLst/>
                <a:ea typeface="Calibri" panose="020F0502020204030204" pitchFamily="34" charset="0"/>
              </a:rPr>
              <a:t>Part number: 137; Part name: Door latch; Supplier number: 8259; Supplier name: CBM Inc. </a:t>
            </a:r>
          </a:p>
          <a:p>
            <a:pPr marL="171450" marR="0" lvl="0" indent="-171450">
              <a:lnSpc>
                <a:spcPct val="115000"/>
              </a:lnSpc>
              <a:spcBef>
                <a:spcPts val="0"/>
              </a:spcBef>
              <a:spcAft>
                <a:spcPts val="0"/>
              </a:spcAft>
              <a:buFont typeface="Arial" panose="020B0604020202020204" pitchFamily="34" charset="0"/>
              <a:buChar char="•"/>
            </a:pPr>
            <a:r>
              <a:rPr lang="en-US" sz="700" dirty="0">
                <a:solidFill>
                  <a:srgbClr val="000000"/>
                </a:solidFill>
                <a:effectLst/>
                <a:ea typeface="Times New Roman" panose="02020603050405020304" pitchFamily="18" charset="0"/>
              </a:rPr>
              <a:t>Part number: 150; Part name: Door molding; Supplier number: 8263; Supplier name: Jackson composites. </a:t>
            </a:r>
            <a:endParaRPr lang="en-US" sz="7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the three main capabilities of a DBMS: data definition, the data dictionary, and a data manipulation language. </a:t>
            </a:r>
          </a:p>
          <a:p>
            <a:pPr eaLnBrk="1" hangingPunct="1"/>
            <a:endParaRPr lang="en-US" altLang="en-US" dirty="0"/>
          </a:p>
          <a:p>
            <a:pPr eaLnBrk="1" hangingPunct="1"/>
            <a:r>
              <a:rPr lang="en-US" altLang="en-US" dirty="0"/>
              <a:t>Ask students to describe what characteristics of data would be stored by a data dictionary (name, description, size, type, format, other properties of a field). For a large company, a data dictionary might also store characteristics such as usage, ownership, authorization, security, users.</a:t>
            </a:r>
          </a:p>
          <a:p>
            <a:pPr eaLnBrk="1" hangingPunct="1"/>
            <a:endParaRPr lang="en-US" altLang="en-US" dirty="0"/>
          </a:p>
          <a:p>
            <a:pPr eaLnBrk="1" hangingPunct="1"/>
            <a:r>
              <a:rPr lang="en-US" altLang="en-US" dirty="0"/>
              <a:t>Note that the data manipulation language is the tool that requests operations such as SELECT and JOIN to be performed on data.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572000"/>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dirty="0"/>
              <a:t>Figure 6.6,</a:t>
            </a:r>
            <a:r>
              <a:rPr lang="en-US" altLang="en-US" sz="800" baseline="0" dirty="0"/>
              <a:t> Page 221.</a:t>
            </a:r>
          </a:p>
          <a:p>
            <a:r>
              <a:rPr lang="en-US" sz="800" b="0" i="1" u="none" strike="noStrike" kern="1200" cap="none" baseline="0" dirty="0">
                <a:solidFill>
                  <a:schemeClr val="tx1"/>
                </a:solidFill>
                <a:ea typeface="Arial"/>
                <a:cs typeface="Arial"/>
                <a:sym typeface="Arial"/>
              </a:rPr>
              <a:t>Microsoft Access has a rudimentary data dictionary capability that displays information about the size, format, and other characteristics of each field in a database. Displayed here is the information maintained in the SUPPLIER table. The small key icon to the left of </a:t>
            </a:r>
            <a:r>
              <a:rPr lang="en-US" sz="800" b="0" i="1" u="none" strike="noStrike" kern="1200" cap="none" baseline="0" dirty="0" err="1">
                <a:solidFill>
                  <a:schemeClr val="tx1"/>
                </a:solidFill>
                <a:ea typeface="Arial"/>
                <a:cs typeface="Arial"/>
                <a:sym typeface="Arial"/>
              </a:rPr>
              <a:t>Supplier_Number</a:t>
            </a:r>
            <a:r>
              <a:rPr lang="en-US" sz="800" b="0" i="1" u="none" strike="noStrike" kern="1200" cap="none" baseline="0" dirty="0">
                <a:solidFill>
                  <a:schemeClr val="tx1"/>
                </a:solidFill>
                <a:ea typeface="Arial"/>
                <a:cs typeface="Arial"/>
                <a:sym typeface="Arial"/>
              </a:rPr>
              <a:t> indicates that it is a key field.</a:t>
            </a:r>
          </a:p>
          <a:p>
            <a:endParaRPr lang="en-US" altLang="en-US" sz="8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dirty="0"/>
              <a:t>This graphic shows the data dictionary capability of Microsoft Access. For the field </a:t>
            </a:r>
            <a:r>
              <a:rPr lang="ja-JP" altLang="en-US" sz="800" dirty="0"/>
              <a:t>“</a:t>
            </a:r>
            <a:r>
              <a:rPr lang="en-US" altLang="ja-JP" sz="800" dirty="0"/>
              <a:t>Supplier Name</a:t>
            </a:r>
            <a:r>
              <a:rPr lang="ja-JP" altLang="en-US" sz="800" dirty="0"/>
              <a:t>”</a:t>
            </a:r>
            <a:r>
              <a:rPr lang="en-US" altLang="ja-JP" sz="800" dirty="0"/>
              <a:t> selected in the top pane, definitions can be configured in the General tab in the bottom pane. These General characteristics are Fields Size, Format, Input Mask, Caption, Default Value, Validation Rule, Validation Text, Required, Allow Zero Length, Indexed, Unicode Compression, IME mode, IME Sentence Mode, and Smart Tags.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p>
            <a:pPr marL="0" marR="0">
              <a:lnSpc>
                <a:spcPct val="115000"/>
              </a:lnSpc>
              <a:spcBef>
                <a:spcPts val="0"/>
              </a:spcBef>
              <a:spcAft>
                <a:spcPts val="0"/>
              </a:spcAft>
            </a:pPr>
            <a:r>
              <a:rPr lang="en-US" sz="600" u="sng" dirty="0"/>
              <a:t>Alt Text</a:t>
            </a:r>
          </a:p>
          <a:p>
            <a:pPr marL="0" marR="0">
              <a:lnSpc>
                <a:spcPct val="115000"/>
              </a:lnSpc>
              <a:spcBef>
                <a:spcPts val="0"/>
              </a:spcBef>
              <a:spcAft>
                <a:spcPts val="0"/>
              </a:spcAft>
            </a:pPr>
            <a:r>
              <a:rPr lang="en-US" sz="600" dirty="0"/>
              <a:t>Long description: A screenshot of a sample data dictionary. </a:t>
            </a:r>
            <a:r>
              <a:rPr lang="en-US" sz="600" dirty="0">
                <a:solidFill>
                  <a:srgbClr val="000000"/>
                </a:solidFill>
                <a:effectLst/>
                <a:ea typeface="Times New Roman" panose="02020603050405020304" pitchFamily="18" charset="0"/>
              </a:rPr>
              <a:t>To access the data dictionary, the design tab is selected. Under the design tab are the following options: </a:t>
            </a:r>
          </a:p>
          <a:p>
            <a:pPr marL="342900" marR="0" lvl="0" indent="-34290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Tools: Primary key; Builder; test validation rules; Insert rows; Delete rows; Modify lookups. The builder option is disabled. </a:t>
            </a:r>
          </a:p>
          <a:p>
            <a:pPr marL="342900" marR="0" lvl="0" indent="-34290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Show or Hide: Property sheet and Indexes. </a:t>
            </a:r>
          </a:p>
          <a:p>
            <a:pPr marL="342900" marR="0" lvl="0" indent="-34290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record and table events: Create data macros; Rename or delete data macros. </a:t>
            </a:r>
          </a:p>
          <a:p>
            <a:pPr marL="342900" marR="0" lvl="0" indent="-34290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Relationships: Relationships and object dependencies.  </a:t>
            </a:r>
          </a:p>
          <a:p>
            <a:pPr marL="0" marR="0">
              <a:lnSpc>
                <a:spcPct val="115000"/>
              </a:lnSpc>
              <a:spcBef>
                <a:spcPts val="0"/>
              </a:spcBef>
              <a:spcAft>
                <a:spcPts val="0"/>
              </a:spcAft>
            </a:pPr>
            <a:endParaRPr lang="en-US" sz="6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600" dirty="0">
                <a:solidFill>
                  <a:srgbClr val="000000"/>
                </a:solidFill>
                <a:effectLst/>
                <a:ea typeface="Times New Roman" panose="02020603050405020304" pitchFamily="18" charset="0"/>
              </a:rPr>
              <a:t>The data dictionary is divided into two horizontal panes. The first pane is labeled supplier and lists the database components such as field names, data types, and description in the form of a tabular list. The details are as below: </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number; Data type: number; Description: Supplier identification number</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name; Data type: Text; Description: Supplier name</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street; Data type: Text; Description: Supplier street</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city; Data type: Text; Description: Supplier city</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state; Data type: Text; Description: Supplier state</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name: Supplier zip; Data type: Text; Description: Supplier Zip. </a:t>
            </a:r>
          </a:p>
          <a:p>
            <a:pPr marL="0" marR="0">
              <a:lnSpc>
                <a:spcPct val="115000"/>
              </a:lnSpc>
              <a:spcBef>
                <a:spcPts val="0"/>
              </a:spcBef>
              <a:spcAft>
                <a:spcPts val="0"/>
              </a:spcAft>
            </a:pPr>
            <a:endParaRPr lang="en-US" sz="6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600" dirty="0">
                <a:solidFill>
                  <a:srgbClr val="000000"/>
                </a:solidFill>
                <a:effectLst/>
                <a:ea typeface="Times New Roman" panose="02020603050405020304" pitchFamily="18" charset="0"/>
              </a:rPr>
              <a:t>The second pane is labeled field properties. This pane is divided into two sections. The section on the left has two tabs general and lookup. The lookup tab is selected. The details captured are listed below:</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Field Size: Long integer</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Format: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Decimal Places: Auto</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Input Mask: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Caption: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Default value: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Validation Rule: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Validation Text: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Required: Yes</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Indexed: Yes; No duplicates</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Smart Tags: NA</a:t>
            </a:r>
          </a:p>
          <a:p>
            <a:pPr marL="171450" marR="0" lvl="0" indent="-171450">
              <a:lnSpc>
                <a:spcPct val="115000"/>
              </a:lnSpc>
              <a:spcBef>
                <a:spcPts val="0"/>
              </a:spcBef>
              <a:spcAft>
                <a:spcPts val="0"/>
              </a:spcAft>
              <a:buFont typeface="Arial" panose="020B0604020202020204" pitchFamily="34" charset="0"/>
              <a:buChar char="•"/>
            </a:pPr>
            <a:r>
              <a:rPr lang="en-US" sz="600" dirty="0">
                <a:effectLst/>
                <a:ea typeface="Calibri" panose="020F0502020204030204" pitchFamily="34" charset="0"/>
              </a:rPr>
              <a:t>Text Align: General. </a:t>
            </a:r>
          </a:p>
          <a:p>
            <a:pPr marL="0" marR="0">
              <a:lnSpc>
                <a:spcPct val="115000"/>
              </a:lnSpc>
              <a:spcBef>
                <a:spcPts val="0"/>
              </a:spcBef>
              <a:spcAft>
                <a:spcPts val="0"/>
              </a:spcAft>
            </a:pPr>
            <a:r>
              <a:rPr lang="en-US" sz="600" dirty="0">
                <a:solidFill>
                  <a:srgbClr val="000000"/>
                </a:solidFill>
                <a:effectLst/>
                <a:ea typeface="Times New Roman" panose="02020603050405020304" pitchFamily="18" charset="0"/>
              </a:rPr>
              <a:t>The section on the right shows a data cell that reads: A field name can be 64 characters long, including spaces. Press F1 for help on field names. </a:t>
            </a:r>
          </a:p>
          <a:p>
            <a:r>
              <a:rPr lang="en-US" sz="600" dirty="0">
                <a:solidFill>
                  <a:srgbClr val="000000"/>
                </a:solidFill>
                <a:effectLst/>
                <a:ea typeface="Times New Roman" panose="02020603050405020304" pitchFamily="18" charset="0"/>
              </a:rPr>
              <a:t>Below the pane, the following is visible: Design view; F6 equals switch panes; F1 equals help.</a:t>
            </a:r>
            <a:endParaRPr lang="en-US" sz="6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300" dirty="0"/>
              <a:t>Figure 6.7,</a:t>
            </a:r>
            <a:r>
              <a:rPr lang="en-US" altLang="en-US" sz="1300" baseline="0" dirty="0"/>
              <a:t> Page 221.</a:t>
            </a:r>
          </a:p>
          <a:p>
            <a:r>
              <a:rPr lang="en-US" sz="1300" b="0" i="1" u="none" strike="noStrike" kern="1200" cap="none" baseline="0" dirty="0">
                <a:solidFill>
                  <a:schemeClr val="tx1"/>
                </a:solidFill>
                <a:latin typeface="+mn-lt"/>
                <a:ea typeface="Arial"/>
                <a:cs typeface="Arial"/>
                <a:sym typeface="Arial"/>
              </a:rPr>
              <a:t>Illustrated here are the SQL statements for a query to select suppliers for parts 137 or 150. They produce a list with the same results as Figure 6.5.</a:t>
            </a:r>
          </a:p>
          <a:p>
            <a:endParaRPr lang="en-US" altLang="en-US" sz="1300" b="0" i="0" u="none" strike="noStrike" kern="1200" cap="none" baseline="0" dirty="0">
              <a:solidFill>
                <a:schemeClr val="tx1"/>
              </a:solidFill>
              <a:latin typeface="+mn-lt"/>
              <a:ea typeface="Arial"/>
              <a:cs typeface="Arial"/>
              <a:sym typeface="Arial"/>
            </a:endParaRPr>
          </a:p>
          <a:p>
            <a:pPr eaLnBrk="1" hangingPunct="1"/>
            <a:r>
              <a:rPr lang="en-US" altLang="en-US" sz="1300" dirty="0"/>
              <a:t>This graphic shows an example SQL statement that would be used to retrieve data from a database. In this case, the SQL statement is retrieving records from the PART table illustrated on Slide 14 (Figure 6-5) whose Part Number is either 137 or 150.</a:t>
            </a:r>
          </a:p>
          <a:p>
            <a:pPr eaLnBrk="1" hangingPunct="1"/>
            <a:endParaRPr lang="en-US" altLang="en-US" sz="1300" dirty="0"/>
          </a:p>
          <a:p>
            <a:pPr eaLnBrk="1" hangingPunct="1"/>
            <a:r>
              <a:rPr lang="en-US" altLang="en-US" sz="1300" dirty="0"/>
              <a:t>Ask students to relate what each phrase of this statement is doing. (For example, the statement says to take the following columns: </a:t>
            </a:r>
            <a:r>
              <a:rPr lang="en-US" altLang="en-US" sz="1300" dirty="0" err="1"/>
              <a:t>Part_Number</a:t>
            </a:r>
            <a:r>
              <a:rPr lang="en-US" altLang="en-US" sz="1300" dirty="0"/>
              <a:t>, </a:t>
            </a:r>
            <a:r>
              <a:rPr lang="en-US" altLang="en-US" sz="1300" dirty="0" err="1"/>
              <a:t>Part_Name</a:t>
            </a:r>
            <a:r>
              <a:rPr lang="en-US" altLang="en-US" sz="1300" dirty="0"/>
              <a:t>, Supplier Number, Supplier Name, from the two tables Part and Supplier, when the following two conditions are true …)</a:t>
            </a:r>
          </a:p>
          <a:p>
            <a:pPr eaLnBrk="1" hangingPunct="1"/>
            <a:endParaRPr lang="en-US" dirty="0"/>
          </a:p>
          <a:p>
            <a:pPr marL="0" marR="0">
              <a:lnSpc>
                <a:spcPct val="115000"/>
              </a:lnSpc>
              <a:spcBef>
                <a:spcPts val="0"/>
              </a:spcBef>
              <a:spcAft>
                <a:spcPts val="0"/>
              </a:spcAft>
            </a:pPr>
            <a:r>
              <a:rPr lang="en-US" sz="1300" dirty="0"/>
              <a:t>Long description: A sample SQL query. </a:t>
            </a:r>
            <a:r>
              <a:rPr lang="en-US" sz="1300" dirty="0">
                <a:solidFill>
                  <a:srgbClr val="000000"/>
                </a:solidFill>
                <a:effectLst/>
                <a:ea typeface="Times New Roman" panose="02020603050405020304" pitchFamily="18" charset="0"/>
              </a:rPr>
              <a:t>The query reads as follows: </a:t>
            </a:r>
          </a:p>
          <a:p>
            <a:pPr marL="0" marR="0">
              <a:lnSpc>
                <a:spcPct val="115000"/>
              </a:lnSpc>
              <a:spcBef>
                <a:spcPts val="0"/>
              </a:spcBef>
              <a:spcAft>
                <a:spcPts val="0"/>
              </a:spcAft>
            </a:pPr>
            <a:r>
              <a:rPr lang="en-US" sz="1300" dirty="0">
                <a:solidFill>
                  <a:srgbClr val="000000"/>
                </a:solidFill>
                <a:effectLst/>
                <a:ea typeface="Times New Roman" panose="02020603050405020304" pitchFamily="18" charset="0"/>
              </a:rPr>
              <a:t>SELECT PART. Part underscore number, PART. Part underscore Name, SUPPLIER. Supplier underscore Number,</a:t>
            </a:r>
          </a:p>
          <a:p>
            <a:pPr marL="0" marR="0">
              <a:lnSpc>
                <a:spcPct val="115000"/>
              </a:lnSpc>
              <a:spcBef>
                <a:spcPts val="0"/>
              </a:spcBef>
              <a:spcAft>
                <a:spcPts val="0"/>
              </a:spcAft>
            </a:pPr>
            <a:r>
              <a:rPr lang="en-US" sz="1300" dirty="0">
                <a:solidFill>
                  <a:srgbClr val="000000"/>
                </a:solidFill>
                <a:effectLst/>
                <a:ea typeface="Times New Roman" panose="02020603050405020304" pitchFamily="18" charset="0"/>
              </a:rPr>
              <a:t>SUPPLIER. Supplier underscore Name</a:t>
            </a:r>
          </a:p>
          <a:p>
            <a:pPr marL="0" marR="0">
              <a:lnSpc>
                <a:spcPct val="115000"/>
              </a:lnSpc>
              <a:spcBef>
                <a:spcPts val="0"/>
              </a:spcBef>
              <a:spcAft>
                <a:spcPts val="0"/>
              </a:spcAft>
            </a:pPr>
            <a:r>
              <a:rPr lang="en-US" sz="1300" dirty="0">
                <a:solidFill>
                  <a:srgbClr val="000000"/>
                </a:solidFill>
                <a:effectLst/>
                <a:ea typeface="Times New Roman" panose="02020603050405020304" pitchFamily="18" charset="0"/>
              </a:rPr>
              <a:t>FROM PART, SUPPLIER</a:t>
            </a:r>
          </a:p>
          <a:p>
            <a:pPr marL="0" marR="0">
              <a:lnSpc>
                <a:spcPct val="115000"/>
              </a:lnSpc>
              <a:spcBef>
                <a:spcPts val="0"/>
              </a:spcBef>
              <a:spcAft>
                <a:spcPts val="0"/>
              </a:spcAft>
            </a:pPr>
            <a:r>
              <a:rPr lang="en-US" sz="1300" dirty="0">
                <a:solidFill>
                  <a:srgbClr val="000000"/>
                </a:solidFill>
                <a:effectLst/>
                <a:ea typeface="Times New Roman" panose="02020603050405020304" pitchFamily="18" charset="0"/>
              </a:rPr>
              <a:t>WHERE PART. Supplier underscore Number equals SUPPLIER. Supplier underscore Number AND</a:t>
            </a:r>
          </a:p>
          <a:p>
            <a:r>
              <a:rPr lang="en-US" sz="1300" dirty="0">
                <a:solidFill>
                  <a:srgbClr val="000000"/>
                </a:solidFill>
                <a:effectLst/>
                <a:ea typeface="Times New Roman" panose="02020603050405020304" pitchFamily="18" charset="0"/>
              </a:rPr>
              <a:t>Part underscore Number equals 137 OR Part Underscore Number equals150</a:t>
            </a:r>
            <a:endParaRPr lang="en-US" sz="13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334000" cy="46482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900" dirty="0"/>
              <a:t>Figure 6.8,</a:t>
            </a:r>
            <a:r>
              <a:rPr lang="en-US" altLang="en-US" sz="900" baseline="0" dirty="0"/>
              <a:t> Page 222.</a:t>
            </a:r>
          </a:p>
          <a:p>
            <a:r>
              <a:rPr lang="en-US" sz="900" b="0" i="1" u="none" strike="noStrike" kern="1200" cap="none" baseline="0" dirty="0">
                <a:solidFill>
                  <a:schemeClr val="tx1"/>
                </a:solidFill>
                <a:ea typeface="Arial"/>
                <a:cs typeface="Arial"/>
                <a:sym typeface="Arial"/>
              </a:rPr>
              <a:t>Illustrated here is how the query in Figure 6.7 would be constructed using Microsoft Access </a:t>
            </a:r>
            <a:r>
              <a:rPr lang="en-US" sz="900" b="0" i="1" u="none" strike="noStrike" kern="1200" cap="none" baseline="0" dirty="0" err="1">
                <a:solidFill>
                  <a:schemeClr val="tx1"/>
                </a:solidFill>
                <a:ea typeface="Arial"/>
                <a:cs typeface="Arial"/>
                <a:sym typeface="Arial"/>
              </a:rPr>
              <a:t>querybuilding</a:t>
            </a:r>
            <a:r>
              <a:rPr lang="en-US" sz="900" b="0" i="1" u="none" strike="noStrike" kern="1200" cap="none" baseline="0" dirty="0">
                <a:solidFill>
                  <a:schemeClr val="tx1"/>
                </a:solidFill>
                <a:ea typeface="Arial"/>
                <a:cs typeface="Arial"/>
                <a:sym typeface="Arial"/>
              </a:rPr>
              <a:t> tools. It shows the tables, fields, and selection criteria used for the query.</a:t>
            </a:r>
          </a:p>
          <a:p>
            <a:endParaRPr lang="en-US" sz="9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900" dirty="0"/>
              <a:t>This graphic illustrates a Microsoft Access query that performs the same operation as the SQL query in the last slide. The query pane at the bottom shows the fields that are requested (Fields), the relevant Tables (Table), the fields that will be displayed in the results (Show), and the criteria limiting the results to Part numbers 137 and 150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dirty="0"/>
          </a:p>
          <a:p>
            <a:pPr marL="0" marR="0">
              <a:lnSpc>
                <a:spcPct val="115000"/>
              </a:lnSpc>
              <a:spcBef>
                <a:spcPts val="0"/>
              </a:spcBef>
              <a:spcAft>
                <a:spcPts val="0"/>
              </a:spcAft>
            </a:pPr>
            <a:r>
              <a:rPr lang="en-US" sz="800" u="sng" dirty="0"/>
              <a:t>Alt Text</a:t>
            </a:r>
          </a:p>
          <a:p>
            <a:pPr marL="0" marR="0">
              <a:lnSpc>
                <a:spcPct val="115000"/>
              </a:lnSpc>
              <a:spcBef>
                <a:spcPts val="0"/>
              </a:spcBef>
              <a:spcAft>
                <a:spcPts val="0"/>
              </a:spcAft>
            </a:pPr>
            <a:r>
              <a:rPr lang="en-US" sz="750" dirty="0"/>
              <a:t>Long description: A screenshot of a Microsoft Access window shows menu directions to create a query for the table. </a:t>
            </a:r>
            <a:r>
              <a:rPr lang="en-US" sz="750" dirty="0">
                <a:solidFill>
                  <a:srgbClr val="000000"/>
                </a:solidFill>
                <a:effectLst/>
                <a:ea typeface="Times New Roman" panose="02020603050405020304" pitchFamily="18" charset="0"/>
              </a:rPr>
              <a:t>The window is divided into two panes. The pane on the left is labeled “All Access Objects” and has a search bar. It has two separate drop downs labeled tables and queries. </a:t>
            </a:r>
          </a:p>
          <a:p>
            <a:pPr marL="0" marR="0">
              <a:lnSpc>
                <a:spcPct val="115000"/>
              </a:lnSpc>
              <a:spcBef>
                <a:spcPts val="0"/>
              </a:spcBef>
              <a:spcAft>
                <a:spcPts val="0"/>
              </a:spcAft>
            </a:pPr>
            <a:r>
              <a:rPr lang="en-US" sz="750" dirty="0">
                <a:solidFill>
                  <a:srgbClr val="000000"/>
                </a:solidFill>
                <a:effectLst/>
                <a:ea typeface="Times New Roman" panose="02020603050405020304" pitchFamily="18" charset="0"/>
              </a:rPr>
              <a:t>The tables dropdown lists the names of the tables, while the dropdown for queries lists the option supplier of parts query. </a:t>
            </a:r>
          </a:p>
          <a:p>
            <a:pPr marL="171450" marR="0" lvl="0" indent="-171450">
              <a:lnSpc>
                <a:spcPct val="115000"/>
              </a:lnSpc>
              <a:spcBef>
                <a:spcPts val="0"/>
              </a:spcBef>
              <a:spcAft>
                <a:spcPts val="0"/>
              </a:spcAft>
              <a:buFont typeface="Arial" panose="020B0604020202020204" pitchFamily="34" charset="0"/>
              <a:buChar char="•"/>
            </a:pPr>
            <a:r>
              <a:rPr lang="en-US" sz="750" dirty="0">
                <a:effectLst/>
                <a:ea typeface="Calibri" panose="020F0502020204030204" pitchFamily="34" charset="0"/>
              </a:rPr>
              <a:t>From the menu bar the design tab is selected which shows the following options:</a:t>
            </a:r>
          </a:p>
          <a:p>
            <a:pPr marL="171450" marR="0" lvl="0" indent="-171450">
              <a:lnSpc>
                <a:spcPct val="115000"/>
              </a:lnSpc>
              <a:spcBef>
                <a:spcPts val="0"/>
              </a:spcBef>
              <a:spcAft>
                <a:spcPts val="0"/>
              </a:spcAft>
              <a:buFont typeface="Arial" panose="020B0604020202020204" pitchFamily="34" charset="0"/>
              <a:buChar char="•"/>
            </a:pPr>
            <a:r>
              <a:rPr lang="en-US" sz="750" dirty="0">
                <a:effectLst/>
                <a:ea typeface="Calibri" panose="020F0502020204030204" pitchFamily="34" charset="0"/>
              </a:rPr>
              <a:t>Results: View and run. </a:t>
            </a:r>
          </a:p>
          <a:p>
            <a:pPr marL="171450" marR="0" lvl="0" indent="-171450">
              <a:lnSpc>
                <a:spcPct val="115000"/>
              </a:lnSpc>
              <a:spcBef>
                <a:spcPts val="0"/>
              </a:spcBef>
              <a:spcAft>
                <a:spcPts val="0"/>
              </a:spcAft>
              <a:buFont typeface="Arial" panose="020B0604020202020204" pitchFamily="34" charset="0"/>
              <a:buChar char="•"/>
            </a:pPr>
            <a:r>
              <a:rPr lang="en-US" sz="750" dirty="0">
                <a:effectLst/>
                <a:ea typeface="Calibri" panose="020F0502020204030204" pitchFamily="34" charset="0"/>
              </a:rPr>
              <a:t>Query type: Select, make table, upend, update, crosstab, delete, union, pass-through, and data definition. “Select” is highlighted in the screenshot. </a:t>
            </a:r>
          </a:p>
          <a:p>
            <a:pPr marL="171450" marR="0" lvl="0" indent="-171450">
              <a:lnSpc>
                <a:spcPct val="115000"/>
              </a:lnSpc>
              <a:spcBef>
                <a:spcPts val="0"/>
              </a:spcBef>
              <a:spcAft>
                <a:spcPts val="0"/>
              </a:spcAft>
              <a:buFont typeface="Arial" panose="020B0604020202020204" pitchFamily="34" charset="0"/>
              <a:buChar char="•"/>
            </a:pPr>
            <a:r>
              <a:rPr lang="en-US" sz="750" dirty="0">
                <a:effectLst/>
                <a:ea typeface="Calibri" panose="020F0502020204030204" pitchFamily="34" charset="0"/>
              </a:rPr>
              <a:t>Query set-up: Show table, insert rows, delete rows, builder, insert columns, delete columns, and drop-down labeled return displaying the option of all. Delete rows is in a disabled state.  </a:t>
            </a:r>
          </a:p>
          <a:p>
            <a:pPr marL="171450" marR="0" lvl="0" indent="-171450">
              <a:lnSpc>
                <a:spcPct val="115000"/>
              </a:lnSpc>
              <a:spcBef>
                <a:spcPts val="0"/>
              </a:spcBef>
              <a:spcAft>
                <a:spcPts val="0"/>
              </a:spcAft>
              <a:buFont typeface="Arial" panose="020B0604020202020204" pitchFamily="34" charset="0"/>
              <a:buChar char="•"/>
            </a:pPr>
            <a:r>
              <a:rPr lang="en-US" sz="750" dirty="0">
                <a:effectLst/>
                <a:ea typeface="Calibri" panose="020F0502020204030204" pitchFamily="34" charset="0"/>
              </a:rPr>
              <a:t>Show or hide: Tools, parameters, property sheet and table names. “Table names” s selected here. </a:t>
            </a:r>
          </a:p>
          <a:p>
            <a:pPr marL="0" marR="0">
              <a:lnSpc>
                <a:spcPct val="115000"/>
              </a:lnSpc>
              <a:spcBef>
                <a:spcPts val="0"/>
              </a:spcBef>
              <a:spcAft>
                <a:spcPts val="0"/>
              </a:spcAft>
            </a:pPr>
            <a:endParaRPr lang="en-US" sz="75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750" dirty="0">
                <a:solidFill>
                  <a:srgbClr val="000000"/>
                </a:solidFill>
                <a:effectLst/>
                <a:ea typeface="Times New Roman" panose="02020603050405020304" pitchFamily="18" charset="0"/>
              </a:rPr>
              <a:t>On the right side the screenshot is divided into two sections. The upper half section is labeled supplier or parts and shows two forms “Parts” and “Supplier”. An elbow connector is visible between the two forms. The “Parts” form has details pertaining to the part number, part name, unit price, and supplier number. The “Supplier” form has details pertaining to the supplier number, supplier name, supplier street, and so on. </a:t>
            </a:r>
          </a:p>
          <a:p>
            <a:pPr marL="0" marR="0">
              <a:lnSpc>
                <a:spcPct val="115000"/>
              </a:lnSpc>
              <a:spcBef>
                <a:spcPts val="0"/>
              </a:spcBef>
              <a:spcAft>
                <a:spcPts val="0"/>
              </a:spcAft>
            </a:pPr>
            <a:endParaRPr lang="en-US" sz="75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750" dirty="0">
                <a:solidFill>
                  <a:srgbClr val="000000"/>
                </a:solidFill>
                <a:effectLst/>
                <a:ea typeface="Times New Roman" panose="02020603050405020304" pitchFamily="18" charset="0"/>
              </a:rPr>
              <a:t>The bottom half of the section is a table that details the following: </a:t>
            </a:r>
          </a:p>
          <a:p>
            <a:pPr marL="342900" marR="0" lvl="0" indent="-342900">
              <a:lnSpc>
                <a:spcPct val="115000"/>
              </a:lnSpc>
              <a:spcBef>
                <a:spcPts val="0"/>
              </a:spcBef>
              <a:spcAft>
                <a:spcPts val="0"/>
              </a:spcAft>
              <a:buFont typeface="Symbol" panose="05050102010706020507" pitchFamily="18" charset="2"/>
              <a:buChar char=""/>
            </a:pPr>
            <a:r>
              <a:rPr lang="en-US" sz="750" dirty="0">
                <a:effectLst/>
                <a:ea typeface="Calibri" panose="020F0502020204030204" pitchFamily="34" charset="0"/>
              </a:rPr>
              <a:t>Field: Part number; Part name; Supplier number; Supplier name. </a:t>
            </a:r>
          </a:p>
          <a:p>
            <a:pPr marL="342900" marR="0" lvl="0" indent="-342900">
              <a:lnSpc>
                <a:spcPct val="115000"/>
              </a:lnSpc>
              <a:spcBef>
                <a:spcPts val="0"/>
              </a:spcBef>
              <a:spcAft>
                <a:spcPts val="0"/>
              </a:spcAft>
              <a:buFont typeface="Symbol" panose="05050102010706020507" pitchFamily="18" charset="2"/>
              <a:buChar char=""/>
            </a:pPr>
            <a:r>
              <a:rPr lang="en-US" sz="750" dirty="0">
                <a:effectLst/>
                <a:ea typeface="Calibri" panose="020F0502020204030204" pitchFamily="34" charset="0"/>
              </a:rPr>
              <a:t>Table: Part; part; supplier; Supplier. </a:t>
            </a:r>
          </a:p>
          <a:p>
            <a:pPr marL="342900" marR="0" lvl="0" indent="-342900">
              <a:lnSpc>
                <a:spcPct val="115000"/>
              </a:lnSpc>
              <a:spcBef>
                <a:spcPts val="0"/>
              </a:spcBef>
              <a:spcAft>
                <a:spcPts val="0"/>
              </a:spcAft>
              <a:buFont typeface="Symbol" panose="05050102010706020507" pitchFamily="18" charset="2"/>
              <a:buChar char=""/>
            </a:pPr>
            <a:r>
              <a:rPr lang="en-US" sz="750" dirty="0">
                <a:effectLst/>
                <a:ea typeface="Calibri" panose="020F0502020204030204" pitchFamily="34" charset="0"/>
              </a:rPr>
              <a:t>Sort: NA</a:t>
            </a:r>
          </a:p>
          <a:p>
            <a:pPr marL="342900" marR="0" lvl="0" indent="-342900">
              <a:lnSpc>
                <a:spcPct val="115000"/>
              </a:lnSpc>
              <a:spcBef>
                <a:spcPts val="0"/>
              </a:spcBef>
              <a:spcAft>
                <a:spcPts val="0"/>
              </a:spcAft>
              <a:buFont typeface="Symbol" panose="05050102010706020507" pitchFamily="18" charset="2"/>
              <a:buChar char=""/>
            </a:pPr>
            <a:r>
              <a:rPr lang="en-US" sz="750" dirty="0">
                <a:effectLst/>
                <a:ea typeface="Calibri" panose="020F0502020204030204" pitchFamily="34" charset="0"/>
              </a:rPr>
              <a:t>Show: “Yes” to all. Depicted by tick marks in the checkboxes provided. </a:t>
            </a:r>
          </a:p>
          <a:p>
            <a:pPr marL="342900" marR="0" lvl="0" indent="-342900">
              <a:lnSpc>
                <a:spcPct val="115000"/>
              </a:lnSpc>
              <a:spcBef>
                <a:spcPts val="0"/>
              </a:spcBef>
              <a:spcAft>
                <a:spcPts val="0"/>
              </a:spcAft>
              <a:buFont typeface="Symbol" panose="05050102010706020507" pitchFamily="18" charset="2"/>
              <a:buChar char=""/>
            </a:pPr>
            <a:r>
              <a:rPr lang="en-US" sz="750" dirty="0">
                <a:effectLst/>
                <a:ea typeface="Calibri" panose="020F0502020204030204" pitchFamily="34" charset="0"/>
              </a:rPr>
              <a:t>Criteria: 137 or 150. </a:t>
            </a:r>
          </a:p>
          <a:p>
            <a:r>
              <a:rPr lang="en-US" sz="800" dirty="0">
                <a:solidFill>
                  <a:srgbClr val="000000"/>
                </a:solidFill>
                <a:effectLst/>
                <a:ea typeface="Times New Roman" panose="02020603050405020304" pitchFamily="18" charset="0"/>
              </a:rPr>
              <a:t>The window is visible in the form view in the screenshot.</a:t>
            </a:r>
            <a:endParaRPr lang="en-US" sz="8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describes activities involved in designing a database. To create an efficient database, you must know what the relationships are among the various data elements, the types of data that will be stored, and how the organization will need to manage the data. Note that the conceptual database design is concerned with how the data elements will be grouped, what data in what tables will make the most efficient organizations.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6.9,</a:t>
            </a:r>
            <a:r>
              <a:rPr lang="en-US" altLang="en-US" baseline="0" dirty="0"/>
              <a:t> Page 223.</a:t>
            </a:r>
          </a:p>
          <a:p>
            <a:r>
              <a:rPr lang="en-US" sz="1200" b="0" i="1" u="none" strike="noStrike" kern="1200" cap="none" baseline="0" dirty="0">
                <a:solidFill>
                  <a:schemeClr val="tx1"/>
                </a:solidFill>
                <a:latin typeface="+mn-lt"/>
                <a:ea typeface="Arial"/>
                <a:cs typeface="Arial"/>
                <a:sym typeface="Arial"/>
              </a:rPr>
              <a:t>An </a:t>
            </a:r>
            <a:r>
              <a:rPr lang="en-US" sz="1200" b="0" i="1" u="none" strike="noStrike" kern="1200" cap="none" baseline="0" dirty="0" err="1">
                <a:solidFill>
                  <a:schemeClr val="tx1"/>
                </a:solidFill>
                <a:latin typeface="+mn-lt"/>
                <a:ea typeface="Arial"/>
                <a:cs typeface="Arial"/>
                <a:sym typeface="Arial"/>
              </a:rPr>
              <a:t>unnormalized</a:t>
            </a:r>
            <a:r>
              <a:rPr lang="en-US" sz="1200" b="0" i="1" u="none" strike="noStrike" kern="1200" cap="none" baseline="0" dirty="0">
                <a:solidFill>
                  <a:schemeClr val="tx1"/>
                </a:solidFill>
                <a:latin typeface="+mn-lt"/>
                <a:ea typeface="Arial"/>
                <a:cs typeface="Arial"/>
                <a:sym typeface="Arial"/>
              </a:rPr>
              <a:t> relation contains repeating groups. For example, there can be many parts and suppliers for each order. There is only a one-to-one correspondence between </a:t>
            </a:r>
            <a:r>
              <a:rPr lang="en-US" sz="1200" b="0" i="1" u="none" strike="noStrike" kern="1200" cap="none" baseline="0" dirty="0" err="1">
                <a:solidFill>
                  <a:schemeClr val="tx1"/>
                </a:solidFill>
                <a:latin typeface="+mn-lt"/>
                <a:ea typeface="Arial"/>
                <a:cs typeface="Arial"/>
                <a:sym typeface="Arial"/>
              </a:rPr>
              <a:t>Order_Number</a:t>
            </a:r>
            <a:r>
              <a:rPr lang="en-US" sz="1200" b="0" i="1" u="none" strike="noStrike" kern="1200" cap="none" baseline="0" dirty="0">
                <a:solidFill>
                  <a:schemeClr val="tx1"/>
                </a:solidFill>
                <a:latin typeface="+mn-lt"/>
                <a:ea typeface="Arial"/>
                <a:cs typeface="Arial"/>
                <a:sym typeface="Arial"/>
              </a:rPr>
              <a:t> and </a:t>
            </a:r>
            <a:r>
              <a:rPr lang="en-US" sz="1200" b="0" i="1" u="none" strike="noStrike" kern="1200" cap="none" baseline="0" dirty="0" err="1">
                <a:solidFill>
                  <a:schemeClr val="tx1"/>
                </a:solidFill>
                <a:latin typeface="+mn-lt"/>
                <a:ea typeface="Arial"/>
                <a:cs typeface="Arial"/>
                <a:sym typeface="Arial"/>
              </a:rPr>
              <a:t>Order_Date</a:t>
            </a:r>
            <a:r>
              <a:rPr lang="en-US" sz="1200" b="0" i="1" u="none" strike="noStrike" kern="1200" cap="none" baseline="0" dirty="0">
                <a:solidFill>
                  <a:schemeClr val="tx1"/>
                </a:solidFill>
                <a:latin typeface="+mn-lt"/>
                <a:ea typeface="Arial"/>
                <a:cs typeface="Arial"/>
                <a:sym typeface="Arial"/>
              </a:rPr>
              <a:t>.</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The graphics on this slide and the next illustrate the process of normalization. Here, one table lists the relevant data elements for the entity ORDER. These include all of the details about the order, the part, the supplier.</a:t>
            </a:r>
          </a:p>
          <a:p>
            <a:pPr eaLnBrk="1" hangingPunct="1"/>
            <a:endParaRPr lang="en-US" altLang="en-US" dirty="0"/>
          </a:p>
          <a:p>
            <a:pPr eaLnBrk="1" hangingPunct="1"/>
            <a:r>
              <a:rPr lang="en-US" altLang="en-US" dirty="0"/>
              <a:t>An order can include more than one part, and it may be that several parts are supplied by the same supplier. However, using this table, the supplier</a:t>
            </a:r>
            <a:r>
              <a:rPr lang="en-US" altLang="ja-JP" dirty="0"/>
              <a:t>’s name, and other information might need to be stored several times on the order list.</a:t>
            </a:r>
          </a:p>
          <a:p>
            <a:pPr eaLnBrk="1" hangingPunct="1"/>
            <a:endParaRPr lang="en-US" altLang="en-US" dirty="0"/>
          </a:p>
          <a:p>
            <a:pPr eaLnBrk="1" hangingPunct="1"/>
            <a:r>
              <a:rPr lang="en-US" altLang="en-US" u="sng" dirty="0"/>
              <a:t>Alt Text</a:t>
            </a:r>
          </a:p>
          <a:p>
            <a:pPr eaLnBrk="1" hangingPunct="1"/>
            <a:r>
              <a:rPr lang="en-US" altLang="en-US" dirty="0"/>
              <a:t>Long description: A series of buttons illustrate the order before normalization. </a:t>
            </a:r>
            <a:r>
              <a:rPr lang="en-US" dirty="0">
                <a:solidFill>
                  <a:srgbClr val="000000"/>
                </a:solidFill>
                <a:effectLst/>
                <a:ea typeface="Times New Roman" panose="02020603050405020304" pitchFamily="18" charset="0"/>
              </a:rPr>
              <a:t>The sequence is as follows: order number, order date, part number, part name, unit price, part quantity, supplier number, supplier name, supplier street, supplier city, supplier state, supplier zip.</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495801"/>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Figure 6.10,</a:t>
            </a:r>
            <a:r>
              <a:rPr lang="en-US" altLang="en-US" sz="1000" baseline="0" dirty="0"/>
              <a:t> Page 223.</a:t>
            </a:r>
          </a:p>
          <a:p>
            <a:r>
              <a:rPr lang="en-US" sz="1000" b="0" i="1" u="none" strike="noStrike" kern="1200" cap="none" baseline="0" dirty="0">
                <a:solidFill>
                  <a:schemeClr val="tx1"/>
                </a:solidFill>
                <a:ea typeface="Arial"/>
                <a:cs typeface="Arial"/>
                <a:sym typeface="Arial"/>
              </a:rPr>
              <a:t>After normalization, the original relation ORDER has been broken down into four smaller relations. The relation ORDER is left with only two attributes, and the relation LINE_ITEM has a combined, or concatenated, key consisting of </a:t>
            </a:r>
            <a:r>
              <a:rPr lang="en-US" sz="1000" b="0" i="1" u="none" strike="noStrike" kern="1200" cap="none" baseline="0" dirty="0" err="1">
                <a:solidFill>
                  <a:schemeClr val="tx1"/>
                </a:solidFill>
                <a:ea typeface="Arial"/>
                <a:cs typeface="Arial"/>
                <a:sym typeface="Arial"/>
              </a:rPr>
              <a:t>Order_Number</a:t>
            </a:r>
            <a:r>
              <a:rPr lang="en-US" sz="1000" b="0" i="1" u="none" strike="noStrike" kern="1200" cap="none" baseline="0" dirty="0">
                <a:solidFill>
                  <a:schemeClr val="tx1"/>
                </a:solidFill>
                <a:ea typeface="Arial"/>
                <a:cs typeface="Arial"/>
                <a:sym typeface="Arial"/>
              </a:rPr>
              <a:t> and </a:t>
            </a:r>
            <a:r>
              <a:rPr lang="en-US" sz="1000" b="0" i="1" u="none" strike="noStrike" kern="1200" cap="none" baseline="0" dirty="0" err="1">
                <a:solidFill>
                  <a:schemeClr val="tx1"/>
                </a:solidFill>
                <a:ea typeface="Arial"/>
                <a:cs typeface="Arial"/>
                <a:sym typeface="Arial"/>
              </a:rPr>
              <a:t>Part_Number</a:t>
            </a:r>
            <a:r>
              <a:rPr lang="en-US" sz="1000" b="0" i="1" u="none" strike="noStrike" kern="1200" cap="none" baseline="0" dirty="0">
                <a:solidFill>
                  <a:schemeClr val="tx1"/>
                </a:solidFill>
                <a:ea typeface="Arial"/>
                <a:cs typeface="Arial"/>
                <a:sym typeface="Arial"/>
              </a:rPr>
              <a:t>.</a:t>
            </a:r>
            <a:endParaRPr lang="en-US" altLang="en-US" sz="1000" i="1" baseline="0" dirty="0"/>
          </a:p>
          <a:p>
            <a:endParaRPr lang="en-US" sz="1000" b="0" i="0" u="none" strike="noStrike" kern="1200" cap="none" baseline="0" dirty="0">
              <a:solidFill>
                <a:schemeClr val="tx1"/>
              </a:solidFill>
              <a:ea typeface="Arial"/>
              <a:cs typeface="Arial"/>
              <a:sym typeface="Arial"/>
            </a:endParaRPr>
          </a:p>
          <a:p>
            <a:pPr eaLnBrk="1" hangingPunct="1"/>
            <a:r>
              <a:rPr lang="en-US" altLang="en-US" sz="1000" dirty="0"/>
              <a:t>This graphic shows the normalized tables. The Order table has been broken down into four smaller, related tables. Notice that the Order table contains only two unique attributes, Order Number and Order Date. The multiple items ordered are stored using the </a:t>
            </a:r>
            <a:r>
              <a:rPr lang="en-US" altLang="en-US" sz="1000" dirty="0" err="1"/>
              <a:t>Line_Item</a:t>
            </a:r>
            <a:r>
              <a:rPr lang="en-US" altLang="en-US" sz="1000" dirty="0"/>
              <a:t> table. The normalization means that very little data has to be duplicated when creating orders, most of the information can be retrieved by using keys to the Part and Supplier tables.</a:t>
            </a:r>
          </a:p>
          <a:p>
            <a:pPr eaLnBrk="1" hangingPunct="1"/>
            <a:endParaRPr lang="en-US" altLang="en-US" sz="1000" dirty="0"/>
          </a:p>
          <a:p>
            <a:r>
              <a:rPr lang="en-US" altLang="en-US" sz="1000" dirty="0"/>
              <a:t>It is important to note that relational database systems try to enforce referential integrity rules to ensure that relationships between coupled tables remain consistent. When one table has a foreign key that points to another table, you may not add a record to the table with the foreign key unless there is a corresponding record in the linked table. For example, foreign key </a:t>
            </a:r>
            <a:r>
              <a:rPr lang="en-US" altLang="en-US" sz="1000" dirty="0" err="1"/>
              <a:t>Supplier_Number</a:t>
            </a:r>
            <a:r>
              <a:rPr lang="en-US" altLang="en-US" sz="1000" dirty="0"/>
              <a:t> links the PART table to the SUPPLIER table. Referential integrity means that a new part can</a:t>
            </a:r>
            <a:r>
              <a:rPr lang="en-US" altLang="ja-JP" sz="1000" dirty="0"/>
              <a:t>’t be added to the part table without a valid supplier number existing in the Supplier table. It also means that if a supplier is deleted, any corresponding parts must be deleted also.</a:t>
            </a:r>
          </a:p>
          <a:p>
            <a:endParaRPr lang="en-US" altLang="en-US" sz="1000" dirty="0"/>
          </a:p>
          <a:p>
            <a:pPr marL="0" marR="0">
              <a:lnSpc>
                <a:spcPct val="115000"/>
              </a:lnSpc>
              <a:spcBef>
                <a:spcPts val="0"/>
              </a:spcBef>
              <a:spcAft>
                <a:spcPts val="0"/>
              </a:spcAft>
            </a:pPr>
            <a:r>
              <a:rPr lang="en-US" altLang="en-US" sz="900" u="sng" dirty="0"/>
              <a:t>Alt Text</a:t>
            </a:r>
          </a:p>
          <a:p>
            <a:pPr marL="0" marR="0">
              <a:lnSpc>
                <a:spcPct val="115000"/>
              </a:lnSpc>
              <a:spcBef>
                <a:spcPts val="0"/>
              </a:spcBef>
              <a:spcAft>
                <a:spcPts val="0"/>
              </a:spcAft>
            </a:pPr>
            <a:r>
              <a:rPr lang="en-US" altLang="en-US" sz="900" dirty="0"/>
              <a:t>Long description: A series of buttons illustrate the order after normalization. </a:t>
            </a:r>
            <a:r>
              <a:rPr lang="en-US" sz="900" dirty="0">
                <a:solidFill>
                  <a:srgbClr val="000000"/>
                </a:solidFill>
                <a:effectLst/>
                <a:ea typeface="Times New Roman" panose="02020603050405020304" pitchFamily="18" charset="0"/>
              </a:rPr>
              <a:t>The buttons are divided into four sequences as follows: </a:t>
            </a: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Calibri" panose="020F0502020204030204" pitchFamily="34" charset="0"/>
              </a:rPr>
              <a:t>Part: Part number, part name, unit price, and supplier number. Here, part number is the key. </a:t>
            </a: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Calibri" panose="020F0502020204030204" pitchFamily="34" charset="0"/>
              </a:rPr>
              <a:t>Line item: Order number, part number, and part quantity. Here, order number and part number are key. </a:t>
            </a:r>
          </a:p>
          <a:p>
            <a:pPr marL="171450" marR="0" lvl="0" indent="-171450">
              <a:lnSpc>
                <a:spcPct val="115000"/>
              </a:lnSpc>
              <a:spcBef>
                <a:spcPts val="0"/>
              </a:spcBef>
              <a:spcAft>
                <a:spcPts val="0"/>
              </a:spcAft>
              <a:buFont typeface="Arial" panose="020B0604020202020204" pitchFamily="34" charset="0"/>
              <a:buChar char="•"/>
            </a:pPr>
            <a:r>
              <a:rPr lang="en-US" sz="900" dirty="0">
                <a:effectLst/>
                <a:ea typeface="Calibri" panose="020F0502020204030204" pitchFamily="34" charset="0"/>
              </a:rPr>
              <a:t>Supplier: Supplier number, supplier name, supplier street, supplier city, supplier state, supplier zip. Here, supplier number is the key. </a:t>
            </a:r>
          </a:p>
          <a:p>
            <a:pPr marL="171450" marR="0" lvl="0" indent="-171450">
              <a:lnSpc>
                <a:spcPct val="115000"/>
              </a:lnSpc>
              <a:spcBef>
                <a:spcPts val="0"/>
              </a:spcBef>
              <a:spcAft>
                <a:spcPts val="0"/>
              </a:spcAft>
              <a:buFont typeface="Arial" panose="020B0604020202020204" pitchFamily="34" charset="0"/>
              <a:buChar char="•"/>
            </a:pPr>
            <a:r>
              <a:rPr lang="en-US" sz="900" dirty="0">
                <a:solidFill>
                  <a:srgbClr val="000000"/>
                </a:solidFill>
                <a:effectLst/>
                <a:ea typeface="Times New Roman" panose="02020603050405020304" pitchFamily="18" charset="0"/>
              </a:rPr>
              <a:t>Order: Order number and order date. Here, order number is the key. </a:t>
            </a:r>
            <a:endParaRPr lang="en-US" sz="9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562600" cy="4495801"/>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Figure 6.11,</a:t>
            </a:r>
            <a:r>
              <a:rPr lang="en-US" altLang="en-US" sz="1100" baseline="0" dirty="0"/>
              <a:t> Page 224.</a:t>
            </a:r>
          </a:p>
          <a:p>
            <a:r>
              <a:rPr lang="en-US" sz="1100" b="0" i="1" u="none" strike="noStrike" kern="1200" cap="none" baseline="0" dirty="0">
                <a:solidFill>
                  <a:schemeClr val="tx1"/>
                </a:solidFill>
                <a:ea typeface="Arial"/>
                <a:cs typeface="Arial"/>
                <a:sym typeface="Arial"/>
              </a:rPr>
              <a:t>This diagram shows the relationships between the entities SUPPLIER, PART, LINE_ITEM, and ORDER that might be used to model the database in Figure 6.10.</a:t>
            </a:r>
          </a:p>
          <a:p>
            <a:endParaRPr lang="en-US" altLang="en-US" sz="11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100" dirty="0"/>
              <a:t>One technique database designers use in modeling the structure of the data is to use an entity-relationship diagram. Symbols on the diagram illustrate the types of relationships between entities. This graphic shows an example of an entity-relationship diagram. It shows that one ORDER can contain many LINE_ITEMs. (A PART can be ordered many times and appear many times as a line item in a single order.) Each LINE ITEM can contain only one PART. Each PART can have only one SUPPLIER, but many PARTs can be provided by the same SUPPLIER. Ask students what different types of relationships there are between entities (one-to-one, one-to-many, many-to-many).</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100" dirty="0"/>
          </a:p>
          <a:p>
            <a:pPr marL="0" marR="0">
              <a:lnSpc>
                <a:spcPct val="115000"/>
              </a:lnSpc>
              <a:spcBef>
                <a:spcPts val="0"/>
              </a:spcBef>
              <a:spcAft>
                <a:spcPts val="0"/>
              </a:spcAft>
            </a:pPr>
            <a:r>
              <a:rPr lang="en-US" altLang="en-US" sz="1100" u="sng" dirty="0"/>
              <a:t>Alt Text</a:t>
            </a:r>
          </a:p>
          <a:p>
            <a:pPr marL="0" marR="0">
              <a:lnSpc>
                <a:spcPct val="115000"/>
              </a:lnSpc>
              <a:spcBef>
                <a:spcPts val="0"/>
              </a:spcBef>
              <a:spcAft>
                <a:spcPts val="0"/>
              </a:spcAft>
            </a:pPr>
            <a:r>
              <a:rPr lang="en-US" altLang="en-US" sz="1100" dirty="0"/>
              <a:t>Long description: A diagram shows the relationships between the entities Supplier, Part, Line Item, and Order. </a:t>
            </a:r>
            <a:r>
              <a:rPr lang="en-US" sz="1100" dirty="0">
                <a:solidFill>
                  <a:srgbClr val="000000"/>
                </a:solidFill>
                <a:effectLst/>
                <a:ea typeface="Times New Roman" panose="02020603050405020304" pitchFamily="18" charset="0"/>
              </a:rPr>
              <a:t>The details of the relationships between the various entities in the diagram are as follows: </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Supplier to part: One-to-many</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Part to supplier: One-to-one</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Part to line item: One-to-one</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Line item to part: One-to-many</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Line item to order: One-to-one</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Order to line item: One-to-many </a:t>
            </a:r>
          </a:p>
          <a:p>
            <a:pPr marL="0" marR="0">
              <a:lnSpc>
                <a:spcPct val="115000"/>
              </a:lnSpc>
              <a:spcBef>
                <a:spcPts val="0"/>
              </a:spcBef>
              <a:spcAft>
                <a:spcPts val="0"/>
              </a:spcAft>
            </a:pPr>
            <a:endParaRPr lang="en-US" sz="11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1100" dirty="0">
                <a:solidFill>
                  <a:srgbClr val="000000"/>
                </a:solidFill>
                <a:effectLst/>
                <a:ea typeface="Times New Roman" panose="02020603050405020304" pitchFamily="18" charset="0"/>
              </a:rPr>
              <a:t>The one-to-one relationship is depicted by two short marks and the one -to-many relationship is depicted by a crow’s foot topped by a short mark. </a:t>
            </a:r>
          </a:p>
          <a:p>
            <a:pPr marL="0" marR="0">
              <a:lnSpc>
                <a:spcPct val="115000"/>
              </a:lnSpc>
              <a:spcBef>
                <a:spcPts val="0"/>
              </a:spcBef>
              <a:spcAft>
                <a:spcPts val="0"/>
              </a:spcAft>
            </a:pPr>
            <a:endParaRPr lang="en-US" sz="1100" dirty="0">
              <a:solidFill>
                <a:srgbClr val="000000"/>
              </a:solidFill>
              <a:effectLst/>
              <a:ea typeface="Times New Roman" panose="02020603050405020304" pitchFamily="18" charset="0"/>
            </a:endParaRPr>
          </a:p>
          <a:p>
            <a:pPr marL="0" marR="0">
              <a:lnSpc>
                <a:spcPct val="115000"/>
              </a:lnSpc>
              <a:spcBef>
                <a:spcPts val="0"/>
              </a:spcBef>
              <a:spcAft>
                <a:spcPts val="0"/>
              </a:spcAft>
            </a:pPr>
            <a:r>
              <a:rPr lang="en-US" sz="1100" dirty="0">
                <a:solidFill>
                  <a:srgbClr val="000000"/>
                </a:solidFill>
                <a:effectLst/>
                <a:ea typeface="Times New Roman" panose="02020603050405020304" pitchFamily="18" charset="0"/>
              </a:rPr>
              <a:t>The sequence of the entity relationship diagram is explained in two ways as follows: </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Supplier provides a part; part is ordered as per line item; line item belongs to an order.</a:t>
            </a:r>
          </a:p>
          <a:p>
            <a:pPr marL="571500" marR="0" lvl="0" indent="-571500">
              <a:lnSpc>
                <a:spcPct val="115000"/>
              </a:lnSpc>
              <a:spcBef>
                <a:spcPts val="0"/>
              </a:spcBef>
              <a:spcAft>
                <a:spcPts val="0"/>
              </a:spcAft>
              <a:buFont typeface="Arial" panose="020B0604020202020204" pitchFamily="34" charset="0"/>
              <a:buChar char="•"/>
            </a:pPr>
            <a:r>
              <a:rPr lang="en-US" sz="1100" dirty="0">
                <a:effectLst/>
                <a:ea typeface="Calibri" panose="020F0502020204030204" pitchFamily="34" charset="0"/>
              </a:rPr>
              <a:t>Order includes line item; line item contains part; part is supplied by supplier.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other types of DBMS. Ask students why one would want to store social media data in a non-relational database? The answer: social media involves many different file types, and the information is not easily organized into tables of columns and rows. Another option for businesses is to license database software </a:t>
            </a:r>
            <a:r>
              <a:rPr lang="ja-JP" altLang="en-US" dirty="0"/>
              <a:t>“</a:t>
            </a:r>
            <a:r>
              <a:rPr lang="en-US" altLang="ja-JP" dirty="0"/>
              <a:t>from the cloud.</a:t>
            </a:r>
            <a:r>
              <a:rPr lang="ja-JP" altLang="en-US" dirty="0"/>
              <a:t>”</a:t>
            </a:r>
            <a:r>
              <a:rPr lang="en-US" altLang="ja-JP" dirty="0"/>
              <a:t> What would be an advantage to using a database service? (A primary answer is scalability—you pay only for the exact services you need.)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other types of DBMS. Another option for businesses is to license database software </a:t>
            </a:r>
            <a:r>
              <a:rPr lang="ja-JP" altLang="en-US" dirty="0"/>
              <a:t>“</a:t>
            </a:r>
            <a:r>
              <a:rPr lang="en-US" altLang="ja-JP" dirty="0"/>
              <a:t>from the cloud.</a:t>
            </a:r>
            <a:r>
              <a:rPr lang="ja-JP" altLang="en-US" dirty="0"/>
              <a:t>”</a:t>
            </a:r>
            <a:r>
              <a:rPr lang="en-US" altLang="ja-JP" dirty="0"/>
              <a:t> What would be an advantage to using a database service? (A primary answer is scalability—you pay only for the exact services you need.)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11460217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err="1"/>
              <a:t>Blockchain</a:t>
            </a:r>
            <a:r>
              <a:rPr lang="en-US" baseline="0" dirty="0"/>
              <a:t> is a transaction database that uses encryption to ensure the validity of transactions among the parties in the system.  Blockchain is discussed more fully in Chapter 8 Securing Information Systems.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6.11,</a:t>
            </a:r>
            <a:r>
              <a:rPr lang="en-US" altLang="en-US" baseline="0" dirty="0"/>
              <a:t> Page 227.</a:t>
            </a:r>
          </a:p>
          <a:p>
            <a:r>
              <a:rPr lang="en-US" b="0" i="1" u="none" strike="noStrike" kern="1200" cap="none" baseline="0" dirty="0">
                <a:solidFill>
                  <a:schemeClr val="dk1"/>
                </a:solidFill>
                <a:ea typeface="Arial"/>
                <a:cs typeface="Arial"/>
                <a:sym typeface="Arial"/>
              </a:rPr>
              <a:t>A </a:t>
            </a:r>
            <a:r>
              <a:rPr lang="en-US" b="0" i="1" u="none" strike="noStrike" kern="1200" cap="none" baseline="0" dirty="0" err="1">
                <a:solidFill>
                  <a:schemeClr val="dk1"/>
                </a:solidFill>
                <a:ea typeface="Arial"/>
                <a:cs typeface="Arial"/>
                <a:sym typeface="Arial"/>
              </a:rPr>
              <a:t>blockchain</a:t>
            </a:r>
            <a:r>
              <a:rPr lang="en-US" b="0" i="1" u="none" strike="noStrike" kern="1200" cap="none" baseline="0" dirty="0">
                <a:solidFill>
                  <a:schemeClr val="dk1"/>
                </a:solidFill>
                <a:ea typeface="Arial"/>
                <a:cs typeface="Arial"/>
                <a:sym typeface="Arial"/>
              </a:rPr>
              <a:t> system is a distributed database that records transactions in a peer-to-peer network of computers</a:t>
            </a:r>
            <a:endParaRPr lang="en-US" altLang="en-US" b="0" i="1"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0" i="0" u="none" strike="noStrike" kern="1200" cap="none" baseline="0" dirty="0">
              <a:solidFill>
                <a:schemeClr val="tx1"/>
              </a:solidFill>
              <a:cs typeface="Arial"/>
              <a:sym typeface="Arial"/>
            </a:endParaRPr>
          </a:p>
          <a:p>
            <a:pPr marL="0" marR="0">
              <a:lnSpc>
                <a:spcPct val="115000"/>
              </a:lnSpc>
              <a:spcBef>
                <a:spcPts val="0"/>
              </a:spcBef>
              <a:spcAft>
                <a:spcPts val="0"/>
              </a:spcAft>
            </a:pPr>
            <a:r>
              <a:rPr lang="en-US" altLang="en-US" u="sng" dirty="0"/>
              <a:t>Alt Text</a:t>
            </a:r>
          </a:p>
          <a:p>
            <a:pPr marL="0" marR="0">
              <a:lnSpc>
                <a:spcPct val="115000"/>
              </a:lnSpc>
              <a:spcBef>
                <a:spcPts val="0"/>
              </a:spcBef>
              <a:spcAft>
                <a:spcPts val="0"/>
              </a:spcAft>
            </a:pPr>
            <a:r>
              <a:rPr lang="en-US" altLang="en-US" dirty="0"/>
              <a:t>Long description: A sequential flow diagram</a:t>
            </a:r>
            <a:r>
              <a:rPr lang="en-US" altLang="en-US" baseline="0" dirty="0"/>
              <a:t> explains the concept of blockchain. </a:t>
            </a:r>
            <a:r>
              <a:rPr lang="en-US" dirty="0">
                <a:solidFill>
                  <a:srgbClr val="000000"/>
                </a:solidFill>
                <a:effectLst/>
                <a:ea typeface="Times New Roman" panose="02020603050405020304" pitchFamily="18" charset="0"/>
              </a:rPr>
              <a:t>The steps are as follows: </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1: An order is submitted by a user or customer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2: The transaction is broadcast to a P2P network of computers</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3: The transaction is validated by others in the network </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4: The block is added to the chain of transactions for this user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5: Production, warehouse, logistics add additional blocks</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Step 6: The order is fulfilled. </a:t>
            </a:r>
          </a:p>
          <a:p>
            <a:r>
              <a:rPr lang="en-US" dirty="0">
                <a:solidFill>
                  <a:srgbClr val="000000"/>
                </a:solidFill>
                <a:effectLst/>
                <a:ea typeface="Times New Roman" panose="02020603050405020304" pitchFamily="18" charset="0"/>
              </a:rPr>
              <a:t>Step 1 and 2 are interconnected by the process of user verification, while step 2 and 3 are interconnected by the process of transaction validation. The steps are depicted as blocks, while the processes are represented as circles in the diagram. The interconnection is depicted via bidirectional arrows.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discusses how very large databases are used to produce valuable information for firms. The text gives the example of </a:t>
            </a:r>
            <a:r>
              <a:rPr lang="en-US" dirty="0">
                <a:solidFill>
                  <a:srgbClr val="000000"/>
                </a:solidFill>
              </a:rPr>
              <a:t>Shutterstock, a global online image marketplace with over 24 million images, which. by analyzing big data, is able to find out where its website visitors place their cursors and how long they hover over an image before making a purchase.</a:t>
            </a:r>
            <a:endParaRPr lang="en-US" dirty="0">
              <a:solidFill>
                <a:prstClr val="black"/>
              </a:solidFill>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Business intelligence is a very amorphous notion that is not well defined. In this course we refer instead to a “business intelligence” environment which is composed of many different components (including both technology and management dimensions).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the use of data warehouses and data marts by firms. Ask students why having a data warehouse is an advantage for firms hoping to perform business analyses on the data? Why does there have to be a repository of data that is separate from the transaction database?</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Hadoop</a:t>
            </a:r>
            <a:r>
              <a:rPr lang="en-US" altLang="ja-JP" baseline="0" dirty="0"/>
              <a:t> is one of the tools used by search engines such as Google and Bing to rapidly search billions of web pages and find those which appear to be the most relevant to a user’s search query.  This task is accomplished in a few milliseconds by distributing the data and the processing across tens of thousands of processors, and then pulling the results together to produce a web search page for users. Hadoop is far faster than SQL and traditional centralized databases running on very large mainframes or supercomputers.   Hadoop is an open source software library.</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24801082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600" dirty="0"/>
              <a:t>Figure 6.12,</a:t>
            </a:r>
            <a:r>
              <a:rPr lang="en-US" altLang="en-US" sz="1600" baseline="0" dirty="0"/>
              <a:t> Page 233.</a:t>
            </a:r>
          </a:p>
          <a:p>
            <a:r>
              <a:rPr lang="en-US" sz="1600" b="0" i="1" u="none" strike="noStrike" kern="1200" cap="none" baseline="0" dirty="0">
                <a:solidFill>
                  <a:schemeClr val="tx1"/>
                </a:solidFill>
                <a:ea typeface="Arial"/>
                <a:cs typeface="Arial"/>
                <a:sym typeface="Arial"/>
              </a:rPr>
              <a:t>A contemporary business intelligence infrastructure features capabilities and tools to manage and analyze large quantities and different types of data from multiple sources. Easy-to-use query and reporting tools for casual business users and more sophisticated analytical toolsets for power users are included.</a:t>
            </a:r>
          </a:p>
          <a:p>
            <a:endParaRPr lang="en-US" altLang="en-US" sz="16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600" dirty="0"/>
              <a:t>This graphic illustrates the components of a contemporary business intelligence infrastructure. It shows that the data warehouse extracts data from multiple sources, both internal and external, including a Hadoop data lake, and transforms it as needed for the business intelligence systems. An analytic platform has tools for power users, including reporting, OLAP, and data mining, to extract meaningful information from the data warehouse and Hadoop data lake. A subset of the data warehouse is collected in a data mart for casual groups of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a:lnSpc>
                <a:spcPct val="115000"/>
              </a:lnSpc>
              <a:spcBef>
                <a:spcPts val="0"/>
              </a:spcBef>
              <a:spcAft>
                <a:spcPts val="0"/>
              </a:spcAft>
            </a:pPr>
            <a:r>
              <a:rPr lang="en-US" altLang="ja-JP" u="sng" dirty="0"/>
              <a:t>Alt Text</a:t>
            </a:r>
          </a:p>
          <a:p>
            <a:pPr marL="0" marR="0">
              <a:lnSpc>
                <a:spcPct val="115000"/>
              </a:lnSpc>
              <a:spcBef>
                <a:spcPts val="0"/>
              </a:spcBef>
              <a:spcAft>
                <a:spcPts val="0"/>
              </a:spcAft>
            </a:pPr>
            <a:r>
              <a:rPr lang="en-US" altLang="ja-JP" dirty="0"/>
              <a:t>Long description: An illustration explains the components of a contemporary business intelligence infrastructure. </a:t>
            </a:r>
            <a:r>
              <a:rPr lang="en-US" dirty="0">
                <a:solidFill>
                  <a:srgbClr val="000000"/>
                </a:solidFill>
                <a:effectLst/>
                <a:ea typeface="Times New Roman" panose="02020603050405020304" pitchFamily="18" charset="0"/>
              </a:rPr>
              <a:t>At the center of the illustration is the data warehouse, which is connected to the Hadoop data lake. The Hadoop data lake comprises of the following data: </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Operational</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Historical</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IOT</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Web and social media</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Audio and video</a:t>
            </a:r>
          </a:p>
          <a:p>
            <a:pPr marL="342900" marR="0" lvl="0" indent="-34290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External </a:t>
            </a:r>
          </a:p>
          <a:p>
            <a:pPr marL="0" marR="0">
              <a:lnSpc>
                <a:spcPct val="115000"/>
              </a:lnSpc>
              <a:spcBef>
                <a:spcPts val="0"/>
              </a:spcBef>
              <a:spcAft>
                <a:spcPts val="0"/>
              </a:spcAft>
            </a:pPr>
            <a:r>
              <a:rPr lang="en-US" dirty="0">
                <a:solidFill>
                  <a:srgbClr val="000000"/>
                </a:solidFill>
                <a:effectLst/>
                <a:ea typeface="Times New Roman" panose="02020603050405020304" pitchFamily="18" charset="0"/>
              </a:rPr>
              <a:t>The operational data from the above list is directly connected to the data warehouse to extract, transform, and load data. The data warehouse is additionally connected to the data mart. </a:t>
            </a:r>
          </a:p>
          <a:p>
            <a:pPr marL="0" marR="0">
              <a:lnSpc>
                <a:spcPct val="115000"/>
              </a:lnSpc>
              <a:spcBef>
                <a:spcPts val="0"/>
              </a:spcBef>
              <a:spcAft>
                <a:spcPts val="0"/>
              </a:spcAft>
            </a:pPr>
            <a:r>
              <a:rPr lang="en-US" dirty="0">
                <a:solidFill>
                  <a:srgbClr val="000000"/>
                </a:solidFill>
                <a:effectLst/>
                <a:ea typeface="Times New Roman" panose="02020603050405020304" pitchFamily="18" charset="0"/>
              </a:rPr>
              <a:t>The data mart is interconnected to casual users who generate queries, reports, and dashboards. The casual users are interconnected to the data warehouse as well. Here, the interconnectedness is depicted through a solid bidirectional arrow.</a:t>
            </a:r>
          </a:p>
          <a:p>
            <a:pPr marL="0" marR="0">
              <a:lnSpc>
                <a:spcPct val="115000"/>
              </a:lnSpc>
              <a:spcBef>
                <a:spcPts val="0"/>
              </a:spcBef>
              <a:spcAft>
                <a:spcPts val="0"/>
              </a:spcAft>
            </a:pPr>
            <a:r>
              <a:rPr lang="en-US" dirty="0">
                <a:solidFill>
                  <a:srgbClr val="000000"/>
                </a:solidFill>
                <a:effectLst/>
                <a:ea typeface="Times New Roman" panose="02020603050405020304" pitchFamily="18" charset="0"/>
              </a:rPr>
              <a:t>The Hadoop data lake is also connected to the analytic platform, which in turn is interconnected to the data warehouse. The interconnectedness is depicted through a dashed bidirectional arrow. </a:t>
            </a:r>
          </a:p>
          <a:p>
            <a:pPr marL="0" marR="0">
              <a:lnSpc>
                <a:spcPct val="115000"/>
              </a:lnSpc>
              <a:spcBef>
                <a:spcPts val="0"/>
              </a:spcBef>
              <a:spcAft>
                <a:spcPts val="0"/>
              </a:spcAft>
            </a:pPr>
            <a:r>
              <a:rPr lang="en-US" dirty="0">
                <a:solidFill>
                  <a:srgbClr val="000000"/>
                </a:solidFill>
                <a:effectLst/>
                <a:ea typeface="Times New Roman" panose="02020603050405020304" pitchFamily="18" charset="0"/>
              </a:rPr>
              <a:t>The analytic platform is interconnected to power users who generate queries, reports, OLAP, and perform data mining. The power users are also directly interconnected to the data warehouse and the Hadoop data lake as well. Here, the interconnectedness is depicted through a solid bidirectional arrow.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role and types of analytical tools and techniques for finding useful information and relationships in large data sets.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online analytical processing, one of the three principal tools for gathering business intelligence. Ask students to come up with additional examples of what a multidimensional query might be.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Figure 6.14,</a:t>
            </a:r>
            <a:r>
              <a:rPr lang="en-US" altLang="en-US" sz="1200" baseline="0" dirty="0">
                <a:latin typeface="+mn-lt"/>
              </a:rPr>
              <a:t> Page 234.</a:t>
            </a:r>
          </a:p>
          <a:p>
            <a:r>
              <a:rPr lang="en-US" sz="1200" b="0" i="1" u="none" strike="noStrike" kern="1200" cap="none" baseline="0" dirty="0">
                <a:solidFill>
                  <a:schemeClr val="tx1"/>
                </a:solidFill>
                <a:latin typeface="+mn-lt"/>
                <a:ea typeface="Arial"/>
                <a:cs typeface="Arial"/>
                <a:sym typeface="Arial"/>
              </a:rPr>
              <a:t>This view shows product versus region. If you rotate the cube 90 degrees, the face that will show is product versus actual and projected sales. If you rotate the cube 90 degrees again, you will see region versus actual and projected sales. Other views are possible.</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mn-lt"/>
              </a:rPr>
              <a:t>This graphic illustrates the concept of dimensions as it relates to data. Product is one dimension. East is a dimension and projected and actual sales are two more dimensions. Altogether, we are trying to analyze four dimensions. The business question is: In the Eastern region, what are the actual and projected sales of our products (nuts, bolts, washers, and screws)? Sometimes referred to as a </a:t>
            </a:r>
            <a:r>
              <a:rPr lang="ja-JP" altLang="en-US" sz="1200" dirty="0">
                <a:latin typeface="+mn-lt"/>
              </a:rPr>
              <a:t>“</a:t>
            </a:r>
            <a:r>
              <a:rPr lang="en-US" altLang="ja-JP" sz="1200" dirty="0">
                <a:latin typeface="+mn-lt"/>
              </a:rPr>
              <a:t>data cube,</a:t>
            </a:r>
            <a:r>
              <a:rPr lang="ja-JP" altLang="en-US" sz="1200" dirty="0">
                <a:latin typeface="+mn-lt"/>
              </a:rPr>
              <a:t>”</a:t>
            </a:r>
            <a:r>
              <a:rPr lang="en-US" altLang="ja-JP" sz="1200" dirty="0">
                <a:latin typeface="+mn-lt"/>
              </a:rPr>
              <a:t> the graphic can depict this four-dimensional view of the data. More importantly, when compared to a spreadsheet model of the same data, a graphical data cube is much faster, easier to understand and visualize the relationships.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latin typeface="+mn-lt"/>
              </a:rPr>
              <a:t>Alt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n-lt"/>
              </a:rPr>
              <a:t>Long description: </a:t>
            </a:r>
            <a:r>
              <a:rPr lang="en-US" sz="1200" dirty="0">
                <a:solidFill>
                  <a:srgbClr val="000000"/>
                </a:solidFill>
                <a:effectLst/>
                <a:latin typeface="+mn-lt"/>
                <a:ea typeface="Times New Roman" panose="02020603050405020304" pitchFamily="18" charset="0"/>
              </a:rPr>
              <a:t>A three-dimensional matrix in the form a cuboid, compares actual and projected sales for four products across three regions. The four products are nuts, bolts, washers, and screws represented along the vertical dimension in the matrix. The regions are east, west, and central along one of the horizontal dimensions, while the other represents projected and actual sales.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defRPr/>
            </a:pPr>
            <a:r>
              <a:rPr lang="en-US" sz="1200" b="0" i="0" u="none" strike="noStrike" kern="1200" cap="none" dirty="0">
                <a:solidFill>
                  <a:schemeClr val="dk1"/>
                </a:solidFill>
                <a:latin typeface="+mn-lt"/>
                <a:ea typeface="Arial"/>
                <a:cs typeface="Arial"/>
                <a:sym typeface="Arial"/>
              </a:rPr>
              <a:t>This slide discusses another business intelligence tool driven by databases, data mining. Data mining provides insights into data that cannot be discovered through OLAP, by inferring rules from patterns in data.  Ask students to describe the types of information listed: </a:t>
            </a:r>
          </a:p>
          <a:p>
            <a:pPr marL="171450" indent="-171450">
              <a:spcAft>
                <a:spcPct val="30000"/>
              </a:spcAft>
              <a:buFont typeface="Arial" panose="020B0604020202020204" pitchFamily="34" charset="0"/>
              <a:buChar char="•"/>
              <a:defRPr/>
            </a:pPr>
            <a:r>
              <a:rPr lang="en-US" sz="1200" b="0" i="0" u="none" strike="noStrike" kern="1200" cap="none" dirty="0">
                <a:solidFill>
                  <a:schemeClr val="dk1"/>
                </a:solidFill>
                <a:latin typeface="+mn-lt"/>
                <a:ea typeface="Arial"/>
                <a:cs typeface="Arial"/>
                <a:sym typeface="Arial"/>
              </a:rPr>
              <a:t>A</a:t>
            </a:r>
            <a:r>
              <a:rPr lang="en-US" sz="1200" b="0" i="0" u="none" strike="noStrike" kern="1200" cap="none" dirty="0">
                <a:solidFill>
                  <a:schemeClr val="dk1"/>
                </a:solidFill>
                <a:latin typeface="+mn-lt"/>
                <a:ea typeface="Arial"/>
                <a:cs typeface="Times New Roman" pitchFamily="18" charset="0"/>
                <a:sym typeface="Arial"/>
              </a:rPr>
              <a:t>ssociations: Occurrences linked to single event</a:t>
            </a:r>
          </a:p>
          <a:p>
            <a:pPr marL="171450" indent="-171450">
              <a:spcAft>
                <a:spcPct val="30000"/>
              </a:spcAft>
              <a:buFont typeface="Arial" panose="020B0604020202020204" pitchFamily="34" charset="0"/>
              <a:buChar char="•"/>
              <a:defRPr/>
            </a:pPr>
            <a:r>
              <a:rPr lang="en-US" sz="1200" b="0" i="0" u="none" strike="noStrike" kern="1200" cap="none" dirty="0">
                <a:solidFill>
                  <a:schemeClr val="dk1"/>
                </a:solidFill>
                <a:latin typeface="+mn-lt"/>
                <a:ea typeface="Arial"/>
                <a:cs typeface="Times New Roman" pitchFamily="18" charset="0"/>
                <a:sym typeface="Arial"/>
              </a:rPr>
              <a:t>Sequences: Events linked over time</a:t>
            </a:r>
          </a:p>
          <a:p>
            <a:pPr marL="171450" indent="-171450">
              <a:spcAft>
                <a:spcPct val="30000"/>
              </a:spcAft>
              <a:buFont typeface="Arial" panose="020B0604020202020204" pitchFamily="34" charset="0"/>
              <a:buChar char="•"/>
              <a:defRPr/>
            </a:pPr>
            <a:r>
              <a:rPr lang="en-US" sz="1200" b="0" i="0" u="none" strike="noStrike" kern="1200" cap="none" dirty="0">
                <a:solidFill>
                  <a:schemeClr val="dk1"/>
                </a:solidFill>
                <a:latin typeface="+mn-lt"/>
                <a:ea typeface="Arial"/>
                <a:cs typeface="Times New Roman" pitchFamily="18" charset="0"/>
                <a:sym typeface="Arial"/>
              </a:rPr>
              <a:t>Classification: Recognizes patterns that describe group to which item belongs</a:t>
            </a:r>
          </a:p>
          <a:p>
            <a:pPr marL="171450" indent="-171450">
              <a:spcAft>
                <a:spcPct val="30000"/>
              </a:spcAft>
              <a:buFont typeface="Arial" panose="020B0604020202020204" pitchFamily="34" charset="0"/>
              <a:buChar char="•"/>
              <a:defRPr/>
            </a:pPr>
            <a:r>
              <a:rPr lang="en-US" sz="1200" b="0" i="0" u="none" strike="noStrike" kern="1200" cap="none" dirty="0">
                <a:solidFill>
                  <a:schemeClr val="dk1"/>
                </a:solidFill>
                <a:latin typeface="+mn-lt"/>
                <a:ea typeface="Arial"/>
                <a:cs typeface="Times New Roman" pitchFamily="18" charset="0"/>
                <a:sym typeface="Arial"/>
              </a:rPr>
              <a:t>Clustering: Similar to classification when no groups have been defined; finds groupings within data</a:t>
            </a:r>
          </a:p>
          <a:p>
            <a:pPr marL="171450" indent="-171450">
              <a:spcAft>
                <a:spcPct val="30000"/>
              </a:spcAft>
              <a:buFont typeface="Arial" panose="020B0604020202020204" pitchFamily="34" charset="0"/>
              <a:buChar char="•"/>
              <a:defRPr/>
            </a:pPr>
            <a:r>
              <a:rPr lang="en-US" sz="1200" b="0" i="0" u="none" strike="noStrike" kern="1200" cap="none" dirty="0">
                <a:solidFill>
                  <a:schemeClr val="dk1"/>
                </a:solidFill>
                <a:latin typeface="+mn-lt"/>
                <a:ea typeface="Arial"/>
                <a:cs typeface="Times New Roman" pitchFamily="18" charset="0"/>
                <a:sym typeface="Arial"/>
              </a:rPr>
              <a:t>Forecasting: Uses series of existing values to forecast what other values will be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Whereas data mining describes analysis of data in databases, there are other types of information that can be </a:t>
            </a:r>
            <a:r>
              <a:rPr lang="ja-JP" altLang="en-US" dirty="0"/>
              <a:t>“</a:t>
            </a:r>
            <a:r>
              <a:rPr lang="en-US" altLang="ja-JP" dirty="0"/>
              <a:t>mined,</a:t>
            </a:r>
            <a:r>
              <a:rPr lang="ja-JP" altLang="en-US" dirty="0"/>
              <a:t>”</a:t>
            </a:r>
            <a:r>
              <a:rPr lang="en-US" altLang="ja-JP" dirty="0"/>
              <a:t> such as text mining and web mining. Ask students what other types of unstructured textual data sets a company might store, and what kind of useful information might be extracted from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exploration of mining stored data for valuable information. In addition to text mining, there are several ways to mine information on the web. The text uses the example of marketers using the Google Trends service, which track the popularity of various words and phrases used in Google search queries, to learn what people are interested in and what they are interested in buying. What type of web mining is this? Why might a marketer be interested in the number of web pages that link to a site.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how companies utilize the web to access company databases. Ask students to describe the flow of information from a company</a:t>
            </a:r>
            <a:r>
              <a:rPr lang="en-US" altLang="ja-JP" dirty="0"/>
              <a:t>’s databases to the web page a user is accessing data on. Why is browser software easy to use? Why is it less expensive to add a web interface to a database-driven information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6.15,</a:t>
            </a:r>
            <a:r>
              <a:rPr lang="en-US" altLang="en-US" baseline="0" dirty="0"/>
              <a:t> Page 236.</a:t>
            </a:r>
          </a:p>
          <a:p>
            <a:r>
              <a:rPr lang="en-US" b="0" i="1" u="none" strike="noStrike" kern="1200" cap="none" baseline="0" dirty="0">
                <a:solidFill>
                  <a:schemeClr val="tx1"/>
                </a:solidFill>
                <a:ea typeface="Arial"/>
                <a:cs typeface="Arial"/>
                <a:sym typeface="Arial"/>
              </a:rPr>
              <a:t>Users access an organization’s internal database through the web using their desktop PC browsers or mobile apps.</a:t>
            </a:r>
          </a:p>
          <a:p>
            <a:endParaRPr lang="en-US" altLang="ja-JP" b="0" i="0" u="none" strike="noStrike" kern="1200" cap="none" baseline="0" dirty="0">
              <a:solidFill>
                <a:schemeClr val="tx1"/>
              </a:solidFill>
              <a:cs typeface="Arial"/>
              <a:sym typeface="Arial"/>
            </a:endParaRPr>
          </a:p>
          <a:p>
            <a:pPr marL="0" marR="0">
              <a:lnSpc>
                <a:spcPct val="115000"/>
              </a:lnSpc>
              <a:spcBef>
                <a:spcPts val="0"/>
              </a:spcBef>
              <a:spcAft>
                <a:spcPts val="0"/>
              </a:spcAft>
            </a:pPr>
            <a:r>
              <a:rPr lang="en-US" altLang="ja-JP" b="0" u="sng" strike="noStrike" kern="1200" cap="none" baseline="0" dirty="0">
                <a:solidFill>
                  <a:schemeClr val="tx1"/>
                </a:solidFill>
                <a:cs typeface="Arial"/>
                <a:sym typeface="Arial"/>
              </a:rPr>
              <a:t>Alt Text</a:t>
            </a:r>
          </a:p>
          <a:p>
            <a:pPr marL="0" marR="0">
              <a:lnSpc>
                <a:spcPct val="115000"/>
              </a:lnSpc>
              <a:spcBef>
                <a:spcPts val="0"/>
              </a:spcBef>
              <a:spcAft>
                <a:spcPts val="0"/>
              </a:spcAft>
            </a:pPr>
            <a:r>
              <a:rPr lang="en-US" altLang="ja-JP" b="0" i="0" u="none" strike="noStrike" kern="1200" cap="none" baseline="0" dirty="0">
                <a:solidFill>
                  <a:schemeClr val="tx1"/>
                </a:solidFill>
                <a:cs typeface="Arial"/>
                <a:sym typeface="Arial"/>
              </a:rPr>
              <a:t>Long description: A linear flow diagram explains how users access an internal database through the web using their desktop computers. </a:t>
            </a:r>
            <a:r>
              <a:rPr lang="en-US" dirty="0">
                <a:solidFill>
                  <a:srgbClr val="000000"/>
                </a:solidFill>
                <a:effectLst/>
                <a:ea typeface="Times New Roman" panose="02020603050405020304" pitchFamily="18" charset="0"/>
              </a:rPr>
              <a:t>The flow from left to right is as follows: </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Client with web browser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Internet</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Web server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Application server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Database server</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Database</a:t>
            </a:r>
          </a:p>
          <a:p>
            <a:endParaRPr lang="en-US" dirty="0">
              <a:solidFill>
                <a:srgbClr val="000000"/>
              </a:solidFill>
              <a:effectLst/>
              <a:ea typeface="Times New Roman" panose="02020603050405020304" pitchFamily="18" charset="0"/>
            </a:endParaRPr>
          </a:p>
          <a:p>
            <a:r>
              <a:rPr lang="en-US" dirty="0">
                <a:solidFill>
                  <a:srgbClr val="000000"/>
                </a:solidFill>
                <a:effectLst/>
                <a:ea typeface="Times New Roman" panose="02020603050405020304" pitchFamily="18" charset="0"/>
              </a:rPr>
              <a:t>All these are interconnected via bidirectional arrows in the flow diagram.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firm</a:t>
            </a:r>
            <a:r>
              <a:rPr lang="en-US" altLang="ja-JP" dirty="0"/>
              <a:t>’s need for data governance in order to ensure that firm data is accurate, reliable, and readily available to those who need it.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importance of data quality. Ask students for personal examples of what happens when a company</a:t>
            </a:r>
            <a:r>
              <a:rPr lang="en-US" altLang="ja-JP" dirty="0"/>
              <a:t>’s data is faulty. The text provides an example of one study finding that 10 to 25 percent of customer and prospect records contain critical data errors. Has anyone in class directly experienced a problem with the accuracy of data about them stored on computer systems?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on how MIS will help students with their current or future careers. Would any in the class be interested in a job like this? What do they think are the most important skills the employer is looking for? How would they answer the interviewer questions?</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079047E1-AF2C-48B9-BF3B-AC39859C9B49}"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686250" cy="209250"/>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2BAE9684-1800-425B-B39F-A4578F7CEBA4}"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2CF82746-6EB3-482F-AA2A-2BAD7365A79C}"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7637D01D-01E1-4517-915F-CB9E114E4EE0}"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921536"/>
            <a:ext cx="8595360" cy="137160"/>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BAF72F0A-9AFB-4A22-9F04-201458CEBBD9}"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4A19D954-7036-40C3-BBE1-AA55D6683E49}"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857750"/>
            <a:ext cx="8595360" cy="285750"/>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1A64BEC9-51B5-4FA9-AA9D-D54B779AF210}"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EED0E7DC-270C-45FD-9A36-84682B4A0676}"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3F9AB5E5-3845-4752-83E3-8B320D966E2B}"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E7A0824B-9B40-46D8-A7D3-EC6E01185120}"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34F15EBD-B0D6-4AEA-B01D-F6246F39FEB2}"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E60F7339-F3DF-4CCD-AC7B-6BA35C6812CE}"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429546"/>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dirty="0"/>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E11C090A-3EA0-43F7-9CCA-1F3C0D1D71B2}"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12D0324F-E3AE-468E-A7EE-7AF33E41582B}"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118"/>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45299"/>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6</a:t>
            </a:r>
          </a:p>
        </p:txBody>
      </p:sp>
      <p:sp>
        <p:nvSpPr>
          <p:cNvPr id="5" name="Text Placeholder 4"/>
          <p:cNvSpPr>
            <a:spLocks noGrp="1"/>
          </p:cNvSpPr>
          <p:nvPr>
            <p:ph type="body" sz="quarter" idx="15"/>
          </p:nvPr>
        </p:nvSpPr>
        <p:spPr>
          <a:xfrm>
            <a:off x="4569035" y="2571750"/>
            <a:ext cx="4117765" cy="923330"/>
          </a:xfrm>
        </p:spPr>
        <p:txBody>
          <a:bodyPr wrap="square">
            <a:spAutoFit/>
          </a:bodyPr>
          <a:lstStyle/>
          <a:p>
            <a:r>
              <a:rPr lang="en-IN" altLang="en-US" sz="2000" dirty="0"/>
              <a:t>Foundations of Business Intelligence: Databases and Information Management</a:t>
            </a:r>
          </a:p>
        </p:txBody>
      </p:sp>
      <p:sp>
        <p:nvSpPr>
          <p:cNvPr id="11" name="Text Placeholder 3"/>
          <p:cNvSpPr>
            <a:spLocks noGrp="1"/>
          </p:cNvSpPr>
          <p:nvPr>
            <p:ph type="body" sz="quarter" idx="14"/>
          </p:nvPr>
        </p:nvSpPr>
        <p:spPr>
          <a:xfrm>
            <a:off x="2296351" y="4844687"/>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9494CD76-C8B8-4137-9E5E-52D59C36BAB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89456" y="1577569"/>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699603"/>
            <a:ext cx="8229600" cy="3693319"/>
          </a:xfrm>
        </p:spPr>
        <p:txBody>
          <a:bodyPr vert="horz" lIns="0" tIns="0" rIns="0" bIns="0" rtlCol="0" anchor="t">
            <a:spAutoFit/>
          </a:bodyPr>
          <a:lstStyle/>
          <a:p>
            <a:pPr marL="447675" indent="-447675">
              <a:spcBef>
                <a:spcPts val="600"/>
              </a:spcBef>
              <a:buNone/>
              <a:tabLst>
                <a:tab pos="452438" algn="l"/>
              </a:tabLst>
            </a:pPr>
            <a:r>
              <a:rPr lang="en-US" altLang="en-US" sz="2200" b="1" dirty="0">
                <a:solidFill>
                  <a:schemeClr val="bg2"/>
                </a:solidFill>
              </a:rPr>
              <a:t>6.1</a:t>
            </a:r>
            <a:r>
              <a:rPr lang="en-US" altLang="en-US" sz="2200" b="1" dirty="0"/>
              <a:t> </a:t>
            </a:r>
            <a:r>
              <a:rPr lang="en-US" sz="2200" dirty="0"/>
              <a:t>What are the problems of managing data resources in a traditional file environment?</a:t>
            </a:r>
            <a:endParaRPr lang="en-IN" altLang="en-US" sz="2200" dirty="0"/>
          </a:p>
          <a:p>
            <a:pPr marL="447675" indent="-447675">
              <a:spcBef>
                <a:spcPts val="600"/>
              </a:spcBef>
              <a:buNone/>
              <a:tabLst>
                <a:tab pos="452438" algn="l"/>
              </a:tabLst>
            </a:pPr>
            <a:r>
              <a:rPr lang="en-US" altLang="en-US" sz="2200" b="1" dirty="0">
                <a:solidFill>
                  <a:schemeClr val="bg2"/>
                </a:solidFill>
              </a:rPr>
              <a:t>6.2</a:t>
            </a:r>
            <a:r>
              <a:rPr lang="en-US" altLang="en-US" sz="2200" b="1" dirty="0"/>
              <a:t> </a:t>
            </a:r>
            <a:r>
              <a:rPr lang="en-US" sz="2200" dirty="0"/>
              <a:t>What are the major capabilities of database management systems (</a:t>
            </a:r>
            <a:r>
              <a:rPr lang="en-US" sz="2200" spc="-300" dirty="0"/>
              <a:t>D B M S</a:t>
            </a:r>
            <a:r>
              <a:rPr lang="en-US" sz="2200" dirty="0"/>
              <a:t>), and why is a relational </a:t>
            </a:r>
            <a:r>
              <a:rPr lang="en-US" sz="2200" spc="-300" dirty="0"/>
              <a:t>D B M S</a:t>
            </a:r>
            <a:r>
              <a:rPr lang="en-US" sz="2200" dirty="0"/>
              <a:t> so powerful?</a:t>
            </a:r>
            <a:endParaRPr lang="en-IN" altLang="en-US" sz="2200" dirty="0"/>
          </a:p>
          <a:p>
            <a:pPr marL="447675" indent="-447675">
              <a:spcBef>
                <a:spcPts val="600"/>
              </a:spcBef>
              <a:buNone/>
              <a:tabLst>
                <a:tab pos="452438" algn="l"/>
              </a:tabLst>
            </a:pPr>
            <a:r>
              <a:rPr lang="en-US" altLang="en-US" sz="2200" b="1" dirty="0">
                <a:solidFill>
                  <a:schemeClr val="bg2"/>
                </a:solidFill>
              </a:rPr>
              <a:t>6.3</a:t>
            </a:r>
            <a:r>
              <a:rPr lang="en-US" altLang="en-US" sz="2200" b="1" dirty="0"/>
              <a:t> </a:t>
            </a:r>
            <a:r>
              <a:rPr lang="en-US" sz="2200" dirty="0"/>
              <a:t>What are the principal tools and technologies for accessing information from databases to improve business performance and decision making?</a:t>
            </a:r>
            <a:endParaRPr lang="en-IN" altLang="en-US" sz="2200" dirty="0"/>
          </a:p>
          <a:p>
            <a:pPr marL="447675" indent="-447675">
              <a:spcBef>
                <a:spcPts val="600"/>
              </a:spcBef>
              <a:buNone/>
              <a:tabLst>
                <a:tab pos="452438" algn="l"/>
              </a:tabLst>
            </a:pPr>
            <a:r>
              <a:rPr lang="en-US" altLang="en-US" sz="2200" b="1" dirty="0">
                <a:solidFill>
                  <a:schemeClr val="bg2"/>
                </a:solidFill>
              </a:rPr>
              <a:t>6.4</a:t>
            </a:r>
            <a:r>
              <a:rPr lang="en-US" altLang="en-US" sz="2200" dirty="0">
                <a:cs typeface="Arial"/>
              </a:rPr>
              <a:t> </a:t>
            </a:r>
            <a:r>
              <a:rPr lang="en-US" sz="2200" dirty="0"/>
              <a:t>Why are data governance and data quality assurance essential for managing the firm’s data resources?</a:t>
            </a:r>
          </a:p>
          <a:p>
            <a:pPr marL="0" indent="0">
              <a:spcBef>
                <a:spcPts val="600"/>
              </a:spcBef>
              <a:buNone/>
            </a:pPr>
            <a:r>
              <a:rPr lang="en-US" altLang="en-US" sz="2200" b="1" dirty="0">
                <a:solidFill>
                  <a:schemeClr val="bg2"/>
                </a:solidFill>
              </a:rPr>
              <a:t>6.5</a:t>
            </a:r>
            <a:r>
              <a:rPr lang="en-US" altLang="en-US" sz="2200" dirty="0">
                <a:cs typeface="Arial"/>
              </a:rPr>
              <a:t> </a:t>
            </a:r>
            <a:r>
              <a:rPr lang="en-US" sz="2200" dirty="0"/>
              <a:t>How will MIS help my career?</a:t>
            </a:r>
          </a:p>
        </p:txBody>
      </p:sp>
      <p:sp>
        <p:nvSpPr>
          <p:cNvPr id="2" name="Footer Placeholder 1">
            <a:extLst>
              <a:ext uri="{FF2B5EF4-FFF2-40B4-BE49-F238E27FC236}">
                <a16:creationId xmlns:a16="http://schemas.microsoft.com/office/drawing/2014/main" id="{71D9D117-DCE2-45D5-8EFE-230E102DB5A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087"/>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76116"/>
            <a:ext cx="8229600" cy="1300356"/>
          </a:xfrm>
        </p:spPr>
        <p:txBody>
          <a:bodyPr>
            <a:spAutoFit/>
          </a:bodyPr>
          <a:lstStyle/>
          <a:p>
            <a:pPr indent="-255600"/>
            <a:r>
              <a:rPr lang="en-IN" dirty="0"/>
              <a:t>Case 1: </a:t>
            </a:r>
            <a:r>
              <a:rPr lang="en-US" dirty="0"/>
              <a:t>Brooks Brothers Closes In on </a:t>
            </a:r>
            <a:r>
              <a:rPr lang="en-US" dirty="0" err="1"/>
              <a:t>Omnichannel</a:t>
            </a:r>
            <a:r>
              <a:rPr lang="en-US" dirty="0"/>
              <a:t> Retail</a:t>
            </a:r>
            <a:r>
              <a:rPr lang="en-IN" dirty="0"/>
              <a:t> </a:t>
            </a:r>
          </a:p>
          <a:p>
            <a:pPr indent="-255600"/>
            <a:r>
              <a:rPr lang="en-US" dirty="0"/>
              <a:t>Case 2:</a:t>
            </a:r>
            <a:r>
              <a:rPr lang="en-IN" dirty="0"/>
              <a:t> </a:t>
            </a:r>
            <a:r>
              <a:rPr lang="en-US" dirty="0" err="1"/>
              <a:t>Maruti</a:t>
            </a:r>
            <a:r>
              <a:rPr lang="en-US" dirty="0"/>
              <a:t> Suzuki Business Intelligence and Enterprise Databases</a:t>
            </a:r>
            <a:endParaRPr lang="en-IN" dirty="0"/>
          </a:p>
        </p:txBody>
      </p:sp>
      <p:sp>
        <p:nvSpPr>
          <p:cNvPr id="2" name="Footer Placeholder 1">
            <a:extLst>
              <a:ext uri="{FF2B5EF4-FFF2-40B4-BE49-F238E27FC236}">
                <a16:creationId xmlns:a16="http://schemas.microsoft.com/office/drawing/2014/main" id="{4D74AB4F-C622-42E8-8F3C-DF97ADB86ED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altLang="en-US" dirty="0"/>
              <a:t>Astro: Leveraging Data for Customer-driven Service</a:t>
            </a:r>
            <a:endParaRPr lang="en-US" sz="2800" dirty="0"/>
          </a:p>
        </p:txBody>
      </p:sp>
      <p:sp>
        <p:nvSpPr>
          <p:cNvPr id="5" name="Content Placeholder 4"/>
          <p:cNvSpPr>
            <a:spLocks noGrp="1"/>
          </p:cNvSpPr>
          <p:nvPr>
            <p:ph idx="1"/>
          </p:nvPr>
        </p:nvSpPr>
        <p:spPr>
          <a:xfrm>
            <a:off x="457200" y="1222079"/>
            <a:ext cx="8229600" cy="4001095"/>
          </a:xfrm>
        </p:spPr>
        <p:txBody>
          <a:bodyPr>
            <a:spAutoFit/>
          </a:bodyPr>
          <a:lstStyle/>
          <a:p>
            <a:r>
              <a:rPr lang="en-IN" sz="2200" dirty="0"/>
              <a:t>Problem</a:t>
            </a:r>
          </a:p>
          <a:p>
            <a:pPr lvl="1"/>
            <a:r>
              <a:rPr lang="en-US" dirty="0"/>
              <a:t>Increasing local and international competition</a:t>
            </a:r>
          </a:p>
          <a:p>
            <a:pPr lvl="1"/>
            <a:r>
              <a:rPr lang="en-US" dirty="0"/>
              <a:t>Data fragmented across multiple systems and files</a:t>
            </a:r>
            <a:endParaRPr lang="en-IN" dirty="0"/>
          </a:p>
          <a:p>
            <a:pPr>
              <a:spcBef>
                <a:spcPts val="600"/>
              </a:spcBef>
            </a:pPr>
            <a:r>
              <a:rPr lang="en-IN" sz="2200" dirty="0"/>
              <a:t>Solutions</a:t>
            </a:r>
          </a:p>
          <a:p>
            <a:pPr lvl="1"/>
            <a:r>
              <a:rPr lang="it-IT" dirty="0"/>
              <a:t>Astro Data Lake </a:t>
            </a:r>
          </a:p>
          <a:p>
            <a:pPr lvl="1"/>
            <a:r>
              <a:rPr lang="it-IT" dirty="0"/>
              <a:t>Simple Storage Service </a:t>
            </a:r>
          </a:p>
          <a:p>
            <a:pPr lvl="1"/>
            <a:r>
              <a:rPr lang="it-IT" dirty="0"/>
              <a:t>Elastic Compute Cloud</a:t>
            </a:r>
          </a:p>
          <a:p>
            <a:pPr>
              <a:spcBef>
                <a:spcPts val="600"/>
              </a:spcBef>
            </a:pPr>
            <a:r>
              <a:rPr lang="en-US" sz="2200" dirty="0"/>
              <a:t>Illustrates the importance of data management for better decision making and customer analysis</a:t>
            </a:r>
          </a:p>
          <a:p>
            <a:pPr>
              <a:spcBef>
                <a:spcPts val="600"/>
              </a:spcBef>
            </a:pPr>
            <a:endParaRPr lang="en-IN" sz="2200" dirty="0"/>
          </a:p>
        </p:txBody>
      </p:sp>
      <p:sp>
        <p:nvSpPr>
          <p:cNvPr id="2" name="Footer Placeholder 1">
            <a:extLst>
              <a:ext uri="{FF2B5EF4-FFF2-40B4-BE49-F238E27FC236}">
                <a16:creationId xmlns:a16="http://schemas.microsoft.com/office/drawing/2014/main" id="{78F3976C-B49F-44B2-BC45-2CE95CD52FA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674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4161"/>
            <a:ext cx="8229600" cy="492443"/>
          </a:xfrm>
        </p:spPr>
        <p:txBody>
          <a:bodyPr>
            <a:spAutoFit/>
          </a:bodyPr>
          <a:lstStyle/>
          <a:p>
            <a:r>
              <a:rPr lang="en-IN" altLang="en-US" sz="3200" dirty="0"/>
              <a:t>File Organization Terms and Concepts</a:t>
            </a:r>
            <a:endParaRPr lang="en-US" sz="2400" dirty="0"/>
          </a:p>
        </p:txBody>
      </p:sp>
      <p:sp>
        <p:nvSpPr>
          <p:cNvPr id="5" name="Content Placeholder 4"/>
          <p:cNvSpPr>
            <a:spLocks noGrp="1"/>
          </p:cNvSpPr>
          <p:nvPr>
            <p:ph idx="1"/>
          </p:nvPr>
        </p:nvSpPr>
        <p:spPr>
          <a:xfrm>
            <a:off x="457200" y="729887"/>
            <a:ext cx="8229600" cy="3177793"/>
          </a:xfrm>
        </p:spPr>
        <p:txBody>
          <a:bodyPr>
            <a:spAutoFit/>
          </a:bodyPr>
          <a:lstStyle/>
          <a:p>
            <a:r>
              <a:rPr lang="en-IN" dirty="0"/>
              <a:t>Database: Group of related files</a:t>
            </a:r>
          </a:p>
          <a:p>
            <a:r>
              <a:rPr lang="en-IN" dirty="0"/>
              <a:t>File: Group of records of same type</a:t>
            </a:r>
          </a:p>
          <a:p>
            <a:r>
              <a:rPr lang="en-IN" dirty="0"/>
              <a:t>Record: Group of related fields</a:t>
            </a:r>
          </a:p>
          <a:p>
            <a:r>
              <a:rPr lang="en-IN" dirty="0"/>
              <a:t>Field: Group of characters as word(s) or number(s)</a:t>
            </a:r>
          </a:p>
          <a:p>
            <a:r>
              <a:rPr lang="en-IN" dirty="0"/>
              <a:t>Entity: Person, place, thing on which we store information</a:t>
            </a:r>
          </a:p>
          <a:p>
            <a:r>
              <a:rPr lang="en-IN" dirty="0"/>
              <a:t>Attribute: Each characteristic, or quality, describing entity</a:t>
            </a:r>
          </a:p>
        </p:txBody>
      </p:sp>
      <p:sp>
        <p:nvSpPr>
          <p:cNvPr id="2" name="Footer Placeholder 1">
            <a:extLst>
              <a:ext uri="{FF2B5EF4-FFF2-40B4-BE49-F238E27FC236}">
                <a16:creationId xmlns:a16="http://schemas.microsoft.com/office/drawing/2014/main" id="{6579E6A4-9B01-49AE-97D3-BC31EB36EBB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09794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US" dirty="0"/>
              <a:t>Figure 6.1 The Data Hierarchy</a:t>
            </a:r>
            <a:endParaRPr lang="en-US" sz="2800" dirty="0"/>
          </a:p>
        </p:txBody>
      </p:sp>
      <p:pic>
        <p:nvPicPr>
          <p:cNvPr id="3" name="Picture 2" descr="An illustration shows the hierarch of a student database. For a full description, see Notes. Press F6.">
            <a:extLst>
              <a:ext uri="{FF2B5EF4-FFF2-40B4-BE49-F238E27FC236}">
                <a16:creationId xmlns:a16="http://schemas.microsoft.com/office/drawing/2014/main" id="{6D82680F-06DF-42DA-A4AB-7B27D7767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584564"/>
            <a:ext cx="3657600" cy="4167962"/>
          </a:xfrm>
          <a:prstGeom prst="rect">
            <a:avLst/>
          </a:prstGeom>
        </p:spPr>
      </p:pic>
      <p:sp>
        <p:nvSpPr>
          <p:cNvPr id="2" name="Footer Placeholder 1">
            <a:extLst>
              <a:ext uri="{FF2B5EF4-FFF2-40B4-BE49-F238E27FC236}">
                <a16:creationId xmlns:a16="http://schemas.microsoft.com/office/drawing/2014/main" id="{141BD89F-060D-48B9-BF37-A70C0A729AB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08456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9902"/>
            <a:ext cx="8229600" cy="1107996"/>
          </a:xfrm>
        </p:spPr>
        <p:txBody>
          <a:bodyPr>
            <a:spAutoFit/>
          </a:bodyPr>
          <a:lstStyle/>
          <a:p>
            <a:r>
              <a:rPr lang="en-US" dirty="0"/>
              <a:t>Problems with the Traditional File Environment</a:t>
            </a:r>
            <a:endParaRPr lang="en-US" sz="2800" dirty="0"/>
          </a:p>
        </p:txBody>
      </p:sp>
      <p:sp>
        <p:nvSpPr>
          <p:cNvPr id="5" name="Content Placeholder 4"/>
          <p:cNvSpPr>
            <a:spLocks noGrp="1"/>
          </p:cNvSpPr>
          <p:nvPr>
            <p:ph idx="1"/>
          </p:nvPr>
        </p:nvSpPr>
        <p:spPr>
          <a:xfrm>
            <a:off x="457200" y="1264299"/>
            <a:ext cx="8229600" cy="3046988"/>
          </a:xfrm>
        </p:spPr>
        <p:txBody>
          <a:bodyPr>
            <a:spAutoFit/>
          </a:bodyPr>
          <a:lstStyle/>
          <a:p>
            <a:pPr>
              <a:spcBef>
                <a:spcPts val="600"/>
              </a:spcBef>
            </a:pPr>
            <a:r>
              <a:rPr lang="en-IN" dirty="0"/>
              <a:t>Files maintained separately by different departments</a:t>
            </a:r>
          </a:p>
          <a:p>
            <a:pPr>
              <a:spcBef>
                <a:spcPts val="600"/>
              </a:spcBef>
            </a:pPr>
            <a:r>
              <a:rPr lang="en-IN" dirty="0"/>
              <a:t>Data redundancy</a:t>
            </a:r>
          </a:p>
          <a:p>
            <a:pPr>
              <a:spcBef>
                <a:spcPts val="600"/>
              </a:spcBef>
            </a:pPr>
            <a:r>
              <a:rPr lang="en-IN" dirty="0"/>
              <a:t>Data inconsistency</a:t>
            </a:r>
          </a:p>
          <a:p>
            <a:pPr>
              <a:spcBef>
                <a:spcPts val="600"/>
              </a:spcBef>
            </a:pPr>
            <a:r>
              <a:rPr lang="en-IN" dirty="0"/>
              <a:t>Program-data dependence</a:t>
            </a:r>
          </a:p>
          <a:p>
            <a:pPr>
              <a:spcBef>
                <a:spcPts val="600"/>
              </a:spcBef>
            </a:pPr>
            <a:r>
              <a:rPr lang="en-IN" dirty="0"/>
              <a:t>Lack of flexibility</a:t>
            </a:r>
          </a:p>
          <a:p>
            <a:pPr>
              <a:spcBef>
                <a:spcPts val="600"/>
              </a:spcBef>
            </a:pPr>
            <a:r>
              <a:rPr lang="en-IN" dirty="0"/>
              <a:t>Poor security</a:t>
            </a:r>
          </a:p>
          <a:p>
            <a:pPr>
              <a:spcBef>
                <a:spcPts val="600"/>
              </a:spcBef>
            </a:pPr>
            <a:r>
              <a:rPr lang="en-IN" dirty="0"/>
              <a:t>Lack of data sharing and availability</a:t>
            </a:r>
          </a:p>
        </p:txBody>
      </p:sp>
      <p:sp>
        <p:nvSpPr>
          <p:cNvPr id="2" name="Footer Placeholder 1">
            <a:extLst>
              <a:ext uri="{FF2B5EF4-FFF2-40B4-BE49-F238E27FC236}">
                <a16:creationId xmlns:a16="http://schemas.microsoft.com/office/drawing/2014/main" id="{EB212F81-AF17-45A7-9552-32B33DFA0BE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26301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6265"/>
            <a:ext cx="8229600" cy="553998"/>
          </a:xfrm>
        </p:spPr>
        <p:txBody>
          <a:bodyPr>
            <a:spAutoFit/>
          </a:bodyPr>
          <a:lstStyle/>
          <a:p>
            <a:r>
              <a:rPr lang="en-US" dirty="0"/>
              <a:t>Figure 6.2 Traditional File Processing</a:t>
            </a:r>
            <a:endParaRPr lang="en-US" sz="2800" dirty="0"/>
          </a:p>
        </p:txBody>
      </p:sp>
      <p:pic>
        <p:nvPicPr>
          <p:cNvPr id="2050" name="Picture 2" descr="An illustration explains the concept of traditional file sharing.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01037" y="895350"/>
            <a:ext cx="5741926" cy="378804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246BD05-81FA-42BB-837B-E4166E5152F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37615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678"/>
            <a:ext cx="8229600" cy="553998"/>
          </a:xfrm>
        </p:spPr>
        <p:txBody>
          <a:bodyPr>
            <a:spAutoFit/>
          </a:bodyPr>
          <a:lstStyle/>
          <a:p>
            <a:r>
              <a:rPr lang="en-US" dirty="0"/>
              <a:t>Database Management Systems</a:t>
            </a:r>
            <a:endParaRPr lang="en-US" sz="2800" dirty="0"/>
          </a:p>
        </p:txBody>
      </p:sp>
      <p:sp>
        <p:nvSpPr>
          <p:cNvPr id="5" name="Content Placeholder 4"/>
          <p:cNvSpPr>
            <a:spLocks noGrp="1"/>
          </p:cNvSpPr>
          <p:nvPr>
            <p:ph idx="1"/>
          </p:nvPr>
        </p:nvSpPr>
        <p:spPr>
          <a:xfrm>
            <a:off x="470263" y="739193"/>
            <a:ext cx="8229600" cy="4066800"/>
          </a:xfrm>
        </p:spPr>
        <p:txBody>
          <a:bodyPr>
            <a:spAutoFit/>
          </a:bodyPr>
          <a:lstStyle/>
          <a:p>
            <a:r>
              <a:rPr lang="en-IN" sz="2000" dirty="0"/>
              <a:t>Database</a:t>
            </a:r>
          </a:p>
          <a:p>
            <a:pPr lvl="1">
              <a:spcBef>
                <a:spcPts val="0"/>
              </a:spcBef>
            </a:pPr>
            <a:r>
              <a:rPr lang="en-IN" sz="2000" dirty="0"/>
              <a:t>Serves many applications by centralizing data and controlling redundant data</a:t>
            </a:r>
          </a:p>
          <a:p>
            <a:pPr>
              <a:spcBef>
                <a:spcPts val="600"/>
              </a:spcBef>
            </a:pPr>
            <a:r>
              <a:rPr lang="en-IN" sz="2000" dirty="0"/>
              <a:t>Database management system (</a:t>
            </a:r>
            <a:r>
              <a:rPr lang="en-IN" sz="2000" spc="-300" dirty="0"/>
              <a:t>D B M </a:t>
            </a:r>
            <a:r>
              <a:rPr lang="en-IN" sz="2000" dirty="0"/>
              <a:t>S)</a:t>
            </a:r>
          </a:p>
          <a:p>
            <a:pPr lvl="1">
              <a:spcBef>
                <a:spcPts val="0"/>
              </a:spcBef>
            </a:pPr>
            <a:r>
              <a:rPr lang="en-IN" sz="2000" dirty="0"/>
              <a:t>Interfaces between applications and physical data files</a:t>
            </a:r>
          </a:p>
          <a:p>
            <a:pPr lvl="1">
              <a:spcBef>
                <a:spcPts val="0"/>
              </a:spcBef>
            </a:pPr>
            <a:r>
              <a:rPr lang="en-IN" sz="2000" dirty="0"/>
              <a:t>Separates logical and physical views of data</a:t>
            </a:r>
          </a:p>
          <a:p>
            <a:pPr lvl="1">
              <a:spcBef>
                <a:spcPts val="0"/>
              </a:spcBef>
            </a:pPr>
            <a:r>
              <a:rPr lang="en-IN" sz="2000" dirty="0"/>
              <a:t>Solves problems of traditional file environment</a:t>
            </a:r>
          </a:p>
          <a:p>
            <a:pPr lvl="2"/>
            <a:r>
              <a:rPr lang="en-IN" dirty="0"/>
              <a:t>Controls redundancy</a:t>
            </a:r>
          </a:p>
          <a:p>
            <a:pPr lvl="2"/>
            <a:r>
              <a:rPr lang="en-IN" dirty="0"/>
              <a:t>Eliminates inconsistency</a:t>
            </a:r>
          </a:p>
          <a:p>
            <a:pPr lvl="2"/>
            <a:r>
              <a:rPr lang="en-IN" dirty="0"/>
              <a:t>Uncouples programs and data</a:t>
            </a:r>
          </a:p>
          <a:p>
            <a:pPr lvl="2"/>
            <a:r>
              <a:rPr lang="en-IN" dirty="0"/>
              <a:t>Enables organization to centrally manage data and data security</a:t>
            </a:r>
          </a:p>
        </p:txBody>
      </p:sp>
      <p:sp>
        <p:nvSpPr>
          <p:cNvPr id="2" name="Footer Placeholder 1">
            <a:extLst>
              <a:ext uri="{FF2B5EF4-FFF2-40B4-BE49-F238E27FC236}">
                <a16:creationId xmlns:a16="http://schemas.microsoft.com/office/drawing/2014/main" id="{3F40D81E-1244-4652-84AB-B2C0B22171F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89659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6625"/>
            <a:ext cx="8229600" cy="1046440"/>
          </a:xfrm>
        </p:spPr>
        <p:txBody>
          <a:bodyPr>
            <a:spAutoFit/>
          </a:bodyPr>
          <a:lstStyle/>
          <a:p>
            <a:r>
              <a:rPr lang="en-IN" sz="3400" dirty="0"/>
              <a:t>Figure 6.3 Human Resources Database with Multiple Views</a:t>
            </a:r>
            <a:endParaRPr lang="en-US" sz="3400" dirty="0"/>
          </a:p>
        </p:txBody>
      </p:sp>
      <p:pic>
        <p:nvPicPr>
          <p:cNvPr id="3074" name="Picture 2" descr="A flow diagram illustrates the payroll view and benefits view of a human resources databas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1359496"/>
            <a:ext cx="5500163" cy="3206517"/>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7A6760C-126F-4A2F-AD38-344D255C2B8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717396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dirty="0"/>
              <a:t>Relational </a:t>
            </a:r>
            <a:r>
              <a:rPr lang="en-IN" spc="-450" dirty="0"/>
              <a:t>D B M S</a:t>
            </a:r>
            <a:endParaRPr lang="en-US" sz="2800" spc="-450" dirty="0"/>
          </a:p>
        </p:txBody>
      </p:sp>
      <p:sp>
        <p:nvSpPr>
          <p:cNvPr id="5" name="Content Placeholder 4"/>
          <p:cNvSpPr>
            <a:spLocks noGrp="1"/>
          </p:cNvSpPr>
          <p:nvPr>
            <p:ph idx="1"/>
          </p:nvPr>
        </p:nvSpPr>
        <p:spPr>
          <a:xfrm>
            <a:off x="457200" y="719002"/>
            <a:ext cx="8229600" cy="4093428"/>
          </a:xfrm>
        </p:spPr>
        <p:txBody>
          <a:bodyPr>
            <a:spAutoFit/>
          </a:bodyPr>
          <a:lstStyle/>
          <a:p>
            <a:r>
              <a:rPr lang="en-IN" dirty="0"/>
              <a:t>Represent data as two-dimensional tables</a:t>
            </a:r>
          </a:p>
          <a:p>
            <a:r>
              <a:rPr lang="en-IN" dirty="0"/>
              <a:t>Each table contains data on entity and attributes</a:t>
            </a:r>
          </a:p>
          <a:p>
            <a:r>
              <a:rPr lang="en-IN" dirty="0"/>
              <a:t>Table: grid of columns and rows</a:t>
            </a:r>
          </a:p>
          <a:p>
            <a:pPr lvl="1"/>
            <a:r>
              <a:rPr lang="en-IN" sz="2400" dirty="0"/>
              <a:t>Rows (tuples): Records for different entities</a:t>
            </a:r>
          </a:p>
          <a:p>
            <a:pPr lvl="1"/>
            <a:r>
              <a:rPr lang="en-IN" sz="2400" dirty="0"/>
              <a:t>Fields (columns): Represents attribute for entity</a:t>
            </a:r>
          </a:p>
          <a:p>
            <a:pPr lvl="1"/>
            <a:r>
              <a:rPr lang="en-IN" sz="2400" dirty="0"/>
              <a:t>Key field: Field used to uniquely identify each record</a:t>
            </a:r>
          </a:p>
          <a:p>
            <a:pPr lvl="1"/>
            <a:r>
              <a:rPr lang="en-IN" sz="2400" dirty="0"/>
              <a:t>Primary key: Field in table used for key fields</a:t>
            </a:r>
          </a:p>
          <a:p>
            <a:pPr lvl="1"/>
            <a:r>
              <a:rPr lang="en-IN" sz="2400" dirty="0"/>
              <a:t>Foreign key: Primary key used in second table as look-up field to identify records from original table</a:t>
            </a:r>
          </a:p>
        </p:txBody>
      </p:sp>
      <p:sp>
        <p:nvSpPr>
          <p:cNvPr id="2" name="Footer Placeholder 1">
            <a:extLst>
              <a:ext uri="{FF2B5EF4-FFF2-40B4-BE49-F238E27FC236}">
                <a16:creationId xmlns:a16="http://schemas.microsoft.com/office/drawing/2014/main" id="{AB6D862B-56E3-4C1B-9A55-84E1C3865C6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34950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1793"/>
            <a:ext cx="8229600" cy="553998"/>
          </a:xfrm>
        </p:spPr>
        <p:txBody>
          <a:bodyPr>
            <a:spAutoFit/>
          </a:bodyPr>
          <a:lstStyle/>
          <a:p>
            <a:r>
              <a:rPr lang="fr-FR" dirty="0"/>
              <a:t>Figure 6.4 </a:t>
            </a:r>
            <a:r>
              <a:rPr lang="fr-FR" dirty="0" err="1"/>
              <a:t>Relational</a:t>
            </a:r>
            <a:r>
              <a:rPr lang="fr-FR" dirty="0"/>
              <a:t> </a:t>
            </a:r>
            <a:r>
              <a:rPr lang="fr-FR" dirty="0" err="1"/>
              <a:t>Database</a:t>
            </a:r>
            <a:r>
              <a:rPr lang="fr-FR" dirty="0"/>
              <a:t> Tables</a:t>
            </a:r>
            <a:endParaRPr lang="en-US" sz="2800" dirty="0"/>
          </a:p>
        </p:txBody>
      </p:sp>
      <p:pic>
        <p:nvPicPr>
          <p:cNvPr id="1026" name="Picture 2" descr="Two relational database tables with sample data for entities Supplier and Part.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21919" y="790606"/>
            <a:ext cx="5500163" cy="399094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2640F04-CE01-4AC6-B799-709AC41D3C6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7958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dirty="0"/>
              <a:t>Operations of a Relational </a:t>
            </a:r>
            <a:r>
              <a:rPr lang="en-IN" spc="-450" dirty="0"/>
              <a:t>D B M S</a:t>
            </a:r>
            <a:endParaRPr lang="en-US" sz="2800" spc="-450" dirty="0"/>
          </a:p>
        </p:txBody>
      </p:sp>
      <p:sp>
        <p:nvSpPr>
          <p:cNvPr id="5" name="Content Placeholder 4"/>
          <p:cNvSpPr>
            <a:spLocks noGrp="1"/>
          </p:cNvSpPr>
          <p:nvPr>
            <p:ph idx="1"/>
          </p:nvPr>
        </p:nvSpPr>
        <p:spPr>
          <a:xfrm>
            <a:off x="457200" y="803713"/>
            <a:ext cx="8229600" cy="3847207"/>
          </a:xfrm>
        </p:spPr>
        <p:txBody>
          <a:bodyPr>
            <a:spAutoFit/>
          </a:bodyPr>
          <a:lstStyle/>
          <a:p>
            <a:r>
              <a:rPr lang="en-IN" sz="2200" dirty="0"/>
              <a:t>Three basic operations used to develop useful sets of data</a:t>
            </a:r>
          </a:p>
          <a:p>
            <a:pPr lvl="1"/>
            <a:r>
              <a:rPr lang="en-IN" dirty="0"/>
              <a:t>SELECT</a:t>
            </a:r>
          </a:p>
          <a:p>
            <a:pPr lvl="2"/>
            <a:r>
              <a:rPr lang="en-IN" sz="2200" dirty="0"/>
              <a:t>Creates subset of data of all records that meet stated criteria</a:t>
            </a:r>
          </a:p>
          <a:p>
            <a:pPr lvl="1"/>
            <a:r>
              <a:rPr lang="en-IN" dirty="0"/>
              <a:t>JOIN</a:t>
            </a:r>
          </a:p>
          <a:p>
            <a:pPr lvl="2"/>
            <a:r>
              <a:rPr lang="en-IN" sz="2200" dirty="0"/>
              <a:t>Combines relational tables to provide user with more information than available in individual tables</a:t>
            </a:r>
          </a:p>
          <a:p>
            <a:pPr lvl="1"/>
            <a:r>
              <a:rPr lang="en-IN" dirty="0"/>
              <a:t>PROJECT</a:t>
            </a:r>
          </a:p>
          <a:p>
            <a:pPr lvl="2"/>
            <a:r>
              <a:rPr lang="en-IN" sz="2200" dirty="0"/>
              <a:t>Creates subset of columns in table, creating tables with only the information specified</a:t>
            </a:r>
          </a:p>
        </p:txBody>
      </p:sp>
      <p:sp>
        <p:nvSpPr>
          <p:cNvPr id="2" name="Footer Placeholder 1">
            <a:extLst>
              <a:ext uri="{FF2B5EF4-FFF2-40B4-BE49-F238E27FC236}">
                <a16:creationId xmlns:a16="http://schemas.microsoft.com/office/drawing/2014/main" id="{8136ED0B-E8E5-4C5C-B4C1-43DAFF79D49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06787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Figure 6.5 The Three Basic Operations of a Relational </a:t>
            </a:r>
            <a:r>
              <a:rPr lang="en-IN" spc="-450" dirty="0"/>
              <a:t>D B M S</a:t>
            </a:r>
            <a:endParaRPr lang="en-US" sz="2800" spc="-450" dirty="0"/>
          </a:p>
        </p:txBody>
      </p:sp>
      <p:pic>
        <p:nvPicPr>
          <p:cNvPr id="2050" name="Picture 2" descr="Three tables illustrate the basic operations of a relational DB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7238" y="1444622"/>
            <a:ext cx="8047359" cy="265112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55330CF-B3C9-4BC8-B88C-68FFC8A60D0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10987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0996"/>
            <a:ext cx="8229600" cy="1107996"/>
          </a:xfrm>
        </p:spPr>
        <p:txBody>
          <a:bodyPr>
            <a:spAutoFit/>
          </a:bodyPr>
          <a:lstStyle/>
          <a:p>
            <a:r>
              <a:rPr lang="en-IN" dirty="0"/>
              <a:t>Capabilities of Database Management Systems</a:t>
            </a:r>
            <a:endParaRPr lang="en-US" sz="2800" spc="-450" dirty="0"/>
          </a:p>
        </p:txBody>
      </p:sp>
      <p:sp>
        <p:nvSpPr>
          <p:cNvPr id="5" name="Content Placeholder 4"/>
          <p:cNvSpPr>
            <a:spLocks noGrp="1"/>
          </p:cNvSpPr>
          <p:nvPr>
            <p:ph idx="1"/>
          </p:nvPr>
        </p:nvSpPr>
        <p:spPr>
          <a:xfrm>
            <a:off x="457200" y="1413006"/>
            <a:ext cx="8229600" cy="3316292"/>
          </a:xfrm>
        </p:spPr>
        <p:txBody>
          <a:bodyPr>
            <a:spAutoFit/>
          </a:bodyPr>
          <a:lstStyle/>
          <a:p>
            <a:r>
              <a:rPr lang="en-IN" dirty="0"/>
              <a:t>Data definition</a:t>
            </a:r>
          </a:p>
          <a:p>
            <a:r>
              <a:rPr lang="en-IN" dirty="0"/>
              <a:t>Data dictionary</a:t>
            </a:r>
          </a:p>
          <a:p>
            <a:r>
              <a:rPr lang="en-IN" dirty="0"/>
              <a:t>Querying and reporting</a:t>
            </a:r>
          </a:p>
          <a:p>
            <a:pPr lvl="1"/>
            <a:r>
              <a:rPr lang="en-IN" sz="2400" dirty="0"/>
              <a:t>Data manipulation language</a:t>
            </a:r>
          </a:p>
          <a:p>
            <a:pPr lvl="2"/>
            <a:r>
              <a:rPr lang="en-IN" sz="2400" dirty="0"/>
              <a:t>Structured Query Language (</a:t>
            </a:r>
            <a:r>
              <a:rPr lang="en-IN" sz="2400" spc="-300" dirty="0"/>
              <a:t>S Q </a:t>
            </a:r>
            <a:r>
              <a:rPr lang="en-IN" sz="2400" dirty="0"/>
              <a:t>L)</a:t>
            </a:r>
          </a:p>
          <a:p>
            <a:r>
              <a:rPr lang="en-IN" dirty="0"/>
              <a:t>Many </a:t>
            </a:r>
            <a:r>
              <a:rPr lang="en-IN" spc="-300" dirty="0"/>
              <a:t>D B M S</a:t>
            </a:r>
            <a:r>
              <a:rPr lang="en-IN" dirty="0"/>
              <a:t> have report generation capabilities for creating polished reports (Microsoft Access)</a:t>
            </a:r>
          </a:p>
        </p:txBody>
      </p:sp>
      <p:sp>
        <p:nvSpPr>
          <p:cNvPr id="2" name="Footer Placeholder 1">
            <a:extLst>
              <a:ext uri="{FF2B5EF4-FFF2-40B4-BE49-F238E27FC236}">
                <a16:creationId xmlns:a16="http://schemas.microsoft.com/office/drawing/2014/main" id="{9E37BE60-D10D-4719-A501-18B4DDE19D9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51408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Figure 6.6 Access Data Dictionary Features</a:t>
            </a:r>
            <a:endParaRPr lang="en-US" sz="2800" spc="-450" dirty="0"/>
          </a:p>
        </p:txBody>
      </p:sp>
      <p:pic>
        <p:nvPicPr>
          <p:cNvPr id="3074" name="Picture 2" descr="A screenshot of a sample data dictionary.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414948" y="1311846"/>
            <a:ext cx="6314104" cy="341963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5F69390-A767-4914-8997-762BF4A34FA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14164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dirty="0"/>
              <a:t>Figure 6.7 Example of an </a:t>
            </a:r>
            <a:r>
              <a:rPr lang="en-IN" spc="-450" dirty="0"/>
              <a:t>S Q L</a:t>
            </a:r>
            <a:r>
              <a:rPr lang="en-IN" dirty="0"/>
              <a:t> Query</a:t>
            </a:r>
            <a:endParaRPr lang="en-US" sz="2800" spc="-450" dirty="0"/>
          </a:p>
        </p:txBody>
      </p:sp>
      <p:pic>
        <p:nvPicPr>
          <p:cNvPr id="4098" name="Picture 2" descr="A sample SQL query. For a full description, see Notes. Press F6."/>
          <p:cNvPicPr>
            <a:picLocks noChangeAspect="1" noChangeArrowheads="1"/>
          </p:cNvPicPr>
          <p:nvPr/>
        </p:nvPicPr>
        <p:blipFill rotWithShape="1">
          <a:blip r:embed="rId3">
            <a:extLst>
              <a:ext uri="{28A0092B-C50C-407E-A947-70E740481C1C}">
                <a14:useLocalDpi xmlns:a14="http://schemas.microsoft.com/office/drawing/2010/main" val="0"/>
              </a:ext>
            </a:extLst>
          </a:blip>
          <a:srcRect b="11365"/>
          <a:stretch/>
        </p:blipFill>
        <p:spPr bwMode="auto">
          <a:xfrm>
            <a:off x="459357" y="806087"/>
            <a:ext cx="8235721" cy="161107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AB4666C-9093-4FD7-9A8E-BCD13433995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32629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7437"/>
            <a:ext cx="8229600" cy="553998"/>
          </a:xfrm>
        </p:spPr>
        <p:txBody>
          <a:bodyPr>
            <a:spAutoFit/>
          </a:bodyPr>
          <a:lstStyle/>
          <a:p>
            <a:r>
              <a:rPr lang="en-IN" dirty="0"/>
              <a:t>Figure 6.8 An Access Query</a:t>
            </a:r>
            <a:endParaRPr lang="en-US" sz="2800" spc="-450" dirty="0"/>
          </a:p>
        </p:txBody>
      </p:sp>
      <p:pic>
        <p:nvPicPr>
          <p:cNvPr id="5122" name="Picture 2" descr="A screenshot of a Microsoft Access window shows menu directions to create a query for the table.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50337" y="758963"/>
            <a:ext cx="7455692" cy="403565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891C916-DA91-4593-A29B-73C80960595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53617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615"/>
            <a:ext cx="8229600" cy="553998"/>
          </a:xfrm>
        </p:spPr>
        <p:txBody>
          <a:bodyPr>
            <a:spAutoFit/>
          </a:bodyPr>
          <a:lstStyle/>
          <a:p>
            <a:r>
              <a:rPr lang="en-IN" dirty="0"/>
              <a:t>Designing Databases</a:t>
            </a:r>
            <a:endParaRPr lang="en-US" sz="2800" spc="-450" dirty="0"/>
          </a:p>
        </p:txBody>
      </p:sp>
      <p:sp>
        <p:nvSpPr>
          <p:cNvPr id="5" name="Content Placeholder 4"/>
          <p:cNvSpPr>
            <a:spLocks noGrp="1"/>
          </p:cNvSpPr>
          <p:nvPr>
            <p:ph idx="1"/>
          </p:nvPr>
        </p:nvSpPr>
        <p:spPr>
          <a:xfrm>
            <a:off x="457200" y="763539"/>
            <a:ext cx="8229600" cy="3724096"/>
          </a:xfrm>
        </p:spPr>
        <p:txBody>
          <a:bodyPr>
            <a:spAutoFit/>
          </a:bodyPr>
          <a:lstStyle/>
          <a:p>
            <a:r>
              <a:rPr lang="en-IN" sz="2200" dirty="0"/>
              <a:t>Conceptual design vs. physical design</a:t>
            </a:r>
          </a:p>
          <a:p>
            <a:pPr>
              <a:spcBef>
                <a:spcPts val="600"/>
              </a:spcBef>
            </a:pPr>
            <a:r>
              <a:rPr lang="en-IN" sz="2200" dirty="0"/>
              <a:t>Normalization</a:t>
            </a:r>
          </a:p>
          <a:p>
            <a:pPr lvl="1"/>
            <a:r>
              <a:rPr lang="en-IN" sz="2000" dirty="0"/>
              <a:t>Streamlining complex groupings of data to minimize redundant data elements and awkward many-to-many relationships</a:t>
            </a:r>
          </a:p>
          <a:p>
            <a:pPr>
              <a:spcBef>
                <a:spcPts val="600"/>
              </a:spcBef>
            </a:pPr>
            <a:r>
              <a:rPr lang="en-IN" sz="2200" dirty="0"/>
              <a:t>Referential integrity</a:t>
            </a:r>
          </a:p>
          <a:p>
            <a:pPr lvl="1"/>
            <a:r>
              <a:rPr lang="en-IN" sz="2000" dirty="0"/>
              <a:t>Rules used by </a:t>
            </a:r>
            <a:r>
              <a:rPr lang="en-IN" sz="2000" spc="-300" dirty="0"/>
              <a:t>R D B M </a:t>
            </a:r>
            <a:r>
              <a:rPr lang="en-IN" sz="2000" dirty="0"/>
              <a:t>S to ensure relationships between tables remain consistent</a:t>
            </a:r>
          </a:p>
          <a:p>
            <a:pPr>
              <a:spcBef>
                <a:spcPts val="600"/>
              </a:spcBef>
            </a:pPr>
            <a:r>
              <a:rPr lang="en-IN" sz="2200" dirty="0"/>
              <a:t>Entity-relationship diagram</a:t>
            </a:r>
          </a:p>
          <a:p>
            <a:pPr>
              <a:spcBef>
                <a:spcPts val="600"/>
              </a:spcBef>
            </a:pPr>
            <a:r>
              <a:rPr lang="en-IN" sz="2200" dirty="0"/>
              <a:t>A correct data model is essential for a system serving the business well</a:t>
            </a:r>
          </a:p>
        </p:txBody>
      </p:sp>
      <p:sp>
        <p:nvSpPr>
          <p:cNvPr id="2" name="Footer Placeholder 1">
            <a:extLst>
              <a:ext uri="{FF2B5EF4-FFF2-40B4-BE49-F238E27FC236}">
                <a16:creationId xmlns:a16="http://schemas.microsoft.com/office/drawing/2014/main" id="{965DFCE0-B6EE-4AEF-AC13-78664005B3F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9863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Figure 6.9 An </a:t>
            </a:r>
            <a:r>
              <a:rPr lang="en-IN" dirty="0" err="1"/>
              <a:t>Unnormalized</a:t>
            </a:r>
            <a:r>
              <a:rPr lang="en-IN" dirty="0"/>
              <a:t> Relation for Order</a:t>
            </a:r>
            <a:endParaRPr lang="en-US" sz="2800" spc="-450" dirty="0"/>
          </a:p>
        </p:txBody>
      </p:sp>
      <p:pic>
        <p:nvPicPr>
          <p:cNvPr id="6146" name="Picture 2" descr="A series of buttons illustrate the order before normaliz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7268" y="1846761"/>
            <a:ext cx="7993510" cy="68001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BEF75E7-62B8-4A2D-AB9A-03374BD40FC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91681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2080"/>
            <a:ext cx="8229600" cy="1107996"/>
          </a:xfrm>
        </p:spPr>
        <p:txBody>
          <a:bodyPr>
            <a:spAutoFit/>
          </a:bodyPr>
          <a:lstStyle/>
          <a:p>
            <a:r>
              <a:rPr lang="en-IN" dirty="0"/>
              <a:t>Figure 6.10 Normalized Tables Created from Order</a:t>
            </a:r>
            <a:endParaRPr lang="en-US" sz="2800" spc="-450" dirty="0"/>
          </a:p>
        </p:txBody>
      </p:sp>
      <p:pic>
        <p:nvPicPr>
          <p:cNvPr id="7170" name="Picture 2" descr="A series of buttons illustrate the order after normaliz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7972" y="1584859"/>
            <a:ext cx="8154179" cy="243469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928A024-E954-44DC-8412-78096A83271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28829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258"/>
            <a:ext cx="8229600" cy="1107996"/>
          </a:xfrm>
        </p:spPr>
        <p:txBody>
          <a:bodyPr>
            <a:spAutoFit/>
          </a:bodyPr>
          <a:lstStyle/>
          <a:p>
            <a:r>
              <a:rPr lang="en-IN" dirty="0"/>
              <a:t>Figure 6.11 An Entity-Relationship Diagram</a:t>
            </a:r>
            <a:endParaRPr lang="en-US" sz="2800" spc="-450" dirty="0"/>
          </a:p>
        </p:txBody>
      </p:sp>
      <p:pic>
        <p:nvPicPr>
          <p:cNvPr id="8194" name="Picture 2" descr="A diagram shows the relationships between the entities Supplier, Part, Line Item, and Order.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5916" y="1933142"/>
            <a:ext cx="8154179" cy="78889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49879865-390D-4F42-8528-3DF890F59D6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77812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5191"/>
            <a:ext cx="8229600" cy="984885"/>
          </a:xfrm>
        </p:spPr>
        <p:txBody>
          <a:bodyPr>
            <a:spAutoFit/>
          </a:bodyPr>
          <a:lstStyle/>
          <a:p>
            <a:r>
              <a:rPr lang="en-IN" sz="3200" dirty="0"/>
              <a:t>Non-Relational Databases, Cloud Databases and Blockchain (Slide 1 of 3)</a:t>
            </a:r>
            <a:endParaRPr lang="en-US" sz="3200" spc="-450" dirty="0"/>
          </a:p>
        </p:txBody>
      </p:sp>
      <p:sp>
        <p:nvSpPr>
          <p:cNvPr id="5" name="Content Placeholder 4"/>
          <p:cNvSpPr>
            <a:spLocks noGrp="1"/>
          </p:cNvSpPr>
          <p:nvPr>
            <p:ph idx="1"/>
          </p:nvPr>
        </p:nvSpPr>
        <p:spPr>
          <a:xfrm>
            <a:off x="457200" y="1306718"/>
            <a:ext cx="8229600" cy="1846659"/>
          </a:xfrm>
        </p:spPr>
        <p:txBody>
          <a:bodyPr>
            <a:spAutoFit/>
          </a:bodyPr>
          <a:lstStyle/>
          <a:p>
            <a:r>
              <a:rPr lang="en-IN" sz="2000" dirty="0"/>
              <a:t>Non-relational databases: “No </a:t>
            </a:r>
            <a:r>
              <a:rPr lang="en-IN" sz="2000" spc="-300" dirty="0"/>
              <a:t>S Q L</a:t>
            </a:r>
            <a:r>
              <a:rPr lang="en-IN" sz="2000" dirty="0"/>
              <a:t>” </a:t>
            </a:r>
          </a:p>
          <a:p>
            <a:pPr lvl="1"/>
            <a:r>
              <a:rPr lang="en-IN" sz="2000" dirty="0"/>
              <a:t>More flexible data model</a:t>
            </a:r>
          </a:p>
          <a:p>
            <a:pPr lvl="1"/>
            <a:r>
              <a:rPr lang="en-IN" sz="2000" dirty="0"/>
              <a:t>Data sets stored across distributed machines</a:t>
            </a:r>
          </a:p>
          <a:p>
            <a:pPr lvl="1"/>
            <a:r>
              <a:rPr lang="en-IN" sz="2000" dirty="0"/>
              <a:t>Easier to scale</a:t>
            </a:r>
          </a:p>
          <a:p>
            <a:pPr lvl="1"/>
            <a:r>
              <a:rPr lang="en-IN" sz="2000" dirty="0"/>
              <a:t>Handle large volumes of unstructured and structured data</a:t>
            </a:r>
          </a:p>
        </p:txBody>
      </p:sp>
      <p:sp>
        <p:nvSpPr>
          <p:cNvPr id="2" name="Footer Placeholder 1">
            <a:extLst>
              <a:ext uri="{FF2B5EF4-FFF2-40B4-BE49-F238E27FC236}">
                <a16:creationId xmlns:a16="http://schemas.microsoft.com/office/drawing/2014/main" id="{9550C962-B255-485B-B72A-E27380821C2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56884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5191"/>
            <a:ext cx="8229600" cy="984885"/>
          </a:xfrm>
        </p:spPr>
        <p:txBody>
          <a:bodyPr>
            <a:spAutoFit/>
          </a:bodyPr>
          <a:lstStyle/>
          <a:p>
            <a:r>
              <a:rPr lang="en-IN" sz="3200" dirty="0"/>
              <a:t>Non-Relational Databases, Cloud Databases and Blockchain (Slide 2 of 3)</a:t>
            </a:r>
            <a:endParaRPr lang="en-US" sz="3200" spc="-450" dirty="0"/>
          </a:p>
        </p:txBody>
      </p:sp>
      <p:sp>
        <p:nvSpPr>
          <p:cNvPr id="5" name="Content Placeholder 4"/>
          <p:cNvSpPr>
            <a:spLocks noGrp="1"/>
          </p:cNvSpPr>
          <p:nvPr>
            <p:ph idx="1"/>
          </p:nvPr>
        </p:nvSpPr>
        <p:spPr>
          <a:xfrm>
            <a:off x="457200" y="1306718"/>
            <a:ext cx="8229600" cy="2731517"/>
          </a:xfrm>
        </p:spPr>
        <p:txBody>
          <a:bodyPr>
            <a:spAutoFit/>
          </a:bodyPr>
          <a:lstStyle/>
          <a:p>
            <a:r>
              <a:rPr lang="en-IN" sz="2000" dirty="0"/>
              <a:t>Cloud databases</a:t>
            </a:r>
          </a:p>
          <a:p>
            <a:pPr lvl="1"/>
            <a:r>
              <a:rPr lang="en-IN" sz="2000" dirty="0"/>
              <a:t>Appeal to start-ups, smaller businesses</a:t>
            </a:r>
          </a:p>
          <a:p>
            <a:pPr lvl="1"/>
            <a:r>
              <a:rPr lang="en-IN" sz="2000" dirty="0"/>
              <a:t>Amazon Relational Database Service, Microsoft </a:t>
            </a:r>
            <a:r>
              <a:rPr lang="en-IN" sz="2000" spc="-300" dirty="0"/>
              <a:t>S Q </a:t>
            </a:r>
            <a:r>
              <a:rPr lang="en-IN" sz="2000" dirty="0"/>
              <a:t>L Azure</a:t>
            </a:r>
          </a:p>
          <a:p>
            <a:pPr lvl="1"/>
            <a:r>
              <a:rPr lang="en-IN" sz="2000" dirty="0"/>
              <a:t>Private clouds</a:t>
            </a:r>
          </a:p>
          <a:p>
            <a:r>
              <a:rPr lang="en-IN" sz="2000" dirty="0"/>
              <a:t>Distributed databases</a:t>
            </a:r>
          </a:p>
          <a:p>
            <a:pPr lvl="1"/>
            <a:r>
              <a:rPr lang="en-IN" sz="2000" dirty="0"/>
              <a:t>Stored in multiple physical locations</a:t>
            </a:r>
          </a:p>
          <a:p>
            <a:pPr lvl="1"/>
            <a:r>
              <a:rPr lang="en-IN" sz="2000" dirty="0"/>
              <a:t>Example: Google Spanner</a:t>
            </a:r>
          </a:p>
        </p:txBody>
      </p:sp>
      <p:sp>
        <p:nvSpPr>
          <p:cNvPr id="2" name="Footer Placeholder 1">
            <a:extLst>
              <a:ext uri="{FF2B5EF4-FFF2-40B4-BE49-F238E27FC236}">
                <a16:creationId xmlns:a16="http://schemas.microsoft.com/office/drawing/2014/main" id="{44DC9CA1-0351-4A1E-8E94-3194A6D581A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74540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9955"/>
            <a:ext cx="8229600" cy="1384995"/>
          </a:xfrm>
        </p:spPr>
        <p:txBody>
          <a:bodyPr>
            <a:spAutoFit/>
          </a:bodyPr>
          <a:lstStyle/>
          <a:p>
            <a:r>
              <a:rPr lang="en-IN" sz="3000" dirty="0"/>
              <a:t>Interactive Session: Technology: New Cloud Database Tools Help Vodafone Fiji Make Better Decisions</a:t>
            </a:r>
            <a:endParaRPr lang="en-US" sz="3000" spc="-450" dirty="0"/>
          </a:p>
        </p:txBody>
      </p:sp>
      <p:sp>
        <p:nvSpPr>
          <p:cNvPr id="5" name="Content Placeholder 4"/>
          <p:cNvSpPr>
            <a:spLocks noGrp="1"/>
          </p:cNvSpPr>
          <p:nvPr>
            <p:ph idx="1"/>
          </p:nvPr>
        </p:nvSpPr>
        <p:spPr>
          <a:xfrm>
            <a:off x="457200" y="1581999"/>
            <a:ext cx="8229600" cy="3077766"/>
          </a:xfrm>
        </p:spPr>
        <p:txBody>
          <a:bodyPr>
            <a:spAutoFit/>
          </a:bodyPr>
          <a:lstStyle/>
          <a:p>
            <a:r>
              <a:rPr lang="en-IN" sz="2000" dirty="0"/>
              <a:t>Class discussion</a:t>
            </a:r>
          </a:p>
          <a:p>
            <a:pPr lvl="1"/>
            <a:r>
              <a:rPr lang="en-IN" sz="2000" dirty="0"/>
              <a:t>Define the problem faced by Vodafone Fiji. What management, organization, and technology factors contributed to the problem?</a:t>
            </a:r>
          </a:p>
          <a:p>
            <a:pPr lvl="1"/>
            <a:r>
              <a:rPr lang="en-IN" sz="2000" dirty="0"/>
              <a:t>Evaluate Oracle Autonomous Data Warehouse and Oracle Analytics Cloud as a solution for Vodafone Fiji?</a:t>
            </a:r>
          </a:p>
          <a:p>
            <a:pPr lvl="1"/>
            <a:r>
              <a:rPr lang="en-IN" sz="2000" dirty="0"/>
              <a:t>How did the new Oracle tools change decision making at Vodafone Fiji?</a:t>
            </a:r>
          </a:p>
          <a:p>
            <a:pPr lvl="1"/>
            <a:r>
              <a:rPr lang="en-IN" sz="2000" dirty="0"/>
              <a:t>Was using cloud services advantageous for Vodafone Fiji? Explain your answer.</a:t>
            </a:r>
          </a:p>
        </p:txBody>
      </p:sp>
      <p:sp>
        <p:nvSpPr>
          <p:cNvPr id="2" name="Footer Placeholder 1">
            <a:extLst>
              <a:ext uri="{FF2B5EF4-FFF2-40B4-BE49-F238E27FC236}">
                <a16:creationId xmlns:a16="http://schemas.microsoft.com/office/drawing/2014/main" id="{944A8AEE-9875-498A-A7A6-C3A23B8300A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75583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Non-relational Databases, Cloud Databases, and Blockchain (Slide 3 of 3)</a:t>
            </a:r>
            <a:endParaRPr lang="en-US" sz="3200" spc="-450" dirty="0"/>
          </a:p>
        </p:txBody>
      </p:sp>
      <p:sp>
        <p:nvSpPr>
          <p:cNvPr id="5" name="Content Placeholder 4"/>
          <p:cNvSpPr>
            <a:spLocks noGrp="1"/>
          </p:cNvSpPr>
          <p:nvPr>
            <p:ph idx="1"/>
          </p:nvPr>
        </p:nvSpPr>
        <p:spPr>
          <a:xfrm>
            <a:off x="457200" y="1330226"/>
            <a:ext cx="8229600" cy="2108269"/>
          </a:xfrm>
        </p:spPr>
        <p:txBody>
          <a:bodyPr>
            <a:spAutoFit/>
          </a:bodyPr>
          <a:lstStyle/>
          <a:p>
            <a:r>
              <a:rPr lang="en-IN" sz="2000" dirty="0"/>
              <a:t>Blockchain</a:t>
            </a:r>
          </a:p>
          <a:p>
            <a:pPr lvl="1"/>
            <a:r>
              <a:rPr lang="en-IN" sz="1800" dirty="0"/>
              <a:t>Distributed ledgers in a peer-to-peer distributed database </a:t>
            </a:r>
          </a:p>
          <a:p>
            <a:pPr lvl="1"/>
            <a:r>
              <a:rPr lang="en-IN" sz="1800" dirty="0"/>
              <a:t>Maintains a growing list of records and transactions shared by all </a:t>
            </a:r>
          </a:p>
          <a:p>
            <a:pPr lvl="1"/>
            <a:r>
              <a:rPr lang="en-IN" sz="1800" dirty="0"/>
              <a:t>Encryption used to identify participants and transactions</a:t>
            </a:r>
          </a:p>
          <a:p>
            <a:pPr lvl="1"/>
            <a:r>
              <a:rPr lang="en-IN" sz="1800" dirty="0"/>
              <a:t>Used for financial transactions, supply chain, and medical records</a:t>
            </a:r>
          </a:p>
          <a:p>
            <a:pPr lvl="1"/>
            <a:r>
              <a:rPr lang="en-IN" sz="1800" dirty="0"/>
              <a:t>Foundation of Bitcoin, and other crypto currencies</a:t>
            </a:r>
          </a:p>
        </p:txBody>
      </p:sp>
      <p:sp>
        <p:nvSpPr>
          <p:cNvPr id="2" name="Footer Placeholder 1">
            <a:extLst>
              <a:ext uri="{FF2B5EF4-FFF2-40B4-BE49-F238E27FC236}">
                <a16:creationId xmlns:a16="http://schemas.microsoft.com/office/drawing/2014/main" id="{482B23F9-81BC-471A-A029-37341634163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0578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IN" dirty="0"/>
              <a:t>Figure 6.12 How </a:t>
            </a:r>
            <a:r>
              <a:rPr lang="en-IN" dirty="0" err="1"/>
              <a:t>Blockchain</a:t>
            </a:r>
            <a:r>
              <a:rPr lang="en-IN" dirty="0"/>
              <a:t> Works</a:t>
            </a:r>
            <a:endParaRPr lang="en-US" sz="2800" spc="-450" dirty="0"/>
          </a:p>
        </p:txBody>
      </p:sp>
      <p:pic>
        <p:nvPicPr>
          <p:cNvPr id="9218" name="Picture 2" descr="A sequential flow diagram explains the concept of blockchai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421636" y="798339"/>
            <a:ext cx="6279859" cy="399627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E04915C-0B2A-4A27-9E12-2524B08AD4F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05095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024"/>
            <a:ext cx="8229600" cy="553998"/>
          </a:xfrm>
        </p:spPr>
        <p:txBody>
          <a:bodyPr>
            <a:spAutoFit/>
          </a:bodyPr>
          <a:lstStyle/>
          <a:p>
            <a:r>
              <a:rPr lang="en-US" dirty="0"/>
              <a:t>The Challenge of Big Data</a:t>
            </a:r>
            <a:endParaRPr lang="en-US" sz="2800" spc="-450" dirty="0"/>
          </a:p>
        </p:txBody>
      </p:sp>
      <p:sp>
        <p:nvSpPr>
          <p:cNvPr id="5" name="Content Placeholder 4"/>
          <p:cNvSpPr>
            <a:spLocks noGrp="1"/>
          </p:cNvSpPr>
          <p:nvPr>
            <p:ph idx="1"/>
          </p:nvPr>
        </p:nvSpPr>
        <p:spPr>
          <a:xfrm>
            <a:off x="457200" y="894622"/>
            <a:ext cx="8229600" cy="3685624"/>
          </a:xfrm>
        </p:spPr>
        <p:txBody>
          <a:bodyPr>
            <a:spAutoFit/>
          </a:bodyPr>
          <a:lstStyle/>
          <a:p>
            <a:r>
              <a:rPr lang="en-IN" dirty="0"/>
              <a:t>Big data</a:t>
            </a:r>
          </a:p>
          <a:p>
            <a:pPr lvl="1"/>
            <a:r>
              <a:rPr lang="en-IN" sz="2400" dirty="0"/>
              <a:t>Massive sets of unstructured/semi-structured data from web traffic, social media, sensors, and so on</a:t>
            </a:r>
          </a:p>
          <a:p>
            <a:r>
              <a:rPr lang="en-IN" dirty="0"/>
              <a:t>Volumes too great for typical </a:t>
            </a:r>
            <a:r>
              <a:rPr lang="en-IN" spc="-300" dirty="0"/>
              <a:t>D B M </a:t>
            </a:r>
            <a:r>
              <a:rPr lang="en-IN" dirty="0"/>
              <a:t>S</a:t>
            </a:r>
          </a:p>
          <a:p>
            <a:pPr lvl="1"/>
            <a:r>
              <a:rPr lang="en-IN" sz="2400" dirty="0"/>
              <a:t>Petabytes, </a:t>
            </a:r>
            <a:r>
              <a:rPr lang="en-IN" sz="2400" dirty="0" err="1"/>
              <a:t>exabytes</a:t>
            </a:r>
            <a:r>
              <a:rPr lang="en-IN" sz="2400" dirty="0"/>
              <a:t> of data</a:t>
            </a:r>
          </a:p>
          <a:p>
            <a:r>
              <a:rPr lang="en-IN" dirty="0"/>
              <a:t>Can reveal more patterns, relationships and anomalies</a:t>
            </a:r>
          </a:p>
          <a:p>
            <a:r>
              <a:rPr lang="en-IN" dirty="0"/>
              <a:t>Requires new tools and technologies to manage and </a:t>
            </a:r>
            <a:r>
              <a:rPr lang="en-IN" dirty="0" err="1"/>
              <a:t>analyze</a:t>
            </a:r>
            <a:endParaRPr lang="en-IN" dirty="0"/>
          </a:p>
        </p:txBody>
      </p:sp>
      <p:sp>
        <p:nvSpPr>
          <p:cNvPr id="2" name="Footer Placeholder 1">
            <a:extLst>
              <a:ext uri="{FF2B5EF4-FFF2-40B4-BE49-F238E27FC236}">
                <a16:creationId xmlns:a16="http://schemas.microsoft.com/office/drawing/2014/main" id="{E8DB82FF-C8D9-4183-A77E-035D34B106A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8832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1107996"/>
          </a:xfrm>
        </p:spPr>
        <p:txBody>
          <a:bodyPr>
            <a:spAutoFit/>
          </a:bodyPr>
          <a:lstStyle/>
          <a:p>
            <a:r>
              <a:rPr lang="en-IN" dirty="0"/>
              <a:t>Interactive Session: Management: Big Data Baseball</a:t>
            </a:r>
            <a:endParaRPr lang="en-US" sz="2800" spc="-450" dirty="0"/>
          </a:p>
        </p:txBody>
      </p:sp>
      <p:sp>
        <p:nvSpPr>
          <p:cNvPr id="5" name="Content Placeholder 4"/>
          <p:cNvSpPr>
            <a:spLocks noGrp="1"/>
          </p:cNvSpPr>
          <p:nvPr>
            <p:ph idx="1"/>
          </p:nvPr>
        </p:nvSpPr>
        <p:spPr>
          <a:xfrm>
            <a:off x="457200" y="1352550"/>
            <a:ext cx="8229600" cy="3185487"/>
          </a:xfrm>
        </p:spPr>
        <p:txBody>
          <a:bodyPr>
            <a:spAutoFit/>
          </a:bodyPr>
          <a:lstStyle/>
          <a:p>
            <a:r>
              <a:rPr lang="en-IN" dirty="0"/>
              <a:t>Class discussion</a:t>
            </a:r>
          </a:p>
          <a:p>
            <a:pPr lvl="1"/>
            <a:r>
              <a:rPr lang="en-IN" sz="2400" dirty="0"/>
              <a:t>How did information technology change the game of baseball? Explain.</a:t>
            </a:r>
          </a:p>
          <a:p>
            <a:pPr lvl="1"/>
            <a:r>
              <a:rPr lang="en-IN" sz="2400" dirty="0"/>
              <a:t>How did information technology affect decision making at MLB teams? What kind of decisions changed as the result of using big data?</a:t>
            </a:r>
          </a:p>
          <a:p>
            <a:pPr lvl="1"/>
            <a:r>
              <a:rPr lang="en-IN" sz="2400" dirty="0"/>
              <a:t>How much should baseball rely on big data and analytics?</a:t>
            </a:r>
          </a:p>
        </p:txBody>
      </p:sp>
      <p:sp>
        <p:nvSpPr>
          <p:cNvPr id="2" name="Footer Placeholder 1">
            <a:extLst>
              <a:ext uri="{FF2B5EF4-FFF2-40B4-BE49-F238E27FC236}">
                <a16:creationId xmlns:a16="http://schemas.microsoft.com/office/drawing/2014/main" id="{7F23F64A-3D05-48C3-A7BC-9321291AF41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41818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854"/>
            <a:ext cx="8229600" cy="984885"/>
          </a:xfrm>
        </p:spPr>
        <p:txBody>
          <a:bodyPr>
            <a:spAutoFit/>
          </a:bodyPr>
          <a:lstStyle/>
          <a:p>
            <a:r>
              <a:rPr lang="en-IN" dirty="0"/>
              <a:t>Business Intelligence Infrastructure  </a:t>
            </a:r>
            <a:r>
              <a:rPr lang="en-IN" sz="2800" dirty="0"/>
              <a:t>(1 of 4)</a:t>
            </a:r>
            <a:endParaRPr lang="en-US" sz="2800" spc="-450" dirty="0"/>
          </a:p>
        </p:txBody>
      </p:sp>
      <p:sp>
        <p:nvSpPr>
          <p:cNvPr id="5" name="Content Placeholder 4"/>
          <p:cNvSpPr>
            <a:spLocks noGrp="1"/>
          </p:cNvSpPr>
          <p:nvPr>
            <p:ph idx="1"/>
          </p:nvPr>
        </p:nvSpPr>
        <p:spPr>
          <a:xfrm>
            <a:off x="457200" y="1251302"/>
            <a:ext cx="8229600" cy="2816156"/>
          </a:xfrm>
        </p:spPr>
        <p:txBody>
          <a:bodyPr>
            <a:spAutoFit/>
          </a:bodyPr>
          <a:lstStyle/>
          <a:p>
            <a:r>
              <a:rPr lang="en-IN" dirty="0"/>
              <a:t>Array of tools for obtaining information from separate systems and from big data</a:t>
            </a:r>
          </a:p>
          <a:p>
            <a:pPr lvl="1"/>
            <a:r>
              <a:rPr lang="en-IN" dirty="0"/>
              <a:t>Data warehouse</a:t>
            </a:r>
          </a:p>
          <a:p>
            <a:pPr lvl="1"/>
            <a:r>
              <a:rPr lang="en-IN" dirty="0"/>
              <a:t>Data mart</a:t>
            </a:r>
          </a:p>
          <a:p>
            <a:pPr lvl="1"/>
            <a:r>
              <a:rPr lang="en-IN" dirty="0"/>
              <a:t>Hadoop</a:t>
            </a:r>
          </a:p>
          <a:p>
            <a:pPr lvl="1"/>
            <a:r>
              <a:rPr lang="en-IN" dirty="0"/>
              <a:t>In-memory computing</a:t>
            </a:r>
          </a:p>
          <a:p>
            <a:pPr lvl="1"/>
            <a:r>
              <a:rPr lang="en-IN" dirty="0"/>
              <a:t>Analytical platforms</a:t>
            </a:r>
          </a:p>
        </p:txBody>
      </p:sp>
      <p:sp>
        <p:nvSpPr>
          <p:cNvPr id="2" name="Footer Placeholder 1">
            <a:extLst>
              <a:ext uri="{FF2B5EF4-FFF2-40B4-BE49-F238E27FC236}">
                <a16:creationId xmlns:a16="http://schemas.microsoft.com/office/drawing/2014/main" id="{D8DA19CE-A9B2-40DA-B8D6-5F0D48019DA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89666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676"/>
            <a:ext cx="8229600" cy="984885"/>
          </a:xfrm>
        </p:spPr>
        <p:txBody>
          <a:bodyPr>
            <a:spAutoFit/>
          </a:bodyPr>
          <a:lstStyle/>
          <a:p>
            <a:r>
              <a:rPr lang="en-IN" dirty="0"/>
              <a:t>Business Intelligence Infrastructure  </a:t>
            </a:r>
            <a:r>
              <a:rPr lang="en-IN" sz="2800" dirty="0"/>
              <a:t>(2 of 4)</a:t>
            </a:r>
            <a:endParaRPr lang="en-US" sz="2800" spc="-450" dirty="0"/>
          </a:p>
        </p:txBody>
      </p:sp>
      <p:sp>
        <p:nvSpPr>
          <p:cNvPr id="5" name="Content Placeholder 4"/>
          <p:cNvSpPr>
            <a:spLocks noGrp="1"/>
          </p:cNvSpPr>
          <p:nvPr>
            <p:ph idx="1"/>
          </p:nvPr>
        </p:nvSpPr>
        <p:spPr>
          <a:xfrm>
            <a:off x="457200" y="1140179"/>
            <a:ext cx="8229600" cy="2846933"/>
          </a:xfrm>
        </p:spPr>
        <p:txBody>
          <a:bodyPr>
            <a:spAutoFit/>
          </a:bodyPr>
          <a:lstStyle/>
          <a:p>
            <a:pPr>
              <a:spcBef>
                <a:spcPts val="300"/>
              </a:spcBef>
            </a:pPr>
            <a:r>
              <a:rPr lang="en-IN" sz="2000" dirty="0"/>
              <a:t>Data warehouse </a:t>
            </a:r>
          </a:p>
          <a:p>
            <a:pPr lvl="1">
              <a:spcBef>
                <a:spcPts val="300"/>
              </a:spcBef>
            </a:pPr>
            <a:r>
              <a:rPr lang="en-IN" sz="1800" dirty="0"/>
              <a:t>Stores current and historical data from many core operational transaction systems</a:t>
            </a:r>
          </a:p>
          <a:p>
            <a:pPr lvl="1">
              <a:spcBef>
                <a:spcPts val="300"/>
              </a:spcBef>
            </a:pPr>
            <a:r>
              <a:rPr lang="en-IN" sz="1800" dirty="0"/>
              <a:t>Consolidates and standardizes information for use across enterprise, but data cannot be altered</a:t>
            </a:r>
          </a:p>
          <a:p>
            <a:pPr lvl="1">
              <a:spcBef>
                <a:spcPts val="300"/>
              </a:spcBef>
            </a:pPr>
            <a:r>
              <a:rPr lang="en-IN" sz="1800" dirty="0"/>
              <a:t>Provides analysis and reporting tools</a:t>
            </a:r>
          </a:p>
          <a:p>
            <a:pPr>
              <a:spcBef>
                <a:spcPts val="300"/>
              </a:spcBef>
            </a:pPr>
            <a:r>
              <a:rPr lang="en-IN" sz="2000" dirty="0"/>
              <a:t>Data marts</a:t>
            </a:r>
          </a:p>
          <a:p>
            <a:pPr lvl="1">
              <a:spcBef>
                <a:spcPts val="300"/>
              </a:spcBef>
            </a:pPr>
            <a:r>
              <a:rPr lang="en-IN" sz="2000" dirty="0"/>
              <a:t>Subset of data warehouse</a:t>
            </a:r>
          </a:p>
          <a:p>
            <a:pPr lvl="1">
              <a:spcBef>
                <a:spcPts val="300"/>
              </a:spcBef>
            </a:pPr>
            <a:r>
              <a:rPr lang="en-IN" sz="2000" dirty="0"/>
              <a:t>Typically focus on single subject or line of business</a:t>
            </a:r>
          </a:p>
        </p:txBody>
      </p:sp>
      <p:sp>
        <p:nvSpPr>
          <p:cNvPr id="2" name="Footer Placeholder 1">
            <a:extLst>
              <a:ext uri="{FF2B5EF4-FFF2-40B4-BE49-F238E27FC236}">
                <a16:creationId xmlns:a16="http://schemas.microsoft.com/office/drawing/2014/main" id="{6BCBA6D8-17BB-4B0D-8152-4A957BE2DCC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42176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854"/>
            <a:ext cx="8229600" cy="984885"/>
          </a:xfrm>
        </p:spPr>
        <p:txBody>
          <a:bodyPr>
            <a:spAutoFit/>
          </a:bodyPr>
          <a:lstStyle/>
          <a:p>
            <a:r>
              <a:rPr lang="en-IN" dirty="0"/>
              <a:t>Business Intelligence Infrastructure  </a:t>
            </a:r>
            <a:r>
              <a:rPr lang="en-IN" sz="2800" dirty="0"/>
              <a:t>(3 of 4)</a:t>
            </a:r>
            <a:endParaRPr lang="en-US" sz="2800" spc="-450" dirty="0"/>
          </a:p>
        </p:txBody>
      </p:sp>
      <p:sp>
        <p:nvSpPr>
          <p:cNvPr id="5" name="Content Placeholder 4"/>
          <p:cNvSpPr>
            <a:spLocks noGrp="1"/>
          </p:cNvSpPr>
          <p:nvPr>
            <p:ph idx="1"/>
          </p:nvPr>
        </p:nvSpPr>
        <p:spPr>
          <a:xfrm>
            <a:off x="457200" y="1248949"/>
            <a:ext cx="8229600" cy="4370427"/>
          </a:xfrm>
        </p:spPr>
        <p:txBody>
          <a:bodyPr>
            <a:spAutoFit/>
          </a:bodyPr>
          <a:lstStyle/>
          <a:p>
            <a:r>
              <a:rPr lang="en-IN" sz="2200" dirty="0"/>
              <a:t>Hadoop</a:t>
            </a:r>
          </a:p>
          <a:p>
            <a:pPr lvl="1"/>
            <a:r>
              <a:rPr lang="en-IN" sz="2000" dirty="0"/>
              <a:t>Enables distributed parallel processing of big data across inexpensive computers</a:t>
            </a:r>
          </a:p>
          <a:p>
            <a:pPr lvl="1"/>
            <a:r>
              <a:rPr lang="en-IN" sz="2000" dirty="0"/>
              <a:t>Key services</a:t>
            </a:r>
          </a:p>
          <a:p>
            <a:pPr lvl="2"/>
            <a:r>
              <a:rPr lang="en-IN" sz="1800" dirty="0"/>
              <a:t>Hadoop Distributed File System (</a:t>
            </a:r>
            <a:r>
              <a:rPr lang="en-IN" sz="1800" spc="-300" dirty="0"/>
              <a:t>H D F </a:t>
            </a:r>
            <a:r>
              <a:rPr lang="en-IN" sz="1800" dirty="0"/>
              <a:t>S): data storage</a:t>
            </a:r>
          </a:p>
          <a:p>
            <a:pPr lvl="2"/>
            <a:r>
              <a:rPr lang="en-IN" sz="1800" dirty="0"/>
              <a:t>MapReduce: breaks data into clusters for work</a:t>
            </a:r>
          </a:p>
          <a:p>
            <a:pPr lvl="2"/>
            <a:r>
              <a:rPr lang="en-IN" sz="1800" dirty="0" err="1"/>
              <a:t>Hbase</a:t>
            </a:r>
            <a:r>
              <a:rPr lang="en-IN" sz="1800" dirty="0"/>
              <a:t>: No </a:t>
            </a:r>
            <a:r>
              <a:rPr lang="en-IN" sz="1800" spc="-300" dirty="0"/>
              <a:t>S Q </a:t>
            </a:r>
            <a:r>
              <a:rPr lang="en-IN" sz="1800" dirty="0"/>
              <a:t>L database</a:t>
            </a:r>
          </a:p>
          <a:p>
            <a:pPr lvl="1"/>
            <a:r>
              <a:rPr lang="en-IN" sz="2000" dirty="0"/>
              <a:t>Used by Yahoo, </a:t>
            </a:r>
            <a:r>
              <a:rPr lang="en-IN" sz="2000" dirty="0" err="1"/>
              <a:t>NextBio</a:t>
            </a:r>
            <a:endParaRPr lang="en-IN" dirty="0"/>
          </a:p>
          <a:p>
            <a:pPr marL="914400" lvl="2" indent="0">
              <a:buNone/>
            </a:pPr>
            <a:endParaRPr lang="en-IN" dirty="0"/>
          </a:p>
          <a:p>
            <a:pPr lvl="2"/>
            <a:endParaRPr lang="en-IN" sz="2000" dirty="0"/>
          </a:p>
          <a:p>
            <a:pPr lvl="2"/>
            <a:endParaRPr lang="en-IN" sz="1800" dirty="0"/>
          </a:p>
          <a:p>
            <a:pPr lvl="1"/>
            <a:endParaRPr lang="en-IN" sz="2000" dirty="0"/>
          </a:p>
        </p:txBody>
      </p:sp>
      <p:sp>
        <p:nvSpPr>
          <p:cNvPr id="2" name="Footer Placeholder 1">
            <a:extLst>
              <a:ext uri="{FF2B5EF4-FFF2-40B4-BE49-F238E27FC236}">
                <a16:creationId xmlns:a16="http://schemas.microsoft.com/office/drawing/2014/main" id="{E691A656-D4C3-4DE9-A5AE-1DAF10E6F8F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464656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854"/>
            <a:ext cx="8229600" cy="984885"/>
          </a:xfrm>
        </p:spPr>
        <p:txBody>
          <a:bodyPr>
            <a:spAutoFit/>
          </a:bodyPr>
          <a:lstStyle/>
          <a:p>
            <a:r>
              <a:rPr lang="en-IN" dirty="0"/>
              <a:t>Business Intelligence Infrastructure  </a:t>
            </a:r>
            <a:r>
              <a:rPr lang="en-IN" sz="2800" dirty="0"/>
              <a:t>(4 of 4)</a:t>
            </a:r>
            <a:endParaRPr lang="en-US" sz="2800" spc="-450" dirty="0"/>
          </a:p>
        </p:txBody>
      </p:sp>
      <p:sp>
        <p:nvSpPr>
          <p:cNvPr id="5" name="Content Placeholder 4"/>
          <p:cNvSpPr>
            <a:spLocks noGrp="1"/>
          </p:cNvSpPr>
          <p:nvPr>
            <p:ph idx="1"/>
          </p:nvPr>
        </p:nvSpPr>
        <p:spPr>
          <a:xfrm>
            <a:off x="457200" y="1248949"/>
            <a:ext cx="8229600" cy="3508653"/>
          </a:xfrm>
        </p:spPr>
        <p:txBody>
          <a:bodyPr>
            <a:spAutoFit/>
          </a:bodyPr>
          <a:lstStyle/>
          <a:p>
            <a:r>
              <a:rPr lang="en-IN" sz="2200" dirty="0"/>
              <a:t>In-memory computing</a:t>
            </a:r>
          </a:p>
          <a:p>
            <a:pPr lvl="1"/>
            <a:r>
              <a:rPr lang="en-IN" dirty="0"/>
              <a:t>Used in big data analysis</a:t>
            </a:r>
          </a:p>
          <a:p>
            <a:pPr lvl="1"/>
            <a:r>
              <a:rPr lang="en-IN" dirty="0"/>
              <a:t>Uses computers main memory (</a:t>
            </a:r>
            <a:r>
              <a:rPr lang="en-IN" spc="-300" dirty="0"/>
              <a:t>R A </a:t>
            </a:r>
            <a:r>
              <a:rPr lang="en-IN" dirty="0"/>
              <a:t>M) for data storage to avoid delays in retrieving data from disk storage</a:t>
            </a:r>
          </a:p>
          <a:p>
            <a:pPr lvl="1"/>
            <a:r>
              <a:rPr lang="en-IN" dirty="0"/>
              <a:t>Can reduce hours/days of processing to seconds</a:t>
            </a:r>
          </a:p>
          <a:p>
            <a:pPr lvl="1"/>
            <a:r>
              <a:rPr lang="en-IN" dirty="0"/>
              <a:t>Requires optimized hardware</a:t>
            </a:r>
          </a:p>
          <a:p>
            <a:pPr>
              <a:spcBef>
                <a:spcPts val="600"/>
              </a:spcBef>
            </a:pPr>
            <a:r>
              <a:rPr lang="en-IN" sz="2200" dirty="0"/>
              <a:t>Analytic platforms</a:t>
            </a:r>
          </a:p>
          <a:p>
            <a:pPr lvl="1"/>
            <a:r>
              <a:rPr lang="en-IN" dirty="0"/>
              <a:t>High-speed platforms using both relational and non-relational tools optimized for large datasets</a:t>
            </a:r>
          </a:p>
        </p:txBody>
      </p:sp>
      <p:sp>
        <p:nvSpPr>
          <p:cNvPr id="2" name="Footer Placeholder 1">
            <a:extLst>
              <a:ext uri="{FF2B5EF4-FFF2-40B4-BE49-F238E27FC236}">
                <a16:creationId xmlns:a16="http://schemas.microsoft.com/office/drawing/2014/main" id="{D0978E50-F49A-49D5-BB82-75153EC534D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68846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195"/>
            <a:ext cx="8229600" cy="1107996"/>
          </a:xfrm>
        </p:spPr>
        <p:txBody>
          <a:bodyPr>
            <a:spAutoFit/>
          </a:bodyPr>
          <a:lstStyle/>
          <a:p>
            <a:r>
              <a:rPr lang="en-IN" dirty="0"/>
              <a:t>Figure 6.13 Contemporary Business Intelligence Infrastructure</a:t>
            </a:r>
            <a:endParaRPr lang="en-US" sz="2800" spc="-450" dirty="0"/>
          </a:p>
        </p:txBody>
      </p:sp>
      <p:pic>
        <p:nvPicPr>
          <p:cNvPr id="10242" name="Picture 2" descr="An illustration explains the components of a contemporary business intelligence infrastructure.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155606" y="1380037"/>
            <a:ext cx="4832789" cy="332531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94B52D9-5A1B-4148-A11C-29451ABDEED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34835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3367"/>
            <a:ext cx="8229600" cy="1107996"/>
          </a:xfrm>
        </p:spPr>
        <p:txBody>
          <a:bodyPr>
            <a:spAutoFit/>
          </a:bodyPr>
          <a:lstStyle/>
          <a:p>
            <a:r>
              <a:rPr lang="en-IN" dirty="0"/>
              <a:t>Analytical Tools: Relationships, Patterns, Trends</a:t>
            </a:r>
            <a:endParaRPr lang="en-US" sz="2800" spc="-450" dirty="0"/>
          </a:p>
        </p:txBody>
      </p:sp>
      <p:sp>
        <p:nvSpPr>
          <p:cNvPr id="5" name="Content Placeholder 4"/>
          <p:cNvSpPr>
            <a:spLocks noGrp="1"/>
          </p:cNvSpPr>
          <p:nvPr>
            <p:ph idx="1"/>
          </p:nvPr>
        </p:nvSpPr>
        <p:spPr>
          <a:xfrm>
            <a:off x="457200" y="1420365"/>
            <a:ext cx="8229600" cy="2893100"/>
          </a:xfrm>
        </p:spPr>
        <p:txBody>
          <a:bodyPr>
            <a:spAutoFit/>
          </a:bodyPr>
          <a:lstStyle/>
          <a:p>
            <a:r>
              <a:rPr lang="en-IN" dirty="0"/>
              <a:t>Tools for consolidating, </a:t>
            </a:r>
            <a:r>
              <a:rPr lang="en-IN" dirty="0" err="1"/>
              <a:t>analyzing</a:t>
            </a:r>
            <a:r>
              <a:rPr lang="en-IN" dirty="0"/>
              <a:t>, and providing access to vast amounts of data to help users make better business decisions</a:t>
            </a:r>
          </a:p>
          <a:p>
            <a:pPr lvl="1"/>
            <a:r>
              <a:rPr lang="en-IN" sz="2400" dirty="0"/>
              <a:t>Multidimensional data analysis (</a:t>
            </a:r>
            <a:r>
              <a:rPr lang="en-IN" sz="2400" spc="-300" dirty="0"/>
              <a:t>O L A </a:t>
            </a:r>
            <a:r>
              <a:rPr lang="en-IN" sz="2400" dirty="0"/>
              <a:t>P)</a:t>
            </a:r>
          </a:p>
          <a:p>
            <a:pPr lvl="1"/>
            <a:r>
              <a:rPr lang="en-IN" sz="2400" dirty="0"/>
              <a:t>Data mining</a:t>
            </a:r>
          </a:p>
          <a:p>
            <a:pPr lvl="1"/>
            <a:r>
              <a:rPr lang="en-IN" sz="2400" dirty="0"/>
              <a:t>Text mining</a:t>
            </a:r>
          </a:p>
          <a:p>
            <a:pPr lvl="1"/>
            <a:r>
              <a:rPr lang="en-IN" sz="2400" dirty="0"/>
              <a:t>Web mining</a:t>
            </a:r>
          </a:p>
        </p:txBody>
      </p:sp>
      <p:sp>
        <p:nvSpPr>
          <p:cNvPr id="2" name="Footer Placeholder 1">
            <a:extLst>
              <a:ext uri="{FF2B5EF4-FFF2-40B4-BE49-F238E27FC236}">
                <a16:creationId xmlns:a16="http://schemas.microsoft.com/office/drawing/2014/main" id="{6EE6D5D1-2C32-4B0C-928C-0094BF960A3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79506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024"/>
            <a:ext cx="8229600" cy="553998"/>
          </a:xfrm>
        </p:spPr>
        <p:txBody>
          <a:bodyPr>
            <a:spAutoFit/>
          </a:bodyPr>
          <a:lstStyle/>
          <a:p>
            <a:r>
              <a:rPr lang="en-IN" dirty="0"/>
              <a:t>Online Analytical Processing (</a:t>
            </a:r>
            <a:r>
              <a:rPr lang="en-IN" spc="-300" dirty="0"/>
              <a:t>O L A </a:t>
            </a:r>
            <a:r>
              <a:rPr lang="en-IN" dirty="0"/>
              <a:t>P)</a:t>
            </a:r>
            <a:endParaRPr lang="en-US" sz="2800" dirty="0"/>
          </a:p>
        </p:txBody>
      </p:sp>
      <p:sp>
        <p:nvSpPr>
          <p:cNvPr id="5" name="Content Placeholder 4"/>
          <p:cNvSpPr>
            <a:spLocks noGrp="1"/>
          </p:cNvSpPr>
          <p:nvPr>
            <p:ph idx="1"/>
          </p:nvPr>
        </p:nvSpPr>
        <p:spPr>
          <a:xfrm>
            <a:off x="457200" y="716339"/>
            <a:ext cx="8229600" cy="3008516"/>
          </a:xfrm>
        </p:spPr>
        <p:txBody>
          <a:bodyPr>
            <a:spAutoFit/>
          </a:bodyPr>
          <a:lstStyle/>
          <a:p>
            <a:r>
              <a:rPr lang="en-IN" dirty="0"/>
              <a:t>Supports multidimensional data analysis</a:t>
            </a:r>
          </a:p>
          <a:p>
            <a:pPr lvl="1"/>
            <a:r>
              <a:rPr lang="en-IN" sz="2400" dirty="0"/>
              <a:t>Viewing data using multiple dimensions</a:t>
            </a:r>
          </a:p>
          <a:p>
            <a:pPr lvl="1"/>
            <a:r>
              <a:rPr lang="en-IN" sz="2400" dirty="0"/>
              <a:t>Each aspect of information (product, pricing, cost, region, time period) is different dimension</a:t>
            </a:r>
          </a:p>
          <a:p>
            <a:pPr lvl="1"/>
            <a:r>
              <a:rPr lang="en-IN" sz="2400" dirty="0"/>
              <a:t>Example: How many washers sold in the East in June compared to the sales forecast?</a:t>
            </a:r>
          </a:p>
          <a:p>
            <a:r>
              <a:rPr lang="en-IN" spc="-300" dirty="0"/>
              <a:t>O L  A </a:t>
            </a:r>
            <a:r>
              <a:rPr lang="en-IN" dirty="0"/>
              <a:t>P enables rapid, online answers to ad hoc queries</a:t>
            </a:r>
          </a:p>
        </p:txBody>
      </p:sp>
      <p:sp>
        <p:nvSpPr>
          <p:cNvPr id="2" name="Footer Placeholder 1">
            <a:extLst>
              <a:ext uri="{FF2B5EF4-FFF2-40B4-BE49-F238E27FC236}">
                <a16:creationId xmlns:a16="http://schemas.microsoft.com/office/drawing/2014/main" id="{7EEF3B16-FCBE-46C3-898D-52C60BC45BA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4899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83276"/>
            <a:ext cx="8229600" cy="492443"/>
          </a:xfrm>
        </p:spPr>
        <p:txBody>
          <a:bodyPr>
            <a:spAutoFit/>
          </a:bodyPr>
          <a:lstStyle/>
          <a:p>
            <a:r>
              <a:rPr lang="it-IT" sz="3200" dirty="0"/>
              <a:t>Figure 6.14 Multidimensional Data Model</a:t>
            </a:r>
            <a:endParaRPr lang="en-US" sz="2400" spc="-450" dirty="0"/>
          </a:p>
        </p:txBody>
      </p:sp>
      <p:pic>
        <p:nvPicPr>
          <p:cNvPr id="11266" name="Picture 2" descr="A three-dimensional matrix in the form of a cuboid compares actual and projected sales for four products across three region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66863" y="920276"/>
            <a:ext cx="4210275" cy="363267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16007A1-FB2C-4081-A10B-B683EBED56F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17879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IN" dirty="0"/>
              <a:t>Data Mining</a:t>
            </a:r>
            <a:endParaRPr lang="en-US" sz="2800" spc="-450" dirty="0"/>
          </a:p>
        </p:txBody>
      </p:sp>
      <p:sp>
        <p:nvSpPr>
          <p:cNvPr id="5" name="Content Placeholder 4"/>
          <p:cNvSpPr>
            <a:spLocks noGrp="1"/>
          </p:cNvSpPr>
          <p:nvPr>
            <p:ph idx="1"/>
          </p:nvPr>
        </p:nvSpPr>
        <p:spPr>
          <a:xfrm>
            <a:off x="457200" y="746661"/>
            <a:ext cx="8229600" cy="3893374"/>
          </a:xfrm>
        </p:spPr>
        <p:txBody>
          <a:bodyPr>
            <a:spAutoFit/>
          </a:bodyPr>
          <a:lstStyle/>
          <a:p>
            <a:r>
              <a:rPr lang="en-IN" sz="2200" dirty="0"/>
              <a:t>Finds hidden patterns, relationships in datasets</a:t>
            </a:r>
          </a:p>
          <a:p>
            <a:pPr lvl="1"/>
            <a:r>
              <a:rPr lang="en-IN" dirty="0"/>
              <a:t>Example: customer buying patterns</a:t>
            </a:r>
          </a:p>
          <a:p>
            <a:r>
              <a:rPr lang="en-IN" sz="2200" dirty="0"/>
              <a:t>Infers rules to predict future </a:t>
            </a:r>
            <a:r>
              <a:rPr lang="en-IN" sz="2200" dirty="0" err="1"/>
              <a:t>behavior</a:t>
            </a:r>
            <a:endParaRPr lang="en-IN" sz="2200" dirty="0"/>
          </a:p>
          <a:p>
            <a:r>
              <a:rPr lang="en-IN" sz="2200" dirty="0"/>
              <a:t>Types of information obtainable from data mining:</a:t>
            </a:r>
          </a:p>
          <a:p>
            <a:pPr lvl="1"/>
            <a:r>
              <a:rPr lang="en-IN" dirty="0"/>
              <a:t>Associations</a:t>
            </a:r>
          </a:p>
          <a:p>
            <a:pPr lvl="1"/>
            <a:r>
              <a:rPr lang="en-IN" dirty="0"/>
              <a:t>Sequences</a:t>
            </a:r>
          </a:p>
          <a:p>
            <a:pPr lvl="1"/>
            <a:r>
              <a:rPr lang="en-IN" dirty="0"/>
              <a:t>Classification</a:t>
            </a:r>
          </a:p>
          <a:p>
            <a:pPr lvl="1"/>
            <a:r>
              <a:rPr lang="en-IN" dirty="0"/>
              <a:t>Clustering</a:t>
            </a:r>
          </a:p>
          <a:p>
            <a:pPr lvl="1"/>
            <a:r>
              <a:rPr lang="en-IN" dirty="0"/>
              <a:t>Forecasting</a:t>
            </a:r>
          </a:p>
        </p:txBody>
      </p:sp>
      <p:sp>
        <p:nvSpPr>
          <p:cNvPr id="2" name="Footer Placeholder 1">
            <a:extLst>
              <a:ext uri="{FF2B5EF4-FFF2-40B4-BE49-F238E27FC236}">
                <a16:creationId xmlns:a16="http://schemas.microsoft.com/office/drawing/2014/main" id="{3EC48AC3-4A92-4B9C-BEBA-1E550DDC3A3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885702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IN" dirty="0"/>
              <a:t>Text Mining and Web Mining</a:t>
            </a:r>
            <a:endParaRPr lang="en-US" sz="2800" spc="-450" dirty="0"/>
          </a:p>
        </p:txBody>
      </p:sp>
      <p:sp>
        <p:nvSpPr>
          <p:cNvPr id="5" name="Content Placeholder 4"/>
          <p:cNvSpPr>
            <a:spLocks noGrp="1"/>
          </p:cNvSpPr>
          <p:nvPr>
            <p:ph idx="1"/>
          </p:nvPr>
        </p:nvSpPr>
        <p:spPr>
          <a:xfrm>
            <a:off x="457200" y="738753"/>
            <a:ext cx="8229600" cy="3585597"/>
          </a:xfrm>
        </p:spPr>
        <p:txBody>
          <a:bodyPr>
            <a:spAutoFit/>
          </a:bodyPr>
          <a:lstStyle/>
          <a:p>
            <a:r>
              <a:rPr lang="en-IN" sz="2200" dirty="0"/>
              <a:t>Text mining</a:t>
            </a:r>
          </a:p>
          <a:p>
            <a:pPr lvl="1"/>
            <a:r>
              <a:rPr lang="en-IN" dirty="0"/>
              <a:t>Extracts key elements from large unstructured text data sets</a:t>
            </a:r>
          </a:p>
          <a:p>
            <a:pPr lvl="1"/>
            <a:r>
              <a:rPr lang="en-IN" dirty="0"/>
              <a:t>Sentiment analysis software</a:t>
            </a:r>
          </a:p>
          <a:p>
            <a:pPr>
              <a:spcBef>
                <a:spcPts val="600"/>
              </a:spcBef>
            </a:pPr>
            <a:r>
              <a:rPr lang="en-IN" sz="2200" dirty="0"/>
              <a:t>Web mining</a:t>
            </a:r>
          </a:p>
          <a:p>
            <a:pPr lvl="1"/>
            <a:r>
              <a:rPr lang="en-IN" dirty="0"/>
              <a:t>Discovery and analysis of useful patterns and information from web</a:t>
            </a:r>
          </a:p>
          <a:p>
            <a:pPr lvl="1"/>
            <a:r>
              <a:rPr lang="en-IN" dirty="0"/>
              <a:t>Web content mining</a:t>
            </a:r>
          </a:p>
          <a:p>
            <a:pPr lvl="1"/>
            <a:r>
              <a:rPr lang="en-IN" dirty="0"/>
              <a:t>Web structure mining</a:t>
            </a:r>
          </a:p>
          <a:p>
            <a:pPr lvl="1"/>
            <a:r>
              <a:rPr lang="en-IN" dirty="0"/>
              <a:t>Web usage mining</a:t>
            </a:r>
          </a:p>
        </p:txBody>
      </p:sp>
      <p:sp>
        <p:nvSpPr>
          <p:cNvPr id="2" name="Footer Placeholder 1">
            <a:extLst>
              <a:ext uri="{FF2B5EF4-FFF2-40B4-BE49-F238E27FC236}">
                <a16:creationId xmlns:a16="http://schemas.microsoft.com/office/drawing/2014/main" id="{9CA3C36F-D502-4CEF-81FD-3A63E89C3BA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55834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6552"/>
            <a:ext cx="8229600" cy="553998"/>
          </a:xfrm>
        </p:spPr>
        <p:txBody>
          <a:bodyPr>
            <a:spAutoFit/>
          </a:bodyPr>
          <a:lstStyle/>
          <a:p>
            <a:r>
              <a:rPr lang="en-IN" dirty="0"/>
              <a:t>Databases and the Web</a:t>
            </a:r>
            <a:endParaRPr lang="en-US" sz="2800" spc="-450" dirty="0"/>
          </a:p>
        </p:txBody>
      </p:sp>
      <p:sp>
        <p:nvSpPr>
          <p:cNvPr id="5" name="Content Placeholder 4"/>
          <p:cNvSpPr>
            <a:spLocks noGrp="1"/>
          </p:cNvSpPr>
          <p:nvPr>
            <p:ph idx="1"/>
          </p:nvPr>
        </p:nvSpPr>
        <p:spPr>
          <a:xfrm>
            <a:off x="457200" y="793518"/>
            <a:ext cx="8229600" cy="4001095"/>
          </a:xfrm>
        </p:spPr>
        <p:txBody>
          <a:bodyPr>
            <a:spAutoFit/>
          </a:bodyPr>
          <a:lstStyle/>
          <a:p>
            <a:r>
              <a:rPr lang="en-IN" sz="2200" dirty="0"/>
              <a:t>Many companies use the web to make some internal databases available to customers or partners</a:t>
            </a:r>
          </a:p>
          <a:p>
            <a:pPr>
              <a:spcBef>
                <a:spcPts val="600"/>
              </a:spcBef>
            </a:pPr>
            <a:r>
              <a:rPr lang="en-IN" sz="2200" dirty="0"/>
              <a:t>Typical configuration includes:</a:t>
            </a:r>
          </a:p>
          <a:p>
            <a:pPr lvl="1"/>
            <a:r>
              <a:rPr lang="en-IN" dirty="0"/>
              <a:t>Web server</a:t>
            </a:r>
          </a:p>
          <a:p>
            <a:pPr lvl="1"/>
            <a:r>
              <a:rPr lang="en-IN" dirty="0"/>
              <a:t>Application server/middleware/scripts</a:t>
            </a:r>
          </a:p>
          <a:p>
            <a:pPr lvl="1"/>
            <a:r>
              <a:rPr lang="en-IN" dirty="0"/>
              <a:t>Database server (hosting </a:t>
            </a:r>
            <a:r>
              <a:rPr lang="en-IN" spc="-300" dirty="0"/>
              <a:t>D B M </a:t>
            </a:r>
            <a:r>
              <a:rPr lang="en-IN" dirty="0"/>
              <a:t>S)</a:t>
            </a:r>
          </a:p>
          <a:p>
            <a:pPr>
              <a:spcBef>
                <a:spcPts val="600"/>
              </a:spcBef>
            </a:pPr>
            <a:r>
              <a:rPr lang="en-IN" sz="2200" dirty="0"/>
              <a:t>Advantages of using the web for database access:</a:t>
            </a:r>
          </a:p>
          <a:p>
            <a:pPr lvl="1"/>
            <a:r>
              <a:rPr lang="en-IN" dirty="0"/>
              <a:t>Ease of use of browser software</a:t>
            </a:r>
          </a:p>
          <a:p>
            <a:pPr lvl="1"/>
            <a:r>
              <a:rPr lang="en-IN" dirty="0"/>
              <a:t>Web interface requires few or no changes to database</a:t>
            </a:r>
          </a:p>
          <a:p>
            <a:pPr lvl="1"/>
            <a:r>
              <a:rPr lang="en-IN" dirty="0"/>
              <a:t>Inexpensive to add web interface to system</a:t>
            </a:r>
          </a:p>
        </p:txBody>
      </p:sp>
      <p:sp>
        <p:nvSpPr>
          <p:cNvPr id="2" name="Footer Placeholder 1">
            <a:extLst>
              <a:ext uri="{FF2B5EF4-FFF2-40B4-BE49-F238E27FC236}">
                <a16:creationId xmlns:a16="http://schemas.microsoft.com/office/drawing/2014/main" id="{BB2814BF-59F3-419A-B02A-D07EF1DDFFA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90968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5928"/>
            <a:ext cx="8229600" cy="984885"/>
          </a:xfrm>
        </p:spPr>
        <p:txBody>
          <a:bodyPr>
            <a:spAutoFit/>
          </a:bodyPr>
          <a:lstStyle/>
          <a:p>
            <a:r>
              <a:rPr lang="en-IN" sz="3200" dirty="0"/>
              <a:t>Figure 6.15 Linking Internal Databases to the Web</a:t>
            </a:r>
            <a:endParaRPr lang="en-US" sz="2400" spc="-450" dirty="0"/>
          </a:p>
        </p:txBody>
      </p:sp>
      <p:pic>
        <p:nvPicPr>
          <p:cNvPr id="12290" name="Picture 2" descr="A linear flow diagram explains how users access an internal database through the web using their desktop computer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4288" y="1698927"/>
            <a:ext cx="8154179" cy="186342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61988EB-25B5-4F7C-BBF4-5A942B5C4C5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13557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3202"/>
            <a:ext cx="8229600" cy="553998"/>
          </a:xfrm>
        </p:spPr>
        <p:txBody>
          <a:bodyPr>
            <a:spAutoFit/>
          </a:bodyPr>
          <a:lstStyle/>
          <a:p>
            <a:r>
              <a:rPr lang="en-IN" dirty="0"/>
              <a:t>Data Governance</a:t>
            </a:r>
            <a:endParaRPr lang="en-US" sz="2800" spc="-450" dirty="0"/>
          </a:p>
        </p:txBody>
      </p:sp>
      <p:sp>
        <p:nvSpPr>
          <p:cNvPr id="5" name="Content Placeholder 4"/>
          <p:cNvSpPr>
            <a:spLocks noGrp="1"/>
          </p:cNvSpPr>
          <p:nvPr>
            <p:ph idx="1"/>
          </p:nvPr>
        </p:nvSpPr>
        <p:spPr>
          <a:xfrm>
            <a:off x="457200" y="744932"/>
            <a:ext cx="8229600" cy="3185487"/>
          </a:xfrm>
        </p:spPr>
        <p:txBody>
          <a:bodyPr>
            <a:spAutoFit/>
          </a:bodyPr>
          <a:lstStyle/>
          <a:p>
            <a:pPr>
              <a:spcBef>
                <a:spcPts val="600"/>
              </a:spcBef>
            </a:pPr>
            <a:r>
              <a:rPr lang="en-IN" dirty="0"/>
              <a:t>Data governance</a:t>
            </a:r>
          </a:p>
          <a:p>
            <a:pPr lvl="1"/>
            <a:r>
              <a:rPr lang="en-IN" sz="2400" dirty="0"/>
              <a:t>Encompasses policies and procedures through which data can be managed as an organizational resource.</a:t>
            </a:r>
          </a:p>
          <a:p>
            <a:pPr lvl="1"/>
            <a:r>
              <a:rPr lang="en-IN" sz="2400" dirty="0"/>
              <a:t>Establishes rules for sharing, disseminating, acquiring, standardizing, classifying and inventorying information</a:t>
            </a:r>
          </a:p>
          <a:p>
            <a:pPr lvl="2"/>
            <a:r>
              <a:rPr lang="en-IN" sz="2400" dirty="0"/>
              <a:t>Example: Firm information policy that specifies that only selected members of a particular department can view certain information</a:t>
            </a:r>
          </a:p>
        </p:txBody>
      </p:sp>
      <p:sp>
        <p:nvSpPr>
          <p:cNvPr id="2" name="Footer Placeholder 1">
            <a:extLst>
              <a:ext uri="{FF2B5EF4-FFF2-40B4-BE49-F238E27FC236}">
                <a16:creationId xmlns:a16="http://schemas.microsoft.com/office/drawing/2014/main" id="{B44A2F66-2B12-4F46-9DDB-2A15421A6D2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27855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3722"/>
            <a:ext cx="8229600" cy="553998"/>
          </a:xfrm>
        </p:spPr>
        <p:txBody>
          <a:bodyPr>
            <a:spAutoFit/>
          </a:bodyPr>
          <a:lstStyle/>
          <a:p>
            <a:r>
              <a:rPr lang="en-US" dirty="0"/>
              <a:t>Data Quality Assurance</a:t>
            </a:r>
            <a:endParaRPr lang="en-US" sz="2800" spc="-450" dirty="0"/>
          </a:p>
        </p:txBody>
      </p:sp>
      <p:sp>
        <p:nvSpPr>
          <p:cNvPr id="5" name="Content Placeholder 4"/>
          <p:cNvSpPr>
            <a:spLocks noGrp="1"/>
          </p:cNvSpPr>
          <p:nvPr>
            <p:ph idx="1"/>
          </p:nvPr>
        </p:nvSpPr>
        <p:spPr>
          <a:xfrm>
            <a:off x="457200" y="880389"/>
            <a:ext cx="8229600" cy="3685624"/>
          </a:xfrm>
        </p:spPr>
        <p:txBody>
          <a:bodyPr>
            <a:spAutoFit/>
          </a:bodyPr>
          <a:lstStyle/>
          <a:p>
            <a:r>
              <a:rPr lang="en-IN" dirty="0"/>
              <a:t>More than 25 percent of critical data in Fortune 1000 company databases are inaccurate or incomplete</a:t>
            </a:r>
          </a:p>
          <a:p>
            <a:r>
              <a:rPr lang="en-IN" dirty="0"/>
              <a:t>Before new database is in place, a firm must:</a:t>
            </a:r>
          </a:p>
          <a:p>
            <a:pPr lvl="1"/>
            <a:r>
              <a:rPr lang="en-IN" sz="2400" dirty="0"/>
              <a:t>Identify and correct faulty data</a:t>
            </a:r>
          </a:p>
          <a:p>
            <a:pPr lvl="1"/>
            <a:r>
              <a:rPr lang="en-IN" sz="2400" dirty="0"/>
              <a:t>Establish better routines for editing data once database in operation</a:t>
            </a:r>
          </a:p>
          <a:p>
            <a:r>
              <a:rPr lang="en-IN" dirty="0"/>
              <a:t>Data quality audit</a:t>
            </a:r>
          </a:p>
          <a:p>
            <a:r>
              <a:rPr lang="en-IN" dirty="0"/>
              <a:t>Data cleansing</a:t>
            </a:r>
          </a:p>
        </p:txBody>
      </p:sp>
      <p:sp>
        <p:nvSpPr>
          <p:cNvPr id="2" name="Footer Placeholder 1">
            <a:extLst>
              <a:ext uri="{FF2B5EF4-FFF2-40B4-BE49-F238E27FC236}">
                <a16:creationId xmlns:a16="http://schemas.microsoft.com/office/drawing/2014/main" id="{DFFE24FA-BC70-45A0-8603-AE7399E9714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921722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024"/>
            <a:ext cx="8229600" cy="553998"/>
          </a:xfrm>
        </p:spPr>
        <p:txBody>
          <a:bodyPr>
            <a:spAutoFit/>
          </a:bodyPr>
          <a:lstStyle/>
          <a:p>
            <a:r>
              <a:rPr lang="en-IN" dirty="0"/>
              <a:t>How Will </a:t>
            </a:r>
            <a:r>
              <a:rPr lang="en-IN" spc="-450" dirty="0"/>
              <a:t>M I </a:t>
            </a:r>
            <a:r>
              <a:rPr lang="en-IN" dirty="0"/>
              <a:t>S Help My Career?</a:t>
            </a:r>
            <a:endParaRPr lang="en-US" sz="2800" spc="-450" dirty="0"/>
          </a:p>
        </p:txBody>
      </p:sp>
      <p:sp>
        <p:nvSpPr>
          <p:cNvPr id="5" name="Content Placeholder 4"/>
          <p:cNvSpPr>
            <a:spLocks noGrp="1"/>
          </p:cNvSpPr>
          <p:nvPr>
            <p:ph idx="1"/>
          </p:nvPr>
        </p:nvSpPr>
        <p:spPr>
          <a:xfrm>
            <a:off x="457200" y="877692"/>
            <a:ext cx="8229600" cy="2616101"/>
          </a:xfrm>
        </p:spPr>
        <p:txBody>
          <a:bodyPr>
            <a:spAutoFit/>
          </a:bodyPr>
          <a:lstStyle/>
          <a:p>
            <a:r>
              <a:rPr lang="en-IN" dirty="0"/>
              <a:t>The Company: Mega Midwest Power</a:t>
            </a:r>
          </a:p>
          <a:p>
            <a:r>
              <a:rPr lang="en-IN" dirty="0"/>
              <a:t>Position Description: Entry-level data analyst</a:t>
            </a:r>
          </a:p>
          <a:p>
            <a:r>
              <a:rPr lang="en-IN" dirty="0"/>
              <a:t>Job Requirements</a:t>
            </a:r>
          </a:p>
          <a:p>
            <a:r>
              <a:rPr lang="en-IN" dirty="0"/>
              <a:t>Interview Questions</a:t>
            </a:r>
          </a:p>
          <a:p>
            <a:r>
              <a:rPr lang="en-IN" dirty="0"/>
              <a:t>Author Tips</a:t>
            </a:r>
          </a:p>
        </p:txBody>
      </p:sp>
      <p:sp>
        <p:nvSpPr>
          <p:cNvPr id="2" name="Footer Placeholder 1">
            <a:extLst>
              <a:ext uri="{FF2B5EF4-FFF2-40B4-BE49-F238E27FC236}">
                <a16:creationId xmlns:a16="http://schemas.microsoft.com/office/drawing/2014/main" id="{CCBFA7C9-9BC5-48EA-B080-F751651E11E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89388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38730"/>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2" name="Footer Placeholder 1">
            <a:extLst>
              <a:ext uri="{FF2B5EF4-FFF2-40B4-BE49-F238E27FC236}">
                <a16:creationId xmlns:a16="http://schemas.microsoft.com/office/drawing/2014/main" id="{8E38BF82-BBB4-487F-AF16-FEA2B0C44D69}"/>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4468</TotalTime>
  <Words>8961</Words>
  <Application>Microsoft Office PowerPoint</Application>
  <PresentationFormat>On-screen Show (16:9)</PresentationFormat>
  <Paragraphs>617</Paragraphs>
  <Slides>45</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Courier New</vt:lpstr>
      <vt:lpstr>Symbol</vt:lpstr>
      <vt:lpstr>Times New Roman</vt:lpstr>
      <vt:lpstr>Verdana</vt:lpstr>
      <vt:lpstr>Wingdings</vt:lpstr>
      <vt:lpstr>508 Lecture</vt:lpstr>
      <vt:lpstr>Management Information Systems: Managing the Digital Firm</vt:lpstr>
      <vt:lpstr>Learning Objectives</vt:lpstr>
      <vt:lpstr>Video Cases</vt:lpstr>
      <vt:lpstr>Astro: Leveraging Data for Customer-driven Service</vt:lpstr>
      <vt:lpstr>File Organization Terms and Concepts</vt:lpstr>
      <vt:lpstr>Figure 6.1 The Data Hierarchy</vt:lpstr>
      <vt:lpstr>Problems with the Traditional File Environment</vt:lpstr>
      <vt:lpstr>Figure 6.2 Traditional File Processing</vt:lpstr>
      <vt:lpstr>Database Management Systems</vt:lpstr>
      <vt:lpstr>Figure 6.3 Human Resources Database with Multiple Views</vt:lpstr>
      <vt:lpstr>Relational D B M S</vt:lpstr>
      <vt:lpstr>Figure 6.4 Relational Database Tables</vt:lpstr>
      <vt:lpstr>Operations of a Relational D B M S</vt:lpstr>
      <vt:lpstr>Figure 6.5 The Three Basic Operations of a Relational D B M S</vt:lpstr>
      <vt:lpstr>Capabilities of Database Management Systems</vt:lpstr>
      <vt:lpstr>Figure 6.6 Access Data Dictionary Features</vt:lpstr>
      <vt:lpstr>Figure 6.7 Example of an S Q L Query</vt:lpstr>
      <vt:lpstr>Figure 6.8 An Access Query</vt:lpstr>
      <vt:lpstr>Designing Databases</vt:lpstr>
      <vt:lpstr>Figure 6.9 An Unnormalized Relation for Order</vt:lpstr>
      <vt:lpstr>Figure 6.10 Normalized Tables Created from Order</vt:lpstr>
      <vt:lpstr>Figure 6.11 An Entity-Relationship Diagram</vt:lpstr>
      <vt:lpstr>Non-Relational Databases, Cloud Databases and Blockchain (Slide 1 of 3)</vt:lpstr>
      <vt:lpstr>Non-Relational Databases, Cloud Databases and Blockchain (Slide 2 of 3)</vt:lpstr>
      <vt:lpstr>Interactive Session: Technology: New Cloud Database Tools Help Vodafone Fiji Make Better Decisions</vt:lpstr>
      <vt:lpstr>Non-relational Databases, Cloud Databases, and Blockchain (Slide 3 of 3)</vt:lpstr>
      <vt:lpstr>Figure 6.12 How Blockchain Works</vt:lpstr>
      <vt:lpstr>The Challenge of Big Data</vt:lpstr>
      <vt:lpstr>Interactive Session: Management: Big Data Baseball</vt:lpstr>
      <vt:lpstr>Business Intelligence Infrastructure  (1 of 4)</vt:lpstr>
      <vt:lpstr>Business Intelligence Infrastructure  (2 of 4)</vt:lpstr>
      <vt:lpstr>Business Intelligence Infrastructure  (3 of 4)</vt:lpstr>
      <vt:lpstr>Business Intelligence Infrastructure  (4 of 4)</vt:lpstr>
      <vt:lpstr>Figure 6.13 Contemporary Business Intelligence Infrastructure</vt:lpstr>
      <vt:lpstr>Analytical Tools: Relationships, Patterns, Trends</vt:lpstr>
      <vt:lpstr>Online Analytical Processing (O L A P)</vt:lpstr>
      <vt:lpstr>Figure 6.14 Multidimensional Data Model</vt:lpstr>
      <vt:lpstr>Data Mining</vt:lpstr>
      <vt:lpstr>Text Mining and Web Mining</vt:lpstr>
      <vt:lpstr>Databases and the Web</vt:lpstr>
      <vt:lpstr>Figure 6.15 Linking Internal Databases to the Web</vt:lpstr>
      <vt:lpstr>Data Governance</vt:lpstr>
      <vt:lpstr>Data Quality Assurance</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1099</cp:revision>
  <cp:lastPrinted>2020-10-26T20:39:24Z</cp:lastPrinted>
  <dcterms:created xsi:type="dcterms:W3CDTF">2014-07-14T20:04:21Z</dcterms:created>
  <dcterms:modified xsi:type="dcterms:W3CDTF">2021-05-28T12:59:26Z</dcterms:modified>
</cp:coreProperties>
</file>