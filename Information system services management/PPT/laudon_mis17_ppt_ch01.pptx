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3"/>
  </p:notesMasterIdLst>
  <p:handoutMasterIdLst>
    <p:handoutMasterId r:id="rId54"/>
  </p:handoutMasterIdLst>
  <p:sldIdLst>
    <p:sldId id="506" r:id="rId2"/>
    <p:sldId id="380" r:id="rId3"/>
    <p:sldId id="518" r:id="rId4"/>
    <p:sldId id="516" r:id="rId5"/>
    <p:sldId id="519" r:id="rId6"/>
    <p:sldId id="520" r:id="rId7"/>
    <p:sldId id="569" r:id="rId8"/>
    <p:sldId id="522" r:id="rId9"/>
    <p:sldId id="523" r:id="rId10"/>
    <p:sldId id="524" r:id="rId11"/>
    <p:sldId id="525" r:id="rId12"/>
    <p:sldId id="526" r:id="rId13"/>
    <p:sldId id="527" r:id="rId14"/>
    <p:sldId id="529" r:id="rId15"/>
    <p:sldId id="530" r:id="rId16"/>
    <p:sldId id="570" r:id="rId17"/>
    <p:sldId id="531" r:id="rId18"/>
    <p:sldId id="533" r:id="rId19"/>
    <p:sldId id="534" r:id="rId20"/>
    <p:sldId id="535" r:id="rId21"/>
    <p:sldId id="536" r:id="rId22"/>
    <p:sldId id="538" r:id="rId23"/>
    <p:sldId id="539" r:id="rId24"/>
    <p:sldId id="540" r:id="rId25"/>
    <p:sldId id="571" r:id="rId26"/>
    <p:sldId id="542" r:id="rId27"/>
    <p:sldId id="543" r:id="rId28"/>
    <p:sldId id="572" r:id="rId29"/>
    <p:sldId id="545" r:id="rId30"/>
    <p:sldId id="546" r:id="rId31"/>
    <p:sldId id="547" r:id="rId32"/>
    <p:sldId id="548" r:id="rId33"/>
    <p:sldId id="549" r:id="rId34"/>
    <p:sldId id="550" r:id="rId35"/>
    <p:sldId id="551" r:id="rId36"/>
    <p:sldId id="552" r:id="rId37"/>
    <p:sldId id="554" r:id="rId38"/>
    <p:sldId id="555" r:id="rId39"/>
    <p:sldId id="556" r:id="rId40"/>
    <p:sldId id="557" r:id="rId41"/>
    <p:sldId id="559" r:id="rId42"/>
    <p:sldId id="568" r:id="rId43"/>
    <p:sldId id="560" r:id="rId44"/>
    <p:sldId id="561" r:id="rId45"/>
    <p:sldId id="562" r:id="rId46"/>
    <p:sldId id="563" r:id="rId47"/>
    <p:sldId id="564" r:id="rId48"/>
    <p:sldId id="565" r:id="rId49"/>
    <p:sldId id="566" r:id="rId50"/>
    <p:sldId id="567" r:id="rId51"/>
    <p:sldId id="514" r:id="rId52"/>
  </p:sldIdLst>
  <p:sldSz cx="9144000" cy="5143500" type="screen16x9"/>
  <p:notesSz cx="6858000" cy="9144000"/>
  <p:custDataLst>
    <p:tags r:id="rId55"/>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guide id="3" orient="horz" pos="292" userDrawn="1">
          <p15:clr>
            <a:srgbClr val="A4A3A4"/>
          </p15:clr>
        </p15:guide>
        <p15:guide id="4" orient="horz" pos="432" userDrawn="1">
          <p15:clr>
            <a:srgbClr val="A4A3A4"/>
          </p15:clr>
        </p15:guide>
        <p15:guide id="5" orient="horz" pos="3024" userDrawn="1">
          <p15:clr>
            <a:srgbClr val="A4A3A4"/>
          </p15:clr>
        </p15:guide>
        <p15:guide id="6" orient="horz" pos="792" userDrawn="1">
          <p15:clr>
            <a:srgbClr val="A4A3A4"/>
          </p15:clr>
        </p15:guide>
        <p15:guide id="7" pos="288" userDrawn="1">
          <p15:clr>
            <a:srgbClr val="A4A3A4"/>
          </p15:clr>
        </p15:guide>
        <p15:guide id="8" pos="5472" userDrawn="1">
          <p15:clr>
            <a:srgbClr val="A4A3A4"/>
          </p15:clr>
        </p15:guide>
        <p15:guide id="9" orient="horz" pos="648" userDrawn="1">
          <p15:clr>
            <a:srgbClr val="A4A3A4"/>
          </p15:clr>
        </p15:guide>
        <p15:guide id="10" orient="horz" pos="900" userDrawn="1">
          <p15:clr>
            <a:srgbClr val="A4A3A4"/>
          </p15:clr>
        </p15:guide>
        <p15:guide id="11" orient="horz" pos="1152"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iane Kosharek" initials="DK" lastIdx="2" clrIdx="0">
    <p:extLst>
      <p:ext uri="{19B8F6BF-5375-455C-9EA6-DF929625EA0E}">
        <p15:presenceInfo xmlns:p15="http://schemas.microsoft.com/office/powerpoint/2012/main" userId="f80e80a411c6fffc" providerId="Windows Live"/>
      </p:ext>
    </p:extLst>
  </p:cmAuthor>
  <p:cmAuthor id="2" name="Carol Traver" initials="CT" lastIdx="2" clrIdx="1">
    <p:extLst>
      <p:ext uri="{19B8F6BF-5375-455C-9EA6-DF929625EA0E}">
        <p15:presenceInfo xmlns:p15="http://schemas.microsoft.com/office/powerpoint/2012/main" userId="017e1d6f1d8651f9"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FA3"/>
    <a:srgbClr val="FDB940"/>
    <a:srgbClr val="D4EAE4"/>
    <a:srgbClr val="00158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6437" autoAdjust="0"/>
    <p:restoredTop sz="94343" autoAdjust="0"/>
  </p:normalViewPr>
  <p:slideViewPr>
    <p:cSldViewPr>
      <p:cViewPr varScale="1">
        <p:scale>
          <a:sx n="95" d="100"/>
          <a:sy n="95" d="100"/>
        </p:scale>
        <p:origin x="378" y="78"/>
      </p:cViewPr>
      <p:guideLst>
        <p:guide orient="horz" pos="1620"/>
        <p:guide pos="2880"/>
        <p:guide orient="horz" pos="292"/>
        <p:guide orient="horz" pos="432"/>
        <p:guide orient="horz" pos="3024"/>
        <p:guide orient="horz" pos="792"/>
        <p:guide pos="288"/>
        <p:guide pos="5472"/>
        <p:guide orient="horz" pos="648"/>
        <p:guide orient="horz" pos="900"/>
        <p:guide orient="horz" pos="1152"/>
      </p:guideLst>
    </p:cSldViewPr>
  </p:slideViewPr>
  <p:outlineViewPr>
    <p:cViewPr>
      <p:scale>
        <a:sx n="20" d="100"/>
        <a:sy n="20" d="100"/>
      </p:scale>
      <p:origin x="0" y="-3992"/>
    </p:cViewPr>
  </p:outlineViewPr>
  <p:notesTextViewPr>
    <p:cViewPr>
      <p:scale>
        <a:sx n="1" d="1"/>
        <a:sy n="1" d="1"/>
      </p:scale>
      <p:origin x="0" y="0"/>
    </p:cViewPr>
  </p:notesTextViewPr>
  <p:sorterViewPr>
    <p:cViewPr>
      <p:scale>
        <a:sx n="100" d="100"/>
        <a:sy n="100" d="100"/>
      </p:scale>
      <p:origin x="0" y="-1668"/>
    </p:cViewPr>
  </p:sorterViewPr>
  <p:notesViewPr>
    <p:cSldViewPr>
      <p:cViewPr varScale="1">
        <p:scale>
          <a:sx n="51" d="100"/>
          <a:sy n="51" d="100"/>
        </p:scale>
        <p:origin x="2692" y="2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gs" Target="tags/tag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8"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commentAuthors" Target="commentAuthor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D8D874E-E9D5-433B-A149-BDF6BFDD40A8}" type="datetimeFigureOut">
              <a:rPr lang="en-US" smtClean="0"/>
              <a:pPr/>
              <a:t>12/16/2021</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0DCAA22-461C-45B4-A301-BFCA580174EF}" type="slidenum">
              <a:rPr lang="en-US" smtClean="0"/>
              <a:pPr/>
              <a:t>‹#›</a:t>
            </a:fld>
            <a:endParaRPr lang="en-US" dirty="0"/>
          </a:p>
        </p:txBody>
      </p:sp>
    </p:spTree>
    <p:extLst>
      <p:ext uri="{BB962C8B-B14F-4D97-AF65-F5344CB8AC3E}">
        <p14:creationId xmlns:p14="http://schemas.microsoft.com/office/powerpoint/2010/main" val="4901922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A051F04-9E25-42C3-8BC5-EC2E8469D95E}" type="datetimeFigureOut">
              <a:rPr lang="en-US" smtClean="0"/>
              <a:pPr/>
              <a:t>12/16/2021</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73D6722-9B4D-4E29-B226-C325925A8118}" type="slidenum">
              <a:rPr lang="en-US" smtClean="0"/>
              <a:pPr/>
              <a:t>‹#›</a:t>
            </a:fld>
            <a:endParaRPr lang="en-US" dirty="0"/>
          </a:p>
        </p:txBody>
      </p:sp>
    </p:spTree>
    <p:extLst>
      <p:ext uri="{BB962C8B-B14F-4D97-AF65-F5344CB8AC3E}">
        <p14:creationId xmlns:p14="http://schemas.microsoft.com/office/powerpoint/2010/main" val="3529598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a:t>If this PowerPoint presentation contains mathematical equations, you may need to check that your computer has the following installed:</a:t>
            </a:r>
          </a:p>
          <a:p>
            <a:pPr marL="0" marR="0" indent="0" algn="l" defTabSz="914400" rtl="0" eaLnBrk="1" fontAlgn="auto" latinLnBrk="0" hangingPunct="1">
              <a:lnSpc>
                <a:spcPct val="100000"/>
              </a:lnSpc>
              <a:spcBef>
                <a:spcPts val="0"/>
              </a:spcBef>
              <a:spcAft>
                <a:spcPts val="0"/>
              </a:spcAft>
              <a:buClrTx/>
              <a:buSzTx/>
              <a:buFontTx/>
              <a:buNone/>
              <a:tabLst/>
              <a:defRPr/>
            </a:pPr>
            <a:r>
              <a:rPr lang="en-IN" dirty="0"/>
              <a:t>1) MathType Plugin</a:t>
            </a:r>
          </a:p>
          <a:p>
            <a:pPr marL="0" marR="0" indent="0" algn="l" defTabSz="914400" rtl="0" eaLnBrk="1" fontAlgn="auto" latinLnBrk="0" hangingPunct="1">
              <a:lnSpc>
                <a:spcPct val="100000"/>
              </a:lnSpc>
              <a:spcBef>
                <a:spcPts val="0"/>
              </a:spcBef>
              <a:spcAft>
                <a:spcPts val="0"/>
              </a:spcAft>
              <a:buClrTx/>
              <a:buSzTx/>
              <a:buFontTx/>
              <a:buNone/>
              <a:tabLst/>
              <a:defRPr/>
            </a:pPr>
            <a:r>
              <a:rPr lang="en-IN" dirty="0"/>
              <a:t>2) Math Player (free versions available)</a:t>
            </a:r>
          </a:p>
          <a:p>
            <a:pPr marL="0" marR="0" indent="0" algn="l" defTabSz="914400" rtl="0" eaLnBrk="1" fontAlgn="auto" latinLnBrk="0" hangingPunct="1">
              <a:lnSpc>
                <a:spcPct val="100000"/>
              </a:lnSpc>
              <a:spcBef>
                <a:spcPts val="0"/>
              </a:spcBef>
              <a:spcAft>
                <a:spcPts val="0"/>
              </a:spcAft>
              <a:buClrTx/>
              <a:buSzTx/>
              <a:buFontTx/>
              <a:buNone/>
              <a:tabLst/>
              <a:defRPr/>
            </a:pPr>
            <a:r>
              <a:rPr lang="en-IN" dirty="0"/>
              <a:t>3) NVDA Reader (free versions available)</a:t>
            </a:r>
          </a:p>
        </p:txBody>
      </p:sp>
      <p:sp>
        <p:nvSpPr>
          <p:cNvPr id="4" name="Slide Number Placeholder 3"/>
          <p:cNvSpPr>
            <a:spLocks noGrp="1"/>
          </p:cNvSpPr>
          <p:nvPr>
            <p:ph type="sldNum" sz="quarter" idx="10"/>
          </p:nvPr>
        </p:nvSpPr>
        <p:spPr/>
        <p:txBody>
          <a:bodyPr/>
          <a:lstStyle/>
          <a:p>
            <a:fld id="{A73D6722-9B4D-4E29-B226-C325925A8118}" type="slidenum">
              <a:rPr lang="en-US" smtClean="0"/>
              <a:t>1</a:t>
            </a:fld>
            <a:endParaRPr lang="en-US" dirty="0"/>
          </a:p>
        </p:txBody>
      </p:sp>
    </p:spTree>
    <p:extLst>
      <p:ext uri="{BB962C8B-B14F-4D97-AF65-F5344CB8AC3E}">
        <p14:creationId xmlns:p14="http://schemas.microsoft.com/office/powerpoint/2010/main" val="31684265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000000"/>
                </a:solidFill>
                <a:latin typeface="+mn-lt"/>
              </a:rPr>
              <a:t>This chapter introduces information systems in "global business." </a:t>
            </a:r>
            <a:r>
              <a:rPr lang="en-US" altLang="en-US" dirty="0"/>
              <a:t>Students may not know exactly what is meant by globalization or may have an incomplete understanding of the term. You might ask students what they think it means. Potential answers could include reduction of economic and cultural advantages of developed countries, increased number of companies with operations in multiple countries worldwide, and increased reliance on imports and exports of goods (and jobs). Globalization will be discussed in later slides as well.</a:t>
            </a:r>
          </a:p>
          <a:p>
            <a:endParaRPr lang="en-US" altLang="en-US" sz="1200" dirty="0">
              <a:solidFill>
                <a:schemeClr val="tx1">
                  <a:lumMod val="75000"/>
                  <a:lumOff val="25000"/>
                </a:schemeClr>
              </a:solidFill>
              <a:ea typeface="ＭＳ Ｐゴシック" pitchFamily="34" charset="-128"/>
              <a:cs typeface="Lucida Sans Unicode"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2</a:t>
            </a:fld>
            <a:endParaRPr lang="en-US" dirty="0"/>
          </a:p>
        </p:txBody>
      </p:sp>
    </p:spTree>
    <p:extLst>
      <p:ext uri="{BB962C8B-B14F-4D97-AF65-F5344CB8AC3E}">
        <p14:creationId xmlns:p14="http://schemas.microsoft.com/office/powerpoint/2010/main" val="32547142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4</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5</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6</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a:xfrm>
            <a:off x="685800" y="4343400"/>
            <a:ext cx="5486400" cy="4495800"/>
          </a:xfrm>
        </p:spPr>
        <p:txBody>
          <a:bodyPr>
            <a:normAutofit fontScale="92500" lnSpcReduction="2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300" dirty="0"/>
              <a:t>Figure 1.1,</a:t>
            </a:r>
            <a:r>
              <a:rPr lang="en-US" sz="1300" baseline="0" dirty="0"/>
              <a:t> Page 6.</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300" i="1" dirty="0"/>
              <a:t>Information technology capital investment, defined as IT equipment, software, and research and development (R &amp; D) spending, amounted to over 40 percent of total US capital spending (in nominal GDP) between 1999 and 2019.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300" dirty="0"/>
          </a:p>
          <a:p>
            <a:r>
              <a:rPr lang="en-US" sz="1300" b="0" i="0" u="none" strike="noStrike" kern="1200" cap="none" baseline="0" dirty="0">
                <a:solidFill>
                  <a:schemeClr val="tx1"/>
                </a:solidFill>
                <a:latin typeface="+mn-lt"/>
                <a:ea typeface="Arial"/>
                <a:cs typeface="Arial"/>
                <a:sym typeface="Arial"/>
              </a:rPr>
              <a:t>Source: US Bureau of Economic Analysis</a:t>
            </a:r>
            <a:r>
              <a:rPr lang="en-US" sz="1300" b="0" i="0" u="none" strike="noStrike" kern="1200" cap="none" baseline="0" dirty="0">
                <a:solidFill>
                  <a:schemeClr val="dk1"/>
                </a:solidFill>
                <a:latin typeface="+mn-lt"/>
                <a:ea typeface="Arial"/>
                <a:cs typeface="Arial"/>
                <a:sym typeface="Arial"/>
              </a:rPr>
              <a:t>.</a:t>
            </a:r>
            <a:endParaRPr lang="en-US" altLang="en-US" sz="1300" dirty="0"/>
          </a:p>
          <a:p>
            <a:endParaRPr lang="en-US" altLang="en-US" sz="1200" dirty="0"/>
          </a:p>
          <a:p>
            <a:r>
              <a:rPr lang="en-US" altLang="en-US" sz="1300" dirty="0"/>
              <a:t>You could ask students why they think the percentage of total investment devoted to IT has amounted to over 40 percent of total U.S. capital spending each year from 1998 to 2019. Other kinds of capital investment are machinery and buildings.  Why would firms continue to spend so much on IT investment? Part of the answer is capital substitution: the price of IT capital has been falling exponentially, whereas the price of machine and buildings has been growing at slightly more than the rate of inflation. Wherever possible, firms would much rather invest in more IT than machinery or buildings because the returns on the investment are greater.</a:t>
            </a:r>
          </a:p>
          <a:p>
            <a:endParaRPr lang="en-US" altLang="en-US" sz="1200" dirty="0"/>
          </a:p>
          <a:p>
            <a:r>
              <a:rPr lang="en-US" altLang="en-US" sz="1200" u="sng" dirty="0">
                <a:latin typeface="+mn-lt"/>
              </a:rPr>
              <a:t>Alt Text</a:t>
            </a:r>
          </a:p>
          <a:p>
            <a:r>
              <a:rPr lang="en-US" altLang="en-US" sz="1300" dirty="0">
                <a:latin typeface="+mn-lt"/>
              </a:rPr>
              <a:t>Long description: </a:t>
            </a:r>
            <a:r>
              <a:rPr lang="en-US" sz="1300" dirty="0">
                <a:solidFill>
                  <a:srgbClr val="000000"/>
                </a:solidFill>
                <a:latin typeface="+mn-lt"/>
              </a:rPr>
              <a:t>A line graph shows the IT equipment, software, and R&amp;D spending in nominal GDP over the years. The details of the graph are as follows:</a:t>
            </a:r>
          </a:p>
          <a:p>
            <a:pPr marL="285750" indent="-285750">
              <a:buFont typeface="Arial" panose="020B0604020202020204" pitchFamily="34" charset="0"/>
              <a:buChar char="•"/>
            </a:pPr>
            <a:r>
              <a:rPr lang="en-US" sz="1300" dirty="0">
                <a:solidFill>
                  <a:srgbClr val="000000"/>
                </a:solidFill>
                <a:latin typeface="+mn-lt"/>
              </a:rPr>
              <a:t>The x-axis shows the year from 1998 to 2019 in increments of 1. </a:t>
            </a:r>
          </a:p>
          <a:p>
            <a:pPr marL="285750" indent="-285750">
              <a:buFont typeface="Arial" panose="020B0604020202020204" pitchFamily="34" charset="0"/>
              <a:buChar char="•"/>
            </a:pPr>
            <a:r>
              <a:rPr lang="en-US" sz="1300" dirty="0">
                <a:solidFill>
                  <a:srgbClr val="000000"/>
                </a:solidFill>
                <a:latin typeface="+mn-lt"/>
              </a:rPr>
              <a:t>The y-axis shows the percent of spending as a percent of total capital spending in nominal GDP, ranging from 5 to 100 in increments of 5. </a:t>
            </a:r>
          </a:p>
          <a:p>
            <a:pPr marL="285750" indent="-285750">
              <a:buFont typeface="Arial" panose="020B0604020202020204" pitchFamily="34" charset="0"/>
              <a:buChar char="•"/>
            </a:pPr>
            <a:r>
              <a:rPr lang="en-US" sz="1300" dirty="0">
                <a:solidFill>
                  <a:srgbClr val="000000"/>
                </a:solidFill>
                <a:latin typeface="+mn-lt"/>
              </a:rPr>
              <a:t>The graph shows that the curve starts at about 41 percent in 1998 and remains between 40 and 45 percent till around 2008. It then peaks to about 50 percent between 2009 and 2010 and then dropped. It was last recorded at 46.8 percent in 2019.</a:t>
            </a:r>
            <a:r>
              <a:rPr lang="en-US" altLang="en-US" sz="1300" dirty="0">
                <a:latin typeface="+mn-lt"/>
              </a:rPr>
              <a:t> </a:t>
            </a:r>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7</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8</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9</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10</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dirty="0">
                <a:latin typeface="+mn-lt"/>
              </a:rPr>
              <a:t>The COVID-19 pandemic has impacted almost all aspects of life, requiring not only remote work, as discussed in the Interactive Session, but also remote learning. Ask students to share their experiences with remote learning (and/or remote work). What challenges does it pose? What benefits? </a:t>
            </a:r>
          </a:p>
        </p:txBody>
      </p:sp>
      <p:sp>
        <p:nvSpPr>
          <p:cNvPr id="4" name="Slide Number Placeholder 3"/>
          <p:cNvSpPr>
            <a:spLocks noGrp="1"/>
          </p:cNvSpPr>
          <p:nvPr>
            <p:ph type="sldNum" sz="quarter" idx="10"/>
          </p:nvPr>
        </p:nvSpPr>
        <p:spPr/>
        <p:txBody>
          <a:bodyPr/>
          <a:lstStyle/>
          <a:p>
            <a:fld id="{A73D6722-9B4D-4E29-B226-C325925A8118}" type="slidenum">
              <a:rPr lang="en-US" smtClean="0"/>
              <a:pPr/>
              <a:t>11</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sz="1200" dirty="0">
              <a:latin typeface="+mn-lt"/>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12</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Ask your students about their</a:t>
            </a:r>
            <a:r>
              <a:rPr lang="en-US" baseline="0" dirty="0"/>
              <a:t> experience and thoughts about globalization. </a:t>
            </a:r>
            <a:r>
              <a:rPr lang="en-IN" dirty="0"/>
              <a:t>Ask them how they might react if they learned that a job opening they coveted was outsourced to another country, or on the other hand, what they would do if they were managers filling a job opening and workers from abroad could fill the spot for a fraction of the cost? Benefits of globalization: how would they feel about paying 50% more for their clothing that was made domestically in the U.S.?</a:t>
            </a:r>
            <a:endParaRPr lang="en-US" dirty="0"/>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13</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t>Time shifting and space shifting are connected to globalization. You could ask students to explain why a digital firm is more likely to benefit from globalization than a traditional firm. One answer is that by allowing business to be conducted at any time (time shifting) and any place (space shifting), digital firms are ideally suited for global operations which take place in remote locations and different time zones. </a:t>
            </a:r>
          </a:p>
        </p:txBody>
      </p:sp>
      <p:sp>
        <p:nvSpPr>
          <p:cNvPr id="4" name="Slide Number Placeholder 3"/>
          <p:cNvSpPr>
            <a:spLocks noGrp="1"/>
          </p:cNvSpPr>
          <p:nvPr>
            <p:ph type="sldNum" sz="quarter" idx="10"/>
          </p:nvPr>
        </p:nvSpPr>
        <p:spPr/>
        <p:txBody>
          <a:bodyPr/>
          <a:lstStyle/>
          <a:p>
            <a:fld id="{A73D6722-9B4D-4E29-B226-C325925A8118}" type="slidenum">
              <a:rPr lang="en-US" smtClean="0"/>
              <a:pPr/>
              <a:t>14</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solidFill>
                  <a:srgbClr val="000000"/>
                </a:solidFill>
                <a:latin typeface="+mn-lt"/>
              </a:rPr>
              <a:t>Ask students to describe their personal experience, if any, with new information systems being introduced to their workplace.</a:t>
            </a:r>
            <a:endParaRPr lang="en-US" altLang="en-US" sz="1200" dirty="0">
              <a:latin typeface="+mn-lt"/>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15</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a:xfrm>
            <a:off x="685800" y="4343400"/>
            <a:ext cx="5486400" cy="4495800"/>
          </a:xfrm>
        </p:spPr>
        <p:txBody>
          <a:bodyPr>
            <a:normAutofit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Figure 1.2, Page 12.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i="1" u="none" strike="noStrike" kern="1200" cap="none" baseline="0" dirty="0">
                <a:solidFill>
                  <a:schemeClr val="tx1"/>
                </a:solidFill>
                <a:latin typeface="+mn-lt"/>
                <a:ea typeface="Arial"/>
                <a:cs typeface="Arial"/>
                <a:sym typeface="Arial"/>
              </a:rPr>
              <a:t>In contemporary systems, there is a growing interdependence between a firm’s information systems and its business capabilities. Changes in strategy, rules, and business processes increasingly require changes in hardware, software, databases, and telecommunications. Often, what the organization would like to do depends on what its systems will permit it to do.</a:t>
            </a:r>
            <a:endParaRPr lang="en-US" i="1"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The basic point of this graphic is that in order to achieve its business objectives, a firm most likely will need a significant investment in IT. Going the other direction (from right to left), having a significant IT platform can lead to changes in business objectives and strategies. Emphasize the two-way nature of this relationship. Businesses rely on information systems to help them achieve their goals; a business without adequate information systems will inevitably fall short. But information systems are also products of the businesses that use them. Businesses shape their information systems and information systems shape businesses.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en-US" dirty="0"/>
          </a:p>
          <a:p>
            <a:r>
              <a:rPr lang="en-US" altLang="en-US" u="sng" dirty="0"/>
              <a:t>Alt Text</a:t>
            </a:r>
          </a:p>
          <a:p>
            <a:r>
              <a:rPr lang="en-US" altLang="en-US" dirty="0"/>
              <a:t>Long description: </a:t>
            </a:r>
            <a:r>
              <a:rPr lang="en-US" sz="1200" dirty="0">
                <a:solidFill>
                  <a:srgbClr val="000000"/>
                </a:solidFill>
                <a:latin typeface="+mn-lt"/>
              </a:rPr>
              <a:t>A flow diagram shows the interdependence between organizations and information systems. The flow diagram is as follows:</a:t>
            </a:r>
          </a:p>
          <a:p>
            <a:pPr marL="171450" indent="-171450">
              <a:buFont typeface="Arial" panose="020B0604020202020204" pitchFamily="34" charset="0"/>
              <a:buChar char="•"/>
            </a:pPr>
            <a:r>
              <a:rPr lang="en-US" sz="1200" dirty="0">
                <a:solidFill>
                  <a:srgbClr val="000000"/>
                </a:solidFill>
                <a:latin typeface="+mn-lt"/>
              </a:rPr>
              <a:t>Level 1: Business firm; business strategic objectives business processes are interchangeably dependent on software</a:t>
            </a:r>
          </a:p>
          <a:p>
            <a:pPr marL="171450" indent="-171450">
              <a:buFont typeface="Arial" panose="020B0604020202020204" pitchFamily="34" charset="0"/>
              <a:buChar char="•"/>
            </a:pPr>
            <a:r>
              <a:rPr lang="en-US" sz="1200" dirty="0">
                <a:solidFill>
                  <a:srgbClr val="000000"/>
                </a:solidFill>
                <a:latin typeface="+mn-lt"/>
              </a:rPr>
              <a:t>Level 2: Information system; software is dependent on the following:</a:t>
            </a:r>
          </a:p>
          <a:p>
            <a:pPr marL="628650" lvl="1" indent="-171450">
              <a:buFont typeface="Courier New" panose="02070309020205020404" pitchFamily="49" charset="0"/>
              <a:buChar char="o"/>
            </a:pPr>
            <a:r>
              <a:rPr lang="en-US" sz="1200" dirty="0">
                <a:solidFill>
                  <a:srgbClr val="000000"/>
                </a:solidFill>
                <a:latin typeface="+mn-lt"/>
              </a:rPr>
              <a:t>Hardware</a:t>
            </a:r>
          </a:p>
          <a:p>
            <a:pPr marL="628650" lvl="1" indent="-171450">
              <a:buFont typeface="Courier New" panose="02070309020205020404" pitchFamily="49" charset="0"/>
              <a:buChar char="o"/>
            </a:pPr>
            <a:r>
              <a:rPr lang="en-US" sz="1200" dirty="0">
                <a:solidFill>
                  <a:srgbClr val="000000"/>
                </a:solidFill>
                <a:latin typeface="+mn-lt"/>
              </a:rPr>
              <a:t>Data management</a:t>
            </a:r>
          </a:p>
          <a:p>
            <a:pPr marL="628650" lvl="1" indent="-171450">
              <a:buFont typeface="Courier New" panose="02070309020205020404" pitchFamily="49" charset="0"/>
              <a:buChar char="o"/>
            </a:pPr>
            <a:r>
              <a:rPr lang="en-US" sz="1200" dirty="0">
                <a:solidFill>
                  <a:srgbClr val="000000"/>
                </a:solidFill>
                <a:latin typeface="+mn-lt"/>
              </a:rPr>
              <a:t>Telecommunications</a:t>
            </a:r>
          </a:p>
          <a:p>
            <a:endParaRPr lang="en-US" sz="1800" dirty="0">
              <a:solidFill>
                <a:prstClr val="black"/>
              </a:solidFill>
              <a:latin typeface="Segoe UI" panose="020B0502040204020203"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en-US" dirty="0"/>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16</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dirty="0">
                <a:solidFill>
                  <a:srgbClr val="000000"/>
                </a:solidFill>
                <a:latin typeface="+mn-lt"/>
              </a:rPr>
              <a:t>When discussing the cases and Interactive Sessions throughout the book, it will be useful to ask students to explain how various information systems succeeded or failed in achieving the six strategic business objectives. You might ask the students to think about some other business objectives and think about how IT might help firms achieve them. For instance, speed to market is very important to firms introducing new products. How can IT help achieve that objective?</a:t>
            </a:r>
            <a:endParaRPr lang="en-US" sz="1200" dirty="0">
              <a:solidFill>
                <a:prstClr val="black"/>
              </a:solidFill>
              <a:latin typeface="+mn-lt"/>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17</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altLang="en-US" dirty="0" err="1"/>
              <a:t>Walmart</a:t>
            </a:r>
            <a:r>
              <a:rPr lang="en-US" altLang="en-US" dirty="0"/>
              <a:t> is the most efficient retailer in the industry and exemplifies operational excellence. You could ask students to name other businesses that they believe exhibit a high level of operational excellence. Do customers perceive operational excellence? Does it make a difference for customer purchasing? What websites strike students as really excellent in terms of customer service? If you have a podium computer, you might want to visit the </a:t>
            </a:r>
            <a:r>
              <a:rPr lang="en-US" altLang="en-US" dirty="0" err="1"/>
              <a:t>Walmart</a:t>
            </a:r>
            <a:r>
              <a:rPr lang="en-US" altLang="en-US" dirty="0"/>
              <a:t> site and the Amazon site to compare them in terms of ease of use. </a:t>
            </a:r>
          </a:p>
        </p:txBody>
      </p:sp>
      <p:sp>
        <p:nvSpPr>
          <p:cNvPr id="4" name="Slide Number Placeholder 3"/>
          <p:cNvSpPr>
            <a:spLocks noGrp="1"/>
          </p:cNvSpPr>
          <p:nvPr>
            <p:ph type="sldNum" sz="quarter" idx="10"/>
          </p:nvPr>
        </p:nvSpPr>
        <p:spPr/>
        <p:txBody>
          <a:bodyPr/>
          <a:lstStyle/>
          <a:p>
            <a:fld id="{A73D6722-9B4D-4E29-B226-C325925A8118}" type="slidenum">
              <a:rPr lang="en-US" smtClean="0"/>
              <a:pPr/>
              <a:t>18</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altLang="en-US" dirty="0"/>
              <a:t>You could ask students to name other new products or business models that they have </a:t>
            </a:r>
            <a:r>
              <a:rPr lang="en-US" altLang="ja-JP" dirty="0"/>
              <a:t>encountered and how they might relate to new information systems or new technology. One way to encourage participation is ask students to help you list some interesting recent digital product innovations. Discussing </a:t>
            </a:r>
            <a:r>
              <a:rPr lang="ja-JP" altLang="en-US" dirty="0"/>
              <a:t>“</a:t>
            </a:r>
            <a:r>
              <a:rPr lang="en-US" altLang="ja-JP" dirty="0"/>
              <a:t>green technologies</a:t>
            </a:r>
            <a:r>
              <a:rPr lang="ja-JP" altLang="en-US" dirty="0"/>
              <a:t>”</a:t>
            </a:r>
            <a:r>
              <a:rPr lang="en-US" altLang="ja-JP" dirty="0"/>
              <a:t> such as wind, solar, and hybrid or electric vehicles usually sparks student interest. In this context, what role will IT be playing in the development of these technologies?</a:t>
            </a:r>
          </a:p>
        </p:txBody>
      </p:sp>
      <p:sp>
        <p:nvSpPr>
          <p:cNvPr id="4" name="Slide Number Placeholder 3"/>
          <p:cNvSpPr>
            <a:spLocks noGrp="1"/>
          </p:cNvSpPr>
          <p:nvPr>
            <p:ph type="sldNum" sz="quarter" idx="10"/>
          </p:nvPr>
        </p:nvSpPr>
        <p:spPr/>
        <p:txBody>
          <a:bodyPr/>
          <a:lstStyle/>
          <a:p>
            <a:fld id="{A73D6722-9B4D-4E29-B226-C325925A8118}" type="slidenum">
              <a:rPr lang="en-US" smtClean="0"/>
              <a:pPr/>
              <a:t>19</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altLang="en-US" dirty="0"/>
              <a:t>You could ask students what types of companies might rely more on customer and supplier intimacy more than others and which companies they feel have served them exceptionally well. Ask the students to identify online sites that achieve a high degree of customer intimacy. Sites to visit would include Netflix, Amazon, and other sites which have recommender systems to suggest purchase ideas to consumers. </a:t>
            </a:r>
          </a:p>
        </p:txBody>
      </p:sp>
      <p:sp>
        <p:nvSpPr>
          <p:cNvPr id="4" name="Slide Number Placeholder 3"/>
          <p:cNvSpPr>
            <a:spLocks noGrp="1"/>
          </p:cNvSpPr>
          <p:nvPr>
            <p:ph type="sldNum" sz="quarter" idx="10"/>
          </p:nvPr>
        </p:nvSpPr>
        <p:spPr/>
        <p:txBody>
          <a:bodyPr/>
          <a:lstStyle/>
          <a:p>
            <a:fld id="{A73D6722-9B4D-4E29-B226-C325925A8118}" type="slidenum">
              <a:rPr lang="en-US" smtClean="0"/>
              <a:pPr/>
              <a:t>20</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altLang="en-US" dirty="0"/>
              <a:t>You could ask students if they have ever been recipients of exceptional service from a company made possible by improved decision making and whether or not information systems contributed to that level of service. </a:t>
            </a:r>
          </a:p>
        </p:txBody>
      </p:sp>
      <p:sp>
        <p:nvSpPr>
          <p:cNvPr id="4" name="Slide Number Placeholder 3"/>
          <p:cNvSpPr>
            <a:spLocks noGrp="1"/>
          </p:cNvSpPr>
          <p:nvPr>
            <p:ph type="sldNum" sz="quarter" idx="10"/>
          </p:nvPr>
        </p:nvSpPr>
        <p:spPr/>
        <p:txBody>
          <a:bodyPr/>
          <a:lstStyle/>
          <a:p>
            <a:fld id="{A73D6722-9B4D-4E29-B226-C325925A8118}" type="slidenum">
              <a:rPr lang="en-US" smtClean="0"/>
              <a:pPr/>
              <a:t>21</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t>Emphasize that achieving any of the previous four business objectives (operational excellence; new products, services, and business models; customer and supplier intimacy; and improved decision making) represents the achievement of a competitive advantage as well. </a:t>
            </a:r>
          </a:p>
        </p:txBody>
      </p:sp>
      <p:sp>
        <p:nvSpPr>
          <p:cNvPr id="4" name="Slide Number Placeholder 3"/>
          <p:cNvSpPr>
            <a:spLocks noGrp="1"/>
          </p:cNvSpPr>
          <p:nvPr>
            <p:ph type="sldNum" sz="quarter" idx="10"/>
          </p:nvPr>
        </p:nvSpPr>
        <p:spPr/>
        <p:txBody>
          <a:bodyPr/>
          <a:lstStyle/>
          <a:p>
            <a:fld id="{A73D6722-9B4D-4E29-B226-C325925A8118}" type="slidenum">
              <a:rPr lang="en-US" smtClean="0"/>
              <a:pPr/>
              <a:t>22</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t>Ask students if they can name any examples of companies that failed to survive due to unwillingness or inability to update their information systems</a:t>
            </a:r>
            <a:r>
              <a:rPr lang="en-US" altLang="en-US" sz="1200" dirty="0">
                <a:latin typeface="+mn-lt"/>
              </a:rPr>
              <a:t>. </a:t>
            </a:r>
            <a:r>
              <a:rPr lang="en-US" sz="1200" dirty="0">
                <a:solidFill>
                  <a:srgbClr val="000000"/>
                </a:solidFill>
                <a:latin typeface="+mn-lt"/>
              </a:rPr>
              <a:t>If they find this difficult at first, ask them to think about firms where the products or service were really unacceptable.</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dirty="0">
              <a:solidFill>
                <a:srgbClr val="000000"/>
              </a:solidFill>
              <a:latin typeface="+mn-lt"/>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t>The Sarbanes-Oxley Act (2002) requires that public firms keep all data, including e-mail, on record for 5 years. The Dodd-Frank Act (2010) requires financial services firms to develop extensive new compliance reports. You could ask students if they appreciate why information systems would be useful toward meeting the standards imposed by these new federal statutes. </a:t>
            </a:r>
          </a:p>
        </p:txBody>
      </p:sp>
      <p:sp>
        <p:nvSpPr>
          <p:cNvPr id="4" name="Slide Number Placeholder 3"/>
          <p:cNvSpPr>
            <a:spLocks noGrp="1"/>
          </p:cNvSpPr>
          <p:nvPr>
            <p:ph type="sldNum" sz="quarter" idx="10"/>
          </p:nvPr>
        </p:nvSpPr>
        <p:spPr/>
        <p:txBody>
          <a:bodyPr/>
          <a:lstStyle/>
          <a:p>
            <a:fld id="{A73D6722-9B4D-4E29-B226-C325925A8118}" type="slidenum">
              <a:rPr lang="en-US" smtClean="0"/>
              <a:pPr/>
              <a:t>23</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dirty="0">
                <a:solidFill>
                  <a:srgbClr val="000000"/>
                </a:solidFill>
                <a:latin typeface="+mn-lt"/>
              </a:rPr>
              <a:t>It's important to understand that information systems are not just technologies, but deeply involve people and organizations as well. Being a great programmer does not qualify you for being a great manager of information systems. </a:t>
            </a:r>
          </a:p>
          <a:p>
            <a:endParaRPr lang="en-US" sz="1200" dirty="0">
              <a:solidFill>
                <a:srgbClr val="000000"/>
              </a:solidFill>
              <a:latin typeface="+mn-lt"/>
            </a:endParaRPr>
          </a:p>
          <a:p>
            <a:r>
              <a:rPr lang="en-US" sz="1200" dirty="0">
                <a:solidFill>
                  <a:srgbClr val="000000"/>
                </a:solidFill>
                <a:latin typeface="+mn-lt"/>
              </a:rPr>
              <a:t>Ask students to think of a stream of raw facts (data), and then an organized body of data (information). A stream of facts example is the “ticker tape” of a stock market (you can go to a website to display the streaming stock prices). Summary indices of stock movements and reports on stock groups (e.g. housing, transportation) or market indices like the S&amp;P 500 constitute information.</a:t>
            </a:r>
          </a:p>
          <a:p>
            <a:endParaRPr lang="en-US" sz="1800" dirty="0">
              <a:solidFill>
                <a:prstClr val="black"/>
              </a:solidFill>
              <a:latin typeface="Segoe UI" panose="020B0502040204020203"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24</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a:xfrm>
            <a:off x="685800" y="4343400"/>
            <a:ext cx="5486400" cy="4495800"/>
          </a:xfrm>
        </p:spPr>
        <p:txBody>
          <a:bodyPr>
            <a:normAutofit fontScale="85000"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1200" dirty="0"/>
              <a:t>Figure 1.3, Page 15.</a:t>
            </a:r>
          </a:p>
          <a:p>
            <a:r>
              <a:rPr lang="en-US" sz="1200" b="0" i="1" u="none" strike="noStrike" kern="1200" cap="none" baseline="0" dirty="0">
                <a:solidFill>
                  <a:schemeClr val="tx1"/>
                </a:solidFill>
                <a:latin typeface="+mn-lt"/>
                <a:ea typeface="Arial"/>
                <a:cs typeface="Arial"/>
                <a:sym typeface="Arial"/>
              </a:rPr>
              <a:t>Raw data from a supermarket checkout counter can be processed and organized to produce meaningful information, such as the total unit sales of dish detergent or the total sales revenue from dish detergent for a specific store or sales territory.</a:t>
            </a:r>
          </a:p>
          <a:p>
            <a:endParaRPr lang="en-US" altLang="en-US" sz="1200" b="0" i="0" u="none" strike="noStrike" kern="1200" cap="none" baseline="0" dirty="0">
              <a:solidFill>
                <a:schemeClr val="tx1"/>
              </a:solidFill>
              <a:latin typeface="+mn-lt"/>
              <a:ea typeface="Arial"/>
              <a:cs typeface="Arial"/>
              <a:sym typeface="Arial"/>
            </a:endParaRPr>
          </a:p>
          <a:p>
            <a:r>
              <a:rPr lang="en-US" altLang="en-US" sz="1200" dirty="0"/>
              <a:t>Emphasize the distinction between information and data. You could, for example, ask several students to list their ages and record their answers—then you could calculate the average age of those students on the other side, oldest student, youngest student, and so forth, to illustrate the difference between raw data and meaningful information.</a:t>
            </a:r>
          </a:p>
          <a:p>
            <a:endParaRPr lang="en-US" altLang="en-US" dirty="0"/>
          </a:p>
          <a:p>
            <a:r>
              <a:rPr lang="en-US" altLang="en-US" u="sng" dirty="0"/>
              <a:t>Alt Text</a:t>
            </a:r>
          </a:p>
          <a:p>
            <a:r>
              <a:rPr lang="en-US" altLang="en-US" dirty="0"/>
              <a:t>Long description:</a:t>
            </a:r>
            <a:r>
              <a:rPr lang="en-US" altLang="en-US" baseline="0" dirty="0"/>
              <a:t> </a:t>
            </a:r>
            <a:r>
              <a:rPr lang="en-US" sz="1200" dirty="0">
                <a:solidFill>
                  <a:srgbClr val="000000"/>
                </a:solidFill>
                <a:latin typeface="+mn-lt"/>
              </a:rPr>
              <a:t>A butterfly flow diagram illustrates how an information system converts data into information. The flow diagram shows the data that is input into an information system on the left and the information that is obtained on the right. </a:t>
            </a:r>
          </a:p>
          <a:p>
            <a:endParaRPr lang="en-US" sz="1200" dirty="0">
              <a:solidFill>
                <a:srgbClr val="000000"/>
              </a:solidFill>
              <a:latin typeface="+mn-lt"/>
            </a:endParaRPr>
          </a:p>
          <a:p>
            <a:r>
              <a:rPr lang="en-US" sz="1200" dirty="0">
                <a:solidFill>
                  <a:srgbClr val="000000"/>
                </a:solidFill>
                <a:latin typeface="+mn-lt"/>
              </a:rPr>
              <a:t>The data input is as follows:</a:t>
            </a:r>
          </a:p>
          <a:p>
            <a:pPr marL="171450" indent="-171450">
              <a:buFont typeface="Arial" panose="020B0604020202020204" pitchFamily="34" charset="0"/>
              <a:buChar char="•"/>
            </a:pPr>
            <a:r>
              <a:rPr lang="en-US" sz="1200" dirty="0">
                <a:solidFill>
                  <a:srgbClr val="000000"/>
                </a:solidFill>
                <a:latin typeface="+mn-lt"/>
              </a:rPr>
              <a:t>331 </a:t>
            </a:r>
            <a:r>
              <a:rPr lang="en-US" sz="1200" dirty="0" err="1">
                <a:solidFill>
                  <a:srgbClr val="000000"/>
                </a:solidFill>
                <a:latin typeface="+mn-lt"/>
              </a:rPr>
              <a:t>Brite</a:t>
            </a:r>
            <a:r>
              <a:rPr lang="en-US" sz="1200" dirty="0">
                <a:solidFill>
                  <a:srgbClr val="000000"/>
                </a:solidFill>
                <a:latin typeface="+mn-lt"/>
              </a:rPr>
              <a:t> Dish Soap: 1.29 </a:t>
            </a:r>
          </a:p>
          <a:p>
            <a:pPr marL="171450" indent="-171450">
              <a:buFont typeface="Arial" panose="020B0604020202020204" pitchFamily="34" charset="0"/>
              <a:buChar char="•"/>
            </a:pPr>
            <a:r>
              <a:rPr lang="en-US" sz="1200" dirty="0">
                <a:solidFill>
                  <a:srgbClr val="000000"/>
                </a:solidFill>
                <a:latin typeface="+mn-lt"/>
              </a:rPr>
              <a:t>863 BL Hill Coffee: 4.69 </a:t>
            </a:r>
          </a:p>
          <a:p>
            <a:pPr marL="171450" indent="-171450">
              <a:buFont typeface="Arial" panose="020B0604020202020204" pitchFamily="34" charset="0"/>
              <a:buChar char="•"/>
            </a:pPr>
            <a:r>
              <a:rPr lang="en-US" sz="1200" dirty="0">
                <a:solidFill>
                  <a:srgbClr val="000000"/>
                </a:solidFill>
                <a:latin typeface="+mn-lt"/>
              </a:rPr>
              <a:t>173 Meow Cat: .79 </a:t>
            </a:r>
          </a:p>
          <a:p>
            <a:pPr marL="171450" indent="-171450">
              <a:buFont typeface="Arial" panose="020B0604020202020204" pitchFamily="34" charset="0"/>
              <a:buChar char="•"/>
            </a:pPr>
            <a:r>
              <a:rPr lang="en-US" sz="1200" dirty="0">
                <a:solidFill>
                  <a:srgbClr val="000000"/>
                </a:solidFill>
                <a:latin typeface="+mn-lt"/>
              </a:rPr>
              <a:t>331 </a:t>
            </a:r>
            <a:r>
              <a:rPr lang="en-US" sz="1200" dirty="0" err="1">
                <a:solidFill>
                  <a:srgbClr val="000000"/>
                </a:solidFill>
                <a:latin typeface="+mn-lt"/>
              </a:rPr>
              <a:t>Brite</a:t>
            </a:r>
            <a:r>
              <a:rPr lang="en-US" sz="1200" dirty="0">
                <a:solidFill>
                  <a:srgbClr val="000000"/>
                </a:solidFill>
                <a:latin typeface="+mn-lt"/>
              </a:rPr>
              <a:t> Dish Soap: 1.29 </a:t>
            </a:r>
          </a:p>
          <a:p>
            <a:pPr marL="171450" indent="-171450">
              <a:buFont typeface="Arial" panose="020B0604020202020204" pitchFamily="34" charset="0"/>
              <a:buChar char="•"/>
            </a:pPr>
            <a:r>
              <a:rPr lang="en-US" sz="1200" dirty="0">
                <a:solidFill>
                  <a:srgbClr val="000000"/>
                </a:solidFill>
                <a:latin typeface="+mn-lt"/>
              </a:rPr>
              <a:t>663 Country Ham: 3.29 </a:t>
            </a:r>
          </a:p>
          <a:p>
            <a:pPr marL="171450" indent="-171450">
              <a:buFont typeface="Arial" panose="020B0604020202020204" pitchFamily="34" charset="0"/>
              <a:buChar char="•"/>
            </a:pPr>
            <a:r>
              <a:rPr lang="en-US" sz="1200" dirty="0">
                <a:solidFill>
                  <a:srgbClr val="000000"/>
                </a:solidFill>
                <a:latin typeface="+mn-lt"/>
              </a:rPr>
              <a:t>524 Fiery Mustard: 1.49 </a:t>
            </a:r>
          </a:p>
          <a:p>
            <a:pPr marL="171450" indent="-171450">
              <a:buFont typeface="Arial" panose="020B0604020202020204" pitchFamily="34" charset="0"/>
              <a:buChar char="•"/>
            </a:pPr>
            <a:r>
              <a:rPr lang="en-US" sz="1200" dirty="0">
                <a:solidFill>
                  <a:srgbClr val="000000"/>
                </a:solidFill>
                <a:latin typeface="+mn-lt"/>
              </a:rPr>
              <a:t>113 Ginger Root: .85 </a:t>
            </a:r>
          </a:p>
          <a:p>
            <a:pPr marL="171450" indent="-171450">
              <a:buFont typeface="Arial" panose="020B0604020202020204" pitchFamily="34" charset="0"/>
              <a:buChar char="•"/>
            </a:pPr>
            <a:r>
              <a:rPr lang="en-US" sz="1200" dirty="0">
                <a:solidFill>
                  <a:srgbClr val="000000"/>
                </a:solidFill>
                <a:latin typeface="+mn-lt"/>
              </a:rPr>
              <a:t>331 </a:t>
            </a:r>
            <a:r>
              <a:rPr lang="en-US" sz="1200" dirty="0" err="1">
                <a:solidFill>
                  <a:srgbClr val="000000"/>
                </a:solidFill>
                <a:latin typeface="+mn-lt"/>
              </a:rPr>
              <a:t>Brite</a:t>
            </a:r>
            <a:r>
              <a:rPr lang="en-US" sz="1200" dirty="0">
                <a:solidFill>
                  <a:srgbClr val="000000"/>
                </a:solidFill>
                <a:latin typeface="+mn-lt"/>
              </a:rPr>
              <a:t> Dish Soap: 1.29</a:t>
            </a:r>
          </a:p>
          <a:p>
            <a:endParaRPr lang="en-US" sz="1200" dirty="0">
              <a:solidFill>
                <a:srgbClr val="000000"/>
              </a:solidFill>
              <a:latin typeface="+mn-lt"/>
            </a:endParaRPr>
          </a:p>
          <a:p>
            <a:r>
              <a:rPr lang="en-US" sz="1200" dirty="0">
                <a:solidFill>
                  <a:srgbClr val="000000"/>
                </a:solidFill>
                <a:latin typeface="+mn-lt"/>
              </a:rPr>
              <a:t>The information obtained is as follows:</a:t>
            </a:r>
          </a:p>
          <a:p>
            <a:pPr marL="171450" indent="-171450">
              <a:buFont typeface="Arial" panose="020B0604020202020204" pitchFamily="34" charset="0"/>
              <a:buChar char="•"/>
            </a:pPr>
            <a:r>
              <a:rPr lang="en-US" sz="1200" dirty="0">
                <a:solidFill>
                  <a:srgbClr val="000000"/>
                </a:solidFill>
                <a:latin typeface="+mn-lt"/>
              </a:rPr>
              <a:t>Sales Region: Northwest </a:t>
            </a:r>
          </a:p>
          <a:p>
            <a:pPr marL="171450" indent="-171450">
              <a:buFont typeface="Arial" panose="020B0604020202020204" pitchFamily="34" charset="0"/>
              <a:buChar char="•"/>
            </a:pPr>
            <a:r>
              <a:rPr lang="en-US" sz="1200" dirty="0">
                <a:solidFill>
                  <a:srgbClr val="000000"/>
                </a:solidFill>
                <a:latin typeface="+mn-lt"/>
              </a:rPr>
              <a:t>Store: Superstore number 122</a:t>
            </a:r>
          </a:p>
          <a:p>
            <a:pPr marL="171450" indent="-171450">
              <a:buFont typeface="Arial" panose="020B0604020202020204" pitchFamily="34" charset="0"/>
              <a:buChar char="•"/>
            </a:pPr>
            <a:r>
              <a:rPr lang="en-US" sz="1200" dirty="0">
                <a:solidFill>
                  <a:srgbClr val="000000"/>
                </a:solidFill>
                <a:latin typeface="+mn-lt"/>
              </a:rPr>
              <a:t>Item number: 331</a:t>
            </a:r>
          </a:p>
          <a:p>
            <a:pPr marL="171450" indent="-171450">
              <a:buFont typeface="Arial" panose="020B0604020202020204" pitchFamily="34" charset="0"/>
              <a:buChar char="•"/>
            </a:pPr>
            <a:r>
              <a:rPr lang="en-US" sz="1200" dirty="0">
                <a:solidFill>
                  <a:srgbClr val="000000"/>
                </a:solidFill>
                <a:latin typeface="+mn-lt"/>
              </a:rPr>
              <a:t>Description: </a:t>
            </a:r>
            <a:r>
              <a:rPr lang="en-US" sz="1200" dirty="0" err="1">
                <a:solidFill>
                  <a:srgbClr val="000000"/>
                </a:solidFill>
                <a:latin typeface="+mn-lt"/>
              </a:rPr>
              <a:t>Brite</a:t>
            </a:r>
            <a:r>
              <a:rPr lang="en-US" sz="1200" dirty="0">
                <a:solidFill>
                  <a:srgbClr val="000000"/>
                </a:solidFill>
                <a:latin typeface="+mn-lt"/>
              </a:rPr>
              <a:t> Dish Soap</a:t>
            </a:r>
          </a:p>
          <a:p>
            <a:pPr marL="171450" indent="-171450">
              <a:buFont typeface="Arial" panose="020B0604020202020204" pitchFamily="34" charset="0"/>
              <a:buChar char="•"/>
            </a:pPr>
            <a:r>
              <a:rPr lang="en-US" sz="1200" dirty="0">
                <a:solidFill>
                  <a:srgbClr val="000000"/>
                </a:solidFill>
                <a:latin typeface="+mn-lt"/>
              </a:rPr>
              <a:t>Units sold: 7,156</a:t>
            </a:r>
          </a:p>
          <a:p>
            <a:pPr marL="171450" indent="-171450">
              <a:buFont typeface="Arial" panose="020B0604020202020204" pitchFamily="34" charset="0"/>
              <a:buChar char="•"/>
            </a:pPr>
            <a:r>
              <a:rPr lang="en-US" sz="1200" dirty="0">
                <a:solidFill>
                  <a:srgbClr val="000000"/>
                </a:solidFill>
                <a:latin typeface="+mn-lt"/>
              </a:rPr>
              <a:t>YTD sales: 9,231.24 dollars.</a:t>
            </a:r>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25</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altLang="en-US" dirty="0"/>
              <a:t>Use an example similar to the one given in the previous slide to illustrate the three activities involved in the function of an information system. Continuing with that example, the process of asking students their age would represent input, calculating the average age and determining the oldest and youngest age would represent processing, and displaying that information in a report would represent output.</a:t>
            </a:r>
          </a:p>
        </p:txBody>
      </p:sp>
      <p:sp>
        <p:nvSpPr>
          <p:cNvPr id="4" name="Slide Number Placeholder 3"/>
          <p:cNvSpPr>
            <a:spLocks noGrp="1"/>
          </p:cNvSpPr>
          <p:nvPr>
            <p:ph type="sldNum" sz="quarter" idx="10"/>
          </p:nvPr>
        </p:nvSpPr>
        <p:spPr/>
        <p:txBody>
          <a:bodyPr/>
          <a:lstStyle/>
          <a:p>
            <a:fld id="{A73D6722-9B4D-4E29-B226-C325925A8118}" type="slidenum">
              <a:rPr lang="en-US" smtClean="0"/>
              <a:pPr/>
              <a:t>26</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altLang="en-US" dirty="0"/>
              <a:t>Explain to students how the </a:t>
            </a:r>
            <a:r>
              <a:rPr lang="en-US" altLang="ja-JP" dirty="0"/>
              <a:t>“house” analogy works: assuming that a successful information system is like a completed “house,” computers and software represent only the tools and materials used to build the house. Tools and materials don</a:t>
            </a:r>
            <a:r>
              <a:rPr lang="ja-JP" altLang="en-US" dirty="0"/>
              <a:t>’</a:t>
            </a:r>
            <a:r>
              <a:rPr lang="en-US" altLang="ja-JP" dirty="0"/>
              <a:t>t just suddenly become a completed house—outside (human) input is required. Systems need to be designed to fit the firms and the humans who work with the systems.</a:t>
            </a:r>
            <a:endParaRPr lang="en-US" alt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27</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a:xfrm>
            <a:off x="685800" y="4343399"/>
            <a:ext cx="5486400" cy="4572001"/>
          </a:xfrm>
        </p:spPr>
        <p:txBody>
          <a:bodyPr>
            <a:normAutofit fontScale="85000" lnSpcReduction="20000"/>
          </a:bodyPr>
          <a:lstStyle/>
          <a:p>
            <a:r>
              <a:rPr lang="en-US" altLang="en-US" sz="1300" dirty="0"/>
              <a:t>Figure 1.4,</a:t>
            </a:r>
            <a:r>
              <a:rPr lang="en-US" altLang="en-US" sz="1300" baseline="0" dirty="0"/>
              <a:t> Page 16.</a:t>
            </a:r>
          </a:p>
          <a:p>
            <a:r>
              <a:rPr lang="en-US" sz="1300" b="0" i="1" u="none" strike="noStrike" kern="1200" cap="none" baseline="0" dirty="0">
                <a:solidFill>
                  <a:schemeClr val="tx1"/>
                </a:solidFill>
                <a:latin typeface="+mn-lt"/>
                <a:ea typeface="Arial"/>
                <a:cs typeface="Arial"/>
                <a:sym typeface="Arial"/>
              </a:rPr>
              <a:t>An information system contains information about an organization and its surrounding environment. Three basic activities—input, processing, and output—produce the information organizations need. Feedback is output returned to appropriate people or activities in the organization to evaluate and refine the input. Environmental actors, such as customers, suppliers, competitors, stockholders, and regulatory agencies, interact with the organization and its information systems.</a:t>
            </a:r>
            <a:endParaRPr lang="en-US" altLang="en-US" sz="1300" i="1" baseline="0" dirty="0"/>
          </a:p>
          <a:p>
            <a:endParaRPr lang="en-US" altLang="en-US" sz="1800" baseline="0" dirty="0"/>
          </a:p>
          <a:p>
            <a:r>
              <a:rPr lang="en-US" altLang="en-US" dirty="0"/>
              <a:t>The point of this diagram is first of all to highlight the three basic activities of information systems, so that students can understand what an information system is doing at its most fundamental level. But the diagram also puts information systems into the context of organizations (firms), and then puts the firm into its respective environment composed of shareholders, higher level authorities (government), competitors, suppliers, and customers. Suddenly, students should see that information systems play a central role mediating and interacting with all these players. Hence, systems play a key role in the operations and survival of the firm. </a:t>
            </a:r>
          </a:p>
          <a:p>
            <a:endParaRPr lang="en-US" altLang="en-US" dirty="0"/>
          </a:p>
          <a:p>
            <a:r>
              <a:rPr lang="en-US" altLang="en-US" dirty="0"/>
              <a:t>You could also explain this diagram by relating it back to the opening case, as the book does. </a:t>
            </a:r>
          </a:p>
          <a:p>
            <a:endParaRPr lang="en-US" altLang="en-US" sz="1200" dirty="0"/>
          </a:p>
          <a:p>
            <a:r>
              <a:rPr lang="en-US" altLang="en-US" u="sng" dirty="0"/>
              <a:t>Alt Text</a:t>
            </a:r>
          </a:p>
          <a:p>
            <a:r>
              <a:rPr lang="en-US" altLang="en-US" dirty="0"/>
              <a:t>Long description: </a:t>
            </a:r>
            <a:r>
              <a:rPr lang="en-US" dirty="0">
                <a:solidFill>
                  <a:srgbClr val="000000"/>
                </a:solidFill>
                <a:latin typeface="+mn-lt"/>
              </a:rPr>
              <a:t>A figure illustrates basic activities of an information system at an organization level and the environmental actors interacting with the organization and its information system. </a:t>
            </a:r>
          </a:p>
          <a:p>
            <a:endParaRPr lang="en-US" dirty="0">
              <a:solidFill>
                <a:srgbClr val="000000"/>
              </a:solidFill>
              <a:latin typeface="+mn-lt"/>
            </a:endParaRPr>
          </a:p>
          <a:p>
            <a:r>
              <a:rPr lang="en-US" dirty="0">
                <a:solidFill>
                  <a:srgbClr val="000000"/>
                </a:solidFill>
                <a:latin typeface="+mn-lt"/>
              </a:rPr>
              <a:t>The basic activities of the information system of an organization are as follows:</a:t>
            </a:r>
          </a:p>
          <a:p>
            <a:pPr marL="285750" indent="-285750">
              <a:buFont typeface="Arial" panose="020B0604020202020204" pitchFamily="34" charset="0"/>
              <a:buChar char="•"/>
            </a:pPr>
            <a:r>
              <a:rPr lang="en-US" dirty="0">
                <a:solidFill>
                  <a:srgbClr val="000000"/>
                </a:solidFill>
                <a:latin typeface="+mn-lt"/>
              </a:rPr>
              <a:t>Input</a:t>
            </a:r>
          </a:p>
          <a:p>
            <a:pPr marL="285750" indent="-285750">
              <a:buFont typeface="Arial" panose="020B0604020202020204" pitchFamily="34" charset="0"/>
              <a:buChar char="•"/>
            </a:pPr>
            <a:r>
              <a:rPr lang="en-US" dirty="0">
                <a:solidFill>
                  <a:srgbClr val="000000"/>
                </a:solidFill>
                <a:latin typeface="+mn-lt"/>
              </a:rPr>
              <a:t>Processing, which includes classify, arrange, and calculate</a:t>
            </a:r>
          </a:p>
          <a:p>
            <a:pPr marL="285750" indent="-285750">
              <a:buFont typeface="Arial" panose="020B0604020202020204" pitchFamily="34" charset="0"/>
              <a:buChar char="•"/>
            </a:pPr>
            <a:r>
              <a:rPr lang="en-US" dirty="0">
                <a:solidFill>
                  <a:srgbClr val="000000"/>
                </a:solidFill>
                <a:latin typeface="+mn-lt"/>
              </a:rPr>
              <a:t>Output, which provides feedback to input</a:t>
            </a:r>
          </a:p>
          <a:p>
            <a:endParaRPr lang="en-US" dirty="0">
              <a:solidFill>
                <a:srgbClr val="000000"/>
              </a:solidFill>
              <a:latin typeface="+mn-lt"/>
            </a:endParaRPr>
          </a:p>
          <a:p>
            <a:r>
              <a:rPr lang="en-US" dirty="0">
                <a:solidFill>
                  <a:srgbClr val="000000"/>
                </a:solidFill>
                <a:latin typeface="+mn-lt"/>
              </a:rPr>
              <a:t>The environmental actors interacting with the organization are as follows:</a:t>
            </a:r>
          </a:p>
          <a:p>
            <a:pPr marL="285750" indent="-285750">
              <a:buFont typeface="Arial" panose="020B0604020202020204" pitchFamily="34" charset="0"/>
              <a:buChar char="•"/>
            </a:pPr>
            <a:r>
              <a:rPr lang="en-US" dirty="0">
                <a:solidFill>
                  <a:srgbClr val="000000"/>
                </a:solidFill>
                <a:latin typeface="+mn-lt"/>
              </a:rPr>
              <a:t>Suppliers</a:t>
            </a:r>
          </a:p>
          <a:p>
            <a:pPr marL="285750" indent="-285750">
              <a:buFont typeface="Arial" panose="020B0604020202020204" pitchFamily="34" charset="0"/>
              <a:buChar char="•"/>
            </a:pPr>
            <a:r>
              <a:rPr lang="en-US" dirty="0">
                <a:solidFill>
                  <a:srgbClr val="000000"/>
                </a:solidFill>
                <a:latin typeface="+mn-lt"/>
              </a:rPr>
              <a:t>Customers</a:t>
            </a:r>
          </a:p>
          <a:p>
            <a:pPr marL="285750" indent="-285750">
              <a:buFont typeface="Arial" panose="020B0604020202020204" pitchFamily="34" charset="0"/>
              <a:buChar char="•"/>
            </a:pPr>
            <a:r>
              <a:rPr lang="en-US" dirty="0">
                <a:solidFill>
                  <a:srgbClr val="000000"/>
                </a:solidFill>
                <a:latin typeface="+mn-lt"/>
              </a:rPr>
              <a:t>Regulatory agencies</a:t>
            </a:r>
          </a:p>
          <a:p>
            <a:pPr marL="285750" indent="-285750">
              <a:buFont typeface="Arial" panose="020B0604020202020204" pitchFamily="34" charset="0"/>
              <a:buChar char="•"/>
            </a:pPr>
            <a:r>
              <a:rPr lang="en-US" dirty="0">
                <a:solidFill>
                  <a:srgbClr val="000000"/>
                </a:solidFill>
                <a:latin typeface="+mn-lt"/>
              </a:rPr>
              <a:t>Stockholders</a:t>
            </a:r>
          </a:p>
          <a:p>
            <a:pPr marL="285750" indent="-285750">
              <a:buFont typeface="Arial" panose="020B0604020202020204" pitchFamily="34" charset="0"/>
              <a:buChar char="•"/>
            </a:pPr>
            <a:r>
              <a:rPr lang="en-US" dirty="0">
                <a:solidFill>
                  <a:srgbClr val="000000"/>
                </a:solidFill>
                <a:latin typeface="+mn-lt"/>
              </a:rPr>
              <a:t>Competitors</a:t>
            </a:r>
          </a:p>
          <a:p>
            <a:endParaRPr lang="en-US" sz="1800" dirty="0">
              <a:solidFill>
                <a:srgbClr val="000000"/>
              </a:solidFill>
              <a:latin typeface="Segoe UI" panose="020B0502040204020203" pitchFamily="34" charset="0"/>
            </a:endParaRPr>
          </a:p>
          <a:p>
            <a:endParaRPr lang="en-US" alt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28</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alt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29</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Figure 1.5, Page 17.</a:t>
            </a:r>
          </a:p>
          <a:p>
            <a:r>
              <a:rPr lang="en-US" sz="1200" b="0" i="1" u="none" strike="noStrike" kern="1200" cap="none" baseline="0" dirty="0">
                <a:solidFill>
                  <a:schemeClr val="tx1"/>
                </a:solidFill>
                <a:latin typeface="+mn-lt"/>
                <a:ea typeface="Arial"/>
                <a:cs typeface="Arial"/>
                <a:sym typeface="Arial"/>
              </a:rPr>
              <a:t>Using information systems effectively requires an understanding of the organization, management, and information technology shaping the systems. An information system creates value for the firm as an organizational and management solution to challenges posed by the environment.</a:t>
            </a:r>
          </a:p>
          <a:p>
            <a:endParaRPr lang="en-US" altLang="en-US" sz="1200" b="0" i="0" u="none" strike="noStrike" kern="1200" cap="none" baseline="0" dirty="0">
              <a:solidFill>
                <a:schemeClr val="tx1"/>
              </a:solidFill>
              <a:latin typeface="+mn-lt"/>
              <a:ea typeface="Arial"/>
              <a:cs typeface="Arial"/>
              <a:sym typeface="Arial"/>
            </a:endParaRPr>
          </a:p>
          <a:p>
            <a:r>
              <a:rPr lang="en-US" altLang="en-US" dirty="0"/>
              <a:t>These three themes (management, organizations, and technology) will reappear throughout the book. Understanding the interaction among these factors and information systems is known as information system literacy. Knowing how to optimize the relationship between technology, organizations, and management is the purpose of this book and course.</a:t>
            </a:r>
          </a:p>
        </p:txBody>
      </p:sp>
      <p:sp>
        <p:nvSpPr>
          <p:cNvPr id="4" name="Slide Number Placeholder 3"/>
          <p:cNvSpPr>
            <a:spLocks noGrp="1"/>
          </p:cNvSpPr>
          <p:nvPr>
            <p:ph type="sldNum" sz="quarter" idx="10"/>
          </p:nvPr>
        </p:nvSpPr>
        <p:spPr/>
        <p:txBody>
          <a:bodyPr/>
          <a:lstStyle/>
          <a:p>
            <a:fld id="{A73D6722-9B4D-4E29-B226-C325925A8118}" type="slidenum">
              <a:rPr lang="en-US" smtClean="0"/>
              <a:pPr/>
              <a:t>30</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t>Pages 17 and 18 in the text provide more specific details on each level of this hierarchy. You can ask students to talk about an organization where they currently work or have worked in the past. What was their contact with senior management, middle management, and operational (supervisory) management?  Many younger students will have had little or no contact with senior and middle management. Older students most likely will have experience. You might need to provide more description about exactly what senior managers do for the firm (and middle managers).</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alt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31</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Figure</a:t>
            </a:r>
            <a:r>
              <a:rPr lang="en-US" altLang="en-US" baseline="0" dirty="0"/>
              <a:t> 1.6, Page 18.</a:t>
            </a:r>
          </a:p>
          <a:p>
            <a:r>
              <a:rPr lang="en-US" sz="1200" b="0" i="1" u="none" strike="noStrike" kern="1200" cap="none" baseline="0" dirty="0">
                <a:solidFill>
                  <a:schemeClr val="tx1"/>
                </a:solidFill>
                <a:latin typeface="+mn-lt"/>
                <a:ea typeface="Arial"/>
                <a:cs typeface="Arial"/>
                <a:sym typeface="Arial"/>
              </a:rPr>
              <a:t>Business organizations are hierarchies consisting of three principal levels: senior management, middle management, and operational management. Information systems serve each of these levels. Scientists and knowledge workers often work with middle management.</a:t>
            </a:r>
          </a:p>
          <a:p>
            <a:endParaRPr lang="en-US" altLang="en-US" sz="1200" b="0" i="0" u="none" strike="noStrike" kern="1200" cap="none" baseline="0" dirty="0">
              <a:solidFill>
                <a:schemeClr val="tx1"/>
              </a:solidFill>
              <a:latin typeface="+mn-lt"/>
              <a:ea typeface="Arial"/>
              <a:cs typeface="Arial"/>
              <a:sym typeface="Arial"/>
            </a:endParaRPr>
          </a:p>
          <a:p>
            <a:r>
              <a:rPr lang="en-US" altLang="en-US" dirty="0"/>
              <a:t>Ask students to think about how information systems would factor into the day-to-day jobs of each of the three types of workers in the pyramid. </a:t>
            </a:r>
            <a:br>
              <a:rPr lang="en-US" altLang="en-US" dirty="0"/>
            </a:br>
            <a:endParaRPr lang="en-US" altLang="en-US" dirty="0"/>
          </a:p>
          <a:p>
            <a:r>
              <a:rPr lang="en-US" altLang="en-US" u="sng" dirty="0"/>
              <a:t>Alt Text</a:t>
            </a:r>
          </a:p>
          <a:p>
            <a:r>
              <a:rPr lang="en-US" altLang="en-US" dirty="0"/>
              <a:t>Long description:</a:t>
            </a:r>
            <a:r>
              <a:rPr lang="en-US" altLang="en-US" baseline="0" dirty="0"/>
              <a:t> </a:t>
            </a:r>
            <a:r>
              <a:rPr lang="en-US" sz="1200" dirty="0">
                <a:solidFill>
                  <a:srgbClr val="000000"/>
                </a:solidFill>
                <a:latin typeface="+mn-lt"/>
              </a:rPr>
              <a:t>A figure shows a pyramid depicting the principal levels in a firm. The pyramid shows the principal levels of a firm from bottom to top as follows:</a:t>
            </a:r>
          </a:p>
          <a:p>
            <a:pPr marL="171450" indent="-171450">
              <a:buFont typeface="Arial" panose="020B0604020202020204" pitchFamily="34" charset="0"/>
              <a:buChar char="•"/>
            </a:pPr>
            <a:r>
              <a:rPr lang="en-US" sz="1200" dirty="0">
                <a:solidFill>
                  <a:srgbClr val="000000"/>
                </a:solidFill>
                <a:latin typeface="+mn-lt"/>
              </a:rPr>
              <a:t>Operational management: Production and service workers; data workers</a:t>
            </a:r>
          </a:p>
          <a:p>
            <a:pPr marL="171450" indent="-171450">
              <a:buFont typeface="Arial" panose="020B0604020202020204" pitchFamily="34" charset="0"/>
              <a:buChar char="•"/>
            </a:pPr>
            <a:r>
              <a:rPr lang="en-US" sz="1200" dirty="0">
                <a:solidFill>
                  <a:srgbClr val="000000"/>
                </a:solidFill>
                <a:latin typeface="+mn-lt"/>
              </a:rPr>
              <a:t>Middle management: Scientists and knowledge workers</a:t>
            </a:r>
          </a:p>
          <a:p>
            <a:pPr marL="171450" indent="-171450">
              <a:buFont typeface="Arial" panose="020B0604020202020204" pitchFamily="34" charset="0"/>
              <a:buChar char="•"/>
            </a:pPr>
            <a:r>
              <a:rPr lang="en-US" sz="1200" dirty="0">
                <a:solidFill>
                  <a:srgbClr val="000000"/>
                </a:solidFill>
                <a:latin typeface="+mn-lt"/>
              </a:rPr>
              <a:t>Senior management</a:t>
            </a:r>
            <a:endParaRPr lang="en-US" altLang="en-US" sz="1200" dirty="0">
              <a:latin typeface="+mn-lt"/>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32</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altLang="en-US" dirty="0"/>
              <a:t>The point of this slide is to let students know there are many organizational factors that will shape information systems. A common observation is that </a:t>
            </a:r>
            <a:r>
              <a:rPr lang="ja-JP" altLang="en-US" dirty="0"/>
              <a:t>“</a:t>
            </a:r>
            <a:r>
              <a:rPr lang="en-US" altLang="ja-JP" dirty="0"/>
              <a:t>Every business is different.</a:t>
            </a:r>
            <a:r>
              <a:rPr lang="ja-JP" altLang="en-US" dirty="0"/>
              <a:t>”</a:t>
            </a:r>
            <a:r>
              <a:rPr lang="en-US" altLang="ja-JP" dirty="0"/>
              <a:t> Does this mean every business will have different information systems? Every business has its unique culture and politics. Systems reflect these business cultures.  </a:t>
            </a:r>
          </a:p>
          <a:p>
            <a:endParaRPr lang="en-US" altLang="en-US" dirty="0"/>
          </a:p>
          <a:p>
            <a:r>
              <a:rPr lang="en-US" altLang="en-US" dirty="0"/>
              <a:t>For an example of how information systems shed light on a firm</a:t>
            </a:r>
            <a:r>
              <a:rPr lang="ja-JP" altLang="en-US" dirty="0"/>
              <a:t>’</a:t>
            </a:r>
            <a:r>
              <a:rPr lang="en-US" altLang="ja-JP" dirty="0"/>
              <a:t>s unique business processes and culture, you might describe the UPS Interactive Session later in the chapter. The company</a:t>
            </a:r>
            <a:r>
              <a:rPr lang="ja-JP" altLang="en-US" dirty="0"/>
              <a:t>’</a:t>
            </a:r>
            <a:r>
              <a:rPr lang="en-US" altLang="ja-JP" dirty="0"/>
              <a:t>s package tracking systems exemplify their commitment to customer service and putting the customer first.</a:t>
            </a:r>
            <a:endParaRPr lang="en-US" altLang="en-US" dirty="0"/>
          </a:p>
          <a:p>
            <a:pPr marL="0" marR="0" lvl="0" indent="0" algn="l" defTabSz="457200" rtl="0" eaLnBrk="1" fontAlgn="auto" latinLnBrk="0" hangingPunct="1">
              <a:lnSpc>
                <a:spcPct val="100000"/>
              </a:lnSpc>
              <a:spcBef>
                <a:spcPts val="0"/>
              </a:spcBef>
              <a:spcAft>
                <a:spcPts val="0"/>
              </a:spcAft>
              <a:buClrTx/>
              <a:buSzTx/>
              <a:buFontTx/>
              <a:buNone/>
              <a:tabLst/>
              <a:defRPr/>
            </a:pPr>
            <a:endParaRPr lang="en-US" alt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33</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t>How might information systems assist managers in the development of new products and services? What is meant by re-creating the organization?  Why do organizations need to be continually re-created? The answer is that they quickly become obsolete unless they continue to change. Ask students to help you list some organizations that have recently failed or are about to fail.</a:t>
            </a:r>
          </a:p>
        </p:txBody>
      </p:sp>
      <p:sp>
        <p:nvSpPr>
          <p:cNvPr id="4" name="Slide Number Placeholder 3"/>
          <p:cNvSpPr>
            <a:spLocks noGrp="1"/>
          </p:cNvSpPr>
          <p:nvPr>
            <p:ph type="sldNum" sz="quarter" idx="10"/>
          </p:nvPr>
        </p:nvSpPr>
        <p:spPr/>
        <p:txBody>
          <a:bodyPr/>
          <a:lstStyle/>
          <a:p>
            <a:fld id="{A73D6722-9B4D-4E29-B226-C325925A8118}" type="slidenum">
              <a:rPr lang="en-US" smtClean="0"/>
              <a:pPr/>
              <a:t>34</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altLang="en-US" dirty="0"/>
              <a:t>Information technology is at the heart of information systems. Although organization and management are important too, it</a:t>
            </a:r>
            <a:r>
              <a:rPr lang="ja-JP" altLang="en-US" dirty="0"/>
              <a:t>’</a:t>
            </a:r>
            <a:r>
              <a:rPr lang="en-US" altLang="ja-JP" dirty="0"/>
              <a:t>s the technology that enables the systems and the organizations and managers who use the technology.  </a:t>
            </a:r>
          </a:p>
          <a:p>
            <a:endParaRPr lang="en-US" alt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35</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altLang="en-US" dirty="0"/>
              <a:t>UPS is a good example of a company that successfully uses information systems to enhance their business.</a:t>
            </a:r>
          </a:p>
          <a:p>
            <a:endParaRPr lang="en-US" altLang="en-US" dirty="0"/>
          </a:p>
          <a:p>
            <a:r>
              <a:rPr lang="en-US" altLang="en-US" dirty="0"/>
              <a:t>Discuss the Delivery Information Acquisition Device (DIAD) and its various uses. Why is it an excellent example of an information system affected by a firm</a:t>
            </a:r>
            <a:r>
              <a:rPr lang="ja-JP" altLang="en-US" dirty="0"/>
              <a:t>’</a:t>
            </a:r>
            <a:r>
              <a:rPr lang="en-US" altLang="ja-JP" dirty="0"/>
              <a:t>s business and vice versa? Do students think UPS does a good job with its information systems? What might they improve?</a:t>
            </a:r>
          </a:p>
        </p:txBody>
      </p:sp>
      <p:sp>
        <p:nvSpPr>
          <p:cNvPr id="4" name="Slide Number Placeholder 3"/>
          <p:cNvSpPr>
            <a:spLocks noGrp="1"/>
          </p:cNvSpPr>
          <p:nvPr>
            <p:ph type="sldNum" sz="quarter" idx="10"/>
          </p:nvPr>
        </p:nvSpPr>
        <p:spPr/>
        <p:txBody>
          <a:bodyPr/>
          <a:lstStyle/>
          <a:p>
            <a:fld id="{A73D6722-9B4D-4E29-B226-C325925A8118}" type="slidenum">
              <a:rPr lang="en-US" smtClean="0"/>
              <a:pPr/>
              <a:t>36</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t>You could ask students to consider how this view of information systems might contrast with the sociotechnical view or other views. You could also ask them to consider the circumstances under which information systems might not result in increased productivity and revenue.</a:t>
            </a:r>
          </a:p>
        </p:txBody>
      </p:sp>
      <p:sp>
        <p:nvSpPr>
          <p:cNvPr id="4" name="Slide Number Placeholder 3"/>
          <p:cNvSpPr>
            <a:spLocks noGrp="1"/>
          </p:cNvSpPr>
          <p:nvPr>
            <p:ph type="sldNum" sz="quarter" idx="10"/>
          </p:nvPr>
        </p:nvSpPr>
        <p:spPr/>
        <p:txBody>
          <a:bodyPr/>
          <a:lstStyle/>
          <a:p>
            <a:fld id="{A73D6722-9B4D-4E29-B226-C325925A8118}" type="slidenum">
              <a:rPr lang="en-US" smtClean="0"/>
              <a:pPr/>
              <a:t>37</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altLang="en-US" dirty="0"/>
              <a:t>During this and the next slide, emphasize that the end result of the business information value chain will be profitability.</a:t>
            </a:r>
          </a:p>
          <a:p>
            <a:endParaRPr lang="en-US" altLang="en-US" dirty="0"/>
          </a:p>
          <a:p>
            <a:r>
              <a:rPr lang="en-US" altLang="en-US" dirty="0"/>
              <a:t>Questions for students: What aspects of the business perspective might be lacking? Are there other perspectives that might provide a different picture? (sociotechnical)</a:t>
            </a:r>
          </a:p>
        </p:txBody>
      </p:sp>
      <p:sp>
        <p:nvSpPr>
          <p:cNvPr id="4" name="Slide Number Placeholder 3"/>
          <p:cNvSpPr>
            <a:spLocks noGrp="1"/>
          </p:cNvSpPr>
          <p:nvPr>
            <p:ph type="sldNum" sz="quarter" idx="10"/>
          </p:nvPr>
        </p:nvSpPr>
        <p:spPr/>
        <p:txBody>
          <a:bodyPr/>
          <a:lstStyle/>
          <a:p>
            <a:fld id="{A73D6722-9B4D-4E29-B226-C325925A8118}" type="slidenum">
              <a:rPr lang="en-US" smtClean="0"/>
              <a:pPr/>
              <a:t>38</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t>Connect this slide to the previous slide. Many firms make significant investments in IT for very little benefit to the bottom line. Discuss why companies experience a wide variety of outcomes in their efforts to invest in IT.  Consider the factors we use in this book: organizational and management factors. </a:t>
            </a:r>
          </a:p>
        </p:txBody>
      </p:sp>
      <p:sp>
        <p:nvSpPr>
          <p:cNvPr id="4" name="Slide Number Placeholder 3"/>
          <p:cNvSpPr>
            <a:spLocks noGrp="1"/>
          </p:cNvSpPr>
          <p:nvPr>
            <p:ph type="sldNum" sz="quarter" idx="10"/>
          </p:nvPr>
        </p:nvSpPr>
        <p:spPr/>
        <p:txBody>
          <a:bodyPr/>
          <a:lstStyle/>
          <a:p>
            <a:fld id="{A73D6722-9B4D-4E29-B226-C325925A8118}" type="slidenum">
              <a:rPr lang="en-US" smtClean="0"/>
              <a:pPr/>
              <a:t>39</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a:xfrm>
            <a:off x="685800" y="4343399"/>
            <a:ext cx="5486400" cy="4572001"/>
          </a:xfrm>
        </p:spPr>
        <p:txBody>
          <a:bodyPr>
            <a:normAutofit fontScale="92500" lnSpcReduction="10000"/>
          </a:bodyPr>
          <a:lstStyle/>
          <a:p>
            <a:r>
              <a:rPr lang="en-US" altLang="en-US" sz="1100" dirty="0"/>
              <a:t>Figure 1.7, Page 23.</a:t>
            </a:r>
          </a:p>
          <a:p>
            <a:r>
              <a:rPr lang="en-US" sz="1100" b="0" i="1" u="none" strike="noStrike" kern="1200" cap="none" baseline="0" dirty="0">
                <a:solidFill>
                  <a:schemeClr val="tx1"/>
                </a:solidFill>
                <a:ea typeface="Arial"/>
                <a:cs typeface="Arial"/>
                <a:sym typeface="Arial"/>
              </a:rPr>
              <a:t>From a business perspective, information systems are part of a series of value-adding activities for acquiring, transforming, and distributing information that managers can use to improve decision making, enhance organizational performance, and, ultimately, increase firm profitability.</a:t>
            </a:r>
          </a:p>
          <a:p>
            <a:endParaRPr lang="en-US" altLang="en-US" sz="1100" dirty="0"/>
          </a:p>
          <a:p>
            <a:r>
              <a:rPr lang="en-US" altLang="en-US" sz="1100" dirty="0"/>
              <a:t>The information value chain is one way to visualize the relationship among information activities, business processes, and management activities. You could also ask students if they could imagine any reason to create an information system besides profitability or strategic positioning (it</a:t>
            </a:r>
            <a:r>
              <a:rPr lang="ja-JP" altLang="en-US" sz="1100" dirty="0"/>
              <a:t>’</a:t>
            </a:r>
            <a:r>
              <a:rPr lang="en-US" altLang="ja-JP" sz="1100" dirty="0"/>
              <a:t>s not likely that they will think of one, which will prove the point). One reason to create a system that is not primarily profit-oriented is to meet the information reporting requirements of government and other authorities. </a:t>
            </a:r>
          </a:p>
          <a:p>
            <a:endParaRPr lang="en-US" altLang="ja-JP" sz="1100" dirty="0"/>
          </a:p>
          <a:p>
            <a:r>
              <a:rPr lang="en-US" altLang="ja-JP" sz="1100" u="sng" dirty="0"/>
              <a:t>Alt Text</a:t>
            </a:r>
          </a:p>
          <a:p>
            <a:r>
              <a:rPr lang="en-US" altLang="ja-JP" sz="1100" dirty="0"/>
              <a:t>Long description:</a:t>
            </a:r>
            <a:r>
              <a:rPr lang="en-US" altLang="ja-JP" sz="1100" baseline="0" dirty="0"/>
              <a:t> </a:t>
            </a:r>
            <a:r>
              <a:rPr lang="en-US" sz="1100" dirty="0">
                <a:solidFill>
                  <a:srgbClr val="000000"/>
                </a:solidFill>
              </a:rPr>
              <a:t>A flow diagram shows parts of the business value chain.  The business value chain is divided in three sequential parts leading to firm profitability and strategic position. The parts along with activities listed under them are as follows:</a:t>
            </a:r>
          </a:p>
          <a:p>
            <a:pPr marL="285750" indent="-285750">
              <a:buFont typeface="Arial" panose="020B0604020202020204" pitchFamily="34" charset="0"/>
              <a:buChar char="•"/>
            </a:pPr>
            <a:r>
              <a:rPr lang="en-US" sz="1100" dirty="0">
                <a:solidFill>
                  <a:srgbClr val="000000"/>
                </a:solidFill>
              </a:rPr>
              <a:t>Information processing activities</a:t>
            </a:r>
          </a:p>
          <a:p>
            <a:pPr marL="285750" indent="-285750">
              <a:buFont typeface="Arial" panose="020B0604020202020204" pitchFamily="34" charset="0"/>
              <a:buChar char="•"/>
            </a:pPr>
            <a:r>
              <a:rPr lang="en-US" sz="1100" dirty="0">
                <a:solidFill>
                  <a:srgbClr val="000000"/>
                </a:solidFill>
              </a:rPr>
              <a:t>Data collection and storage</a:t>
            </a:r>
          </a:p>
          <a:p>
            <a:pPr marL="285750" indent="-285750">
              <a:buFont typeface="Arial" panose="020B0604020202020204" pitchFamily="34" charset="0"/>
              <a:buChar char="•"/>
            </a:pPr>
            <a:r>
              <a:rPr lang="en-US" sz="1100" dirty="0">
                <a:solidFill>
                  <a:srgbClr val="000000"/>
                </a:solidFill>
              </a:rPr>
              <a:t>Transformation into business systems</a:t>
            </a:r>
          </a:p>
          <a:p>
            <a:pPr marL="285750" indent="-285750">
              <a:buFont typeface="Arial" panose="020B0604020202020204" pitchFamily="34" charset="0"/>
              <a:buChar char="•"/>
            </a:pPr>
            <a:r>
              <a:rPr lang="en-US" sz="1100" dirty="0">
                <a:solidFill>
                  <a:srgbClr val="000000"/>
                </a:solidFill>
              </a:rPr>
              <a:t>Dissemination</a:t>
            </a:r>
          </a:p>
          <a:p>
            <a:pPr marL="285750" indent="-285750">
              <a:buFont typeface="Arial" panose="020B0604020202020204" pitchFamily="34" charset="0"/>
              <a:buChar char="•"/>
            </a:pPr>
            <a:r>
              <a:rPr lang="en-US" sz="1100" dirty="0">
                <a:solidFill>
                  <a:srgbClr val="000000"/>
                </a:solidFill>
              </a:rPr>
              <a:t>Business processes </a:t>
            </a:r>
          </a:p>
          <a:p>
            <a:pPr marL="285750" indent="-285750">
              <a:buFont typeface="Arial" panose="020B0604020202020204" pitchFamily="34" charset="0"/>
              <a:buChar char="•"/>
            </a:pPr>
            <a:r>
              <a:rPr lang="en-US" sz="1100" dirty="0">
                <a:solidFill>
                  <a:srgbClr val="000000"/>
                </a:solidFill>
              </a:rPr>
              <a:t>Supply chain management</a:t>
            </a:r>
          </a:p>
          <a:p>
            <a:pPr marL="285750" indent="-285750">
              <a:buFont typeface="Arial" panose="020B0604020202020204" pitchFamily="34" charset="0"/>
              <a:buChar char="•"/>
            </a:pPr>
            <a:r>
              <a:rPr lang="en-US" sz="1100" dirty="0">
                <a:solidFill>
                  <a:srgbClr val="000000"/>
                </a:solidFill>
              </a:rPr>
              <a:t>Enterprise management </a:t>
            </a:r>
          </a:p>
          <a:p>
            <a:pPr marL="285750" indent="-285750">
              <a:buFont typeface="Arial" panose="020B0604020202020204" pitchFamily="34" charset="0"/>
              <a:buChar char="•"/>
            </a:pPr>
            <a:r>
              <a:rPr lang="en-US" sz="1100" dirty="0">
                <a:solidFill>
                  <a:srgbClr val="000000"/>
                </a:solidFill>
              </a:rPr>
              <a:t>Customer management</a:t>
            </a:r>
          </a:p>
          <a:p>
            <a:pPr marL="285750" indent="-285750">
              <a:buFont typeface="Arial" panose="020B0604020202020204" pitchFamily="34" charset="0"/>
              <a:buChar char="•"/>
            </a:pPr>
            <a:r>
              <a:rPr lang="en-US" sz="1100" dirty="0">
                <a:solidFill>
                  <a:srgbClr val="000000"/>
                </a:solidFill>
              </a:rPr>
              <a:t>Knowledge management</a:t>
            </a:r>
          </a:p>
          <a:p>
            <a:pPr marL="285750" indent="-285750">
              <a:buFont typeface="Arial" panose="020B0604020202020204" pitchFamily="34" charset="0"/>
              <a:buChar char="•"/>
            </a:pPr>
            <a:r>
              <a:rPr lang="en-US" sz="1100" dirty="0">
                <a:solidFill>
                  <a:srgbClr val="000000"/>
                </a:solidFill>
              </a:rPr>
              <a:t>Management activities</a:t>
            </a:r>
          </a:p>
          <a:p>
            <a:pPr marL="285750" indent="-285750">
              <a:buFont typeface="Arial" panose="020B0604020202020204" pitchFamily="34" charset="0"/>
              <a:buChar char="•"/>
            </a:pPr>
            <a:r>
              <a:rPr lang="en-US" sz="1100" dirty="0">
                <a:solidFill>
                  <a:srgbClr val="000000"/>
                </a:solidFill>
              </a:rPr>
              <a:t>Planning </a:t>
            </a:r>
          </a:p>
          <a:p>
            <a:pPr marL="285750" indent="-285750">
              <a:buFont typeface="Arial" panose="020B0604020202020204" pitchFamily="34" charset="0"/>
              <a:buChar char="•"/>
            </a:pPr>
            <a:r>
              <a:rPr lang="en-US" sz="1100" dirty="0">
                <a:solidFill>
                  <a:srgbClr val="000000"/>
                </a:solidFill>
              </a:rPr>
              <a:t>Coordinating</a:t>
            </a:r>
          </a:p>
          <a:p>
            <a:pPr marL="285750" indent="-285750">
              <a:buFont typeface="Arial" panose="020B0604020202020204" pitchFamily="34" charset="0"/>
              <a:buChar char="•"/>
            </a:pPr>
            <a:r>
              <a:rPr lang="en-US" sz="1100" dirty="0">
                <a:solidFill>
                  <a:srgbClr val="000000"/>
                </a:solidFill>
              </a:rPr>
              <a:t>Controlling </a:t>
            </a:r>
          </a:p>
          <a:p>
            <a:pPr marL="285750" indent="-285750">
              <a:buFont typeface="Arial" panose="020B0604020202020204" pitchFamily="34" charset="0"/>
              <a:buChar char="•"/>
            </a:pPr>
            <a:r>
              <a:rPr lang="en-US" sz="1100" dirty="0">
                <a:solidFill>
                  <a:srgbClr val="000000"/>
                </a:solidFill>
              </a:rPr>
              <a:t>Modeling and decision making</a:t>
            </a:r>
          </a:p>
          <a:p>
            <a:endParaRPr lang="en-US" sz="1800" dirty="0">
              <a:solidFill>
                <a:srgbClr val="000000"/>
              </a:solidFill>
            </a:endParaRPr>
          </a:p>
          <a:p>
            <a:endParaRPr lang="en-US" sz="1800" dirty="0">
              <a:solidFill>
                <a:prstClr val="black"/>
              </a:solidFill>
              <a:latin typeface="Segoe UI" panose="020B0502040204020203" pitchFamily="34" charset="0"/>
            </a:endParaRPr>
          </a:p>
          <a:p>
            <a:endParaRPr lang="en-US" altLang="ja-JP"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40</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t>The example used in the book for complementary assets is for automobile companies: these companies rely on investments in highways, other roads, gas stations, repair facilities, and so on to maximize the value of their primary investment. Ask students to provide a different example of another company</a:t>
            </a:r>
            <a:r>
              <a:rPr lang="ja-JP" altLang="en-US" dirty="0"/>
              <a:t>’</a:t>
            </a:r>
            <a:r>
              <a:rPr lang="en-US" altLang="ja-JP" dirty="0"/>
              <a:t>s or industries complementary assets.</a:t>
            </a:r>
            <a:endParaRPr lang="en-US" alt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41</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a:xfrm>
            <a:off x="685800" y="4343400"/>
            <a:ext cx="5486400" cy="4495800"/>
          </a:xfrm>
        </p:spPr>
        <p:txBody>
          <a:bodyPr>
            <a:normAutofit fontScale="70000" lnSpcReduction="20000"/>
          </a:bodyPr>
          <a:lstStyle/>
          <a:p>
            <a:r>
              <a:rPr lang="en-US" altLang="en-US" sz="1600" dirty="0"/>
              <a:t>Figure</a:t>
            </a:r>
            <a:r>
              <a:rPr lang="en-US" altLang="en-US" sz="1600" baseline="0" dirty="0"/>
              <a:t> 1.8, Page 24.</a:t>
            </a:r>
          </a:p>
          <a:p>
            <a:r>
              <a:rPr lang="en-US" sz="1600" b="0" i="1" u="none" strike="noStrike" kern="1200" cap="none" baseline="0" dirty="0">
                <a:solidFill>
                  <a:schemeClr val="tx1"/>
                </a:solidFill>
                <a:latin typeface="+mn-lt"/>
                <a:ea typeface="Arial"/>
                <a:cs typeface="Arial"/>
                <a:sym typeface="Arial"/>
              </a:rPr>
              <a:t>Although, on average, investments in information technology produce returns far above those returned by other investments, there is considerable variation across firms.</a:t>
            </a:r>
          </a:p>
          <a:p>
            <a:endParaRPr lang="en-US" sz="1600" b="0" i="0" u="none" strike="noStrike" kern="1200" cap="none" baseline="0" dirty="0">
              <a:solidFill>
                <a:schemeClr val="tx1"/>
              </a:solidFill>
              <a:latin typeface="+mn-lt"/>
              <a:ea typeface="Arial"/>
              <a:cs typeface="Arial"/>
              <a:sym typeface="Arial"/>
            </a:endParaRPr>
          </a:p>
          <a:p>
            <a:r>
              <a:rPr lang="en-US" sz="1600" b="0" i="0" u="none" strike="noStrike" kern="1200" cap="none" baseline="0" dirty="0">
                <a:solidFill>
                  <a:schemeClr val="tx1"/>
                </a:solidFill>
                <a:latin typeface="+mn-lt"/>
                <a:ea typeface="Arial"/>
                <a:cs typeface="Arial"/>
                <a:sym typeface="Arial"/>
              </a:rPr>
              <a:t>Source: </a:t>
            </a:r>
            <a:r>
              <a:rPr lang="en-US" sz="1600" b="0" i="0" u="none" strike="noStrike" kern="1200" cap="none" baseline="0" dirty="0" err="1">
                <a:solidFill>
                  <a:schemeClr val="dk1"/>
                </a:solidFill>
                <a:latin typeface="+mn-lt"/>
                <a:ea typeface="Arial"/>
                <a:cs typeface="Arial"/>
                <a:sym typeface="Arial"/>
              </a:rPr>
              <a:t>Brynjolfsson</a:t>
            </a:r>
            <a:r>
              <a:rPr lang="en-US" sz="1600" b="0" i="0" u="none" strike="noStrike" kern="1200" cap="none" baseline="0" dirty="0">
                <a:solidFill>
                  <a:schemeClr val="dk1"/>
                </a:solidFill>
                <a:latin typeface="+mn-lt"/>
                <a:ea typeface="Arial"/>
                <a:cs typeface="Arial"/>
                <a:sym typeface="Arial"/>
              </a:rPr>
              <a:t>, Erik and </a:t>
            </a:r>
            <a:r>
              <a:rPr lang="en-US" sz="1600" b="0" i="0" u="none" strike="noStrike" kern="1200" cap="none" baseline="0" dirty="0" err="1">
                <a:solidFill>
                  <a:schemeClr val="dk1"/>
                </a:solidFill>
                <a:latin typeface="+mn-lt"/>
                <a:ea typeface="Arial"/>
                <a:cs typeface="Arial"/>
                <a:sym typeface="Arial"/>
              </a:rPr>
              <a:t>Lorin</a:t>
            </a:r>
            <a:r>
              <a:rPr lang="en-US" sz="1600" b="0" i="0" u="none" strike="noStrike" kern="1200" cap="none" baseline="0" dirty="0">
                <a:solidFill>
                  <a:schemeClr val="dk1"/>
                </a:solidFill>
                <a:latin typeface="+mn-lt"/>
                <a:ea typeface="Arial"/>
                <a:cs typeface="Arial"/>
                <a:sym typeface="Arial"/>
              </a:rPr>
              <a:t> M. Hitt. “Beyond Computation: Information Technology, Organizational Transformation, and Business Performance.” Journal of Economic Perspectives 14, No. 4 (2000).</a:t>
            </a:r>
          </a:p>
          <a:p>
            <a:endParaRPr lang="en-US" altLang="en-US" sz="1600" b="0" i="0" u="none" strike="noStrike" kern="1200" cap="none" baseline="0" dirty="0">
              <a:solidFill>
                <a:schemeClr val="tx1"/>
              </a:solidFill>
              <a:latin typeface="+mn-lt"/>
              <a:ea typeface="Arial"/>
              <a:cs typeface="Arial"/>
              <a:sym typeface="Arial"/>
            </a:endParaRPr>
          </a:p>
          <a:p>
            <a:r>
              <a:rPr lang="en-US" altLang="en-US" sz="1600" dirty="0"/>
              <a:t>Emphasize that each quadrant of the graph represents a different type of firm.</a:t>
            </a:r>
          </a:p>
          <a:p>
            <a:r>
              <a:rPr lang="en-US" altLang="en-US" sz="1600" dirty="0"/>
              <a:t>Quadrant 1 represents firms that invest much less in IT but still receive strong returns.</a:t>
            </a:r>
          </a:p>
          <a:p>
            <a:r>
              <a:rPr lang="en-US" altLang="en-US" sz="1600" dirty="0"/>
              <a:t>Quadrant 2 represents firms that invest a great deal in IT and receive a great deal in returns.</a:t>
            </a:r>
          </a:p>
          <a:p>
            <a:r>
              <a:rPr lang="en-US" altLang="en-US" sz="1600" dirty="0"/>
              <a:t>Quadrant 3 represents firms that invest much less in IT and receive poor returns.</a:t>
            </a:r>
          </a:p>
          <a:p>
            <a:r>
              <a:rPr lang="en-US" altLang="en-US" sz="1600" dirty="0"/>
              <a:t>Quadrant 4 represents firms that invest a great deal in IT but receive poor returns.</a:t>
            </a:r>
          </a:p>
          <a:p>
            <a:r>
              <a:rPr lang="en-US" altLang="en-US" sz="1600" dirty="0"/>
              <a:t>Ask students where they want their firms to show up?  The purpose of the course and book is to show students how to end up in top quadrant (2). </a:t>
            </a:r>
          </a:p>
          <a:p>
            <a:endParaRPr lang="en-US" altLang="en-US" sz="1600" dirty="0"/>
          </a:p>
          <a:p>
            <a:r>
              <a:rPr lang="en-US" altLang="en-US" sz="1600" u="sng" dirty="0"/>
              <a:t>Alt Text</a:t>
            </a:r>
          </a:p>
          <a:p>
            <a:r>
              <a:rPr lang="en-US" altLang="en-US" sz="1600" dirty="0"/>
              <a:t>Long </a:t>
            </a:r>
            <a:r>
              <a:rPr lang="en-US" altLang="en-US" sz="1600" baseline="0" dirty="0"/>
              <a:t>description</a:t>
            </a:r>
            <a:r>
              <a:rPr lang="en-US" altLang="en-US" sz="1600" baseline="0" dirty="0">
                <a:latin typeface="+mn-lt"/>
              </a:rPr>
              <a:t>: </a:t>
            </a:r>
            <a:r>
              <a:rPr lang="en-US" sz="1600" dirty="0">
                <a:solidFill>
                  <a:srgbClr val="000000"/>
                </a:solidFill>
                <a:latin typeface="+mn-lt"/>
              </a:rPr>
              <a:t>A scatterplot shows the productivity in relation to IT capital stock, relative to industry average. </a:t>
            </a:r>
          </a:p>
          <a:p>
            <a:r>
              <a:rPr lang="en-US" sz="1600" dirty="0">
                <a:solidFill>
                  <a:srgbClr val="000000"/>
                </a:solidFill>
                <a:latin typeface="+mn-lt"/>
              </a:rPr>
              <a:t>The x-axis shows the IT capital stock, relative to industry average, ranging from 0.12 to 8. The y-axis shows the productivity, relative to industry average, ranging from 0.25 to 4. A horizontal line is drawn at 1 productivity and a vertical line is drawn at 1 IT capital stock, dividing it into 4 equal parts. The top left quadrant is labeled 1, the top right is labeled 2, the bottom left is labeled 3, and the bottom right is labeled 4. The graph shows that most of the values are concentrated between 0.5 and 2 productivity and 0.25 and 0.4 IT capital stock. Quadrant 1 and 4 have the least number of values. The trend line originates at 0.5 on the y-axis goes upwards and ends at 2.</a:t>
            </a:r>
          </a:p>
          <a:p>
            <a:endParaRPr lang="en-US" sz="1200" dirty="0">
              <a:solidFill>
                <a:prstClr val="black"/>
              </a:solidFill>
              <a:latin typeface="+mn-lt"/>
            </a:endParaRPr>
          </a:p>
          <a:p>
            <a:endParaRPr lang="en-US" alt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42</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t>Emphasize that firms that make significant investment in complementary assets tend to derive greater benefit from information technology investment than those that do not. Consideration of complementary assets should be a part of any firm</a:t>
            </a:r>
            <a:r>
              <a:rPr lang="ja-JP" altLang="en-US" dirty="0"/>
              <a:t>’</a:t>
            </a:r>
            <a:r>
              <a:rPr lang="en-US" altLang="ja-JP" dirty="0"/>
              <a:t>s broader view of how to create and implement their information systems. Stress to students that managers must consider dimensions such as complementary assets in order to derive benefit from information systems and be successful.</a:t>
            </a:r>
            <a:endParaRPr lang="en-US" alt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43</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Figure</a:t>
            </a:r>
            <a:r>
              <a:rPr lang="en-US" altLang="en-US" baseline="0" dirty="0"/>
              <a:t> 1.9, Page 26.</a:t>
            </a:r>
          </a:p>
          <a:p>
            <a:r>
              <a:rPr lang="en-US" sz="1200" b="0" i="1" u="none" strike="noStrike" kern="1200" cap="none" baseline="0" dirty="0">
                <a:solidFill>
                  <a:schemeClr val="tx1"/>
                </a:solidFill>
                <a:latin typeface="+mn-lt"/>
                <a:ea typeface="Arial"/>
                <a:cs typeface="Arial"/>
                <a:sym typeface="Arial"/>
              </a:rPr>
              <a:t>The study of information systems deals with issues and insights contributed from technical and behavioral disciplines.</a:t>
            </a:r>
          </a:p>
          <a:p>
            <a:endParaRPr lang="en-US" altLang="en-US" sz="1200" b="0" i="0" u="none" strike="noStrike" kern="1200" cap="none" baseline="0" dirty="0">
              <a:solidFill>
                <a:schemeClr val="tx1"/>
              </a:solidFill>
              <a:latin typeface="+mn-lt"/>
              <a:ea typeface="Arial"/>
              <a:cs typeface="Arial"/>
              <a:sym typeface="Arial"/>
            </a:endParaRPr>
          </a:p>
          <a:p>
            <a:r>
              <a:rPr lang="en-US" altLang="en-US" dirty="0"/>
              <a:t>Ask students which of the two major types of approaches, behavioral and technical, they find to be most appropriate or accurate. Why do they feel this way? Emphasize that the technical approach does not ignore behavior and the behavioral approach does not ignore technology, but that they are indeed two distinct approaches.</a:t>
            </a:r>
          </a:p>
          <a:p>
            <a:endParaRPr lang="en-US" altLang="en-US" dirty="0"/>
          </a:p>
          <a:p>
            <a:r>
              <a:rPr lang="en-US" altLang="en-US" u="sng" dirty="0"/>
              <a:t>Alt Text</a:t>
            </a:r>
          </a:p>
          <a:p>
            <a:r>
              <a:rPr lang="en-US" altLang="en-US" dirty="0"/>
              <a:t>Long description: </a:t>
            </a:r>
            <a:r>
              <a:rPr lang="en-US" sz="1200" dirty="0">
                <a:solidFill>
                  <a:srgbClr val="000000"/>
                </a:solidFill>
                <a:latin typeface="+mn-lt"/>
              </a:rPr>
              <a:t>A circular figure shows the technical approaches and behavioral approaches to MIS. </a:t>
            </a:r>
          </a:p>
          <a:p>
            <a:r>
              <a:rPr lang="en-US" sz="1200" dirty="0">
                <a:solidFill>
                  <a:srgbClr val="000000"/>
                </a:solidFill>
                <a:latin typeface="+mn-lt"/>
              </a:rPr>
              <a:t>The figure shows the following:</a:t>
            </a:r>
          </a:p>
          <a:p>
            <a:pPr marL="171450" indent="-171450">
              <a:buFont typeface="Arial" panose="020B0604020202020204" pitchFamily="34" charset="0"/>
              <a:buChar char="•"/>
            </a:pPr>
            <a:r>
              <a:rPr lang="en-US" sz="1200" dirty="0">
                <a:solidFill>
                  <a:srgbClr val="000000"/>
                </a:solidFill>
                <a:latin typeface="+mn-lt"/>
              </a:rPr>
              <a:t>Technical approaches: Management science. computer science, and operations research</a:t>
            </a:r>
          </a:p>
          <a:p>
            <a:pPr marL="171450" indent="-171450">
              <a:buFont typeface="Arial" panose="020B0604020202020204" pitchFamily="34" charset="0"/>
              <a:buChar char="•"/>
            </a:pPr>
            <a:r>
              <a:rPr lang="en-US" sz="1200" dirty="0">
                <a:solidFill>
                  <a:srgbClr val="000000"/>
                </a:solidFill>
                <a:latin typeface="+mn-lt"/>
              </a:rPr>
              <a:t>Behavioral approaches: Sociology, economics, and psychology</a:t>
            </a:r>
          </a:p>
          <a:p>
            <a:endParaRPr lang="en-US" sz="1800" dirty="0">
              <a:solidFill>
                <a:srgbClr val="000000"/>
              </a:solidFill>
              <a:latin typeface="Segoe UI" panose="020B0502040204020203" pitchFamily="34" charset="0"/>
            </a:endParaRPr>
          </a:p>
          <a:p>
            <a:endParaRPr lang="en-US" alt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44</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t>You might ask the students whether they think it</a:t>
            </a:r>
            <a:r>
              <a:rPr lang="ja-JP" altLang="en-US" dirty="0"/>
              <a:t>’</a:t>
            </a:r>
            <a:r>
              <a:rPr lang="en-US" altLang="ja-JP" dirty="0"/>
              <a:t>s possible to adopt only one of the two approaches to information systems and be successful. Then emphasize that the most accurate position is that there is no single approach that can truly capture the full scope and importance of information systems by itself.</a:t>
            </a:r>
            <a:endParaRPr lang="en-US" altLang="en-US" dirty="0"/>
          </a:p>
          <a:p>
            <a:pPr marL="0" marR="0" lvl="0" indent="0" algn="l" defTabSz="457200" rtl="0" eaLnBrk="1" fontAlgn="auto" latinLnBrk="0" hangingPunct="1">
              <a:lnSpc>
                <a:spcPct val="100000"/>
              </a:lnSpc>
              <a:spcBef>
                <a:spcPts val="0"/>
              </a:spcBef>
              <a:spcAft>
                <a:spcPts val="0"/>
              </a:spcAft>
              <a:buClrTx/>
              <a:buSzTx/>
              <a:buFontTx/>
              <a:buNone/>
              <a:tabLst/>
              <a:defRPr/>
            </a:pPr>
            <a:endParaRPr lang="en-US" alt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45</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alt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46</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t>Ask students to describe some of the relationships between the four main actors. For example, business firms look to acquire the components of their information systems from suppliers of hardware and software. The firm</a:t>
            </a:r>
            <a:r>
              <a:rPr lang="ja-JP" altLang="en-US" dirty="0"/>
              <a:t>’</a:t>
            </a:r>
            <a:r>
              <a:rPr lang="en-US" altLang="ja-JP" dirty="0"/>
              <a:t>s environment may dictate the type of software a company uses as well as the kind of employees that work there.</a:t>
            </a:r>
            <a:endParaRPr lang="en-US" alt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47</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t>The critical aspect of this view is the balance between technological and social/behavioral concerns. Sometimes a lesser form of technology may be the best option because it is more suited to the personal needs of the individual, for example.</a:t>
            </a:r>
          </a:p>
        </p:txBody>
      </p:sp>
      <p:sp>
        <p:nvSpPr>
          <p:cNvPr id="4" name="Slide Number Placeholder 3"/>
          <p:cNvSpPr>
            <a:spLocks noGrp="1"/>
          </p:cNvSpPr>
          <p:nvPr>
            <p:ph type="sldNum" sz="quarter" idx="10"/>
          </p:nvPr>
        </p:nvSpPr>
        <p:spPr/>
        <p:txBody>
          <a:bodyPr/>
          <a:lstStyle/>
          <a:p>
            <a:fld id="{A73D6722-9B4D-4E29-B226-C325925A8118}" type="slidenum">
              <a:rPr lang="en-US" smtClean="0"/>
              <a:pPr/>
              <a:t>48</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altLang="en-US" dirty="0"/>
              <a:t>Figure 1.10, page 28.</a:t>
            </a:r>
          </a:p>
          <a:p>
            <a:r>
              <a:rPr lang="en-US" sz="1200" b="0" i="1" u="none" strike="noStrike" kern="1200" cap="none" baseline="0" dirty="0">
                <a:solidFill>
                  <a:schemeClr val="tx1"/>
                </a:solidFill>
                <a:latin typeface="+mn-lt"/>
                <a:ea typeface="Arial"/>
                <a:cs typeface="Arial"/>
                <a:sym typeface="Arial"/>
              </a:rPr>
              <a:t>In a sociotechnical perspective, the performance of a system is optimized when both the technology and the organization mutually adjust to one another until a satisfactory fit is obtained.</a:t>
            </a:r>
          </a:p>
          <a:p>
            <a:endParaRPr lang="en-US" altLang="en-US" sz="1200" b="0" i="0" u="none" strike="noStrike" kern="1200" cap="none" baseline="0" dirty="0">
              <a:solidFill>
                <a:schemeClr val="tx1"/>
              </a:solidFill>
              <a:latin typeface="+mn-lt"/>
              <a:ea typeface="Arial"/>
              <a:cs typeface="Arial"/>
              <a:sym typeface="Arial"/>
            </a:endParaRPr>
          </a:p>
          <a:p>
            <a:r>
              <a:rPr lang="en-US" altLang="en-US" dirty="0"/>
              <a:t>This graphic illustrates the interplay between technology and the organization. The two continue to grow closer together until an approach satisfying both perspectives is reached. Ensure that students understand that the two sides do not always need to form an equal compromise. Sometimes highly advanced technology may be more acceptable than at other times. As they will see with packaged software solutions and enterprise systems, firms are often required to change greatly in order to make the software applications work.  </a:t>
            </a:r>
          </a:p>
          <a:p>
            <a:endParaRPr lang="en-US" altLang="en-US" dirty="0"/>
          </a:p>
          <a:p>
            <a:r>
              <a:rPr lang="en-US" altLang="en-US" u="sng" dirty="0"/>
              <a:t>Alt Text</a:t>
            </a:r>
          </a:p>
          <a:p>
            <a:r>
              <a:rPr lang="en-US" altLang="en-US" dirty="0"/>
              <a:t>Long description</a:t>
            </a:r>
            <a:r>
              <a:rPr lang="en-US" altLang="en-US" sz="1200" dirty="0">
                <a:latin typeface="+mn-lt"/>
              </a:rPr>
              <a:t>: </a:t>
            </a:r>
            <a:r>
              <a:rPr lang="en-US" sz="1200" dirty="0">
                <a:solidFill>
                  <a:srgbClr val="000000"/>
                </a:solidFill>
                <a:latin typeface="+mn-lt"/>
              </a:rPr>
              <a:t>A figure illustrates the sociotechnical perspective on information systems. The figure shows a set of 3 alternatives each for technology and organization represented parallel to each other. The alternatives correspond to each other and as a result a final design of technology and final design of organization are obtained.</a:t>
            </a:r>
            <a:endParaRPr lang="en-US" sz="1200" dirty="0">
              <a:solidFill>
                <a:prstClr val="black"/>
              </a:solidFill>
              <a:latin typeface="+mn-lt"/>
            </a:endParaRPr>
          </a:p>
          <a:p>
            <a:endParaRPr lang="en-US" alt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49</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A good opportunity for a class discussion on how MIS will help students with their current or future careers. Would any in the class be interested in a job like this? What do they think are the most important skills the employer is looking for? How would they answer the interviewer questions?</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alt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50</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Shape 381"/>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382" name="Shape 382"/>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a:spcBef>
                <a:spcPts val="0"/>
              </a:spcBef>
              <a:buNone/>
            </a:pPr>
            <a:endParaRPr dirty="0"/>
          </a:p>
        </p:txBody>
      </p:sp>
      <p:sp>
        <p:nvSpPr>
          <p:cNvPr id="383" name="Shape 383"/>
          <p:cNvSpPr txBox="1">
            <a:spLocks noGrp="1"/>
          </p:cNvSpPr>
          <p:nvPr>
            <p:ph type="sldNum" idx="12"/>
          </p:nvPr>
        </p:nvSpPr>
        <p:spPr>
          <a:xfrm>
            <a:off x="3884612" y="8685213"/>
            <a:ext cx="2971800" cy="457200"/>
          </a:xfrm>
          <a:prstGeom prst="rect">
            <a:avLst/>
          </a:prstGeom>
        </p:spPr>
        <p:txBody>
          <a:bodyPr lIns="91425" tIns="45700" rIns="91425" bIns="45700" anchor="b" anchorCtr="0">
            <a:noAutofit/>
          </a:bodyPr>
          <a:lstStyle/>
          <a:p>
            <a:pPr lvl="0">
              <a:spcBef>
                <a:spcPts val="0"/>
              </a:spcBef>
              <a:buClr>
                <a:srgbClr val="000000"/>
              </a:buClr>
              <a:buSzPct val="25000"/>
              <a:buFont typeface="Arial"/>
              <a:buNone/>
            </a:pPr>
            <a:fld id="{00000000-1234-1234-1234-123412341234}" type="slidenum">
              <a:rPr lang="en-US"/>
              <a:t>51</a:t>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bwMode="white">
          <a:xfrm>
            <a:off x="0" y="0"/>
            <a:ext cx="9144000" cy="2914650"/>
          </a:xfrm>
          <a:prstGeom prst="rect">
            <a:avLst/>
          </a:prstGeom>
          <a:solidFill>
            <a:srgbClr val="007FA3"/>
          </a:solidFill>
          <a:ln>
            <a:solidFill>
              <a:srgbClr val="007F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2" name="Title 1"/>
          <p:cNvSpPr>
            <a:spLocks noGrp="1"/>
          </p:cNvSpPr>
          <p:nvPr>
            <p:ph type="ctrTitle"/>
          </p:nvPr>
        </p:nvSpPr>
        <p:spPr>
          <a:xfrm>
            <a:off x="685800" y="571502"/>
            <a:ext cx="7772400" cy="2128838"/>
          </a:xfrm>
        </p:spPr>
        <p:txBody>
          <a:bodyPr anchor="b">
            <a:noAutofit/>
          </a:bodyPr>
          <a:lstStyle>
            <a:lvl1pPr algn="l">
              <a:defRPr sz="3600">
                <a:solidFill>
                  <a:schemeClr val="bg1"/>
                </a:solidFill>
              </a:defRPr>
            </a:lvl1pPr>
          </a:lstStyle>
          <a:p>
            <a:r>
              <a:rPr lang="en-US" dirty="0"/>
              <a:t>Click to edit Master title style</a:t>
            </a:r>
          </a:p>
        </p:txBody>
      </p:sp>
      <p:sp>
        <p:nvSpPr>
          <p:cNvPr id="3" name="Subtitle 2"/>
          <p:cNvSpPr>
            <a:spLocks noGrp="1"/>
          </p:cNvSpPr>
          <p:nvPr>
            <p:ph type="subTitle" idx="1"/>
          </p:nvPr>
        </p:nvSpPr>
        <p:spPr>
          <a:xfrm>
            <a:off x="674688" y="2971800"/>
            <a:ext cx="7794626" cy="1314450"/>
          </a:xfrm>
        </p:spPr>
        <p:txBody>
          <a:bodyPr>
            <a:noAutofit/>
          </a:bodyPr>
          <a:lstStyle>
            <a:lvl1pPr marL="0" indent="0" algn="l">
              <a:spcBef>
                <a:spcPts val="0"/>
              </a:spcBef>
              <a:buNone/>
              <a:defRPr sz="1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12" name="Footer Placeholder 4"/>
          <p:cNvSpPr>
            <a:spLocks noGrp="1"/>
          </p:cNvSpPr>
          <p:nvPr>
            <p:ph type="ftr" sz="quarter" idx="11"/>
          </p:nvPr>
        </p:nvSpPr>
        <p:spPr>
          <a:xfrm>
            <a:off x="93969" y="4629152"/>
            <a:ext cx="8595360" cy="176597"/>
          </a:xfrm>
        </p:spPr>
        <p:txBody>
          <a:bodyPr/>
          <a:lstStyle/>
          <a:p>
            <a:r>
              <a:rPr lang="en-US"/>
              <a:t>Copyright © 2022, 2020, 2018 Pearson Education, Ltd. All Rights Reserved </a:t>
            </a:r>
            <a:endParaRPr lang="en-US" dirty="0"/>
          </a:p>
        </p:txBody>
      </p:sp>
      <p:sp>
        <p:nvSpPr>
          <p:cNvPr id="4" name="Date Placeholder 3"/>
          <p:cNvSpPr>
            <a:spLocks noGrp="1"/>
          </p:cNvSpPr>
          <p:nvPr>
            <p:ph type="dt" sz="half" idx="10"/>
          </p:nvPr>
        </p:nvSpPr>
        <p:spPr/>
        <p:txBody>
          <a:bodyPr/>
          <a:lstStyle/>
          <a:p>
            <a:fld id="{E35519E6-A60B-4C2B-9A01-43E33A93D3E4}" type="datetime1">
              <a:rPr lang="en-US" smtClean="0"/>
              <a:t>12/16/2021</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
        <p:nvSpPr>
          <p:cNvPr id="11" name="TextBox 10"/>
          <p:cNvSpPr txBox="1"/>
          <p:nvPr userDrawn="1"/>
        </p:nvSpPr>
        <p:spPr>
          <a:xfrm>
            <a:off x="2743200" y="4800602"/>
            <a:ext cx="6096000" cy="276999"/>
          </a:xfrm>
          <a:prstGeom prst="rect">
            <a:avLst/>
          </a:prstGeom>
          <a:noFill/>
        </p:spPr>
        <p:txBody>
          <a:bodyPr wrap="square"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1200" b="0" dirty="0">
                <a:latin typeface="Verdana" panose="020B0604030504040204" pitchFamily="34" charset="0"/>
                <a:ea typeface="Verdana" panose="020B0604030504040204" pitchFamily="34" charset="0"/>
                <a:cs typeface="Verdana" panose="020B0604030504040204" pitchFamily="34" charset="0"/>
              </a:rPr>
              <a:t>Copyright © </a:t>
            </a:r>
            <a:r>
              <a:rPr lang="en-US" sz="1200" dirty="0">
                <a:latin typeface="Verdana" panose="020B0604030504040204" pitchFamily="34" charset="0"/>
                <a:ea typeface="Verdana" panose="020B0604030504040204" pitchFamily="34" charset="0"/>
                <a:cs typeface="Verdana" panose="020B0604030504040204" pitchFamily="34" charset="0"/>
              </a:rPr>
              <a:t>2022, 2020, 2018</a:t>
            </a:r>
            <a:r>
              <a:rPr lang="en-US" altLang="en-US" sz="1200" b="0" dirty="0">
                <a:latin typeface="Verdana" panose="020B0604030504040204" pitchFamily="34" charset="0"/>
                <a:ea typeface="Verdana" panose="020B0604030504040204" pitchFamily="34" charset="0"/>
                <a:cs typeface="Verdana" panose="020B0604030504040204" pitchFamily="34" charset="0"/>
              </a:rPr>
              <a:t> Pearson Education, Inc. All Rights Reserved.</a:t>
            </a:r>
          </a:p>
        </p:txBody>
      </p:sp>
      <p:pic>
        <p:nvPicPr>
          <p:cNvPr id="13" name="Picture 12"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4825798"/>
            <a:ext cx="918000" cy="209936"/>
          </a:xfrm>
          <a:prstGeom prst="rect">
            <a:avLst/>
          </a:prstGeom>
        </p:spPr>
      </p:pic>
    </p:spTree>
    <p:extLst>
      <p:ext uri="{BB962C8B-B14F-4D97-AF65-F5344CB8AC3E}">
        <p14:creationId xmlns:p14="http://schemas.microsoft.com/office/powerpoint/2010/main" val="8879806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hapter Opener">
    <p:spTree>
      <p:nvGrpSpPr>
        <p:cNvPr id="1" name=""/>
        <p:cNvGrpSpPr/>
        <p:nvPr/>
      </p:nvGrpSpPr>
      <p:grpSpPr>
        <a:xfrm>
          <a:off x="0" y="0"/>
          <a:ext cx="0" cy="0"/>
          <a:chOff x="0" y="0"/>
          <a:chExt cx="0" cy="0"/>
        </a:xfrm>
      </p:grpSpPr>
      <p:sp>
        <p:nvSpPr>
          <p:cNvPr id="11" name="Title 10"/>
          <p:cNvSpPr>
            <a:spLocks noGrp="1"/>
          </p:cNvSpPr>
          <p:nvPr>
            <p:ph type="title"/>
          </p:nvPr>
        </p:nvSpPr>
        <p:spPr>
          <a:xfrm>
            <a:off x="457200" y="161529"/>
            <a:ext cx="8229600" cy="467121"/>
          </a:xfrm>
        </p:spPr>
        <p:txBody>
          <a:bodyPr anchor="t"/>
          <a:lstStyle/>
          <a:p>
            <a:r>
              <a:rPr lang="en-US" dirty="0"/>
              <a:t>Click to edit Master title style</a:t>
            </a:r>
          </a:p>
        </p:txBody>
      </p:sp>
      <p:sp>
        <p:nvSpPr>
          <p:cNvPr id="7" name="Text Placeholder 6"/>
          <p:cNvSpPr>
            <a:spLocks noGrp="1"/>
          </p:cNvSpPr>
          <p:nvPr>
            <p:ph type="body" sz="quarter" idx="13" hasCustomPrompt="1"/>
          </p:nvPr>
        </p:nvSpPr>
        <p:spPr>
          <a:xfrm>
            <a:off x="457200" y="612322"/>
            <a:ext cx="8229600" cy="359228"/>
          </a:xfrm>
        </p:spPr>
        <p:txBody>
          <a:bodyPr>
            <a:noAutofit/>
          </a:bodyPr>
          <a:lstStyle>
            <a:lvl1pPr marL="0" indent="0">
              <a:spcBef>
                <a:spcPts val="0"/>
              </a:spcBef>
              <a:buNone/>
              <a:defRPr sz="20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Add edition here</a:t>
            </a:r>
          </a:p>
        </p:txBody>
      </p:sp>
      <p:sp>
        <p:nvSpPr>
          <p:cNvPr id="9" name="Text Placeholder 8"/>
          <p:cNvSpPr>
            <a:spLocks noGrp="1"/>
          </p:cNvSpPr>
          <p:nvPr>
            <p:ph type="body" sz="quarter" idx="14" hasCustomPrompt="1"/>
          </p:nvPr>
        </p:nvSpPr>
        <p:spPr>
          <a:xfrm>
            <a:off x="5029200" y="1200153"/>
            <a:ext cx="3657600" cy="1200149"/>
          </a:xfrm>
        </p:spPr>
        <p:txBody>
          <a:bodyPr anchor="b">
            <a:noAutofit/>
          </a:bodyPr>
          <a:lstStyle>
            <a:lvl1pPr marL="0" indent="0">
              <a:spcBef>
                <a:spcPts val="0"/>
              </a:spcBef>
              <a:buNone/>
              <a:defRPr sz="3000" baseline="0"/>
            </a:lvl1pPr>
            <a:lvl2pPr marL="0" indent="0">
              <a:spcBef>
                <a:spcPts val="0"/>
              </a:spcBef>
              <a:buNone/>
              <a:defRPr sz="4400"/>
            </a:lvl2pPr>
            <a:lvl3pPr marL="0" indent="0">
              <a:spcBef>
                <a:spcPts val="0"/>
              </a:spcBef>
              <a:buNone/>
              <a:defRPr sz="4400"/>
            </a:lvl3pPr>
            <a:lvl4pPr marL="0" indent="0">
              <a:spcBef>
                <a:spcPts val="0"/>
              </a:spcBef>
              <a:buNone/>
              <a:defRPr sz="4400"/>
            </a:lvl4pPr>
            <a:lvl5pPr marL="0" indent="0">
              <a:spcBef>
                <a:spcPts val="0"/>
              </a:spcBef>
              <a:buNone/>
              <a:defRPr sz="4400"/>
            </a:lvl5pPr>
            <a:lvl6pPr marL="0" indent="0">
              <a:spcBef>
                <a:spcPts val="0"/>
              </a:spcBef>
              <a:buNone/>
              <a:defRPr sz="4400"/>
            </a:lvl6pPr>
            <a:lvl7pPr marL="0" indent="0">
              <a:spcBef>
                <a:spcPts val="0"/>
              </a:spcBef>
              <a:buNone/>
              <a:defRPr sz="4400"/>
            </a:lvl7pPr>
            <a:lvl8pPr marL="0" indent="0">
              <a:spcBef>
                <a:spcPts val="0"/>
              </a:spcBef>
              <a:buNone/>
              <a:defRPr sz="4400"/>
            </a:lvl8pPr>
            <a:lvl9pPr marL="0" indent="0">
              <a:spcBef>
                <a:spcPts val="0"/>
              </a:spcBef>
              <a:buNone/>
              <a:defRPr sz="4400"/>
            </a:lvl9pPr>
          </a:lstStyle>
          <a:p>
            <a:pPr lvl="0"/>
            <a:r>
              <a:rPr lang="en-US" dirty="0"/>
              <a:t>Chapter ##</a:t>
            </a:r>
          </a:p>
        </p:txBody>
      </p:sp>
      <p:sp>
        <p:nvSpPr>
          <p:cNvPr id="10" name="Text Placeholder 8"/>
          <p:cNvSpPr>
            <a:spLocks noGrp="1"/>
          </p:cNvSpPr>
          <p:nvPr>
            <p:ph type="body" sz="quarter" idx="15" hasCustomPrompt="1"/>
          </p:nvPr>
        </p:nvSpPr>
        <p:spPr>
          <a:xfrm>
            <a:off x="5029200" y="2400302"/>
            <a:ext cx="3657600" cy="2194322"/>
          </a:xfrm>
        </p:spPr>
        <p:txBody>
          <a:bodyPr>
            <a:noAutofit/>
          </a:bodyPr>
          <a:lstStyle>
            <a:lvl1pPr marL="0" indent="0">
              <a:spcBef>
                <a:spcPts val="0"/>
              </a:spcBef>
              <a:buNone/>
              <a:defRPr sz="2200"/>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rPr lang="en-US" dirty="0"/>
              <a:t>Chapter title</a:t>
            </a:r>
          </a:p>
        </p:txBody>
      </p:sp>
      <p:pic>
        <p:nvPicPr>
          <p:cNvPr id="15" name="Picture 14"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3600" y="4825798"/>
            <a:ext cx="918000" cy="209936"/>
          </a:xfrm>
          <a:prstGeom prst="rect">
            <a:avLst/>
          </a:prstGeom>
        </p:spPr>
      </p:pic>
      <p:sp>
        <p:nvSpPr>
          <p:cNvPr id="8" name="Text Placeholder 22"/>
          <p:cNvSpPr>
            <a:spLocks noGrp="1"/>
          </p:cNvSpPr>
          <p:nvPr>
            <p:ph type="body" sz="quarter" idx="16" hasCustomPrompt="1"/>
          </p:nvPr>
        </p:nvSpPr>
        <p:spPr>
          <a:xfrm>
            <a:off x="2834640" y="4800600"/>
            <a:ext cx="5928360" cy="205740"/>
          </a:xfrm>
        </p:spPr>
        <p:txBody>
          <a:bodyPr anchor="ctr"/>
          <a:lstStyle>
            <a:lvl1pPr marL="0" indent="0">
              <a:spcBef>
                <a:spcPts val="0"/>
              </a:spcBef>
              <a:buFontTx/>
              <a:buNone/>
              <a:defRPr sz="1200">
                <a:latin typeface="Verdana" pitchFamily="34" charset="0"/>
                <a:ea typeface="Verdana" pitchFamily="34" charset="0"/>
                <a:cs typeface="Verdana" pitchFamily="34" charset="0"/>
              </a:defRPr>
            </a:lvl1pPr>
          </a:lstStyle>
          <a:p>
            <a:pPr lvl="0"/>
            <a:r>
              <a:rPr lang="en-US" dirty="0"/>
              <a:t>Copyright</a:t>
            </a:r>
          </a:p>
        </p:txBody>
      </p:sp>
    </p:spTree>
    <p:extLst>
      <p:ext uri="{BB962C8B-B14F-4D97-AF65-F5344CB8AC3E}">
        <p14:creationId xmlns:p14="http://schemas.microsoft.com/office/powerpoint/2010/main" val="29810628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Footer Placeholder 2"/>
          <p:cNvSpPr>
            <a:spLocks noGrp="1"/>
          </p:cNvSpPr>
          <p:nvPr>
            <p:ph type="ftr" sz="quarter" idx="10"/>
          </p:nvPr>
        </p:nvSpPr>
        <p:spPr/>
        <p:txBody>
          <a:bodyPr/>
          <a:lstStyle/>
          <a:p>
            <a:r>
              <a:rPr lang="en-US"/>
              <a:t>Copyright © 2022, 2020, 2018 Pearson Education, Ltd. All Rights Reserved </a:t>
            </a:r>
            <a:endParaRPr lang="en-US" dirty="0"/>
          </a:p>
        </p:txBody>
      </p:sp>
      <p:sp>
        <p:nvSpPr>
          <p:cNvPr id="4" name="Date Placeholder 3"/>
          <p:cNvSpPr>
            <a:spLocks noGrp="1"/>
          </p:cNvSpPr>
          <p:nvPr>
            <p:ph type="dt" sz="half" idx="11"/>
          </p:nvPr>
        </p:nvSpPr>
        <p:spPr/>
        <p:txBody>
          <a:bodyPr/>
          <a:lstStyle/>
          <a:p>
            <a:fld id="{FB2293C8-2A75-48BE-83A6-DA3C8CE14DAD}" type="datetime1">
              <a:rPr lang="en-US" smtClean="0"/>
              <a:t>12/16/2021</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 Learning Objectives and Content">
    <p:spTree>
      <p:nvGrpSpPr>
        <p:cNvPr id="1" name=""/>
        <p:cNvGrpSpPr/>
        <p:nvPr/>
      </p:nvGrpSpPr>
      <p:grpSpPr>
        <a:xfrm>
          <a:off x="0" y="0"/>
          <a:ext cx="0" cy="0"/>
          <a:chOff x="0" y="0"/>
          <a:chExt cx="0" cy="0"/>
        </a:xfrm>
      </p:grpSpPr>
      <p:sp>
        <p:nvSpPr>
          <p:cNvPr id="8" name="Title 7"/>
          <p:cNvSpPr>
            <a:spLocks noGrp="1"/>
          </p:cNvSpPr>
          <p:nvPr>
            <p:ph type="title"/>
          </p:nvPr>
        </p:nvSpPr>
        <p:spPr>
          <a:xfrm>
            <a:off x="457200" y="161529"/>
            <a:ext cx="8229600" cy="467121"/>
          </a:xfrm>
        </p:spPr>
        <p:txBody>
          <a:bodyPr anchor="t"/>
          <a:lstStyle/>
          <a:p>
            <a:r>
              <a:rPr lang="en-US" dirty="0"/>
              <a:t>Click to edit Master title style</a:t>
            </a:r>
          </a:p>
        </p:txBody>
      </p:sp>
      <p:sp>
        <p:nvSpPr>
          <p:cNvPr id="7" name="Learning Objectives Placeholder 6"/>
          <p:cNvSpPr>
            <a:spLocks noGrp="1"/>
          </p:cNvSpPr>
          <p:nvPr>
            <p:ph type="body" sz="quarter" idx="13" hasCustomPrompt="1"/>
          </p:nvPr>
        </p:nvSpPr>
        <p:spPr>
          <a:xfrm>
            <a:off x="457200" y="612322"/>
            <a:ext cx="8229600" cy="302078"/>
          </a:xfrm>
        </p:spPr>
        <p:txBody>
          <a:bodyPr>
            <a:noAutofit/>
          </a:bodyPr>
          <a:lstStyle>
            <a:lvl1pPr marL="0" indent="0">
              <a:spcBef>
                <a:spcPts val="0"/>
              </a:spcBef>
              <a:buNone/>
              <a:defRPr sz="16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Click to add Learning Objective(s)</a:t>
            </a:r>
          </a:p>
        </p:txBody>
      </p:sp>
      <p:sp>
        <p:nvSpPr>
          <p:cNvPr id="9" name="Content Placeholder 8"/>
          <p:cNvSpPr>
            <a:spLocks noGrp="1"/>
          </p:cNvSpPr>
          <p:nvPr>
            <p:ph sz="quarter" idx="14"/>
          </p:nvPr>
        </p:nvSpPr>
        <p:spPr>
          <a:xfrm>
            <a:off x="457200" y="1200152"/>
            <a:ext cx="8229600" cy="3394472"/>
          </a:xfrm>
        </p:spPr>
        <p:txBody>
          <a:bodyPr/>
          <a:lstStyle>
            <a:lvl5pPr>
              <a:defRPr/>
            </a:lvl5pPr>
            <a:lvl6pP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2" name="Footer Placeholder 2"/>
          <p:cNvSpPr>
            <a:spLocks noGrp="1"/>
          </p:cNvSpPr>
          <p:nvPr>
            <p:ph type="ftr" sz="quarter" idx="10"/>
          </p:nvPr>
        </p:nvSpPr>
        <p:spPr>
          <a:xfrm>
            <a:off x="93969" y="4629152"/>
            <a:ext cx="8595360" cy="176597"/>
          </a:xfrm>
        </p:spPr>
        <p:txBody>
          <a:bodyPr/>
          <a:lstStyle/>
          <a:p>
            <a:r>
              <a:rPr lang="en-US"/>
              <a:t>Copyright © 2022, 2020, 2018 Pearson Education, Ltd. All Rights Reserved </a:t>
            </a:r>
            <a:endParaRPr lang="en-US" dirty="0"/>
          </a:p>
        </p:txBody>
      </p:sp>
      <p:sp>
        <p:nvSpPr>
          <p:cNvPr id="4" name="Date Placeholder 3"/>
          <p:cNvSpPr>
            <a:spLocks noGrp="1"/>
          </p:cNvSpPr>
          <p:nvPr>
            <p:ph type="dt" sz="half" idx="11"/>
          </p:nvPr>
        </p:nvSpPr>
        <p:spPr/>
        <p:txBody>
          <a:bodyPr/>
          <a:lstStyle/>
          <a:p>
            <a:fld id="{360479E3-4F1B-448A-A932-DF65983FE1A9}" type="datetime1">
              <a:rPr lang="en-US" smtClean="0"/>
              <a:t>12/16/2021</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1524630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and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lvl1pPr>
              <a:buClr>
                <a:srgbClr val="007FA3"/>
              </a:buClr>
              <a:buSzPct val="100000"/>
              <a:defRPr/>
            </a:lvl1pPr>
            <a:lvl2pPr>
              <a:buClr>
                <a:srgbClr val="007FA3"/>
              </a:buClr>
              <a:defRPr/>
            </a:lvl2pPr>
            <a:lvl3pPr>
              <a:buClr>
                <a:srgbClr val="007FA3"/>
              </a:buClr>
              <a:defRPr/>
            </a:lvl3pPr>
            <a:lvl4pPr>
              <a:buClr>
                <a:srgbClr val="007FA3"/>
              </a:buClr>
              <a:defRPr/>
            </a:lvl4pPr>
            <a:lvl5pPr>
              <a:buClr>
                <a:srgbClr val="007FA3"/>
              </a:buClr>
              <a:defRPr/>
            </a:lvl5pPr>
            <a:lvl6pPr>
              <a:buClr>
                <a:srgbClr val="007FA3"/>
              </a:buClr>
              <a:defRPr/>
            </a:lvl6pPr>
            <a:lvl7pPr>
              <a:buClr>
                <a:srgbClr val="007FA3"/>
              </a:buClr>
              <a:defRPr/>
            </a:lvl7pPr>
            <a:lvl8pPr>
              <a:buClr>
                <a:srgbClr val="007FA3"/>
              </a:buClr>
              <a:defRPr/>
            </a:lvl8pPr>
            <a:lvl9pPr>
              <a:buClr>
                <a:srgbClr val="007FA3"/>
              </a:buCl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6" name="Footer Placeholder 4"/>
          <p:cNvSpPr>
            <a:spLocks noGrp="1"/>
          </p:cNvSpPr>
          <p:nvPr>
            <p:ph type="ftr" sz="quarter" idx="11"/>
          </p:nvPr>
        </p:nvSpPr>
        <p:spPr>
          <a:xfrm>
            <a:off x="93969" y="4629152"/>
            <a:ext cx="8595360" cy="429544"/>
          </a:xfrm>
        </p:spPr>
        <p:txBody>
          <a:bodyPr/>
          <a:lstStyle/>
          <a:p>
            <a:r>
              <a:rPr lang="en-US"/>
              <a:t>Copyright © 2022, 2020, 2018 Pearson Education, Ltd. All Rights Reserved </a:t>
            </a:r>
            <a:endParaRPr lang="en-US" dirty="0"/>
          </a:p>
        </p:txBody>
      </p:sp>
      <p:sp>
        <p:nvSpPr>
          <p:cNvPr id="9" name="Date Placeholder 3"/>
          <p:cNvSpPr>
            <a:spLocks noGrp="1"/>
          </p:cNvSpPr>
          <p:nvPr>
            <p:ph type="dt" sz="half" idx="10"/>
          </p:nvPr>
        </p:nvSpPr>
        <p:spPr>
          <a:xfrm>
            <a:off x="6335713" y="84804"/>
            <a:ext cx="2133600" cy="137160"/>
          </a:xfrm>
        </p:spPr>
        <p:txBody>
          <a:bodyPr/>
          <a:lstStyle/>
          <a:p>
            <a:fld id="{B2A426C7-69E9-4139-BD0A-884F9ADBFA77}" type="datetime1">
              <a:rPr lang="en-US" smtClean="0"/>
              <a:t>12/16/2021</a:t>
            </a:fld>
            <a:endParaRPr lang="en-US" dirty="0"/>
          </a:p>
        </p:txBody>
      </p:sp>
      <p:sp>
        <p:nvSpPr>
          <p:cNvPr id="10" name="Slide Number Placeholder 5"/>
          <p:cNvSpPr>
            <a:spLocks noGrp="1"/>
          </p:cNvSpPr>
          <p:nvPr>
            <p:ph type="sldNum" sz="quarter" idx="12"/>
          </p:nvPr>
        </p:nvSpPr>
        <p:spPr>
          <a:xfrm>
            <a:off x="8469314" y="84804"/>
            <a:ext cx="551783" cy="137160"/>
          </a:xfrm>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2109093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Learning Objective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1pPr marL="256032" indent="-256032">
              <a:buClr>
                <a:srgbClr val="007FA3"/>
              </a:buClr>
              <a:buSzPct val="100000"/>
              <a:defRPr sz="2400"/>
            </a:lvl1pPr>
            <a:lvl2pPr marL="740664" indent="-283464">
              <a:buClr>
                <a:srgbClr val="007FA3"/>
              </a:buClr>
              <a:defRPr sz="2200"/>
            </a:lvl2pPr>
            <a:lvl3pPr>
              <a:buClr>
                <a:srgbClr val="007FA3"/>
              </a:buClr>
              <a:defRPr sz="2000"/>
            </a:lvl3pPr>
            <a:lvl4pPr>
              <a:buClr>
                <a:srgbClr val="007FA3"/>
              </a:buClr>
              <a:defRPr sz="1800"/>
            </a:lvl4pPr>
            <a:lvl5pPr>
              <a:buClr>
                <a:srgbClr val="007FA3"/>
              </a:buClr>
              <a:defRPr sz="1600"/>
            </a:lvl5pPr>
            <a:lvl6pPr>
              <a:buClr>
                <a:srgbClr val="007FA3"/>
              </a:buClr>
              <a:defRPr sz="1600"/>
            </a:lvl6pPr>
            <a:lvl7pPr>
              <a:buClr>
                <a:srgbClr val="007FA3"/>
              </a:buClr>
              <a:defRPr sz="1600"/>
            </a:lvl7pPr>
            <a:lvl8pPr>
              <a:buClr>
                <a:srgbClr val="007FA3"/>
              </a:buClr>
              <a:defRPr sz="1600"/>
            </a:lvl8pPr>
            <a:lvl9pPr>
              <a:buClr>
                <a:srgbClr val="007FA3"/>
              </a:buCl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0" name="Footer Placeholder 4"/>
          <p:cNvSpPr>
            <a:spLocks noGrp="1"/>
          </p:cNvSpPr>
          <p:nvPr>
            <p:ph type="ftr" sz="quarter" idx="11"/>
          </p:nvPr>
        </p:nvSpPr>
        <p:spPr>
          <a:xfrm>
            <a:off x="93969" y="4629152"/>
            <a:ext cx="8595360" cy="429544"/>
          </a:xfrm>
        </p:spPr>
        <p:txBody>
          <a:bodyPr/>
          <a:lstStyle/>
          <a:p>
            <a:r>
              <a:rPr lang="en-US"/>
              <a:t>Copyright © 2022, 2020, 2018 Pearson Education, Ltd. All Rights Reserved </a:t>
            </a:r>
            <a:endParaRPr lang="en-US" dirty="0"/>
          </a:p>
        </p:txBody>
      </p:sp>
      <p:sp>
        <p:nvSpPr>
          <p:cNvPr id="4" name="Date Placeholder 3"/>
          <p:cNvSpPr>
            <a:spLocks noGrp="1"/>
          </p:cNvSpPr>
          <p:nvPr>
            <p:ph type="dt" sz="half" idx="10"/>
          </p:nvPr>
        </p:nvSpPr>
        <p:spPr/>
        <p:txBody>
          <a:bodyPr/>
          <a:lstStyle/>
          <a:p>
            <a:fld id="{7ABBA022-652B-42C5-9EB5-A53BFF2B8F61}" type="datetime1">
              <a:rPr lang="en-US" smtClean="0"/>
              <a:t>12/16/2021</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2752008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Figure + Caption">
    <p:spTree>
      <p:nvGrpSpPr>
        <p:cNvPr id="1" name=""/>
        <p:cNvGrpSpPr/>
        <p:nvPr/>
      </p:nvGrpSpPr>
      <p:grpSpPr>
        <a:xfrm>
          <a:off x="0" y="0"/>
          <a:ext cx="0" cy="0"/>
          <a:chOff x="0" y="0"/>
          <a:chExt cx="0" cy="0"/>
        </a:xfrm>
      </p:grpSpPr>
      <p:sp>
        <p:nvSpPr>
          <p:cNvPr id="8" name="Title 7"/>
          <p:cNvSpPr>
            <a:spLocks noGrp="1"/>
          </p:cNvSpPr>
          <p:nvPr>
            <p:ph type="title" hasCustomPrompt="1"/>
          </p:nvPr>
        </p:nvSpPr>
        <p:spPr>
          <a:xfrm>
            <a:off x="457200" y="171450"/>
            <a:ext cx="8229600" cy="800100"/>
          </a:xfrm>
        </p:spPr>
        <p:txBody>
          <a:bodyPr anchor="t"/>
          <a:lstStyle>
            <a:lvl1pPr>
              <a:defRPr sz="3600">
                <a:solidFill>
                  <a:srgbClr val="007FA3"/>
                </a:solidFill>
              </a:defRPr>
            </a:lvl1pPr>
          </a:lstStyle>
          <a:p>
            <a:r>
              <a:rPr lang="en-US" dirty="0"/>
              <a:t>Click to add figure number and title</a:t>
            </a:r>
          </a:p>
        </p:txBody>
      </p:sp>
      <p:sp>
        <p:nvSpPr>
          <p:cNvPr id="10" name="Text Placeholder 9"/>
          <p:cNvSpPr>
            <a:spLocks noGrp="1"/>
          </p:cNvSpPr>
          <p:nvPr>
            <p:ph type="body" sz="quarter" idx="13" hasCustomPrompt="1"/>
          </p:nvPr>
        </p:nvSpPr>
        <p:spPr>
          <a:xfrm>
            <a:off x="457200" y="4026120"/>
            <a:ext cx="8229600" cy="687642"/>
          </a:xfrm>
        </p:spPr>
        <p:txBody>
          <a:bodyPr anchor="b"/>
          <a:lstStyle>
            <a:lvl1pPr marL="0" indent="0">
              <a:spcBef>
                <a:spcPts val="0"/>
              </a:spcBef>
              <a:buNone/>
              <a:defRPr sz="800"/>
            </a:lvl1pPr>
            <a:lvl2pPr marL="0" indent="0">
              <a:spcBef>
                <a:spcPts val="0"/>
              </a:spcBef>
              <a:buNone/>
              <a:defRPr sz="1600"/>
            </a:lvl2pPr>
            <a:lvl3pPr marL="0" indent="0">
              <a:spcBef>
                <a:spcPts val="0"/>
              </a:spcBef>
              <a:buNone/>
              <a:defRPr sz="1600"/>
            </a:lvl3pPr>
            <a:lvl4pPr marL="0" indent="0">
              <a:spcBef>
                <a:spcPts val="0"/>
              </a:spcBef>
              <a:buNone/>
              <a:defRPr sz="1600"/>
            </a:lvl4pPr>
            <a:lvl5pPr marL="0" indent="0">
              <a:spcBef>
                <a:spcPts val="0"/>
              </a:spcBef>
              <a:buNone/>
              <a:defRPr sz="1600"/>
            </a:lvl5pPr>
            <a:lvl6pPr marL="0" indent="0">
              <a:spcBef>
                <a:spcPts val="0"/>
              </a:spcBef>
              <a:buNone/>
              <a:defRPr sz="1600"/>
            </a:lvl6pPr>
            <a:lvl7pPr marL="0" indent="0">
              <a:spcBef>
                <a:spcPts val="0"/>
              </a:spcBef>
              <a:buNone/>
              <a:defRPr sz="1600"/>
            </a:lvl7pPr>
            <a:lvl8pPr marL="0" indent="0">
              <a:spcBef>
                <a:spcPts val="0"/>
              </a:spcBef>
              <a:buNone/>
              <a:defRPr sz="1600"/>
            </a:lvl8pPr>
            <a:lvl9pPr marL="0" indent="0">
              <a:spcBef>
                <a:spcPts val="0"/>
              </a:spcBef>
              <a:buNone/>
              <a:defRPr sz="1600"/>
            </a:lvl9pPr>
          </a:lstStyle>
          <a:p>
            <a:pPr lvl="0"/>
            <a:r>
              <a:rPr lang="en-US" dirty="0"/>
              <a:t>Click to add caption</a:t>
            </a:r>
          </a:p>
        </p:txBody>
      </p:sp>
      <p:sp>
        <p:nvSpPr>
          <p:cNvPr id="11" name="Footer Placeholder 2"/>
          <p:cNvSpPr>
            <a:spLocks noGrp="1"/>
          </p:cNvSpPr>
          <p:nvPr>
            <p:ph type="ftr" sz="quarter" idx="11"/>
          </p:nvPr>
        </p:nvSpPr>
        <p:spPr>
          <a:xfrm>
            <a:off x="93969" y="4629152"/>
            <a:ext cx="8595360" cy="176597"/>
          </a:xfrm>
        </p:spPr>
        <p:txBody>
          <a:bodyPr/>
          <a:lstStyle/>
          <a:p>
            <a:r>
              <a:rPr lang="en-US"/>
              <a:t>Copyright © 2022, 2020, 2018 Pearson Education, Ltd. All Rights Reserved </a:t>
            </a:r>
            <a:endParaRPr lang="en-US" dirty="0"/>
          </a:p>
        </p:txBody>
      </p:sp>
      <p:sp>
        <p:nvSpPr>
          <p:cNvPr id="2" name="Date Placeholder 1"/>
          <p:cNvSpPr>
            <a:spLocks noGrp="1"/>
          </p:cNvSpPr>
          <p:nvPr>
            <p:ph type="dt" sz="half" idx="10"/>
          </p:nvPr>
        </p:nvSpPr>
        <p:spPr/>
        <p:txBody>
          <a:bodyPr/>
          <a:lstStyle>
            <a:lvl1pPr>
              <a:defRPr>
                <a:solidFill>
                  <a:schemeClr val="tx1"/>
                </a:solidFill>
              </a:defRPr>
            </a:lvl1pPr>
          </a:lstStyle>
          <a:p>
            <a:fld id="{517290EF-CAA9-445D-80E9-4A00D9BC59A2}" type="datetime1">
              <a:rPr lang="en-US" smtClean="0"/>
              <a:t>12/16/2021</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pic>
        <p:nvPicPr>
          <p:cNvPr id="12" name="Picture 11"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85800" y="4825798"/>
            <a:ext cx="918000" cy="209936"/>
          </a:xfrm>
          <a:prstGeom prst="rect">
            <a:avLst/>
          </a:prstGeom>
        </p:spPr>
      </p:pic>
      <p:sp>
        <p:nvSpPr>
          <p:cNvPr id="9" name="TextBox 8"/>
          <p:cNvSpPr txBox="1"/>
          <p:nvPr userDrawn="1"/>
        </p:nvSpPr>
        <p:spPr>
          <a:xfrm>
            <a:off x="2743200" y="4800602"/>
            <a:ext cx="6096000" cy="276999"/>
          </a:xfrm>
          <a:prstGeom prst="rect">
            <a:avLst/>
          </a:prstGeom>
          <a:noFill/>
        </p:spPr>
        <p:txBody>
          <a:bodyPr wrap="square"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1200" b="0" dirty="0">
                <a:latin typeface="Verdana" panose="020B0604030504040204" pitchFamily="34" charset="0"/>
                <a:ea typeface="Verdana" panose="020B0604030504040204" pitchFamily="34" charset="0"/>
                <a:cs typeface="Verdana" panose="020B0604030504040204" pitchFamily="34" charset="0"/>
              </a:rPr>
              <a:t>Copyright © </a:t>
            </a:r>
            <a:r>
              <a:rPr lang="en-US" sz="1200" dirty="0">
                <a:latin typeface="Verdana" panose="020B0604030504040204" pitchFamily="34" charset="0"/>
                <a:ea typeface="Verdana" panose="020B0604030504040204" pitchFamily="34" charset="0"/>
                <a:cs typeface="Verdana" panose="020B0604030504040204" pitchFamily="34" charset="0"/>
              </a:rPr>
              <a:t>2017, 2014, 2011</a:t>
            </a:r>
            <a:r>
              <a:rPr lang="en-US" altLang="en-US" sz="1200" b="0" dirty="0">
                <a:latin typeface="Verdana" panose="020B0604030504040204" pitchFamily="34" charset="0"/>
                <a:ea typeface="Verdana" panose="020B0604030504040204" pitchFamily="34" charset="0"/>
                <a:cs typeface="Verdana" panose="020B0604030504040204" pitchFamily="34" charset="0"/>
              </a:rPr>
              <a:t> Pearson Education, Ltd. All Rights Reserved.</a:t>
            </a:r>
          </a:p>
        </p:txBody>
      </p:sp>
    </p:spTree>
    <p:extLst>
      <p:ext uri="{BB962C8B-B14F-4D97-AF65-F5344CB8AC3E}">
        <p14:creationId xmlns:p14="http://schemas.microsoft.com/office/powerpoint/2010/main" val="22037960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200152"/>
            <a:ext cx="8229600" cy="1622822"/>
          </a:xfrm>
        </p:spPr>
        <p:txBody>
          <a:bodyPr/>
          <a:lstStyle>
            <a:lvl1pPr>
              <a:defRPr sz="2400"/>
            </a:lvl1pPr>
            <a:lvl2pPr>
              <a:defRPr sz="2200"/>
            </a:lvl2pPr>
            <a:lvl3pPr>
              <a:defRPr sz="2000"/>
            </a:lvl3pPr>
            <a:lvl4pPr>
              <a:defRPr sz="18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2971802"/>
            <a:ext cx="8229600" cy="1622822"/>
          </a:xfrm>
        </p:spPr>
        <p:txBody>
          <a:bodyPr/>
          <a:lstStyle>
            <a:lvl1pPr>
              <a:defRPr sz="2400"/>
            </a:lvl1pPr>
            <a:lvl2pPr>
              <a:defRPr sz="2200"/>
            </a:lvl2pPr>
            <a:lvl3pPr>
              <a:defRPr sz="2000"/>
            </a:lvl3pPr>
            <a:lvl4pPr>
              <a:defRPr sz="18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Date Placeholder 1">
            <a:extLst>
              <a:ext uri="{FF2B5EF4-FFF2-40B4-BE49-F238E27FC236}">
                <a16:creationId xmlns:a16="http://schemas.microsoft.com/office/drawing/2014/main" id="{8C5200A2-9190-4B86-A09A-690141FC4C71}"/>
              </a:ext>
            </a:extLst>
          </p:cNvPr>
          <p:cNvSpPr>
            <a:spLocks noGrp="1"/>
          </p:cNvSpPr>
          <p:nvPr>
            <p:ph type="dt" sz="half" idx="14"/>
          </p:nvPr>
        </p:nvSpPr>
        <p:spPr/>
        <p:txBody>
          <a:bodyPr/>
          <a:lstStyle/>
          <a:p>
            <a:fld id="{7638A49F-2780-47F4-BD9B-0DE80CE918DC}" type="datetime1">
              <a:rPr lang="en-US" smtClean="0"/>
              <a:t>12/16/2021</a:t>
            </a:fld>
            <a:endParaRPr lang="en-US" dirty="0"/>
          </a:p>
        </p:txBody>
      </p:sp>
      <p:sp>
        <p:nvSpPr>
          <p:cNvPr id="5" name="Footer Placeholder 4">
            <a:extLst>
              <a:ext uri="{FF2B5EF4-FFF2-40B4-BE49-F238E27FC236}">
                <a16:creationId xmlns:a16="http://schemas.microsoft.com/office/drawing/2014/main" id="{D3A8F93B-4FEF-4BA0-8F49-990FDEFCF0F4}"/>
              </a:ext>
            </a:extLst>
          </p:cNvPr>
          <p:cNvSpPr>
            <a:spLocks noGrp="1"/>
          </p:cNvSpPr>
          <p:nvPr>
            <p:ph type="ftr" sz="quarter" idx="15"/>
          </p:nvPr>
        </p:nvSpPr>
        <p:spPr>
          <a:xfrm>
            <a:off x="0" y="4594624"/>
            <a:ext cx="8689329" cy="387347"/>
          </a:xfrm>
        </p:spPr>
        <p:txBody>
          <a:bodyPr/>
          <a:lstStyle/>
          <a:p>
            <a:r>
              <a:rPr lang="en-US"/>
              <a:t>Copyright © 2022, 2020, 2018 Pearson Education, Ltd. All Rights Reserved </a:t>
            </a:r>
            <a:endParaRPr lang="en-US" dirty="0"/>
          </a:p>
        </p:txBody>
      </p:sp>
      <p:sp>
        <p:nvSpPr>
          <p:cNvPr id="9" name="Slide Number Placeholder 8">
            <a:extLst>
              <a:ext uri="{FF2B5EF4-FFF2-40B4-BE49-F238E27FC236}">
                <a16:creationId xmlns:a16="http://schemas.microsoft.com/office/drawing/2014/main" id="{801F16D8-586A-47C0-92DA-8015A8083F66}"/>
              </a:ext>
            </a:extLst>
          </p:cNvPr>
          <p:cNvSpPr>
            <a:spLocks noGrp="1"/>
          </p:cNvSpPr>
          <p:nvPr>
            <p:ph type="sldNum" sz="quarter" idx="16"/>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31547999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1_Custom Layout">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a:xfrm>
            <a:off x="76200" y="4476750"/>
            <a:ext cx="8613129" cy="328999"/>
          </a:xfrm>
        </p:spPr>
        <p:txBody>
          <a:bodyPr/>
          <a:lstStyle/>
          <a:p>
            <a:r>
              <a:rPr lang="en-US"/>
              <a:t>Copyright © 2022, 2020, 2018 Pearson Education, Ltd. All Rights Reserved </a:t>
            </a:r>
            <a:endParaRPr lang="en-US" dirty="0"/>
          </a:p>
        </p:txBody>
      </p:sp>
      <p:sp>
        <p:nvSpPr>
          <p:cNvPr id="4" name="Date Placeholder 3"/>
          <p:cNvSpPr>
            <a:spLocks noGrp="1"/>
          </p:cNvSpPr>
          <p:nvPr>
            <p:ph type="dt" sz="half" idx="11"/>
          </p:nvPr>
        </p:nvSpPr>
        <p:spPr/>
        <p:txBody>
          <a:bodyPr/>
          <a:lstStyle/>
          <a:p>
            <a:fld id="{2E9E8753-6F93-44AB-9869-6C990E5B6ECA}" type="datetime1">
              <a:rPr lang="en-US" smtClean="0"/>
              <a:t>12/16/2021</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
        <p:nvSpPr>
          <p:cNvPr id="6" name="Title 7"/>
          <p:cNvSpPr>
            <a:spLocks noGrp="1"/>
          </p:cNvSpPr>
          <p:nvPr>
            <p:ph type="title"/>
          </p:nvPr>
        </p:nvSpPr>
        <p:spPr>
          <a:xfrm>
            <a:off x="457200" y="161529"/>
            <a:ext cx="8229600" cy="822960"/>
          </a:xfrm>
        </p:spPr>
        <p:txBody>
          <a:bodyPr/>
          <a:lstStyle/>
          <a:p>
            <a:r>
              <a:rPr lang="en-US" dirty="0"/>
              <a:t>Click to edit Master title style</a:t>
            </a:r>
          </a:p>
        </p:txBody>
      </p:sp>
      <p:sp>
        <p:nvSpPr>
          <p:cNvPr id="7" name="Content Placeholder 2"/>
          <p:cNvSpPr>
            <a:spLocks noGrp="1"/>
          </p:cNvSpPr>
          <p:nvPr>
            <p:ph idx="1"/>
          </p:nvPr>
        </p:nvSpPr>
        <p:spPr>
          <a:xfrm>
            <a:off x="457200" y="1200151"/>
            <a:ext cx="8229600" cy="6858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2"/>
          <p:cNvSpPr>
            <a:spLocks noGrp="1"/>
          </p:cNvSpPr>
          <p:nvPr>
            <p:ph idx="13"/>
          </p:nvPr>
        </p:nvSpPr>
        <p:spPr>
          <a:xfrm>
            <a:off x="457200" y="2000250"/>
            <a:ext cx="3886200" cy="18288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ext Placeholder 9"/>
          <p:cNvSpPr>
            <a:spLocks noGrp="1"/>
          </p:cNvSpPr>
          <p:nvPr>
            <p:ph type="body" sz="quarter" idx="14"/>
          </p:nvPr>
        </p:nvSpPr>
        <p:spPr>
          <a:xfrm>
            <a:off x="4419600" y="2000250"/>
            <a:ext cx="4267200" cy="18288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5800" y="1085852"/>
            <a:ext cx="7772400" cy="1614488"/>
          </a:xfrm>
        </p:spPr>
        <p:txBody>
          <a:bodyPr anchor="b">
            <a:noAutofit/>
          </a:bodyPr>
          <a:lstStyle>
            <a:lvl1pPr algn="l">
              <a:defRPr sz="3600" b="1" cap="none" baseline="0">
                <a:solidFill>
                  <a:srgbClr val="007FA3"/>
                </a:solidFill>
              </a:defRPr>
            </a:lvl1pPr>
          </a:lstStyle>
          <a:p>
            <a:r>
              <a:rPr lang="en-US" dirty="0"/>
              <a:t>Click to edit Master title style</a:t>
            </a:r>
          </a:p>
        </p:txBody>
      </p:sp>
      <p:sp>
        <p:nvSpPr>
          <p:cNvPr id="3" name="Text Placeholder 2"/>
          <p:cNvSpPr>
            <a:spLocks noGrp="1"/>
          </p:cNvSpPr>
          <p:nvPr>
            <p:ph type="body" idx="1"/>
          </p:nvPr>
        </p:nvSpPr>
        <p:spPr>
          <a:xfrm>
            <a:off x="674688" y="2971800"/>
            <a:ext cx="7794627" cy="1314450"/>
          </a:xfrm>
        </p:spPr>
        <p:txBody>
          <a:bodyPr anchor="t">
            <a:noAutofit/>
          </a:bodyPr>
          <a:lstStyle>
            <a:lvl1pPr marL="0" indent="0">
              <a:spcBef>
                <a:spcPts val="0"/>
              </a:spcBef>
              <a:buNone/>
              <a:defRPr sz="1600">
                <a:solidFill>
                  <a:srgbClr val="007FA3"/>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14" name="Date Placeholder 13"/>
          <p:cNvSpPr>
            <a:spLocks noGrp="1"/>
          </p:cNvSpPr>
          <p:nvPr>
            <p:ph type="dt" sz="half" idx="10"/>
          </p:nvPr>
        </p:nvSpPr>
        <p:spPr/>
        <p:txBody>
          <a:bodyPr/>
          <a:lstStyle/>
          <a:p>
            <a:fld id="{AF4491E8-6A4C-430F-8E22-F267EE0B66AA}" type="datetime1">
              <a:rPr lang="en-US" smtClean="0"/>
              <a:t>12/16/2021</a:t>
            </a:fld>
            <a:endParaRPr lang="en-US" dirty="0"/>
          </a:p>
        </p:txBody>
      </p:sp>
      <p:sp>
        <p:nvSpPr>
          <p:cNvPr id="15" name="Slide Number Placeholder 14"/>
          <p:cNvSpPr>
            <a:spLocks noGrp="1"/>
          </p:cNvSpPr>
          <p:nvPr>
            <p:ph type="sldNum" sz="quarter" idx="11"/>
          </p:nvPr>
        </p:nvSpPr>
        <p:spPr/>
        <p:txBody>
          <a:bodyPr/>
          <a:lstStyle/>
          <a:p>
            <a:fld id="{200B2350-5261-4F5C-9DF5-EF0D264FC8D2}" type="slidenum">
              <a:rPr lang="en-US" smtClean="0"/>
              <a:pPr/>
              <a:t>‹#›</a:t>
            </a:fld>
            <a:endParaRPr lang="en-US" dirty="0"/>
          </a:p>
        </p:txBody>
      </p:sp>
      <p:sp>
        <p:nvSpPr>
          <p:cNvPr id="16" name="Footer Placeholder 15"/>
          <p:cNvSpPr>
            <a:spLocks noGrp="1"/>
          </p:cNvSpPr>
          <p:nvPr>
            <p:ph type="ftr" sz="quarter" idx="12"/>
          </p:nvPr>
        </p:nvSpPr>
        <p:spPr>
          <a:xfrm>
            <a:off x="76200" y="4476750"/>
            <a:ext cx="8613129" cy="328999"/>
          </a:xfrm>
        </p:spPr>
        <p:txBody>
          <a:bodyPr/>
          <a:lstStyle/>
          <a:p>
            <a:r>
              <a:rPr lang="en-US"/>
              <a:t>Copyright © 2022, 2020, 2018 Pearson Education, Ltd. All Rights Reserved </a:t>
            </a:r>
            <a:endParaRPr lang="en-US" dirty="0"/>
          </a:p>
        </p:txBody>
      </p:sp>
    </p:spTree>
    <p:extLst>
      <p:ext uri="{BB962C8B-B14F-4D97-AF65-F5344CB8AC3E}">
        <p14:creationId xmlns:p14="http://schemas.microsoft.com/office/powerpoint/2010/main" val="37547041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Title Only">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Click to edit Master title style</a:t>
            </a:r>
          </a:p>
        </p:txBody>
      </p:sp>
      <p:sp>
        <p:nvSpPr>
          <p:cNvPr id="9" name="Footer Placeholder 3"/>
          <p:cNvSpPr>
            <a:spLocks noGrp="1"/>
          </p:cNvSpPr>
          <p:nvPr>
            <p:ph type="ftr" sz="quarter" idx="11"/>
          </p:nvPr>
        </p:nvSpPr>
        <p:spPr>
          <a:xfrm>
            <a:off x="93969" y="4629152"/>
            <a:ext cx="8595360" cy="176597"/>
          </a:xfrm>
        </p:spPr>
        <p:txBody>
          <a:bodyPr/>
          <a:lstStyle/>
          <a:p>
            <a:r>
              <a:rPr lang="en-US"/>
              <a:t>Copyright © 2022, 2020, 2018 Pearson Education, Ltd. All Rights Reserved </a:t>
            </a:r>
            <a:endParaRPr lang="en-US" dirty="0"/>
          </a:p>
        </p:txBody>
      </p:sp>
      <p:sp>
        <p:nvSpPr>
          <p:cNvPr id="3" name="Date Placeholder 2"/>
          <p:cNvSpPr>
            <a:spLocks noGrp="1"/>
          </p:cNvSpPr>
          <p:nvPr>
            <p:ph type="dt" sz="half" idx="10"/>
          </p:nvPr>
        </p:nvSpPr>
        <p:spPr/>
        <p:txBody>
          <a:bodyPr/>
          <a:lstStyle/>
          <a:p>
            <a:fld id="{955D50BC-ED36-448B-8FAD-6F7A78109DFE}" type="datetime1">
              <a:rPr lang="en-US" smtClean="0"/>
              <a:t>12/16/2021</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8551265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8" name="Footer Placeholder 2"/>
          <p:cNvSpPr>
            <a:spLocks noGrp="1"/>
          </p:cNvSpPr>
          <p:nvPr>
            <p:ph type="ftr" sz="quarter" idx="11"/>
          </p:nvPr>
        </p:nvSpPr>
        <p:spPr>
          <a:xfrm>
            <a:off x="93969" y="4629152"/>
            <a:ext cx="8595360" cy="176597"/>
          </a:xfrm>
        </p:spPr>
        <p:txBody>
          <a:bodyPr/>
          <a:lstStyle/>
          <a:p>
            <a:r>
              <a:rPr lang="en-US"/>
              <a:t>Copyright © 2022, 2020, 2018 Pearson Education, Ltd. All Rights Reserved </a:t>
            </a:r>
            <a:endParaRPr lang="en-US" dirty="0"/>
          </a:p>
        </p:txBody>
      </p:sp>
      <p:sp>
        <p:nvSpPr>
          <p:cNvPr id="2" name="Date Placeholder 1"/>
          <p:cNvSpPr>
            <a:spLocks noGrp="1"/>
          </p:cNvSpPr>
          <p:nvPr>
            <p:ph type="dt" sz="half" idx="10"/>
          </p:nvPr>
        </p:nvSpPr>
        <p:spPr/>
        <p:txBody>
          <a:bodyPr/>
          <a:lstStyle>
            <a:lvl1pPr>
              <a:defRPr>
                <a:solidFill>
                  <a:schemeClr val="tx1"/>
                </a:solidFill>
              </a:defRPr>
            </a:lvl1pPr>
          </a:lstStyle>
          <a:p>
            <a:fld id="{0CAF3DEF-1E73-443A-9417-A41F6FE7EBCA}" type="datetime1">
              <a:rPr lang="en-US" smtClean="0"/>
              <a:t>12/16/2021</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pic>
        <p:nvPicPr>
          <p:cNvPr id="7" name="Picture 6"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997400" y="4825798"/>
            <a:ext cx="918000" cy="209936"/>
          </a:xfrm>
          <a:prstGeom prst="rect">
            <a:avLst/>
          </a:prstGeom>
        </p:spPr>
      </p:pic>
      <p:sp>
        <p:nvSpPr>
          <p:cNvPr id="11" name="TextBox 10"/>
          <p:cNvSpPr txBox="1"/>
          <p:nvPr userDrawn="1"/>
        </p:nvSpPr>
        <p:spPr>
          <a:xfrm>
            <a:off x="95799" y="4828543"/>
            <a:ext cx="7162800" cy="276999"/>
          </a:xfrm>
          <a:prstGeom prst="rect">
            <a:avLst/>
          </a:prstGeom>
          <a:noFill/>
        </p:spPr>
        <p:txBody>
          <a:bodyPr wrap="square"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1200" b="0" dirty="0">
                <a:latin typeface="Verdana" panose="020B0604030504040204" pitchFamily="34" charset="0"/>
                <a:ea typeface="Verdana" panose="020B0604030504040204" pitchFamily="34" charset="0"/>
                <a:cs typeface="Verdana" panose="020B0604030504040204" pitchFamily="34" charset="0"/>
              </a:rPr>
              <a:t>Copyright © 2017, 2014, 2011 Pearson Education, Inc. All Rights Reserved.</a:t>
            </a:r>
          </a:p>
        </p:txBody>
      </p:sp>
    </p:spTree>
    <p:extLst>
      <p:ext uri="{BB962C8B-B14F-4D97-AF65-F5344CB8AC3E}">
        <p14:creationId xmlns:p14="http://schemas.microsoft.com/office/powerpoint/2010/main" val="37111366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userDrawn="1">
  <p:cSld name="1_Chapter Opener">
    <p:spTree>
      <p:nvGrpSpPr>
        <p:cNvPr id="1" name=""/>
        <p:cNvGrpSpPr/>
        <p:nvPr/>
      </p:nvGrpSpPr>
      <p:grpSpPr>
        <a:xfrm>
          <a:off x="0" y="0"/>
          <a:ext cx="0" cy="0"/>
          <a:chOff x="0" y="0"/>
          <a:chExt cx="0" cy="0"/>
        </a:xfrm>
      </p:grpSpPr>
      <p:sp>
        <p:nvSpPr>
          <p:cNvPr id="11" name="Title 10"/>
          <p:cNvSpPr>
            <a:spLocks noGrp="1"/>
          </p:cNvSpPr>
          <p:nvPr>
            <p:ph type="title"/>
          </p:nvPr>
        </p:nvSpPr>
        <p:spPr>
          <a:xfrm>
            <a:off x="457200" y="161529"/>
            <a:ext cx="8229600" cy="467121"/>
          </a:xfrm>
        </p:spPr>
        <p:txBody>
          <a:bodyPr anchor="t"/>
          <a:lstStyle/>
          <a:p>
            <a:r>
              <a:rPr lang="en-US" dirty="0"/>
              <a:t>Click to edit Master title style</a:t>
            </a:r>
          </a:p>
        </p:txBody>
      </p:sp>
      <p:sp>
        <p:nvSpPr>
          <p:cNvPr id="7" name="Text Placeholder 6"/>
          <p:cNvSpPr>
            <a:spLocks noGrp="1"/>
          </p:cNvSpPr>
          <p:nvPr>
            <p:ph type="body" sz="quarter" idx="13" hasCustomPrompt="1"/>
          </p:nvPr>
        </p:nvSpPr>
        <p:spPr>
          <a:xfrm>
            <a:off x="457200" y="612322"/>
            <a:ext cx="8229600" cy="359228"/>
          </a:xfrm>
        </p:spPr>
        <p:txBody>
          <a:bodyPr>
            <a:noAutofit/>
          </a:bodyPr>
          <a:lstStyle>
            <a:lvl1pPr marL="0" indent="0">
              <a:spcBef>
                <a:spcPts val="0"/>
              </a:spcBef>
              <a:buNone/>
              <a:defRPr sz="20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Add edition here</a:t>
            </a:r>
          </a:p>
        </p:txBody>
      </p:sp>
      <p:sp>
        <p:nvSpPr>
          <p:cNvPr id="9" name="Text Placeholder 8"/>
          <p:cNvSpPr>
            <a:spLocks noGrp="1"/>
          </p:cNvSpPr>
          <p:nvPr>
            <p:ph type="body" sz="quarter" idx="14" hasCustomPrompt="1"/>
          </p:nvPr>
        </p:nvSpPr>
        <p:spPr>
          <a:xfrm>
            <a:off x="5029200" y="1200153"/>
            <a:ext cx="3657600" cy="1200149"/>
          </a:xfrm>
        </p:spPr>
        <p:txBody>
          <a:bodyPr anchor="b">
            <a:noAutofit/>
          </a:bodyPr>
          <a:lstStyle>
            <a:lvl1pPr marL="0" indent="0">
              <a:spcBef>
                <a:spcPts val="0"/>
              </a:spcBef>
              <a:buNone/>
              <a:defRPr sz="3000" baseline="0"/>
            </a:lvl1pPr>
            <a:lvl2pPr marL="0" indent="0">
              <a:spcBef>
                <a:spcPts val="0"/>
              </a:spcBef>
              <a:buNone/>
              <a:defRPr sz="4400"/>
            </a:lvl2pPr>
            <a:lvl3pPr marL="0" indent="0">
              <a:spcBef>
                <a:spcPts val="0"/>
              </a:spcBef>
              <a:buNone/>
              <a:defRPr sz="4400"/>
            </a:lvl3pPr>
            <a:lvl4pPr marL="0" indent="0">
              <a:spcBef>
                <a:spcPts val="0"/>
              </a:spcBef>
              <a:buNone/>
              <a:defRPr sz="4400"/>
            </a:lvl4pPr>
            <a:lvl5pPr marL="0" indent="0">
              <a:spcBef>
                <a:spcPts val="0"/>
              </a:spcBef>
              <a:buNone/>
              <a:defRPr sz="4400"/>
            </a:lvl5pPr>
            <a:lvl6pPr marL="0" indent="0">
              <a:spcBef>
                <a:spcPts val="0"/>
              </a:spcBef>
              <a:buNone/>
              <a:defRPr sz="4400"/>
            </a:lvl6pPr>
            <a:lvl7pPr marL="0" indent="0">
              <a:spcBef>
                <a:spcPts val="0"/>
              </a:spcBef>
              <a:buNone/>
              <a:defRPr sz="4400"/>
            </a:lvl7pPr>
            <a:lvl8pPr marL="0" indent="0">
              <a:spcBef>
                <a:spcPts val="0"/>
              </a:spcBef>
              <a:buNone/>
              <a:defRPr sz="4400"/>
            </a:lvl8pPr>
            <a:lvl9pPr marL="0" indent="0">
              <a:spcBef>
                <a:spcPts val="0"/>
              </a:spcBef>
              <a:buNone/>
              <a:defRPr sz="4400"/>
            </a:lvl9pPr>
          </a:lstStyle>
          <a:p>
            <a:pPr lvl="0"/>
            <a:r>
              <a:rPr lang="en-US" dirty="0"/>
              <a:t>Chapter ##</a:t>
            </a:r>
          </a:p>
        </p:txBody>
      </p:sp>
      <p:sp>
        <p:nvSpPr>
          <p:cNvPr id="10" name="Text Placeholder 8"/>
          <p:cNvSpPr>
            <a:spLocks noGrp="1"/>
          </p:cNvSpPr>
          <p:nvPr>
            <p:ph type="body" sz="quarter" idx="15" hasCustomPrompt="1"/>
          </p:nvPr>
        </p:nvSpPr>
        <p:spPr>
          <a:xfrm>
            <a:off x="5029200" y="2400302"/>
            <a:ext cx="3657600" cy="2194322"/>
          </a:xfrm>
        </p:spPr>
        <p:txBody>
          <a:bodyPr>
            <a:noAutofit/>
          </a:bodyPr>
          <a:lstStyle>
            <a:lvl1pPr marL="0" indent="0">
              <a:spcBef>
                <a:spcPts val="0"/>
              </a:spcBef>
              <a:buNone/>
              <a:defRPr sz="2200"/>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rPr lang="en-US" dirty="0"/>
              <a:t>Chapter title</a:t>
            </a:r>
          </a:p>
        </p:txBody>
      </p:sp>
      <p:sp>
        <p:nvSpPr>
          <p:cNvPr id="16" name="Footer Placeholder 2"/>
          <p:cNvSpPr>
            <a:spLocks noGrp="1"/>
          </p:cNvSpPr>
          <p:nvPr>
            <p:ph type="ftr" sz="quarter" idx="10"/>
          </p:nvPr>
        </p:nvSpPr>
        <p:spPr>
          <a:xfrm>
            <a:off x="76200" y="4482899"/>
            <a:ext cx="8613129" cy="552872"/>
          </a:xfrm>
        </p:spPr>
        <p:txBody>
          <a:bodyPr/>
          <a:lstStyle/>
          <a:p>
            <a:r>
              <a:rPr lang="en-US"/>
              <a:t>Copyright © 2022, 2020, 2018 Pearson Education, Ltd. All Rights Reserved </a:t>
            </a:r>
            <a:endParaRPr lang="en-US" dirty="0"/>
          </a:p>
        </p:txBody>
      </p:sp>
      <p:sp>
        <p:nvSpPr>
          <p:cNvPr id="4" name="Date Placeholder 3"/>
          <p:cNvSpPr>
            <a:spLocks noGrp="1"/>
          </p:cNvSpPr>
          <p:nvPr>
            <p:ph type="dt" sz="half" idx="11"/>
          </p:nvPr>
        </p:nvSpPr>
        <p:spPr/>
        <p:txBody>
          <a:bodyPr/>
          <a:lstStyle/>
          <a:p>
            <a:fld id="{8DF799A8-D1B8-4512-A8A4-271E92FBC342}" type="datetime1">
              <a:rPr lang="en-US" smtClean="0"/>
              <a:t>12/16/2021</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pic>
        <p:nvPicPr>
          <p:cNvPr id="13" name="Picture 12"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4825798"/>
            <a:ext cx="688622" cy="209973"/>
          </a:xfrm>
          <a:prstGeom prst="rect">
            <a:avLst/>
          </a:prstGeom>
        </p:spPr>
      </p:pic>
    </p:spTree>
    <p:extLst>
      <p:ext uri="{BB962C8B-B14F-4D97-AF65-F5344CB8AC3E}">
        <p14:creationId xmlns:p14="http://schemas.microsoft.com/office/powerpoint/2010/main" val="13218054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userDrawn="1">
  <p:cSld name="6_Title and Two Content">
    <p:spTree>
      <p:nvGrpSpPr>
        <p:cNvPr id="1" name="Shape 30"/>
        <p:cNvGrpSpPr/>
        <p:nvPr/>
      </p:nvGrpSpPr>
      <p:grpSpPr>
        <a:xfrm>
          <a:off x="0" y="0"/>
          <a:ext cx="0" cy="0"/>
          <a:chOff x="0" y="0"/>
          <a:chExt cx="0" cy="0"/>
        </a:xfrm>
      </p:grpSpPr>
      <p:sp>
        <p:nvSpPr>
          <p:cNvPr id="31" name="Shape 31"/>
          <p:cNvSpPr txBox="1">
            <a:spLocks noGrp="1"/>
          </p:cNvSpPr>
          <p:nvPr>
            <p:ph type="title"/>
          </p:nvPr>
        </p:nvSpPr>
        <p:spPr>
          <a:xfrm>
            <a:off x="457200" y="161530"/>
            <a:ext cx="8229600" cy="82295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4" name="Shape 34"/>
          <p:cNvSpPr txBox="1">
            <a:spLocks noGrp="1"/>
          </p:cNvSpPr>
          <p:nvPr>
            <p:ph type="ftr" idx="11"/>
          </p:nvPr>
        </p:nvSpPr>
        <p:spPr>
          <a:xfrm>
            <a:off x="93971" y="4629149"/>
            <a:ext cx="8595359" cy="429545"/>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r>
              <a:rPr lang="en-US"/>
              <a:t>Copyright © 2022, 2020, 2018 Pearson Education, Ltd. All Rights Reserved </a:t>
            </a:r>
            <a:endParaRPr dirty="0"/>
          </a:p>
        </p:txBody>
      </p:sp>
      <p:sp>
        <p:nvSpPr>
          <p:cNvPr id="35" name="Shape 35"/>
          <p:cNvSpPr txBox="1">
            <a:spLocks noGrp="1"/>
          </p:cNvSpPr>
          <p:nvPr>
            <p:ph type="dt" idx="10"/>
          </p:nvPr>
        </p:nvSpPr>
        <p:spPr>
          <a:xfrm>
            <a:off x="6335714" y="84805"/>
            <a:ext cx="2133599" cy="13715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fld id="{1E667EE9-AC49-4CDB-B602-B94936A3E5AA}" type="datetime1">
              <a:rPr lang="en-US" smtClean="0"/>
              <a:t>12/16/2021</a:t>
            </a:fld>
            <a:endParaRPr dirty="0"/>
          </a:p>
        </p:txBody>
      </p:sp>
      <p:sp>
        <p:nvSpPr>
          <p:cNvPr id="36" name="Shape 36"/>
          <p:cNvSpPr txBox="1">
            <a:spLocks noGrp="1"/>
          </p:cNvSpPr>
          <p:nvPr>
            <p:ph type="sldNum" idx="12"/>
          </p:nvPr>
        </p:nvSpPr>
        <p:spPr>
          <a:xfrm>
            <a:off x="8469313" y="84805"/>
            <a:ext cx="551783" cy="137159"/>
          </a:xfrm>
          <a:prstGeom prst="rect">
            <a:avLst/>
          </a:prstGeom>
          <a:noFill/>
          <a:ln>
            <a:noFill/>
          </a:ln>
        </p:spPr>
        <p:txBody>
          <a:bodyPr lIns="91425" tIns="45700" rIns="91425" bIns="45700" anchor="ctr" anchorCtr="0">
            <a:noAutofit/>
          </a:bodyPr>
          <a:lstStyle/>
          <a:p>
            <a:pPr>
              <a:buSzPct val="25000"/>
            </a:pPr>
            <a:fld id="{00000000-1234-1234-1234-123412341234}" type="slidenum">
              <a:rPr lang="en-US" smtClean="0">
                <a:solidFill>
                  <a:schemeClr val="lt1"/>
                </a:solidFill>
                <a:ea typeface="Arial"/>
                <a:cs typeface="Arial"/>
                <a:sym typeface="Arial"/>
              </a:rPr>
              <a:pPr>
                <a:buSzPct val="25000"/>
              </a:pPr>
              <a:t>‹#›</a:t>
            </a:fld>
            <a:endParaRPr lang="en-US" dirty="0">
              <a:solidFill>
                <a:schemeClr val="lt1"/>
              </a:solidFill>
              <a:ea typeface="Arial"/>
              <a:cs typeface="Arial"/>
              <a:sym typeface="Arial"/>
            </a:endParaRPr>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167245"/>
            <a:ext cx="8229600" cy="1700646"/>
          </a:xfrm>
        </p:spPr>
        <p:txBody>
          <a:bodyPr/>
          <a:lstStyle/>
          <a:p>
            <a:pPr lvl="0"/>
            <a:r>
              <a:rPr lang="en-US" dirty="0"/>
              <a:t>Edit Master text styles</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57200" y="2978946"/>
            <a:ext cx="8229600" cy="1578769"/>
          </a:xfrm>
        </p:spPr>
        <p:txBody>
          <a:bodyPr/>
          <a:lstStyle/>
          <a:p>
            <a:pPr lvl="0"/>
            <a:r>
              <a:rPr lang="en-US" dirty="0"/>
              <a:t>Edit Master text styles</a:t>
            </a:r>
          </a:p>
        </p:txBody>
      </p:sp>
    </p:spTree>
    <p:extLst>
      <p:ext uri="{BB962C8B-B14F-4D97-AF65-F5344CB8AC3E}">
        <p14:creationId xmlns:p14="http://schemas.microsoft.com/office/powerpoint/2010/main" val="11427225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emf"/><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161529"/>
            <a:ext cx="8229600" cy="822960"/>
          </a:xfrm>
          <a:prstGeom prst="rect">
            <a:avLst/>
          </a:prstGeom>
        </p:spPr>
        <p:txBody>
          <a:bodyPr vert="horz" lIns="0" tIns="0" rIns="0" bIns="0" rtlCol="0" anchor="b">
            <a:noAutofit/>
          </a:bodyPr>
          <a:lstStyle/>
          <a:p>
            <a:r>
              <a:rPr lang="en-US" dirty="0"/>
              <a:t>Click to edit </a:t>
            </a:r>
            <a:br>
              <a:rPr lang="en-US" dirty="0"/>
            </a:br>
            <a:r>
              <a:rPr lang="en-US" dirty="0"/>
              <a:t>Master title style</a:t>
            </a:r>
          </a:p>
        </p:txBody>
      </p:sp>
      <p:sp>
        <p:nvSpPr>
          <p:cNvPr id="3" name="Text Placeholder 2"/>
          <p:cNvSpPr>
            <a:spLocks noGrp="1"/>
          </p:cNvSpPr>
          <p:nvPr>
            <p:ph type="body" idx="1"/>
          </p:nvPr>
        </p:nvSpPr>
        <p:spPr>
          <a:xfrm>
            <a:off x="457200" y="1200152"/>
            <a:ext cx="8229600" cy="3394472"/>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1" name="Footer Placeholder 4"/>
          <p:cNvSpPr>
            <a:spLocks noGrp="1"/>
          </p:cNvSpPr>
          <p:nvPr>
            <p:ph type="ftr" sz="quarter" idx="3"/>
          </p:nvPr>
        </p:nvSpPr>
        <p:spPr>
          <a:xfrm>
            <a:off x="93969" y="4629152"/>
            <a:ext cx="8595360" cy="176597"/>
          </a:xfrm>
          <a:prstGeom prst="rect">
            <a:avLst/>
          </a:prstGeom>
        </p:spPr>
        <p:txBody>
          <a:bodyPr vert="horz" lIns="0" tIns="0" rIns="0" bIns="0" rtlCol="0" anchor="b"/>
          <a:lstStyle>
            <a:lvl1pPr algn="l">
              <a:defRPr sz="1100">
                <a:solidFill>
                  <a:schemeClr val="tx1"/>
                </a:solidFill>
              </a:defRPr>
            </a:lvl1pPr>
          </a:lstStyle>
          <a:p>
            <a:r>
              <a:rPr lang="en-US"/>
              <a:t>Copyright © 2022, 2020, 2018 Pearson Education, Ltd. All Rights Reserved </a:t>
            </a:r>
            <a:endParaRPr lang="en-US" dirty="0"/>
          </a:p>
        </p:txBody>
      </p:sp>
      <p:sp>
        <p:nvSpPr>
          <p:cNvPr id="4" name="Date Placeholder 3"/>
          <p:cNvSpPr>
            <a:spLocks noGrp="1"/>
          </p:cNvSpPr>
          <p:nvPr>
            <p:ph type="dt" sz="half" idx="2"/>
          </p:nvPr>
        </p:nvSpPr>
        <p:spPr>
          <a:xfrm>
            <a:off x="6335713" y="84804"/>
            <a:ext cx="2133600" cy="137160"/>
          </a:xfrm>
          <a:prstGeom prst="rect">
            <a:avLst/>
          </a:prstGeom>
        </p:spPr>
        <p:txBody>
          <a:bodyPr vert="horz" lIns="91440" tIns="45720" rIns="91440" bIns="45720" rtlCol="0" anchor="ctr"/>
          <a:lstStyle>
            <a:lvl1pPr algn="r">
              <a:defRPr sz="900">
                <a:solidFill>
                  <a:schemeClr val="bg1"/>
                </a:solidFill>
              </a:defRPr>
            </a:lvl1pPr>
          </a:lstStyle>
          <a:p>
            <a:fld id="{CD86E54A-FB9D-43A8-ABDC-0C82DD7876AF}" type="datetime1">
              <a:rPr lang="en-US" smtClean="0"/>
              <a:t>12/16/2021</a:t>
            </a:fld>
            <a:endParaRPr lang="en-US" dirty="0"/>
          </a:p>
        </p:txBody>
      </p:sp>
      <p:sp>
        <p:nvSpPr>
          <p:cNvPr id="6" name="Slide Number Placeholder 5"/>
          <p:cNvSpPr>
            <a:spLocks noGrp="1"/>
          </p:cNvSpPr>
          <p:nvPr>
            <p:ph type="sldNum" sz="quarter" idx="4"/>
          </p:nvPr>
        </p:nvSpPr>
        <p:spPr>
          <a:xfrm>
            <a:off x="8469314" y="84804"/>
            <a:ext cx="551783" cy="137160"/>
          </a:xfrm>
          <a:prstGeom prst="rect">
            <a:avLst/>
          </a:prstGeom>
        </p:spPr>
        <p:txBody>
          <a:bodyPr vert="horz" lIns="91440" tIns="45720" rIns="91440" bIns="45720" rtlCol="0" anchor="ctr"/>
          <a:lstStyle>
            <a:lvl1pPr algn="r">
              <a:defRPr sz="900">
                <a:solidFill>
                  <a:schemeClr val="bg1"/>
                </a:solidFill>
              </a:defRPr>
            </a:lvl1pPr>
          </a:lstStyle>
          <a:p>
            <a:fld id="{200B2350-5261-4F5C-9DF5-EF0D264FC8D2}" type="slidenum">
              <a:rPr lang="en-US" smtClean="0"/>
              <a:pPr/>
              <a:t>‹#›</a:t>
            </a:fld>
            <a:endParaRPr lang="en-US" dirty="0"/>
          </a:p>
        </p:txBody>
      </p:sp>
      <p:sp>
        <p:nvSpPr>
          <p:cNvPr id="8" name="TextBox 7"/>
          <p:cNvSpPr txBox="1"/>
          <p:nvPr userDrawn="1"/>
        </p:nvSpPr>
        <p:spPr>
          <a:xfrm>
            <a:off x="2226578" y="4800602"/>
            <a:ext cx="6553200" cy="276999"/>
          </a:xfrm>
          <a:prstGeom prst="rect">
            <a:avLst/>
          </a:prstGeom>
          <a:noFill/>
        </p:spPr>
        <p:txBody>
          <a:bodyPr wrap="square" rtlCol="0">
            <a:spAutoFit/>
          </a:bodyPr>
          <a:lstStyle/>
          <a:p>
            <a:pPr algn="r">
              <a:buClrTx/>
              <a:defRPr/>
            </a:pPr>
            <a:r>
              <a:rPr lang="en-US" sz="1200" dirty="0">
                <a:latin typeface="Verdana" panose="020B0604030504040204" pitchFamily="34" charset="0"/>
                <a:ea typeface="Verdana" panose="020B0604030504040204" pitchFamily="34" charset="0"/>
                <a:cs typeface="Verdana" panose="020B0604030504040204" pitchFamily="34" charset="0"/>
              </a:rPr>
              <a:t>Copyright © 2022, 2020, 2018 Pearson Education, Inc.</a:t>
            </a:r>
            <a:r>
              <a:rPr lang="en-US" sz="1200" b="1" dirty="0">
                <a:latin typeface="Verdana" panose="020B0604030504040204" pitchFamily="34" charset="0"/>
                <a:ea typeface="Verdana" panose="020B0604030504040204" pitchFamily="34" charset="0"/>
                <a:cs typeface="Verdana" panose="020B0604030504040204" pitchFamily="34" charset="0"/>
              </a:rPr>
              <a:t> </a:t>
            </a:r>
            <a:r>
              <a:rPr lang="en-US" sz="1200" dirty="0">
                <a:latin typeface="Verdana" panose="020B0604030504040204" pitchFamily="34" charset="0"/>
                <a:ea typeface="Verdana" panose="020B0604030504040204" pitchFamily="34" charset="0"/>
                <a:cs typeface="Verdana" panose="020B0604030504040204" pitchFamily="34" charset="0"/>
              </a:rPr>
              <a:t>All Rights Reserved</a:t>
            </a:r>
            <a:endParaRPr lang="en-US" altLang="en-US" sz="1200" dirty="0">
              <a:latin typeface="Verdana" panose="020B0604030504040204" pitchFamily="34" charset="0"/>
              <a:ea typeface="Verdana" panose="020B0604030504040204" pitchFamily="34" charset="0"/>
              <a:cs typeface="Verdana" panose="020B0604030504040204" pitchFamily="34" charset="0"/>
            </a:endParaRPr>
          </a:p>
        </p:txBody>
      </p:sp>
      <p:pic>
        <p:nvPicPr>
          <p:cNvPr id="9" name="Picture 8" descr="Pearson Logo"/>
          <p:cNvPicPr>
            <a:picLocks noChangeAspect="1"/>
          </p:cNvPicPr>
          <p:nvPr userDrawn="1"/>
        </p:nvPicPr>
        <p:blipFill>
          <a:blip r:embed="rId16" cstate="print">
            <a:extLst>
              <a:ext uri="{28A0092B-C50C-407E-A947-70E740481C1C}">
                <a14:useLocalDpi xmlns:a14="http://schemas.microsoft.com/office/drawing/2010/main" val="0"/>
              </a:ext>
            </a:extLst>
          </a:blip>
          <a:stretch>
            <a:fillRect/>
          </a:stretch>
        </p:blipFill>
        <p:spPr>
          <a:xfrm>
            <a:off x="457200" y="4825798"/>
            <a:ext cx="688622" cy="209973"/>
          </a:xfrm>
          <a:prstGeom prst="rect">
            <a:avLst/>
          </a:prstGeom>
        </p:spPr>
      </p:pic>
    </p:spTree>
    <p:extLst>
      <p:ext uri="{BB962C8B-B14F-4D97-AF65-F5344CB8AC3E}">
        <p14:creationId xmlns:p14="http://schemas.microsoft.com/office/powerpoint/2010/main" val="3691570016"/>
      </p:ext>
    </p:extLst>
  </p:cSld>
  <p:clrMap bg1="lt1" tx1="dk1" bg2="lt2" tx2="dk2" accent1="accent1" accent2="accent2" accent3="accent3" accent4="accent4" accent5="accent5" accent6="accent6" hlink="hlink" folHlink="folHlink"/>
  <p:sldLayoutIdLst>
    <p:sldLayoutId id="2147483649" r:id="rId1"/>
    <p:sldLayoutId id="2147483657" r:id="rId2"/>
    <p:sldLayoutId id="2147483661" r:id="rId3"/>
    <p:sldLayoutId id="2147483656" r:id="rId4"/>
    <p:sldLayoutId id="2147483650" r:id="rId5"/>
    <p:sldLayoutId id="2147483659" r:id="rId6"/>
    <p:sldLayoutId id="2147483658" r:id="rId7"/>
    <p:sldLayoutId id="2147483660" r:id="rId8"/>
    <p:sldLayoutId id="2147483662" r:id="rId9"/>
    <p:sldLayoutId id="2147483651" r:id="rId10"/>
    <p:sldLayoutId id="2147483654" r:id="rId11"/>
    <p:sldLayoutId id="2147483655" r:id="rId12"/>
    <p:sldLayoutId id="2147483663" r:id="rId13"/>
    <p:sldLayoutId id="2147483664" r:id="rId14"/>
  </p:sldLayoutIdLst>
  <p:hf sldNum="0" hdr="0" dt="0"/>
  <p:txStyles>
    <p:titleStyle>
      <a:lvl1pPr algn="l" defTabSz="914400" rtl="0" eaLnBrk="1" latinLnBrk="0" hangingPunct="1">
        <a:lnSpc>
          <a:spcPct val="100000"/>
        </a:lnSpc>
        <a:spcBef>
          <a:spcPct val="0"/>
        </a:spcBef>
        <a:buNone/>
        <a:defRPr sz="3600" b="1" kern="1200">
          <a:solidFill>
            <a:srgbClr val="007FA3"/>
          </a:solidFill>
          <a:latin typeface="+mj-lt"/>
          <a:ea typeface="+mj-ea"/>
          <a:cs typeface="Times New Roman" panose="02020603050405020304" pitchFamily="18" charset="0"/>
        </a:defRPr>
      </a:lvl1pPr>
    </p:titleStyle>
    <p:bodyStyle>
      <a:lvl1pPr marL="256032" indent="-256032" algn="l" defTabSz="914400" rtl="0" eaLnBrk="1" latinLnBrk="0" hangingPunct="1">
        <a:spcBef>
          <a:spcPts val="1500"/>
        </a:spcBef>
        <a:buClr>
          <a:srgbClr val="007FA3"/>
        </a:buClr>
        <a:buFont typeface="Arial" panose="020B0604020202020204" pitchFamily="34" charset="0"/>
        <a:buChar char="•"/>
        <a:defRPr sz="24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22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20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hyperlink" Target="http://www.youtube.com/watch?v=EwipuAZoUvo" TargetMode="External"/><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40.xml"/><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42.xml"/><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44.xml"/><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49.xml"/><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1.xml"/><Relationship Id="rId1" Type="http://schemas.openxmlformats.org/officeDocument/2006/relationships/slideLayout" Target="../slideLayouts/slideLayout14.xml"/><Relationship Id="rId4" Type="http://schemas.openxmlformats.org/officeDocument/2006/relationships/image" Target="../media/image14.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1439"/>
            <a:ext cx="8229600" cy="1097026"/>
          </a:xfrm>
        </p:spPr>
        <p:txBody>
          <a:bodyPr wrap="square" anchor="b">
            <a:spAutoFit/>
          </a:bodyPr>
          <a:lstStyle/>
          <a:p>
            <a:r>
              <a:rPr lang="en-IN" dirty="0"/>
              <a:t>Management Information Systems: Managing the Digital Firm</a:t>
            </a:r>
          </a:p>
        </p:txBody>
      </p:sp>
      <p:sp>
        <p:nvSpPr>
          <p:cNvPr id="3" name="Text Placeholder 2"/>
          <p:cNvSpPr>
            <a:spLocks noGrp="1"/>
          </p:cNvSpPr>
          <p:nvPr>
            <p:ph type="body" sz="quarter" idx="13"/>
          </p:nvPr>
        </p:nvSpPr>
        <p:spPr>
          <a:xfrm>
            <a:off x="457200" y="1162169"/>
            <a:ext cx="8229600" cy="307777"/>
          </a:xfrm>
        </p:spPr>
        <p:txBody>
          <a:bodyPr vert="horz" lIns="0" tIns="0" rIns="0" bIns="0" rtlCol="0" anchor="t">
            <a:spAutoFit/>
          </a:bodyPr>
          <a:lstStyle/>
          <a:p>
            <a:r>
              <a:rPr lang="en-IN" dirty="0"/>
              <a:t>Seventeenth Edition, Global Edition</a:t>
            </a:r>
          </a:p>
        </p:txBody>
      </p:sp>
      <p:sp>
        <p:nvSpPr>
          <p:cNvPr id="4" name="Text Placeholder 3"/>
          <p:cNvSpPr>
            <a:spLocks noGrp="1"/>
          </p:cNvSpPr>
          <p:nvPr>
            <p:ph type="body" sz="quarter" idx="14"/>
          </p:nvPr>
        </p:nvSpPr>
        <p:spPr>
          <a:xfrm>
            <a:off x="4569037" y="1824027"/>
            <a:ext cx="4117765" cy="492443"/>
          </a:xfrm>
        </p:spPr>
        <p:txBody>
          <a:bodyPr wrap="square">
            <a:spAutoFit/>
          </a:bodyPr>
          <a:lstStyle/>
          <a:p>
            <a:r>
              <a:rPr lang="en-IN" sz="3200" dirty="0"/>
              <a:t>Chapter 1</a:t>
            </a:r>
          </a:p>
        </p:txBody>
      </p:sp>
      <p:sp>
        <p:nvSpPr>
          <p:cNvPr id="5" name="Text Placeholder 4"/>
          <p:cNvSpPr>
            <a:spLocks noGrp="1"/>
          </p:cNvSpPr>
          <p:nvPr>
            <p:ph type="body" sz="quarter" idx="15"/>
          </p:nvPr>
        </p:nvSpPr>
        <p:spPr>
          <a:xfrm>
            <a:off x="4569037" y="2460549"/>
            <a:ext cx="4117765" cy="615553"/>
          </a:xfrm>
        </p:spPr>
        <p:txBody>
          <a:bodyPr wrap="square">
            <a:spAutoFit/>
          </a:bodyPr>
          <a:lstStyle/>
          <a:p>
            <a:r>
              <a:rPr lang="en-IN" altLang="en-US" sz="2000" dirty="0"/>
              <a:t>Information Systems in Global Business Today</a:t>
            </a:r>
          </a:p>
        </p:txBody>
      </p:sp>
      <p:sp>
        <p:nvSpPr>
          <p:cNvPr id="11" name="Text Placeholder 3"/>
          <p:cNvSpPr>
            <a:spLocks noGrp="1"/>
          </p:cNvSpPr>
          <p:nvPr>
            <p:ph type="body" sz="quarter" idx="14"/>
          </p:nvPr>
        </p:nvSpPr>
        <p:spPr>
          <a:xfrm>
            <a:off x="2309414" y="4843236"/>
            <a:ext cx="6385810" cy="184666"/>
          </a:xfrm>
        </p:spPr>
        <p:txBody>
          <a:bodyPr>
            <a:spAutoFit/>
          </a:bodyPr>
          <a:lstStyle/>
          <a:p>
            <a:pPr algn="r">
              <a:buClrTx/>
              <a:defRPr/>
            </a:pPr>
            <a:r>
              <a:rPr lang="en-US" sz="1200" dirty="0">
                <a:latin typeface="Verdana" panose="020B0604030504040204" pitchFamily="34" charset="0"/>
                <a:ea typeface="Verdana" panose="020B0604030504040204" pitchFamily="34" charset="0"/>
                <a:cs typeface="Verdana" panose="020B0604030504040204" pitchFamily="34" charset="0"/>
              </a:rPr>
              <a:t>Copyright © 2022, 2020, 2018 Pearson Education, Ltd.</a:t>
            </a:r>
            <a:r>
              <a:rPr lang="en-US" sz="1200" b="1" dirty="0">
                <a:latin typeface="Verdana" panose="020B0604030504040204" pitchFamily="34" charset="0"/>
                <a:ea typeface="Verdana" panose="020B0604030504040204" pitchFamily="34" charset="0"/>
                <a:cs typeface="Verdana" panose="020B0604030504040204" pitchFamily="34" charset="0"/>
              </a:rPr>
              <a:t> </a:t>
            </a:r>
            <a:r>
              <a:rPr lang="en-US" sz="1200" dirty="0">
                <a:latin typeface="Verdana" panose="020B0604030504040204" pitchFamily="34" charset="0"/>
                <a:ea typeface="Verdana" panose="020B0604030504040204" pitchFamily="34" charset="0"/>
                <a:cs typeface="Verdana" panose="020B0604030504040204" pitchFamily="34" charset="0"/>
              </a:rPr>
              <a:t>All Rights Reserved</a:t>
            </a:r>
            <a:endParaRPr lang="en-US" altLang="en-US" sz="1200" dirty="0">
              <a:latin typeface="Verdana" panose="020B0604030504040204" pitchFamily="34" charset="0"/>
              <a:ea typeface="Verdana" panose="020B0604030504040204" pitchFamily="34" charset="0"/>
              <a:cs typeface="Verdana" panose="020B0604030504040204" pitchFamily="34" charset="0"/>
            </a:endParaRPr>
          </a:p>
        </p:txBody>
      </p:sp>
      <p:pic>
        <p:nvPicPr>
          <p:cNvPr id="7" name="Picture 6">
            <a:extLst>
              <a:ext uri="{FF2B5EF4-FFF2-40B4-BE49-F238E27FC236}">
                <a16:creationId xmlns:a16="http://schemas.microsoft.com/office/drawing/2014/main" id="{46658F88-39AB-4346-A1F2-50DDCB6044D8}"/>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433327" y="1518086"/>
            <a:ext cx="2496016" cy="3116031"/>
          </a:xfrm>
          <a:prstGeom prst="rect">
            <a:avLst/>
          </a:prstGeom>
        </p:spPr>
      </p:pic>
    </p:spTree>
    <p:extLst>
      <p:ext uri="{BB962C8B-B14F-4D97-AF65-F5344CB8AC3E}">
        <p14:creationId xmlns:p14="http://schemas.microsoft.com/office/powerpoint/2010/main" val="2502120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24026"/>
            <a:ext cx="8229600" cy="553998"/>
          </a:xfrm>
        </p:spPr>
        <p:txBody>
          <a:bodyPr>
            <a:spAutoFit/>
          </a:bodyPr>
          <a:lstStyle/>
          <a:p>
            <a:r>
              <a:rPr lang="en-US" altLang="en-US" dirty="0"/>
              <a:t>Learning Objectives</a:t>
            </a:r>
            <a:endParaRPr lang="en-US" dirty="0"/>
          </a:p>
        </p:txBody>
      </p:sp>
      <p:sp>
        <p:nvSpPr>
          <p:cNvPr id="5" name="Content Placeholder 4"/>
          <p:cNvSpPr>
            <a:spLocks noGrp="1"/>
          </p:cNvSpPr>
          <p:nvPr>
            <p:ph idx="1"/>
          </p:nvPr>
        </p:nvSpPr>
        <p:spPr>
          <a:xfrm>
            <a:off x="457200" y="780528"/>
            <a:ext cx="8229600" cy="3654847"/>
          </a:xfrm>
        </p:spPr>
        <p:txBody>
          <a:bodyPr vert="horz" lIns="0" tIns="0" rIns="0" bIns="0" rtlCol="0" anchor="t">
            <a:spAutoFit/>
          </a:bodyPr>
          <a:lstStyle/>
          <a:p>
            <a:pPr marL="542925" indent="-542925">
              <a:buNone/>
              <a:tabLst>
                <a:tab pos="514350" algn="l"/>
              </a:tabLst>
            </a:pPr>
            <a:r>
              <a:rPr lang="en-US" altLang="en-US" sz="2000" b="1" dirty="0">
                <a:solidFill>
                  <a:schemeClr val="bg2"/>
                </a:solidFill>
              </a:rPr>
              <a:t>1.1</a:t>
            </a:r>
            <a:r>
              <a:rPr lang="en-US" altLang="en-US" sz="2000" b="1" dirty="0"/>
              <a:t> </a:t>
            </a:r>
            <a:r>
              <a:rPr lang="en-IN" altLang="en-US" sz="2000" dirty="0"/>
              <a:t>How are information systems transforming business, and why are they so essential for running and managing a business today?</a:t>
            </a:r>
          </a:p>
          <a:p>
            <a:pPr marL="542925" indent="-542925">
              <a:buNone/>
              <a:tabLst>
                <a:tab pos="485775" algn="l"/>
              </a:tabLst>
            </a:pPr>
            <a:r>
              <a:rPr lang="en-US" altLang="en-US" sz="2000" b="1" dirty="0">
                <a:solidFill>
                  <a:schemeClr val="bg2"/>
                </a:solidFill>
              </a:rPr>
              <a:t>1.2</a:t>
            </a:r>
            <a:r>
              <a:rPr lang="en-US" altLang="en-US" sz="2000" b="1" dirty="0"/>
              <a:t> </a:t>
            </a:r>
            <a:r>
              <a:rPr lang="en-IN" altLang="en-US" sz="2000" dirty="0"/>
              <a:t>What is an information system? How does it work? What are its management, organization, and technology components? Why are complementary assets essential for ensuring that information systems provide genuine value for organizations?</a:t>
            </a:r>
          </a:p>
          <a:p>
            <a:pPr marL="542925" indent="-542925">
              <a:buNone/>
              <a:tabLst>
                <a:tab pos="542925" algn="l"/>
              </a:tabLst>
            </a:pPr>
            <a:r>
              <a:rPr lang="en-US" altLang="en-US" sz="2000" b="1" dirty="0">
                <a:solidFill>
                  <a:schemeClr val="bg2"/>
                </a:solidFill>
              </a:rPr>
              <a:t>1.3</a:t>
            </a:r>
            <a:r>
              <a:rPr lang="en-US" altLang="en-US" sz="2000" b="1" dirty="0"/>
              <a:t> </a:t>
            </a:r>
            <a:r>
              <a:rPr lang="en-IN" altLang="en-US" sz="2000" dirty="0"/>
              <a:t>What academic disciplines are used to study information systems, and how does each contribute to an understanding of information systems?</a:t>
            </a:r>
          </a:p>
          <a:p>
            <a:pPr marL="0" indent="0">
              <a:buNone/>
            </a:pPr>
            <a:r>
              <a:rPr lang="en-US" altLang="en-US" sz="2000" b="1" dirty="0">
                <a:solidFill>
                  <a:schemeClr val="bg2"/>
                </a:solidFill>
              </a:rPr>
              <a:t>1.4</a:t>
            </a:r>
            <a:r>
              <a:rPr lang="en-US" altLang="en-US" sz="2000" dirty="0">
                <a:cs typeface="Arial"/>
              </a:rPr>
              <a:t> </a:t>
            </a:r>
            <a:r>
              <a:rPr lang="en-IN" altLang="en-US" sz="2000" dirty="0">
                <a:cs typeface="Arial"/>
              </a:rPr>
              <a:t>How will MIS help my career?</a:t>
            </a:r>
          </a:p>
        </p:txBody>
      </p:sp>
      <p:sp>
        <p:nvSpPr>
          <p:cNvPr id="2" name="Footer Placeholder 1">
            <a:extLst>
              <a:ext uri="{FF2B5EF4-FFF2-40B4-BE49-F238E27FC236}">
                <a16:creationId xmlns:a16="http://schemas.microsoft.com/office/drawing/2014/main" id="{096EA92F-375E-49EE-9491-9AB568EA8252}"/>
              </a:ext>
            </a:extLst>
          </p:cNvPr>
          <p:cNvSpPr>
            <a:spLocks noGrp="1"/>
          </p:cNvSpPr>
          <p:nvPr>
            <p:ph type="ftr" sz="quarter" idx="11"/>
          </p:nvPr>
        </p:nvSpPr>
        <p:spPr/>
        <p:txBody>
          <a:bodyPr/>
          <a:lstStyle/>
          <a:p>
            <a:r>
              <a:rPr lang="en-US"/>
              <a:t>Copyright © 2022, 2020, 2018 Pearson Education, Ltd. All Rights Reserved </a:t>
            </a:r>
            <a:endParaRPr lang="en-US" dirty="0"/>
          </a:p>
        </p:txBody>
      </p:sp>
    </p:spTree>
    <p:extLst>
      <p:ext uri="{BB962C8B-B14F-4D97-AF65-F5344CB8AC3E}">
        <p14:creationId xmlns:p14="http://schemas.microsoft.com/office/powerpoint/2010/main" val="3925979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24026"/>
            <a:ext cx="8229600" cy="553998"/>
          </a:xfrm>
        </p:spPr>
        <p:txBody>
          <a:bodyPr>
            <a:spAutoFit/>
          </a:bodyPr>
          <a:lstStyle/>
          <a:p>
            <a:r>
              <a:rPr lang="en-IN" altLang="en-US" dirty="0"/>
              <a:t>Video Cases</a:t>
            </a:r>
            <a:endParaRPr lang="en-US" sz="2800" dirty="0"/>
          </a:p>
        </p:txBody>
      </p:sp>
      <p:sp>
        <p:nvSpPr>
          <p:cNvPr id="5" name="Content Placeholder 4"/>
          <p:cNvSpPr>
            <a:spLocks noGrp="1"/>
          </p:cNvSpPr>
          <p:nvPr>
            <p:ph idx="1"/>
          </p:nvPr>
        </p:nvSpPr>
        <p:spPr>
          <a:xfrm>
            <a:off x="457200" y="722228"/>
            <a:ext cx="8229600" cy="2231380"/>
          </a:xfrm>
        </p:spPr>
        <p:txBody>
          <a:bodyPr>
            <a:spAutoFit/>
          </a:bodyPr>
          <a:lstStyle/>
          <a:p>
            <a:pPr indent="-255600"/>
            <a:r>
              <a:rPr lang="en-IN" dirty="0"/>
              <a:t>Case 1: Business in the Cloud: Facebook, Google, and eBay Data </a:t>
            </a:r>
            <a:r>
              <a:rPr lang="en-IN" dirty="0" err="1"/>
              <a:t>Centers</a:t>
            </a:r>
            <a:r>
              <a:rPr lang="en-IN" dirty="0"/>
              <a:t> </a:t>
            </a:r>
          </a:p>
          <a:p>
            <a:pPr indent="-255600"/>
            <a:r>
              <a:rPr lang="en-IN" dirty="0"/>
              <a:t>Case 2: </a:t>
            </a:r>
            <a:r>
              <a:rPr lang="en-IN" spc="-300" dirty="0"/>
              <a:t>U P </a:t>
            </a:r>
            <a:r>
              <a:rPr lang="en-IN" dirty="0"/>
              <a:t>S Global Operations with the </a:t>
            </a:r>
            <a:r>
              <a:rPr lang="en-IN" spc="-300" dirty="0"/>
              <a:t>D I A </a:t>
            </a:r>
            <a:r>
              <a:rPr lang="en-IN" dirty="0"/>
              <a:t>D and </a:t>
            </a:r>
            <a:r>
              <a:rPr lang="en-IN" dirty="0" err="1"/>
              <a:t>Worldport</a:t>
            </a:r>
            <a:endParaRPr lang="en-IN" dirty="0"/>
          </a:p>
          <a:p>
            <a:pPr indent="-255600"/>
            <a:r>
              <a:rPr lang="en-IN" dirty="0">
                <a:hlinkClick r:id="rId3"/>
              </a:rPr>
              <a:t>Instructional Video: Tour </a:t>
            </a:r>
            <a:r>
              <a:rPr lang="en-IN" spc="-300" dirty="0">
                <a:hlinkClick r:id="rId3"/>
              </a:rPr>
              <a:t>I B </a:t>
            </a:r>
            <a:r>
              <a:rPr lang="en-IN" dirty="0">
                <a:hlinkClick r:id="rId3"/>
              </a:rPr>
              <a:t>M’s Raleigh Data </a:t>
            </a:r>
            <a:r>
              <a:rPr lang="en-IN" dirty="0" err="1">
                <a:hlinkClick r:id="rId3"/>
              </a:rPr>
              <a:t>Center</a:t>
            </a:r>
            <a:endParaRPr lang="en-IN" dirty="0"/>
          </a:p>
        </p:txBody>
      </p:sp>
      <p:sp>
        <p:nvSpPr>
          <p:cNvPr id="2" name="Footer Placeholder 1">
            <a:extLst>
              <a:ext uri="{FF2B5EF4-FFF2-40B4-BE49-F238E27FC236}">
                <a16:creationId xmlns:a16="http://schemas.microsoft.com/office/drawing/2014/main" id="{CDC407E7-E5FC-4FEF-9F12-C2021B5D4763}"/>
              </a:ext>
            </a:extLst>
          </p:cNvPr>
          <p:cNvSpPr>
            <a:spLocks noGrp="1"/>
          </p:cNvSpPr>
          <p:nvPr>
            <p:ph type="ftr" sz="quarter" idx="11"/>
          </p:nvPr>
        </p:nvSpPr>
        <p:spPr/>
        <p:txBody>
          <a:bodyPr/>
          <a:lstStyle/>
          <a:p>
            <a:r>
              <a:rPr lang="en-US"/>
              <a:t>Copyright © 2022, 2020, 2018 Pearson Education, Ltd. All Rights Reserved </a:t>
            </a:r>
            <a:endParaRPr lang="en-US" dirty="0"/>
          </a:p>
        </p:txBody>
      </p:sp>
    </p:spTree>
    <p:extLst>
      <p:ext uri="{BB962C8B-B14F-4D97-AF65-F5344CB8AC3E}">
        <p14:creationId xmlns:p14="http://schemas.microsoft.com/office/powerpoint/2010/main" val="42609394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0469"/>
            <a:ext cx="8229600" cy="1107996"/>
          </a:xfrm>
        </p:spPr>
        <p:txBody>
          <a:bodyPr>
            <a:spAutoFit/>
          </a:bodyPr>
          <a:lstStyle/>
          <a:p>
            <a:r>
              <a:rPr lang="en-IN" altLang="en-US" dirty="0"/>
              <a:t>Smart Stores Reinvent the Retail Space </a:t>
            </a:r>
            <a:r>
              <a:rPr lang="en-IN" altLang="en-US" sz="2800" dirty="0"/>
              <a:t>(1 of 2)</a:t>
            </a:r>
            <a:endParaRPr lang="en-US" sz="2800" dirty="0"/>
          </a:p>
        </p:txBody>
      </p:sp>
      <p:sp>
        <p:nvSpPr>
          <p:cNvPr id="5" name="Content Placeholder 4"/>
          <p:cNvSpPr>
            <a:spLocks noGrp="1"/>
          </p:cNvSpPr>
          <p:nvPr>
            <p:ph idx="1"/>
          </p:nvPr>
        </p:nvSpPr>
        <p:spPr>
          <a:xfrm>
            <a:off x="457200" y="1254496"/>
            <a:ext cx="8229600" cy="3347070"/>
          </a:xfrm>
        </p:spPr>
        <p:txBody>
          <a:bodyPr>
            <a:spAutoFit/>
          </a:bodyPr>
          <a:lstStyle/>
          <a:p>
            <a:r>
              <a:rPr lang="en-US" sz="2000" dirty="0"/>
              <a:t>Business Challenges</a:t>
            </a:r>
          </a:p>
          <a:p>
            <a:pPr lvl="1"/>
            <a:r>
              <a:rPr lang="en-US" sz="2000" dirty="0"/>
              <a:t>Mounting competition from online retailers</a:t>
            </a:r>
            <a:endParaRPr lang="en-US" altLang="en-US" sz="2000" dirty="0"/>
          </a:p>
          <a:p>
            <a:pPr lvl="1"/>
            <a:r>
              <a:rPr lang="en-US" sz="2000" dirty="0"/>
              <a:t>Take advantage of opportunities provided by new technology</a:t>
            </a:r>
            <a:endParaRPr lang="en-US" altLang="en-US" sz="2000" dirty="0"/>
          </a:p>
          <a:p>
            <a:r>
              <a:rPr lang="en-US" altLang="en-US" sz="2000" dirty="0"/>
              <a:t>Solutions  </a:t>
            </a:r>
          </a:p>
          <a:p>
            <a:pPr lvl="1"/>
            <a:r>
              <a:rPr lang="en-US" sz="2000" dirty="0" err="1"/>
              <a:t>Acrelec</a:t>
            </a:r>
            <a:r>
              <a:rPr lang="en-US" sz="2000" dirty="0"/>
              <a:t> system helps stores manage curbside pickup</a:t>
            </a:r>
          </a:p>
          <a:p>
            <a:pPr lvl="1"/>
            <a:r>
              <a:rPr lang="en-US" sz="2000" dirty="0"/>
              <a:t>AWM Smart Shelf enables retailers to view and track products in real-time; helps shoppers locate products using mobile devices; personalizes shopper experiences</a:t>
            </a:r>
          </a:p>
          <a:p>
            <a:pPr lvl="1"/>
            <a:r>
              <a:rPr lang="en-US" sz="2000" dirty="0"/>
              <a:t>AWM Frictionless enables low-contact </a:t>
            </a:r>
            <a:r>
              <a:rPr lang="en-US" sz="2000" dirty="0" err="1"/>
              <a:t>cashierless</a:t>
            </a:r>
            <a:r>
              <a:rPr lang="en-US" sz="2000" dirty="0"/>
              <a:t> checkout</a:t>
            </a:r>
          </a:p>
        </p:txBody>
      </p:sp>
      <p:sp>
        <p:nvSpPr>
          <p:cNvPr id="2" name="Footer Placeholder 1">
            <a:extLst>
              <a:ext uri="{FF2B5EF4-FFF2-40B4-BE49-F238E27FC236}">
                <a16:creationId xmlns:a16="http://schemas.microsoft.com/office/drawing/2014/main" id="{37766836-52A2-43F2-A7B0-7C179552441D}"/>
              </a:ext>
            </a:extLst>
          </p:cNvPr>
          <p:cNvSpPr>
            <a:spLocks noGrp="1"/>
          </p:cNvSpPr>
          <p:nvPr>
            <p:ph type="ftr" sz="quarter" idx="11"/>
          </p:nvPr>
        </p:nvSpPr>
        <p:spPr/>
        <p:txBody>
          <a:bodyPr/>
          <a:lstStyle/>
          <a:p>
            <a:r>
              <a:rPr lang="en-US"/>
              <a:t>Copyright © 2022, 2020, 2018 Pearson Education, Ltd. All Rights Reserved </a:t>
            </a:r>
            <a:endParaRPr lang="en-US" dirty="0"/>
          </a:p>
        </p:txBody>
      </p:sp>
    </p:spTree>
    <p:extLst>
      <p:ext uri="{BB962C8B-B14F-4D97-AF65-F5344CB8AC3E}">
        <p14:creationId xmlns:p14="http://schemas.microsoft.com/office/powerpoint/2010/main" val="1667436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0469"/>
            <a:ext cx="8229600" cy="1107996"/>
          </a:xfrm>
        </p:spPr>
        <p:txBody>
          <a:bodyPr>
            <a:spAutoFit/>
          </a:bodyPr>
          <a:lstStyle/>
          <a:p>
            <a:r>
              <a:rPr lang="en-IN" altLang="en-US" dirty="0"/>
              <a:t>Smart Stores Reinvent the Retail Space </a:t>
            </a:r>
            <a:r>
              <a:rPr lang="en-IN" altLang="en-US" sz="2800" dirty="0"/>
              <a:t>(2 of 2)</a:t>
            </a:r>
            <a:endParaRPr lang="en-US" sz="2800" dirty="0"/>
          </a:p>
        </p:txBody>
      </p:sp>
      <p:sp>
        <p:nvSpPr>
          <p:cNvPr id="5" name="Content Placeholder 4"/>
          <p:cNvSpPr>
            <a:spLocks noGrp="1"/>
          </p:cNvSpPr>
          <p:nvPr>
            <p:ph idx="1"/>
          </p:nvPr>
        </p:nvSpPr>
        <p:spPr>
          <a:xfrm>
            <a:off x="457200" y="1266438"/>
            <a:ext cx="8229600" cy="3339376"/>
          </a:xfrm>
        </p:spPr>
        <p:txBody>
          <a:bodyPr>
            <a:spAutoFit/>
          </a:bodyPr>
          <a:lstStyle/>
          <a:p>
            <a:r>
              <a:rPr lang="en-US" dirty="0"/>
              <a:t>Illustrates how brick-and-mortar retail stores are using information technology to compete more effectively against online retailers</a:t>
            </a:r>
          </a:p>
          <a:p>
            <a:r>
              <a:rPr lang="en-US" altLang="en-US" dirty="0"/>
              <a:t>Demonstrates </a:t>
            </a:r>
            <a:r>
              <a:rPr lang="en-US" altLang="en-US" spc="-300" dirty="0"/>
              <a:t>I </a:t>
            </a:r>
            <a:r>
              <a:rPr lang="en-US" altLang="en-US" dirty="0"/>
              <a:t>T</a:t>
            </a:r>
            <a:r>
              <a:rPr lang="en-US" altLang="ja-JP" dirty="0"/>
              <a:t>’s role in driving business operations and management decisions</a:t>
            </a:r>
          </a:p>
          <a:p>
            <a:r>
              <a:rPr lang="en-US" altLang="en-US" dirty="0"/>
              <a:t>Illustrates how deploying new technology requires companies to redesign jobs and procedures, changing how companies run their businesses</a:t>
            </a:r>
          </a:p>
        </p:txBody>
      </p:sp>
      <p:sp>
        <p:nvSpPr>
          <p:cNvPr id="2" name="Footer Placeholder 1">
            <a:extLst>
              <a:ext uri="{FF2B5EF4-FFF2-40B4-BE49-F238E27FC236}">
                <a16:creationId xmlns:a16="http://schemas.microsoft.com/office/drawing/2014/main" id="{76D0949D-EB28-496F-A735-53E19D6036DE}"/>
              </a:ext>
            </a:extLst>
          </p:cNvPr>
          <p:cNvSpPr>
            <a:spLocks noGrp="1"/>
          </p:cNvSpPr>
          <p:nvPr>
            <p:ph type="ftr" sz="quarter" idx="11"/>
          </p:nvPr>
        </p:nvSpPr>
        <p:spPr/>
        <p:txBody>
          <a:bodyPr/>
          <a:lstStyle/>
          <a:p>
            <a:r>
              <a:rPr lang="en-US"/>
              <a:t>Copyright © 2022, 2020, 2018 Pearson Education, Ltd. All Rights Reserved </a:t>
            </a:r>
            <a:endParaRPr lang="en-US" dirty="0"/>
          </a:p>
        </p:txBody>
      </p:sp>
    </p:spTree>
    <p:extLst>
      <p:ext uri="{BB962C8B-B14F-4D97-AF65-F5344CB8AC3E}">
        <p14:creationId xmlns:p14="http://schemas.microsoft.com/office/powerpoint/2010/main" val="21232424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3043"/>
            <a:ext cx="8229600" cy="1107996"/>
          </a:xfrm>
        </p:spPr>
        <p:txBody>
          <a:bodyPr>
            <a:spAutoFit/>
          </a:bodyPr>
          <a:lstStyle/>
          <a:p>
            <a:r>
              <a:rPr lang="en-IN" altLang="en-US" dirty="0"/>
              <a:t>How Information Systems Are Transforming Business </a:t>
            </a:r>
            <a:endParaRPr lang="en-US" sz="2800" dirty="0"/>
          </a:p>
        </p:txBody>
      </p:sp>
      <p:sp>
        <p:nvSpPr>
          <p:cNvPr id="5" name="Content Placeholder 4"/>
          <p:cNvSpPr>
            <a:spLocks noGrp="1"/>
          </p:cNvSpPr>
          <p:nvPr>
            <p:ph idx="1"/>
          </p:nvPr>
        </p:nvSpPr>
        <p:spPr>
          <a:xfrm>
            <a:off x="457200" y="1352550"/>
            <a:ext cx="8229600" cy="2970044"/>
          </a:xfrm>
        </p:spPr>
        <p:txBody>
          <a:bodyPr>
            <a:spAutoFit/>
          </a:bodyPr>
          <a:lstStyle/>
          <a:p>
            <a:r>
              <a:rPr lang="en-US" dirty="0"/>
              <a:t>Global spending on information technology (IT) and IT services: nearly $3.8 trillion in 2019; $160 billion spent on management consulting and services</a:t>
            </a:r>
          </a:p>
          <a:p>
            <a:r>
              <a:rPr lang="en-US" dirty="0"/>
              <a:t>Organizational, management, and cultural changes are often required for firms to derive full business value from IT investments</a:t>
            </a:r>
          </a:p>
          <a:p>
            <a:endParaRPr lang="en-US" dirty="0"/>
          </a:p>
        </p:txBody>
      </p:sp>
      <p:sp>
        <p:nvSpPr>
          <p:cNvPr id="2" name="Footer Placeholder 1">
            <a:extLst>
              <a:ext uri="{FF2B5EF4-FFF2-40B4-BE49-F238E27FC236}">
                <a16:creationId xmlns:a16="http://schemas.microsoft.com/office/drawing/2014/main" id="{B6CB5D67-48F4-4FCC-8D88-5CFD1109143E}"/>
              </a:ext>
            </a:extLst>
          </p:cNvPr>
          <p:cNvSpPr>
            <a:spLocks noGrp="1"/>
          </p:cNvSpPr>
          <p:nvPr>
            <p:ph type="ftr" sz="quarter" idx="11"/>
          </p:nvPr>
        </p:nvSpPr>
        <p:spPr/>
        <p:txBody>
          <a:bodyPr/>
          <a:lstStyle/>
          <a:p>
            <a:r>
              <a:rPr lang="en-US"/>
              <a:t>Copyright © 2022, 2020, 2018 Pearson Education, Ltd. All Rights Reserved </a:t>
            </a:r>
            <a:endParaRPr lang="en-US" dirty="0"/>
          </a:p>
        </p:txBody>
      </p:sp>
    </p:spTree>
    <p:extLst>
      <p:ext uri="{BB962C8B-B14F-4D97-AF65-F5344CB8AC3E}">
        <p14:creationId xmlns:p14="http://schemas.microsoft.com/office/powerpoint/2010/main" val="18831102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26670"/>
            <a:ext cx="8229600" cy="1097280"/>
          </a:xfrm>
        </p:spPr>
        <p:txBody>
          <a:bodyPr wrap="square">
            <a:spAutoFit/>
          </a:bodyPr>
          <a:lstStyle/>
          <a:p>
            <a:r>
              <a:rPr lang="en-IN" altLang="en-US" dirty="0"/>
              <a:t>Figure 1.1 Information Technology Capital Investment</a:t>
            </a:r>
            <a:endParaRPr lang="en-US" sz="2800" dirty="0"/>
          </a:p>
        </p:txBody>
      </p:sp>
      <p:pic>
        <p:nvPicPr>
          <p:cNvPr id="3" name="Picture 2" descr="A line graph shows the IT equipment, software, and R&amp;D spending in nominal GDP over the years. For a full description, see Notes. Press F6.">
            <a:extLst>
              <a:ext uri="{FF2B5EF4-FFF2-40B4-BE49-F238E27FC236}">
                <a16:creationId xmlns:a16="http://schemas.microsoft.com/office/drawing/2014/main" id="{2685A38F-AD87-46EC-89A4-F8D1E0AC08B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52600" y="1352550"/>
            <a:ext cx="5257800" cy="3303952"/>
          </a:xfrm>
          <a:prstGeom prst="rect">
            <a:avLst/>
          </a:prstGeom>
        </p:spPr>
      </p:pic>
      <p:sp>
        <p:nvSpPr>
          <p:cNvPr id="2" name="Footer Placeholder 1">
            <a:extLst>
              <a:ext uri="{FF2B5EF4-FFF2-40B4-BE49-F238E27FC236}">
                <a16:creationId xmlns:a16="http://schemas.microsoft.com/office/drawing/2014/main" id="{C4014AC9-E9E6-4974-B984-F42B32D0DE28}"/>
              </a:ext>
            </a:extLst>
          </p:cNvPr>
          <p:cNvSpPr>
            <a:spLocks noGrp="1"/>
          </p:cNvSpPr>
          <p:nvPr>
            <p:ph type="ftr" sz="quarter" idx="11"/>
          </p:nvPr>
        </p:nvSpPr>
        <p:spPr/>
        <p:txBody>
          <a:bodyPr/>
          <a:lstStyle/>
          <a:p>
            <a:r>
              <a:rPr lang="en-US"/>
              <a:t>Copyright © 2022, 2020, 2018 Pearson Education, Ltd. All Rights Reserved </a:t>
            </a:r>
            <a:endParaRPr lang="en-US" dirty="0"/>
          </a:p>
        </p:txBody>
      </p:sp>
    </p:spTree>
    <p:extLst>
      <p:ext uri="{BB962C8B-B14F-4D97-AF65-F5344CB8AC3E}">
        <p14:creationId xmlns:p14="http://schemas.microsoft.com/office/powerpoint/2010/main" val="27653389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22530"/>
            <a:ext cx="8229600" cy="1097026"/>
          </a:xfrm>
        </p:spPr>
        <p:txBody>
          <a:bodyPr>
            <a:spAutoFit/>
          </a:bodyPr>
          <a:lstStyle/>
          <a:p>
            <a:r>
              <a:rPr lang="en-IN" altLang="en-US" dirty="0"/>
              <a:t>What’s New in Management Information Systems </a:t>
            </a:r>
            <a:r>
              <a:rPr lang="en-IN" altLang="en-US" sz="2800" dirty="0"/>
              <a:t>(1 of 3)</a:t>
            </a:r>
            <a:endParaRPr lang="en-US" sz="2800" dirty="0"/>
          </a:p>
        </p:txBody>
      </p:sp>
      <p:sp>
        <p:nvSpPr>
          <p:cNvPr id="5" name="Content Placeholder 4"/>
          <p:cNvSpPr>
            <a:spLocks noGrp="1"/>
          </p:cNvSpPr>
          <p:nvPr>
            <p:ph idx="1"/>
          </p:nvPr>
        </p:nvSpPr>
        <p:spPr>
          <a:xfrm>
            <a:off x="457200" y="1265286"/>
            <a:ext cx="8229600" cy="4054956"/>
          </a:xfrm>
        </p:spPr>
        <p:txBody>
          <a:bodyPr>
            <a:spAutoFit/>
          </a:bodyPr>
          <a:lstStyle/>
          <a:p>
            <a:r>
              <a:rPr lang="en-IN" spc="-300" dirty="0"/>
              <a:t>I </a:t>
            </a:r>
            <a:r>
              <a:rPr lang="en-IN" dirty="0"/>
              <a:t>T Innovations </a:t>
            </a:r>
          </a:p>
          <a:p>
            <a:pPr lvl="1"/>
            <a:r>
              <a:rPr lang="en-IN" sz="2400" dirty="0"/>
              <a:t>Cloud computing, big data, Internet of Things</a:t>
            </a:r>
          </a:p>
          <a:p>
            <a:pPr lvl="1"/>
            <a:r>
              <a:rPr lang="en-IN" sz="2400" dirty="0"/>
              <a:t>Mobile digital platform</a:t>
            </a:r>
          </a:p>
          <a:p>
            <a:pPr lvl="1"/>
            <a:r>
              <a:rPr lang="en-IN" sz="2400" dirty="0"/>
              <a:t>AI and machine learning</a:t>
            </a:r>
          </a:p>
          <a:p>
            <a:pPr lvl="1"/>
            <a:r>
              <a:rPr lang="en-IN" sz="2400" dirty="0"/>
              <a:t>Use of social networks for business objectives</a:t>
            </a:r>
          </a:p>
          <a:p>
            <a:r>
              <a:rPr lang="en-IN" dirty="0"/>
              <a:t>New Business Models </a:t>
            </a:r>
          </a:p>
          <a:p>
            <a:pPr lvl="1"/>
            <a:r>
              <a:rPr lang="en-IN" sz="2400" dirty="0"/>
              <a:t>Online streaming and downloadable video</a:t>
            </a:r>
          </a:p>
          <a:p>
            <a:pPr lvl="2"/>
            <a:r>
              <a:rPr lang="en-IN" sz="2200" dirty="0"/>
              <a:t>Examples: Netflix, Apple TV Channels, Amazon</a:t>
            </a:r>
          </a:p>
          <a:p>
            <a:pPr marL="457200" lvl="1" indent="0">
              <a:buNone/>
            </a:pPr>
            <a:endParaRPr lang="en-IN" sz="2400" dirty="0"/>
          </a:p>
        </p:txBody>
      </p:sp>
      <p:sp>
        <p:nvSpPr>
          <p:cNvPr id="2" name="Footer Placeholder 1">
            <a:extLst>
              <a:ext uri="{FF2B5EF4-FFF2-40B4-BE49-F238E27FC236}">
                <a16:creationId xmlns:a16="http://schemas.microsoft.com/office/drawing/2014/main" id="{959E3483-8B51-4495-8BDE-68D07A59B42D}"/>
              </a:ext>
            </a:extLst>
          </p:cNvPr>
          <p:cNvSpPr>
            <a:spLocks noGrp="1"/>
          </p:cNvSpPr>
          <p:nvPr>
            <p:ph type="ftr" sz="quarter" idx="11"/>
          </p:nvPr>
        </p:nvSpPr>
        <p:spPr/>
        <p:txBody>
          <a:bodyPr/>
          <a:lstStyle/>
          <a:p>
            <a:r>
              <a:rPr lang="en-US"/>
              <a:t>Copyright © 2022, 2020, 2018 Pearson Education, Ltd. All Rights Reserved </a:t>
            </a:r>
            <a:endParaRPr lang="en-US" dirty="0"/>
          </a:p>
        </p:txBody>
      </p:sp>
    </p:spTree>
    <p:extLst>
      <p:ext uri="{BB962C8B-B14F-4D97-AF65-F5344CB8AC3E}">
        <p14:creationId xmlns:p14="http://schemas.microsoft.com/office/powerpoint/2010/main" val="18705679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21439"/>
            <a:ext cx="8229600" cy="1097026"/>
          </a:xfrm>
        </p:spPr>
        <p:txBody>
          <a:bodyPr>
            <a:spAutoFit/>
          </a:bodyPr>
          <a:lstStyle/>
          <a:p>
            <a:r>
              <a:rPr lang="en-IN" altLang="en-US" dirty="0"/>
              <a:t>What’s New in Management Information Systems </a:t>
            </a:r>
            <a:r>
              <a:rPr lang="en-IN" altLang="en-US" sz="2800" dirty="0"/>
              <a:t>(2 of 3)</a:t>
            </a:r>
            <a:endParaRPr lang="en-US" sz="2800" dirty="0"/>
          </a:p>
        </p:txBody>
      </p:sp>
      <p:sp>
        <p:nvSpPr>
          <p:cNvPr id="5" name="Content Placeholder 4"/>
          <p:cNvSpPr>
            <a:spLocks noGrp="1"/>
          </p:cNvSpPr>
          <p:nvPr>
            <p:ph idx="1"/>
          </p:nvPr>
        </p:nvSpPr>
        <p:spPr>
          <a:xfrm>
            <a:off x="457200" y="1268066"/>
            <a:ext cx="8229600" cy="3424014"/>
          </a:xfrm>
        </p:spPr>
        <p:txBody>
          <a:bodyPr>
            <a:spAutoFit/>
          </a:bodyPr>
          <a:lstStyle/>
          <a:p>
            <a:r>
              <a:rPr lang="en-US" sz="2000" dirty="0"/>
              <a:t>E-commerce Expansion</a:t>
            </a:r>
          </a:p>
          <a:p>
            <a:pPr lvl="1"/>
            <a:r>
              <a:rPr lang="en-US" sz="2000" dirty="0"/>
              <a:t>E-commerce worldwide expands to nearly $3.6 trillion in 2019</a:t>
            </a:r>
          </a:p>
          <a:p>
            <a:pPr lvl="1"/>
            <a:r>
              <a:rPr lang="en-US" sz="2000" dirty="0"/>
              <a:t>Growth in social commerce spurred by growth of mobile platform</a:t>
            </a:r>
          </a:p>
          <a:p>
            <a:pPr lvl="1"/>
            <a:r>
              <a:rPr lang="en-US" sz="2000" dirty="0"/>
              <a:t>Mobile retail e-commerce growing more than 20 percent a year, reaching almost $300 billion in 2020</a:t>
            </a:r>
          </a:p>
          <a:p>
            <a:r>
              <a:rPr lang="en-US" sz="2000" dirty="0"/>
              <a:t> Management Changes</a:t>
            </a:r>
          </a:p>
          <a:p>
            <a:pPr lvl="1"/>
            <a:r>
              <a:rPr lang="en-US" sz="2000" dirty="0"/>
              <a:t>Managers becoming more mobile</a:t>
            </a:r>
          </a:p>
          <a:p>
            <a:pPr lvl="1"/>
            <a:r>
              <a:rPr lang="en-US" sz="2000" dirty="0"/>
              <a:t>Managers use social networks, collaboration tools </a:t>
            </a:r>
          </a:p>
          <a:p>
            <a:pPr lvl="1"/>
            <a:r>
              <a:rPr lang="en-US" sz="2000" dirty="0"/>
              <a:t>Business intelligence applications accelerate</a:t>
            </a:r>
          </a:p>
        </p:txBody>
      </p:sp>
      <p:sp>
        <p:nvSpPr>
          <p:cNvPr id="2" name="Footer Placeholder 1">
            <a:extLst>
              <a:ext uri="{FF2B5EF4-FFF2-40B4-BE49-F238E27FC236}">
                <a16:creationId xmlns:a16="http://schemas.microsoft.com/office/drawing/2014/main" id="{FB086AF2-8A72-4106-80ED-22DE9DD85CA8}"/>
              </a:ext>
            </a:extLst>
          </p:cNvPr>
          <p:cNvSpPr>
            <a:spLocks noGrp="1"/>
          </p:cNvSpPr>
          <p:nvPr>
            <p:ph type="ftr" sz="quarter" idx="11"/>
          </p:nvPr>
        </p:nvSpPr>
        <p:spPr/>
        <p:txBody>
          <a:bodyPr/>
          <a:lstStyle/>
          <a:p>
            <a:r>
              <a:rPr lang="en-US"/>
              <a:t>Copyright © 2022, 2020, 2018 Pearson Education, Ltd. All Rights Reserved </a:t>
            </a:r>
            <a:endParaRPr lang="en-US" dirty="0"/>
          </a:p>
        </p:txBody>
      </p:sp>
    </p:spTree>
    <p:extLst>
      <p:ext uri="{BB962C8B-B14F-4D97-AF65-F5344CB8AC3E}">
        <p14:creationId xmlns:p14="http://schemas.microsoft.com/office/powerpoint/2010/main" val="37673176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21439"/>
            <a:ext cx="8229600" cy="1097026"/>
          </a:xfrm>
        </p:spPr>
        <p:txBody>
          <a:bodyPr>
            <a:spAutoFit/>
          </a:bodyPr>
          <a:lstStyle/>
          <a:p>
            <a:r>
              <a:rPr lang="en-IN" altLang="en-US" dirty="0"/>
              <a:t>What’s New in Management Information Systems </a:t>
            </a:r>
            <a:r>
              <a:rPr lang="en-IN" altLang="en-US" sz="2800" dirty="0"/>
              <a:t>(3 of 3)</a:t>
            </a:r>
            <a:endParaRPr lang="en-US" sz="2800" dirty="0"/>
          </a:p>
        </p:txBody>
      </p:sp>
      <p:sp>
        <p:nvSpPr>
          <p:cNvPr id="5" name="Content Placeholder 4"/>
          <p:cNvSpPr>
            <a:spLocks noGrp="1"/>
          </p:cNvSpPr>
          <p:nvPr>
            <p:ph idx="1"/>
          </p:nvPr>
        </p:nvSpPr>
        <p:spPr>
          <a:xfrm>
            <a:off x="457200" y="1269818"/>
            <a:ext cx="8229600" cy="3093154"/>
          </a:xfrm>
        </p:spPr>
        <p:txBody>
          <a:bodyPr>
            <a:spAutoFit/>
          </a:bodyPr>
          <a:lstStyle/>
          <a:p>
            <a:r>
              <a:rPr lang="en-US" sz="2200" dirty="0"/>
              <a:t>Firms and Organizations Change</a:t>
            </a:r>
          </a:p>
          <a:p>
            <a:pPr lvl="1"/>
            <a:r>
              <a:rPr lang="en-US" dirty="0"/>
              <a:t>More collaborative, less emphasis on hierarchy and structure</a:t>
            </a:r>
          </a:p>
          <a:p>
            <a:pPr lvl="1"/>
            <a:r>
              <a:rPr lang="en-US" dirty="0"/>
              <a:t>Greater emphasis on competencies and skills</a:t>
            </a:r>
          </a:p>
          <a:p>
            <a:pPr lvl="1"/>
            <a:r>
              <a:rPr lang="en-US" dirty="0"/>
              <a:t>Higher-speed/more accurate decision making based on data and analysis</a:t>
            </a:r>
          </a:p>
          <a:p>
            <a:pPr lvl="1"/>
            <a:r>
              <a:rPr lang="en-US" dirty="0"/>
              <a:t>More willingness to interact with consumers (social media)</a:t>
            </a:r>
          </a:p>
          <a:p>
            <a:pPr lvl="1"/>
            <a:r>
              <a:rPr lang="en-US" dirty="0"/>
              <a:t>Better understanding of the importance of </a:t>
            </a:r>
            <a:r>
              <a:rPr lang="en-US" spc="-300" dirty="0"/>
              <a:t>I </a:t>
            </a:r>
            <a:r>
              <a:rPr lang="en-US" dirty="0"/>
              <a:t>T</a:t>
            </a:r>
          </a:p>
        </p:txBody>
      </p:sp>
      <p:sp>
        <p:nvSpPr>
          <p:cNvPr id="2" name="Footer Placeholder 1">
            <a:extLst>
              <a:ext uri="{FF2B5EF4-FFF2-40B4-BE49-F238E27FC236}">
                <a16:creationId xmlns:a16="http://schemas.microsoft.com/office/drawing/2014/main" id="{74004B38-6E90-499F-B2EA-8DFF1B7326FD}"/>
              </a:ext>
            </a:extLst>
          </p:cNvPr>
          <p:cNvSpPr>
            <a:spLocks noGrp="1"/>
          </p:cNvSpPr>
          <p:nvPr>
            <p:ph type="ftr" sz="quarter" idx="11"/>
          </p:nvPr>
        </p:nvSpPr>
        <p:spPr/>
        <p:txBody>
          <a:bodyPr/>
          <a:lstStyle/>
          <a:p>
            <a:r>
              <a:rPr lang="en-US"/>
              <a:t>Copyright © 2022, 2020, 2018 Pearson Education, Ltd. All Rights Reserved </a:t>
            </a:r>
            <a:endParaRPr lang="en-US" dirty="0"/>
          </a:p>
        </p:txBody>
      </p:sp>
    </p:spTree>
    <p:extLst>
      <p:ext uri="{BB962C8B-B14F-4D97-AF65-F5344CB8AC3E}">
        <p14:creationId xmlns:p14="http://schemas.microsoft.com/office/powerpoint/2010/main" val="31876822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74673"/>
            <a:ext cx="8229600" cy="1477328"/>
          </a:xfrm>
        </p:spPr>
        <p:txBody>
          <a:bodyPr>
            <a:spAutoFit/>
          </a:bodyPr>
          <a:lstStyle/>
          <a:p>
            <a:r>
              <a:rPr lang="en-IN" altLang="en-US" sz="3200" dirty="0"/>
              <a:t>Interactive Session: Management: Will the Coronavirus Pandemic Make Working from Home the New Normal? </a:t>
            </a:r>
            <a:r>
              <a:rPr lang="en-IN" altLang="en-US" sz="2400" dirty="0"/>
              <a:t>(1 of 2)</a:t>
            </a:r>
            <a:endParaRPr lang="en-US" sz="2400" dirty="0"/>
          </a:p>
        </p:txBody>
      </p:sp>
      <p:sp>
        <p:nvSpPr>
          <p:cNvPr id="5" name="Content Placeholder 4"/>
          <p:cNvSpPr>
            <a:spLocks noGrp="1"/>
          </p:cNvSpPr>
          <p:nvPr>
            <p:ph idx="1"/>
          </p:nvPr>
        </p:nvSpPr>
        <p:spPr>
          <a:xfrm>
            <a:off x="457200" y="1663240"/>
            <a:ext cx="8229600" cy="2739211"/>
          </a:xfrm>
        </p:spPr>
        <p:txBody>
          <a:bodyPr>
            <a:spAutoFit/>
          </a:bodyPr>
          <a:lstStyle/>
          <a:p>
            <a:r>
              <a:rPr lang="en-IN" dirty="0"/>
              <a:t>Class Discussion</a:t>
            </a:r>
          </a:p>
          <a:p>
            <a:pPr lvl="1"/>
            <a:r>
              <a:rPr lang="en-IN" sz="2400" dirty="0"/>
              <a:t>Define the problem described in this case. What are the management, organization, and technology issues raised by this problem?</a:t>
            </a:r>
          </a:p>
          <a:p>
            <a:pPr lvl="1"/>
            <a:r>
              <a:rPr lang="en-IN" sz="2400" dirty="0"/>
              <a:t>Identify the information technologies used to provide a solution to this problem. Was this a successful solution? Why or why not?</a:t>
            </a:r>
          </a:p>
        </p:txBody>
      </p:sp>
      <p:sp>
        <p:nvSpPr>
          <p:cNvPr id="2" name="Footer Placeholder 1">
            <a:extLst>
              <a:ext uri="{FF2B5EF4-FFF2-40B4-BE49-F238E27FC236}">
                <a16:creationId xmlns:a16="http://schemas.microsoft.com/office/drawing/2014/main" id="{637E189F-FC1E-4D38-A892-692A4B453306}"/>
              </a:ext>
            </a:extLst>
          </p:cNvPr>
          <p:cNvSpPr>
            <a:spLocks noGrp="1"/>
          </p:cNvSpPr>
          <p:nvPr>
            <p:ph type="ftr" sz="quarter" idx="11"/>
          </p:nvPr>
        </p:nvSpPr>
        <p:spPr/>
        <p:txBody>
          <a:bodyPr/>
          <a:lstStyle/>
          <a:p>
            <a:r>
              <a:rPr lang="en-US"/>
              <a:t>Copyright © 2022, 2020, 2018 Pearson Education, Ltd. All Rights Reserved </a:t>
            </a:r>
            <a:endParaRPr lang="en-US" dirty="0"/>
          </a:p>
        </p:txBody>
      </p:sp>
    </p:spTree>
    <p:extLst>
      <p:ext uri="{BB962C8B-B14F-4D97-AF65-F5344CB8AC3E}">
        <p14:creationId xmlns:p14="http://schemas.microsoft.com/office/powerpoint/2010/main" val="4619103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73630"/>
            <a:ext cx="8229600" cy="1477328"/>
          </a:xfrm>
        </p:spPr>
        <p:txBody>
          <a:bodyPr>
            <a:spAutoFit/>
          </a:bodyPr>
          <a:lstStyle/>
          <a:p>
            <a:r>
              <a:rPr lang="en-IN" altLang="en-US" sz="3200" dirty="0"/>
              <a:t>Interactive Session: Management: Will the Coronavirus Pandemic Make Working from Home the New Normal? </a:t>
            </a:r>
            <a:r>
              <a:rPr lang="en-IN" altLang="en-US" sz="2400" dirty="0"/>
              <a:t>(2 of 2)</a:t>
            </a:r>
            <a:endParaRPr lang="en-US" sz="2400" dirty="0"/>
          </a:p>
        </p:txBody>
      </p:sp>
      <p:sp>
        <p:nvSpPr>
          <p:cNvPr id="5" name="Content Placeholder 4"/>
          <p:cNvSpPr>
            <a:spLocks noGrp="1"/>
          </p:cNvSpPr>
          <p:nvPr>
            <p:ph idx="1"/>
          </p:nvPr>
        </p:nvSpPr>
        <p:spPr>
          <a:xfrm>
            <a:off x="457200" y="1678102"/>
            <a:ext cx="8229600" cy="1092607"/>
          </a:xfrm>
        </p:spPr>
        <p:txBody>
          <a:bodyPr>
            <a:spAutoFit/>
          </a:bodyPr>
          <a:lstStyle/>
          <a:p>
            <a:r>
              <a:rPr lang="en-US" sz="2200" dirty="0"/>
              <a:t>Class Discussion</a:t>
            </a:r>
          </a:p>
          <a:p>
            <a:pPr lvl="1"/>
            <a:r>
              <a:rPr lang="en-US" dirty="0"/>
              <a:t>Will working from home become the dominant way of working in the future? Why or why not?.</a:t>
            </a:r>
          </a:p>
        </p:txBody>
      </p:sp>
      <p:sp>
        <p:nvSpPr>
          <p:cNvPr id="2" name="Footer Placeholder 1">
            <a:extLst>
              <a:ext uri="{FF2B5EF4-FFF2-40B4-BE49-F238E27FC236}">
                <a16:creationId xmlns:a16="http://schemas.microsoft.com/office/drawing/2014/main" id="{117AC34F-C135-41F4-AD1D-683828103126}"/>
              </a:ext>
            </a:extLst>
          </p:cNvPr>
          <p:cNvSpPr>
            <a:spLocks noGrp="1"/>
          </p:cNvSpPr>
          <p:nvPr>
            <p:ph type="ftr" sz="quarter" idx="11"/>
          </p:nvPr>
        </p:nvSpPr>
        <p:spPr/>
        <p:txBody>
          <a:bodyPr/>
          <a:lstStyle/>
          <a:p>
            <a:r>
              <a:rPr lang="en-US"/>
              <a:t>Copyright © 2022, 2020, 2018 Pearson Education, Ltd. All Rights Reserved </a:t>
            </a:r>
            <a:endParaRPr lang="en-US" dirty="0"/>
          </a:p>
        </p:txBody>
      </p:sp>
    </p:spTree>
    <p:extLst>
      <p:ext uri="{BB962C8B-B14F-4D97-AF65-F5344CB8AC3E}">
        <p14:creationId xmlns:p14="http://schemas.microsoft.com/office/powerpoint/2010/main" val="33010818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57150"/>
            <a:ext cx="8449056" cy="1133094"/>
          </a:xfrm>
        </p:spPr>
        <p:txBody>
          <a:bodyPr wrap="square">
            <a:spAutoFit/>
          </a:bodyPr>
          <a:lstStyle/>
          <a:p>
            <a:r>
              <a:rPr lang="en-IN" altLang="en-US" dirty="0"/>
              <a:t>Globalization Challenges and Opportunities: A Flattened World               </a:t>
            </a:r>
            <a:endParaRPr lang="en-US" sz="2800" dirty="0"/>
          </a:p>
        </p:txBody>
      </p:sp>
      <p:sp>
        <p:nvSpPr>
          <p:cNvPr id="5" name="Content Placeholder 4"/>
          <p:cNvSpPr>
            <a:spLocks noGrp="1"/>
          </p:cNvSpPr>
          <p:nvPr>
            <p:ph idx="1"/>
          </p:nvPr>
        </p:nvSpPr>
        <p:spPr>
          <a:xfrm>
            <a:off x="457200" y="1276350"/>
            <a:ext cx="8229600" cy="3262432"/>
          </a:xfrm>
        </p:spPr>
        <p:txBody>
          <a:bodyPr>
            <a:spAutoFit/>
          </a:bodyPr>
          <a:lstStyle/>
          <a:p>
            <a:r>
              <a:rPr lang="en-US" dirty="0"/>
              <a:t>Internet and global communications have greatly changed how and where business is done </a:t>
            </a:r>
          </a:p>
          <a:p>
            <a:pPr lvl="1"/>
            <a:r>
              <a:rPr lang="en-US" sz="2400" dirty="0"/>
              <a:t>Drastic reduction of costs of operating and transacting on global scale</a:t>
            </a:r>
          </a:p>
          <a:p>
            <a:pPr lvl="1"/>
            <a:r>
              <a:rPr lang="en-US" sz="2400" dirty="0"/>
              <a:t>Competition for jobs, markets, resources, ideas</a:t>
            </a:r>
          </a:p>
          <a:p>
            <a:pPr lvl="1"/>
            <a:r>
              <a:rPr lang="en-US" sz="2400" dirty="0"/>
              <a:t>Growing interdependence of global economies </a:t>
            </a:r>
          </a:p>
          <a:p>
            <a:pPr lvl="1"/>
            <a:r>
              <a:rPr lang="en-US" sz="2400" dirty="0"/>
              <a:t>Requires new understandings of skills, markets, opportunities</a:t>
            </a:r>
          </a:p>
        </p:txBody>
      </p:sp>
      <p:sp>
        <p:nvSpPr>
          <p:cNvPr id="2" name="Footer Placeholder 1">
            <a:extLst>
              <a:ext uri="{FF2B5EF4-FFF2-40B4-BE49-F238E27FC236}">
                <a16:creationId xmlns:a16="http://schemas.microsoft.com/office/drawing/2014/main" id="{6898D8EC-EB31-4018-BFCB-E4FF43E6892C}"/>
              </a:ext>
            </a:extLst>
          </p:cNvPr>
          <p:cNvSpPr>
            <a:spLocks noGrp="1"/>
          </p:cNvSpPr>
          <p:nvPr>
            <p:ph type="ftr" sz="quarter" idx="11"/>
          </p:nvPr>
        </p:nvSpPr>
        <p:spPr/>
        <p:txBody>
          <a:bodyPr/>
          <a:lstStyle/>
          <a:p>
            <a:r>
              <a:rPr lang="en-US"/>
              <a:t>Copyright © 2022, 2020, 2018 Pearson Education, Ltd. All Rights Reserved </a:t>
            </a:r>
            <a:endParaRPr lang="en-US" dirty="0"/>
          </a:p>
        </p:txBody>
      </p:sp>
    </p:spTree>
    <p:extLst>
      <p:ext uri="{BB962C8B-B14F-4D97-AF65-F5344CB8AC3E}">
        <p14:creationId xmlns:p14="http://schemas.microsoft.com/office/powerpoint/2010/main" val="19924207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24026"/>
            <a:ext cx="8229600" cy="553998"/>
          </a:xfrm>
        </p:spPr>
        <p:txBody>
          <a:bodyPr>
            <a:spAutoFit/>
          </a:bodyPr>
          <a:lstStyle/>
          <a:p>
            <a:r>
              <a:rPr lang="en-US" dirty="0"/>
              <a:t>The Emerging Digital Firm</a:t>
            </a:r>
            <a:endParaRPr lang="en-US" sz="2800" dirty="0"/>
          </a:p>
        </p:txBody>
      </p:sp>
      <p:sp>
        <p:nvSpPr>
          <p:cNvPr id="5" name="Content Placeholder 4"/>
          <p:cNvSpPr>
            <a:spLocks noGrp="1"/>
          </p:cNvSpPr>
          <p:nvPr>
            <p:ph idx="1"/>
          </p:nvPr>
        </p:nvSpPr>
        <p:spPr>
          <a:xfrm>
            <a:off x="457200" y="722356"/>
            <a:ext cx="8229600" cy="3931846"/>
          </a:xfrm>
        </p:spPr>
        <p:txBody>
          <a:bodyPr>
            <a:spAutoFit/>
          </a:bodyPr>
          <a:lstStyle/>
          <a:p>
            <a:pPr indent="-255600"/>
            <a:r>
              <a:rPr lang="en-IN" dirty="0"/>
              <a:t>In a fully digital firm:</a:t>
            </a:r>
          </a:p>
          <a:p>
            <a:pPr lvl="1" indent="-255600"/>
            <a:r>
              <a:rPr lang="en-IN" sz="2400" dirty="0"/>
              <a:t>Significant business relationships are digitally enabled and mediated</a:t>
            </a:r>
          </a:p>
          <a:p>
            <a:pPr lvl="1" indent="-255600"/>
            <a:r>
              <a:rPr lang="en-IN" sz="2400" dirty="0"/>
              <a:t>Core business processes are accomplished through digital networks</a:t>
            </a:r>
          </a:p>
          <a:p>
            <a:pPr lvl="1" indent="-255600"/>
            <a:r>
              <a:rPr lang="en-IN" sz="2400" dirty="0"/>
              <a:t>Key corporate assets are managed digitally</a:t>
            </a:r>
          </a:p>
          <a:p>
            <a:pPr indent="-255600"/>
            <a:r>
              <a:rPr lang="en-IN" dirty="0"/>
              <a:t>Digital firms offer greater flexibility in organization and management</a:t>
            </a:r>
          </a:p>
          <a:p>
            <a:pPr lvl="1" indent="-255600"/>
            <a:r>
              <a:rPr lang="en-IN" sz="2400" dirty="0"/>
              <a:t>Time shifting, space shifting</a:t>
            </a:r>
          </a:p>
        </p:txBody>
      </p:sp>
      <p:sp>
        <p:nvSpPr>
          <p:cNvPr id="2" name="Footer Placeholder 1">
            <a:extLst>
              <a:ext uri="{FF2B5EF4-FFF2-40B4-BE49-F238E27FC236}">
                <a16:creationId xmlns:a16="http://schemas.microsoft.com/office/drawing/2014/main" id="{AE2FE737-F274-4E55-8C88-6DCB26238A4E}"/>
              </a:ext>
            </a:extLst>
          </p:cNvPr>
          <p:cNvSpPr>
            <a:spLocks noGrp="1"/>
          </p:cNvSpPr>
          <p:nvPr>
            <p:ph type="ftr" sz="quarter" idx="11"/>
          </p:nvPr>
        </p:nvSpPr>
        <p:spPr/>
        <p:txBody>
          <a:bodyPr/>
          <a:lstStyle/>
          <a:p>
            <a:r>
              <a:rPr lang="en-US"/>
              <a:t>Copyright © 2022, 2020, 2018 Pearson Education, Ltd. All Rights Reserved </a:t>
            </a:r>
            <a:endParaRPr lang="en-US" dirty="0"/>
          </a:p>
        </p:txBody>
      </p:sp>
    </p:spTree>
    <p:extLst>
      <p:ext uri="{BB962C8B-B14F-4D97-AF65-F5344CB8AC3E}">
        <p14:creationId xmlns:p14="http://schemas.microsoft.com/office/powerpoint/2010/main" val="42620113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21439"/>
            <a:ext cx="8229600" cy="1097026"/>
          </a:xfrm>
        </p:spPr>
        <p:txBody>
          <a:bodyPr>
            <a:spAutoFit/>
          </a:bodyPr>
          <a:lstStyle/>
          <a:p>
            <a:r>
              <a:rPr lang="en-IN" dirty="0"/>
              <a:t>Strategic Business Objectives of Information Systems </a:t>
            </a:r>
            <a:r>
              <a:rPr lang="en-IN" sz="2800" dirty="0"/>
              <a:t>(1 of 2)</a:t>
            </a:r>
            <a:endParaRPr lang="en-US" sz="2800" dirty="0"/>
          </a:p>
        </p:txBody>
      </p:sp>
      <p:sp>
        <p:nvSpPr>
          <p:cNvPr id="5" name="Content Placeholder 4"/>
          <p:cNvSpPr>
            <a:spLocks noGrp="1"/>
          </p:cNvSpPr>
          <p:nvPr>
            <p:ph idx="1"/>
          </p:nvPr>
        </p:nvSpPr>
        <p:spPr>
          <a:xfrm>
            <a:off x="457200" y="1346586"/>
            <a:ext cx="8229600" cy="1631216"/>
          </a:xfrm>
        </p:spPr>
        <p:txBody>
          <a:bodyPr>
            <a:spAutoFit/>
          </a:bodyPr>
          <a:lstStyle/>
          <a:p>
            <a:r>
              <a:rPr lang="en-US" dirty="0"/>
              <a:t>Growing interdependence between:</a:t>
            </a:r>
          </a:p>
          <a:p>
            <a:pPr lvl="1"/>
            <a:r>
              <a:rPr lang="en-US" sz="2400" dirty="0"/>
              <a:t>Ability to use information technology</a:t>
            </a:r>
          </a:p>
          <a:p>
            <a:pPr lvl="1"/>
            <a:r>
              <a:rPr lang="en-US" sz="2400" dirty="0"/>
              <a:t>Ability to implement corporate strategies and achieve corporate goals</a:t>
            </a:r>
          </a:p>
        </p:txBody>
      </p:sp>
      <p:sp>
        <p:nvSpPr>
          <p:cNvPr id="2" name="Footer Placeholder 1">
            <a:extLst>
              <a:ext uri="{FF2B5EF4-FFF2-40B4-BE49-F238E27FC236}">
                <a16:creationId xmlns:a16="http://schemas.microsoft.com/office/drawing/2014/main" id="{B3EB9DC4-3139-482B-A2CF-30DDB8588F5F}"/>
              </a:ext>
            </a:extLst>
          </p:cNvPr>
          <p:cNvSpPr>
            <a:spLocks noGrp="1"/>
          </p:cNvSpPr>
          <p:nvPr>
            <p:ph type="ftr" sz="quarter" idx="11"/>
          </p:nvPr>
        </p:nvSpPr>
        <p:spPr/>
        <p:txBody>
          <a:bodyPr/>
          <a:lstStyle/>
          <a:p>
            <a:r>
              <a:rPr lang="en-US"/>
              <a:t>Copyright © 2022, 2020, 2018 Pearson Education, Ltd. All Rights Reserved </a:t>
            </a:r>
            <a:endParaRPr lang="en-US" dirty="0"/>
          </a:p>
        </p:txBody>
      </p:sp>
    </p:spTree>
    <p:extLst>
      <p:ext uri="{BB962C8B-B14F-4D97-AF65-F5344CB8AC3E}">
        <p14:creationId xmlns:p14="http://schemas.microsoft.com/office/powerpoint/2010/main" val="31184036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57150"/>
            <a:ext cx="8229600" cy="984885"/>
          </a:xfrm>
        </p:spPr>
        <p:txBody>
          <a:bodyPr wrap="square">
            <a:spAutoFit/>
          </a:bodyPr>
          <a:lstStyle/>
          <a:p>
            <a:r>
              <a:rPr lang="en-US" sz="3200" dirty="0"/>
              <a:t>Figure 1.2 </a:t>
            </a:r>
            <a:r>
              <a:rPr lang="en-US" altLang="en-US" sz="3200" dirty="0"/>
              <a:t>The Interdependence Between Organizations and Information Systems</a:t>
            </a:r>
            <a:endParaRPr lang="en-US" sz="2400" dirty="0"/>
          </a:p>
        </p:txBody>
      </p:sp>
      <p:pic>
        <p:nvPicPr>
          <p:cNvPr id="1026" name="Picture 2" descr="A flow diagram shows the interdependence between organizations and information systems. For a full description, see Notes. Press F6."/>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1253605" y="1187624"/>
            <a:ext cx="6661840" cy="3525223"/>
          </a:xfrm>
          <a:prstGeom prst="rect">
            <a:avLst/>
          </a:prstGeom>
          <a:noFill/>
          <a:extLst>
            <a:ext uri="{909E8E84-426E-40DD-AFC4-6F175D3DCCD1}">
              <a14:hiddenFill xmlns:a14="http://schemas.microsoft.com/office/drawing/2010/main">
                <a:solidFill>
                  <a:srgbClr val="FFFFFF"/>
                </a:solidFill>
              </a14:hiddenFill>
            </a:ext>
          </a:extLst>
        </p:spPr>
      </p:pic>
      <p:sp>
        <p:nvSpPr>
          <p:cNvPr id="2" name="Footer Placeholder 1">
            <a:extLst>
              <a:ext uri="{FF2B5EF4-FFF2-40B4-BE49-F238E27FC236}">
                <a16:creationId xmlns:a16="http://schemas.microsoft.com/office/drawing/2014/main" id="{E35FC11F-B232-4834-BD30-D602F8FDEBE6}"/>
              </a:ext>
            </a:extLst>
          </p:cNvPr>
          <p:cNvSpPr>
            <a:spLocks noGrp="1"/>
          </p:cNvSpPr>
          <p:nvPr>
            <p:ph type="ftr" sz="quarter" idx="11"/>
          </p:nvPr>
        </p:nvSpPr>
        <p:spPr/>
        <p:txBody>
          <a:bodyPr/>
          <a:lstStyle/>
          <a:p>
            <a:r>
              <a:rPr lang="en-US"/>
              <a:t>Copyright © 2022, 2020, 2018 Pearson Education, Ltd. All Rights Reserved </a:t>
            </a:r>
            <a:endParaRPr lang="en-US" dirty="0"/>
          </a:p>
        </p:txBody>
      </p:sp>
    </p:spTree>
    <p:extLst>
      <p:ext uri="{BB962C8B-B14F-4D97-AF65-F5344CB8AC3E}">
        <p14:creationId xmlns:p14="http://schemas.microsoft.com/office/powerpoint/2010/main" val="16151050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38352"/>
            <a:ext cx="8229600" cy="1086164"/>
          </a:xfrm>
        </p:spPr>
        <p:txBody>
          <a:bodyPr>
            <a:spAutoFit/>
          </a:bodyPr>
          <a:lstStyle/>
          <a:p>
            <a:r>
              <a:rPr lang="en-IN" dirty="0"/>
              <a:t>Strategic Business Objectives of Information Systems </a:t>
            </a:r>
            <a:r>
              <a:rPr lang="en-IN" sz="2800" dirty="0"/>
              <a:t>(2 of 2)</a:t>
            </a:r>
            <a:endParaRPr lang="en-US" sz="2800" dirty="0"/>
          </a:p>
        </p:txBody>
      </p:sp>
      <p:sp>
        <p:nvSpPr>
          <p:cNvPr id="5" name="Content Placeholder 4"/>
          <p:cNvSpPr>
            <a:spLocks noGrp="1"/>
          </p:cNvSpPr>
          <p:nvPr>
            <p:ph idx="1"/>
          </p:nvPr>
        </p:nvSpPr>
        <p:spPr>
          <a:xfrm>
            <a:off x="457200" y="1338090"/>
            <a:ext cx="8229600" cy="3416320"/>
          </a:xfrm>
        </p:spPr>
        <p:txBody>
          <a:bodyPr>
            <a:spAutoFit/>
          </a:bodyPr>
          <a:lstStyle/>
          <a:p>
            <a:r>
              <a:rPr lang="en-US" dirty="0"/>
              <a:t>Firms invest heavily in information systems to achieve six strategic business objectives:</a:t>
            </a:r>
          </a:p>
          <a:p>
            <a:pPr marL="941832" lvl="1" indent="-457200">
              <a:buFont typeface="+mj-lt"/>
              <a:buAutoNum type="arabicPeriod"/>
            </a:pPr>
            <a:r>
              <a:rPr lang="en-IN" sz="2400" dirty="0"/>
              <a:t>Operational excellence</a:t>
            </a:r>
          </a:p>
          <a:p>
            <a:pPr marL="941832" lvl="1" indent="-457200">
              <a:buFont typeface="+mj-lt"/>
              <a:buAutoNum type="arabicPeriod"/>
            </a:pPr>
            <a:r>
              <a:rPr lang="en-IN" sz="2400" dirty="0"/>
              <a:t>New products, services, and business models</a:t>
            </a:r>
          </a:p>
          <a:p>
            <a:pPr marL="941832" lvl="1" indent="-457200">
              <a:buFont typeface="+mj-lt"/>
              <a:buAutoNum type="arabicPeriod"/>
            </a:pPr>
            <a:r>
              <a:rPr lang="en-IN" sz="2400" dirty="0"/>
              <a:t>Customer and supplier intimacy</a:t>
            </a:r>
          </a:p>
          <a:p>
            <a:pPr marL="941832" lvl="1" indent="-457200">
              <a:buFont typeface="+mj-lt"/>
              <a:buAutoNum type="arabicPeriod"/>
            </a:pPr>
            <a:r>
              <a:rPr lang="en-IN" sz="2400" dirty="0"/>
              <a:t>Improved decision making</a:t>
            </a:r>
          </a:p>
          <a:p>
            <a:pPr marL="941832" lvl="1" indent="-457200">
              <a:buFont typeface="+mj-lt"/>
              <a:buAutoNum type="arabicPeriod"/>
            </a:pPr>
            <a:r>
              <a:rPr lang="en-IN" sz="2400" dirty="0"/>
              <a:t>Competitive advantage</a:t>
            </a:r>
          </a:p>
          <a:p>
            <a:pPr marL="941832" lvl="1" indent="-457200">
              <a:buFont typeface="+mj-lt"/>
              <a:buAutoNum type="arabicPeriod"/>
            </a:pPr>
            <a:r>
              <a:rPr lang="en-IN" sz="2400" dirty="0"/>
              <a:t>Survival</a:t>
            </a:r>
          </a:p>
        </p:txBody>
      </p:sp>
      <p:sp>
        <p:nvSpPr>
          <p:cNvPr id="2" name="Footer Placeholder 1">
            <a:extLst>
              <a:ext uri="{FF2B5EF4-FFF2-40B4-BE49-F238E27FC236}">
                <a16:creationId xmlns:a16="http://schemas.microsoft.com/office/drawing/2014/main" id="{CC52ED14-1193-4FC2-94D1-B63862CE9195}"/>
              </a:ext>
            </a:extLst>
          </p:cNvPr>
          <p:cNvSpPr>
            <a:spLocks noGrp="1"/>
          </p:cNvSpPr>
          <p:nvPr>
            <p:ph type="ftr" sz="quarter" idx="11"/>
          </p:nvPr>
        </p:nvSpPr>
        <p:spPr/>
        <p:txBody>
          <a:bodyPr/>
          <a:lstStyle/>
          <a:p>
            <a:r>
              <a:rPr lang="en-US"/>
              <a:t>Copyright © 2022, 2020, 2018 Pearson Education, Ltd. All Rights Reserved </a:t>
            </a:r>
            <a:endParaRPr lang="en-US" dirty="0"/>
          </a:p>
        </p:txBody>
      </p:sp>
    </p:spTree>
    <p:extLst>
      <p:ext uri="{BB962C8B-B14F-4D97-AF65-F5344CB8AC3E}">
        <p14:creationId xmlns:p14="http://schemas.microsoft.com/office/powerpoint/2010/main" val="31407535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24026"/>
            <a:ext cx="8229600" cy="553998"/>
          </a:xfrm>
        </p:spPr>
        <p:txBody>
          <a:bodyPr>
            <a:spAutoFit/>
          </a:bodyPr>
          <a:lstStyle/>
          <a:p>
            <a:r>
              <a:rPr lang="en-US" dirty="0"/>
              <a:t>Operational Excellence</a:t>
            </a:r>
            <a:endParaRPr lang="en-US" sz="2800" dirty="0"/>
          </a:p>
        </p:txBody>
      </p:sp>
      <p:sp>
        <p:nvSpPr>
          <p:cNvPr id="5" name="Content Placeholder 4"/>
          <p:cNvSpPr>
            <a:spLocks noGrp="1"/>
          </p:cNvSpPr>
          <p:nvPr>
            <p:ph idx="1"/>
          </p:nvPr>
        </p:nvSpPr>
        <p:spPr>
          <a:xfrm>
            <a:off x="457200" y="819150"/>
            <a:ext cx="8229600" cy="3854373"/>
          </a:xfrm>
        </p:spPr>
        <p:txBody>
          <a:bodyPr>
            <a:spAutoFit/>
          </a:bodyPr>
          <a:lstStyle/>
          <a:p>
            <a:r>
              <a:rPr lang="en-US" dirty="0"/>
              <a:t>Improved efficiency results in higher profits</a:t>
            </a:r>
          </a:p>
          <a:p>
            <a:r>
              <a:rPr lang="en-US" dirty="0"/>
              <a:t>Information systems and technologies help improve efficiency and productivity</a:t>
            </a:r>
          </a:p>
          <a:p>
            <a:r>
              <a:rPr lang="en-US" dirty="0"/>
              <a:t>Example: </a:t>
            </a:r>
            <a:r>
              <a:rPr lang="en-US" dirty="0" err="1"/>
              <a:t>Walmart</a:t>
            </a:r>
            <a:r>
              <a:rPr lang="en-US" dirty="0"/>
              <a:t> </a:t>
            </a:r>
          </a:p>
          <a:p>
            <a:pPr lvl="1"/>
            <a:r>
              <a:rPr lang="en-US" sz="2400" dirty="0"/>
              <a:t>Power of combining information systems and best business practices to achieve operational efficiency—and over $524 billion in sales in 2019</a:t>
            </a:r>
          </a:p>
          <a:p>
            <a:pPr lvl="1"/>
            <a:r>
              <a:rPr lang="en-US" sz="2400" dirty="0"/>
              <a:t>Most efficient retail store in world as result of digital links between suppliers and stores</a:t>
            </a:r>
            <a:endParaRPr lang="en-US" altLang="ja-JP" sz="2400" dirty="0"/>
          </a:p>
        </p:txBody>
      </p:sp>
      <p:sp>
        <p:nvSpPr>
          <p:cNvPr id="2" name="Footer Placeholder 1">
            <a:extLst>
              <a:ext uri="{FF2B5EF4-FFF2-40B4-BE49-F238E27FC236}">
                <a16:creationId xmlns:a16="http://schemas.microsoft.com/office/drawing/2014/main" id="{F837F7F9-0094-421E-824A-2B245362A467}"/>
              </a:ext>
            </a:extLst>
          </p:cNvPr>
          <p:cNvSpPr>
            <a:spLocks noGrp="1"/>
          </p:cNvSpPr>
          <p:nvPr>
            <p:ph type="ftr" sz="quarter" idx="11"/>
          </p:nvPr>
        </p:nvSpPr>
        <p:spPr/>
        <p:txBody>
          <a:bodyPr/>
          <a:lstStyle/>
          <a:p>
            <a:r>
              <a:rPr lang="en-US"/>
              <a:t>Copyright © 2022, 2020, 2018 Pearson Education, Ltd. All Rights Reserved </a:t>
            </a:r>
            <a:endParaRPr lang="en-US" dirty="0"/>
          </a:p>
        </p:txBody>
      </p:sp>
    </p:spTree>
    <p:extLst>
      <p:ext uri="{BB962C8B-B14F-4D97-AF65-F5344CB8AC3E}">
        <p14:creationId xmlns:p14="http://schemas.microsoft.com/office/powerpoint/2010/main" val="18728239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39396"/>
            <a:ext cx="8229600" cy="1086164"/>
          </a:xfrm>
        </p:spPr>
        <p:txBody>
          <a:bodyPr>
            <a:spAutoFit/>
          </a:bodyPr>
          <a:lstStyle/>
          <a:p>
            <a:r>
              <a:rPr lang="en-US" dirty="0"/>
              <a:t>New Products, Services, and Business Models</a:t>
            </a:r>
            <a:endParaRPr lang="en-US" sz="2800" dirty="0"/>
          </a:p>
        </p:txBody>
      </p:sp>
      <p:sp>
        <p:nvSpPr>
          <p:cNvPr id="5" name="Content Placeholder 4"/>
          <p:cNvSpPr>
            <a:spLocks noGrp="1"/>
          </p:cNvSpPr>
          <p:nvPr>
            <p:ph idx="1"/>
          </p:nvPr>
        </p:nvSpPr>
        <p:spPr>
          <a:xfrm>
            <a:off x="457200" y="1365757"/>
            <a:ext cx="8229600" cy="2908489"/>
          </a:xfrm>
        </p:spPr>
        <p:txBody>
          <a:bodyPr>
            <a:spAutoFit/>
          </a:bodyPr>
          <a:lstStyle/>
          <a:p>
            <a:r>
              <a:rPr lang="en-US" sz="2200" dirty="0"/>
              <a:t>Information systems and technologies enable firms to create new products, services, and business models</a:t>
            </a:r>
          </a:p>
          <a:p>
            <a:r>
              <a:rPr lang="en-US" sz="2200" dirty="0"/>
              <a:t>Business model: how a company produces, delivers, and sells its products and services</a:t>
            </a:r>
          </a:p>
          <a:p>
            <a:r>
              <a:rPr lang="en-US" sz="2200" dirty="0"/>
              <a:t>Example: Apple</a:t>
            </a:r>
          </a:p>
          <a:p>
            <a:pPr lvl="1"/>
            <a:r>
              <a:rPr lang="en-US" dirty="0"/>
              <a:t>Transformed old model of music distribution with iTunes</a:t>
            </a:r>
          </a:p>
          <a:p>
            <a:pPr lvl="1"/>
            <a:r>
              <a:rPr lang="en-US" dirty="0"/>
              <a:t>Constant innovations—iPod, iPhone, </a:t>
            </a:r>
            <a:r>
              <a:rPr lang="en-US" dirty="0" err="1"/>
              <a:t>iPad</a:t>
            </a:r>
            <a:r>
              <a:rPr lang="en-US" dirty="0"/>
              <a:t>, etc.</a:t>
            </a:r>
          </a:p>
        </p:txBody>
      </p:sp>
      <p:sp>
        <p:nvSpPr>
          <p:cNvPr id="2" name="Footer Placeholder 1">
            <a:extLst>
              <a:ext uri="{FF2B5EF4-FFF2-40B4-BE49-F238E27FC236}">
                <a16:creationId xmlns:a16="http://schemas.microsoft.com/office/drawing/2014/main" id="{C466260B-064E-4AC4-808F-BFA2EFF0BAE4}"/>
              </a:ext>
            </a:extLst>
          </p:cNvPr>
          <p:cNvSpPr>
            <a:spLocks noGrp="1"/>
          </p:cNvSpPr>
          <p:nvPr>
            <p:ph type="ftr" sz="quarter" idx="11"/>
          </p:nvPr>
        </p:nvSpPr>
        <p:spPr/>
        <p:txBody>
          <a:bodyPr/>
          <a:lstStyle/>
          <a:p>
            <a:r>
              <a:rPr lang="en-US"/>
              <a:t>Copyright © 2022, 2020, 2018 Pearson Education, Ltd. All Rights Reserved </a:t>
            </a:r>
            <a:endParaRPr lang="en-US" dirty="0"/>
          </a:p>
        </p:txBody>
      </p:sp>
    </p:spTree>
    <p:extLst>
      <p:ext uri="{BB962C8B-B14F-4D97-AF65-F5344CB8AC3E}">
        <p14:creationId xmlns:p14="http://schemas.microsoft.com/office/powerpoint/2010/main" val="4950832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24026"/>
            <a:ext cx="8229600" cy="553998"/>
          </a:xfrm>
        </p:spPr>
        <p:txBody>
          <a:bodyPr>
            <a:spAutoFit/>
          </a:bodyPr>
          <a:lstStyle/>
          <a:p>
            <a:r>
              <a:rPr lang="en-US" dirty="0"/>
              <a:t>Customer and Supplier Intimacy</a:t>
            </a:r>
            <a:endParaRPr lang="en-US" sz="2800" dirty="0"/>
          </a:p>
        </p:txBody>
      </p:sp>
      <p:sp>
        <p:nvSpPr>
          <p:cNvPr id="5" name="Content Placeholder 4"/>
          <p:cNvSpPr>
            <a:spLocks noGrp="1"/>
          </p:cNvSpPr>
          <p:nvPr>
            <p:ph idx="1"/>
          </p:nvPr>
        </p:nvSpPr>
        <p:spPr>
          <a:xfrm>
            <a:off x="457200" y="752173"/>
            <a:ext cx="8229600" cy="3547125"/>
          </a:xfrm>
        </p:spPr>
        <p:txBody>
          <a:bodyPr>
            <a:spAutoFit/>
          </a:bodyPr>
          <a:lstStyle/>
          <a:p>
            <a:r>
              <a:rPr lang="en-US" sz="2200" dirty="0"/>
              <a:t>Customers who are served well become repeat customers who purchase more</a:t>
            </a:r>
          </a:p>
          <a:p>
            <a:pPr lvl="1"/>
            <a:r>
              <a:rPr lang="en-US" dirty="0"/>
              <a:t>Example: Mandarin Oriental Hotel</a:t>
            </a:r>
          </a:p>
          <a:p>
            <a:pPr lvl="1"/>
            <a:r>
              <a:rPr lang="en-US" dirty="0"/>
              <a:t>Uses </a:t>
            </a:r>
            <a:r>
              <a:rPr lang="en-US" spc="-300" dirty="0"/>
              <a:t>I </a:t>
            </a:r>
            <a:r>
              <a:rPr lang="en-US" dirty="0"/>
              <a:t>T to foster an intimate relationship with its customers, keeping track of preferences, etc.</a:t>
            </a:r>
          </a:p>
          <a:p>
            <a:r>
              <a:rPr lang="en-US" sz="2200" dirty="0"/>
              <a:t>Close relationships with suppliers result in lower costs</a:t>
            </a:r>
          </a:p>
          <a:p>
            <a:pPr lvl="1"/>
            <a:r>
              <a:rPr lang="en-US" dirty="0"/>
              <a:t>Examples: Mandarin Oriental Hotel and </a:t>
            </a:r>
            <a:r>
              <a:rPr lang="en-US" spc="-350" dirty="0"/>
              <a:t>J </a:t>
            </a:r>
            <a:r>
              <a:rPr lang="en-US" dirty="0"/>
              <a:t>C Penney (in text)</a:t>
            </a:r>
          </a:p>
          <a:p>
            <a:pPr lvl="1"/>
            <a:r>
              <a:rPr lang="en-US" spc="-350" dirty="0"/>
              <a:t>J </a:t>
            </a:r>
            <a:r>
              <a:rPr lang="en-US" dirty="0"/>
              <a:t>C Penney uses </a:t>
            </a:r>
            <a:r>
              <a:rPr lang="en-US" spc="-300" dirty="0"/>
              <a:t>I </a:t>
            </a:r>
            <a:r>
              <a:rPr lang="en-US" dirty="0"/>
              <a:t>T to enhance relationship with supplier in Hong Kong</a:t>
            </a:r>
            <a:endParaRPr lang="en-US" altLang="ja-JP" dirty="0"/>
          </a:p>
        </p:txBody>
      </p:sp>
      <p:sp>
        <p:nvSpPr>
          <p:cNvPr id="2" name="Footer Placeholder 1">
            <a:extLst>
              <a:ext uri="{FF2B5EF4-FFF2-40B4-BE49-F238E27FC236}">
                <a16:creationId xmlns:a16="http://schemas.microsoft.com/office/drawing/2014/main" id="{F64779E9-69E0-45B8-B445-D64877DF22AE}"/>
              </a:ext>
            </a:extLst>
          </p:cNvPr>
          <p:cNvSpPr>
            <a:spLocks noGrp="1"/>
          </p:cNvSpPr>
          <p:nvPr>
            <p:ph type="ftr" sz="quarter" idx="11"/>
          </p:nvPr>
        </p:nvSpPr>
        <p:spPr/>
        <p:txBody>
          <a:bodyPr/>
          <a:lstStyle/>
          <a:p>
            <a:r>
              <a:rPr lang="en-US"/>
              <a:t>Copyright © 2022, 2020, 2018 Pearson Education, Ltd. All Rights Reserved </a:t>
            </a:r>
            <a:endParaRPr lang="en-US" dirty="0"/>
          </a:p>
        </p:txBody>
      </p:sp>
    </p:spTree>
    <p:extLst>
      <p:ext uri="{BB962C8B-B14F-4D97-AF65-F5344CB8AC3E}">
        <p14:creationId xmlns:p14="http://schemas.microsoft.com/office/powerpoint/2010/main" val="42712103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24026"/>
            <a:ext cx="8229600" cy="553998"/>
          </a:xfrm>
        </p:spPr>
        <p:txBody>
          <a:bodyPr>
            <a:spAutoFit/>
          </a:bodyPr>
          <a:lstStyle/>
          <a:p>
            <a:r>
              <a:rPr lang="en-IN" dirty="0"/>
              <a:t>Improved Decision Making </a:t>
            </a:r>
            <a:endParaRPr lang="en-US" sz="2800" dirty="0"/>
          </a:p>
        </p:txBody>
      </p:sp>
      <p:sp>
        <p:nvSpPr>
          <p:cNvPr id="5" name="Content Placeholder 4"/>
          <p:cNvSpPr>
            <a:spLocks noGrp="1"/>
          </p:cNvSpPr>
          <p:nvPr>
            <p:ph idx="1"/>
          </p:nvPr>
        </p:nvSpPr>
        <p:spPr>
          <a:xfrm>
            <a:off x="457200" y="695460"/>
            <a:ext cx="8229600" cy="3223959"/>
          </a:xfrm>
        </p:spPr>
        <p:txBody>
          <a:bodyPr>
            <a:spAutoFit/>
          </a:bodyPr>
          <a:lstStyle/>
          <a:p>
            <a:r>
              <a:rPr lang="en-US" altLang="en-US" dirty="0"/>
              <a:t>Without accurate information, managers must use forecasts, best guesses, and luck, </a:t>
            </a:r>
            <a:r>
              <a:rPr lang="en-US" altLang="en-US" sz="2400" dirty="0"/>
              <a:t>resulting in misallocation of resources, inventory, employees</a:t>
            </a:r>
          </a:p>
          <a:p>
            <a:r>
              <a:rPr lang="en-US" altLang="en-US" dirty="0"/>
              <a:t>Real-time data improves ability of managers to make decisions</a:t>
            </a:r>
            <a:endParaRPr lang="en-US" altLang="en-US" sz="2400" dirty="0"/>
          </a:p>
          <a:p>
            <a:pPr lvl="1"/>
            <a:r>
              <a:rPr lang="en-US" altLang="en-US" sz="2400" dirty="0"/>
              <a:t>Example: Verizon’s web-based digital dashboard to provide managers with real-time data on customer complaints, network performance, line outages, etc.</a:t>
            </a:r>
          </a:p>
        </p:txBody>
      </p:sp>
      <p:sp>
        <p:nvSpPr>
          <p:cNvPr id="2" name="Footer Placeholder 1">
            <a:extLst>
              <a:ext uri="{FF2B5EF4-FFF2-40B4-BE49-F238E27FC236}">
                <a16:creationId xmlns:a16="http://schemas.microsoft.com/office/drawing/2014/main" id="{5D04DA1D-2307-47D5-9277-8DE86CD06612}"/>
              </a:ext>
            </a:extLst>
          </p:cNvPr>
          <p:cNvSpPr>
            <a:spLocks noGrp="1"/>
          </p:cNvSpPr>
          <p:nvPr>
            <p:ph type="ftr" sz="quarter" idx="11"/>
          </p:nvPr>
        </p:nvSpPr>
        <p:spPr/>
        <p:txBody>
          <a:bodyPr/>
          <a:lstStyle/>
          <a:p>
            <a:r>
              <a:rPr lang="en-US"/>
              <a:t>Copyright © 2022, 2020, 2018 Pearson Education, Ltd. All Rights Reserved </a:t>
            </a:r>
            <a:endParaRPr lang="en-US" dirty="0"/>
          </a:p>
        </p:txBody>
      </p:sp>
    </p:spTree>
    <p:extLst>
      <p:ext uri="{BB962C8B-B14F-4D97-AF65-F5344CB8AC3E}">
        <p14:creationId xmlns:p14="http://schemas.microsoft.com/office/powerpoint/2010/main" val="23896178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24026"/>
            <a:ext cx="8229600" cy="553998"/>
          </a:xfrm>
        </p:spPr>
        <p:txBody>
          <a:bodyPr>
            <a:spAutoFit/>
          </a:bodyPr>
          <a:lstStyle/>
          <a:p>
            <a:r>
              <a:rPr lang="en-US" dirty="0"/>
              <a:t>Competitive Advantage</a:t>
            </a:r>
            <a:endParaRPr lang="en-US" sz="2800" dirty="0"/>
          </a:p>
        </p:txBody>
      </p:sp>
      <p:sp>
        <p:nvSpPr>
          <p:cNvPr id="5" name="Content Placeholder 4"/>
          <p:cNvSpPr>
            <a:spLocks noGrp="1"/>
          </p:cNvSpPr>
          <p:nvPr>
            <p:ph idx="1"/>
          </p:nvPr>
        </p:nvSpPr>
        <p:spPr>
          <a:xfrm>
            <a:off x="457200" y="704746"/>
            <a:ext cx="8229600" cy="2777683"/>
          </a:xfrm>
        </p:spPr>
        <p:txBody>
          <a:bodyPr>
            <a:spAutoFit/>
          </a:bodyPr>
          <a:lstStyle/>
          <a:p>
            <a:r>
              <a:rPr lang="en-US" dirty="0"/>
              <a:t>Often results from achieving previous business objectives</a:t>
            </a:r>
          </a:p>
          <a:p>
            <a:r>
              <a:rPr lang="en-US" dirty="0"/>
              <a:t>Advantages over competitors</a:t>
            </a:r>
          </a:p>
          <a:p>
            <a:pPr lvl="1"/>
            <a:r>
              <a:rPr lang="en-US" dirty="0"/>
              <a:t>Charging less for superior products, better performance, and better response to suppliers and customers</a:t>
            </a:r>
          </a:p>
          <a:p>
            <a:pPr lvl="1"/>
            <a:r>
              <a:rPr lang="en-US" dirty="0"/>
              <a:t>Examples: Apple, </a:t>
            </a:r>
            <a:r>
              <a:rPr lang="en-US" dirty="0" err="1"/>
              <a:t>Walmart</a:t>
            </a:r>
            <a:r>
              <a:rPr lang="en-US" dirty="0"/>
              <a:t>, </a:t>
            </a:r>
            <a:r>
              <a:rPr lang="en-US" spc="-300" dirty="0"/>
              <a:t>U P </a:t>
            </a:r>
            <a:r>
              <a:rPr lang="en-US" dirty="0"/>
              <a:t>S are industry leaders because they know how to use information systems for this purpose</a:t>
            </a:r>
          </a:p>
        </p:txBody>
      </p:sp>
      <p:sp>
        <p:nvSpPr>
          <p:cNvPr id="2" name="Footer Placeholder 1">
            <a:extLst>
              <a:ext uri="{FF2B5EF4-FFF2-40B4-BE49-F238E27FC236}">
                <a16:creationId xmlns:a16="http://schemas.microsoft.com/office/drawing/2014/main" id="{C6396720-8F35-4A47-8206-643FE3860012}"/>
              </a:ext>
            </a:extLst>
          </p:cNvPr>
          <p:cNvSpPr>
            <a:spLocks noGrp="1"/>
          </p:cNvSpPr>
          <p:nvPr>
            <p:ph type="ftr" sz="quarter" idx="11"/>
          </p:nvPr>
        </p:nvSpPr>
        <p:spPr/>
        <p:txBody>
          <a:bodyPr/>
          <a:lstStyle/>
          <a:p>
            <a:r>
              <a:rPr lang="en-US"/>
              <a:t>Copyright © 2022, 2020, 2018 Pearson Education, Ltd. All Rights Reserved </a:t>
            </a:r>
            <a:endParaRPr lang="en-US" dirty="0"/>
          </a:p>
        </p:txBody>
      </p:sp>
    </p:spTree>
    <p:extLst>
      <p:ext uri="{BB962C8B-B14F-4D97-AF65-F5344CB8AC3E}">
        <p14:creationId xmlns:p14="http://schemas.microsoft.com/office/powerpoint/2010/main" val="147335485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24026"/>
            <a:ext cx="8229600" cy="553998"/>
          </a:xfrm>
        </p:spPr>
        <p:txBody>
          <a:bodyPr>
            <a:spAutoFit/>
          </a:bodyPr>
          <a:lstStyle/>
          <a:p>
            <a:r>
              <a:rPr lang="en-US" dirty="0"/>
              <a:t>Survival</a:t>
            </a:r>
            <a:endParaRPr lang="en-US" sz="2800" dirty="0"/>
          </a:p>
        </p:txBody>
      </p:sp>
      <p:sp>
        <p:nvSpPr>
          <p:cNvPr id="5" name="Content Placeholder 4"/>
          <p:cNvSpPr>
            <a:spLocks noGrp="1"/>
          </p:cNvSpPr>
          <p:nvPr>
            <p:ph idx="1"/>
          </p:nvPr>
        </p:nvSpPr>
        <p:spPr>
          <a:xfrm>
            <a:off x="457200" y="704746"/>
            <a:ext cx="8229600" cy="3162404"/>
          </a:xfrm>
        </p:spPr>
        <p:txBody>
          <a:bodyPr>
            <a:spAutoFit/>
          </a:bodyPr>
          <a:lstStyle/>
          <a:p>
            <a:r>
              <a:rPr lang="en-US" dirty="0"/>
              <a:t>Businesses may need to invest in information systems out of necessity; it is simply the cost of doing business</a:t>
            </a:r>
          </a:p>
          <a:p>
            <a:r>
              <a:rPr lang="en-US" dirty="0"/>
              <a:t>Keeping up with competitors</a:t>
            </a:r>
          </a:p>
          <a:p>
            <a:pPr lvl="1"/>
            <a:r>
              <a:rPr lang="en-US" sz="2400" dirty="0"/>
              <a:t>Citibank’s introduction of </a:t>
            </a:r>
            <a:r>
              <a:rPr lang="en-US" sz="2400" spc="-300" dirty="0"/>
              <a:t>A T </a:t>
            </a:r>
            <a:r>
              <a:rPr lang="en-US" sz="2400" dirty="0" err="1"/>
              <a:t>Ms</a:t>
            </a:r>
            <a:endParaRPr lang="en-US" sz="2400" dirty="0"/>
          </a:p>
          <a:p>
            <a:r>
              <a:rPr lang="en-US" dirty="0"/>
              <a:t>Federal and state regulations and reporting requirements</a:t>
            </a:r>
          </a:p>
          <a:p>
            <a:pPr lvl="1"/>
            <a:r>
              <a:rPr lang="en-US" sz="2400" dirty="0"/>
              <a:t>Toxic Substances Control Act and the Sarbanes-Oxley Act</a:t>
            </a:r>
            <a:endParaRPr lang="en-US" altLang="en-US" sz="2400" dirty="0"/>
          </a:p>
        </p:txBody>
      </p:sp>
      <p:sp>
        <p:nvSpPr>
          <p:cNvPr id="2" name="Footer Placeholder 1">
            <a:extLst>
              <a:ext uri="{FF2B5EF4-FFF2-40B4-BE49-F238E27FC236}">
                <a16:creationId xmlns:a16="http://schemas.microsoft.com/office/drawing/2014/main" id="{E0D3E8C5-B7D5-4F78-9AF2-C5F05C40951D}"/>
              </a:ext>
            </a:extLst>
          </p:cNvPr>
          <p:cNvSpPr>
            <a:spLocks noGrp="1"/>
          </p:cNvSpPr>
          <p:nvPr>
            <p:ph type="ftr" sz="quarter" idx="11"/>
          </p:nvPr>
        </p:nvSpPr>
        <p:spPr/>
        <p:txBody>
          <a:bodyPr/>
          <a:lstStyle/>
          <a:p>
            <a:r>
              <a:rPr lang="en-US"/>
              <a:t>Copyright © 2022, 2020, 2018 Pearson Education, Ltd. All Rights Reserved </a:t>
            </a:r>
            <a:endParaRPr lang="en-US" dirty="0"/>
          </a:p>
        </p:txBody>
      </p:sp>
    </p:spTree>
    <p:extLst>
      <p:ext uri="{BB962C8B-B14F-4D97-AF65-F5344CB8AC3E}">
        <p14:creationId xmlns:p14="http://schemas.microsoft.com/office/powerpoint/2010/main" val="332285157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1717"/>
            <a:ext cx="8229600" cy="984885"/>
          </a:xfrm>
        </p:spPr>
        <p:txBody>
          <a:bodyPr>
            <a:spAutoFit/>
          </a:bodyPr>
          <a:lstStyle/>
          <a:p>
            <a:r>
              <a:rPr lang="en-IN" dirty="0"/>
              <a:t>What Is an Information System?                    </a:t>
            </a:r>
            <a:r>
              <a:rPr lang="en-IN" sz="2800" dirty="0"/>
              <a:t>(1 of 3)</a:t>
            </a:r>
            <a:endParaRPr lang="en-US" sz="2800" dirty="0"/>
          </a:p>
        </p:txBody>
      </p:sp>
      <p:sp>
        <p:nvSpPr>
          <p:cNvPr id="5" name="Content Placeholder 4"/>
          <p:cNvSpPr>
            <a:spLocks noGrp="1"/>
          </p:cNvSpPr>
          <p:nvPr>
            <p:ph idx="1"/>
          </p:nvPr>
        </p:nvSpPr>
        <p:spPr>
          <a:xfrm>
            <a:off x="457200" y="1151597"/>
            <a:ext cx="8229600" cy="3649133"/>
          </a:xfrm>
        </p:spPr>
        <p:txBody>
          <a:bodyPr>
            <a:spAutoFit/>
          </a:bodyPr>
          <a:lstStyle/>
          <a:p>
            <a:r>
              <a:rPr lang="en-US" dirty="0"/>
              <a:t>Information technology: the hardware and software a business uses to achieve objectives</a:t>
            </a:r>
          </a:p>
          <a:p>
            <a:r>
              <a:rPr lang="en-US" dirty="0"/>
              <a:t>Information system: interrelated components that manage information to:</a:t>
            </a:r>
          </a:p>
          <a:p>
            <a:pPr lvl="1"/>
            <a:r>
              <a:rPr lang="en-US" sz="2400" dirty="0"/>
              <a:t>Support decision making and control</a:t>
            </a:r>
          </a:p>
          <a:p>
            <a:pPr lvl="1"/>
            <a:r>
              <a:rPr lang="en-US" sz="2400" dirty="0"/>
              <a:t>Help with analysis, visualization, and product creation</a:t>
            </a:r>
          </a:p>
          <a:p>
            <a:r>
              <a:rPr lang="en-US" dirty="0"/>
              <a:t>Data: streams of raw facts</a:t>
            </a:r>
          </a:p>
          <a:p>
            <a:r>
              <a:rPr lang="en-US" dirty="0"/>
              <a:t>Information: data shaped into meaningful, useful form</a:t>
            </a:r>
          </a:p>
        </p:txBody>
      </p:sp>
      <p:sp>
        <p:nvSpPr>
          <p:cNvPr id="2" name="Footer Placeholder 1">
            <a:extLst>
              <a:ext uri="{FF2B5EF4-FFF2-40B4-BE49-F238E27FC236}">
                <a16:creationId xmlns:a16="http://schemas.microsoft.com/office/drawing/2014/main" id="{7B32A3C2-4988-4E60-9540-94A2F749DB54}"/>
              </a:ext>
            </a:extLst>
          </p:cNvPr>
          <p:cNvSpPr>
            <a:spLocks noGrp="1"/>
          </p:cNvSpPr>
          <p:nvPr>
            <p:ph type="ftr" sz="quarter" idx="11"/>
          </p:nvPr>
        </p:nvSpPr>
        <p:spPr/>
        <p:txBody>
          <a:bodyPr/>
          <a:lstStyle/>
          <a:p>
            <a:r>
              <a:rPr lang="en-US"/>
              <a:t>Copyright © 2022, 2020, 2018 Pearson Education, Ltd. All Rights Reserved </a:t>
            </a:r>
            <a:endParaRPr lang="en-US" dirty="0"/>
          </a:p>
        </p:txBody>
      </p:sp>
    </p:spTree>
    <p:extLst>
      <p:ext uri="{BB962C8B-B14F-4D97-AF65-F5344CB8AC3E}">
        <p14:creationId xmlns:p14="http://schemas.microsoft.com/office/powerpoint/2010/main" val="205385719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24026"/>
            <a:ext cx="8229600" cy="553998"/>
          </a:xfrm>
        </p:spPr>
        <p:txBody>
          <a:bodyPr wrap="square">
            <a:spAutoFit/>
          </a:bodyPr>
          <a:lstStyle/>
          <a:p>
            <a:r>
              <a:rPr lang="en-US" dirty="0"/>
              <a:t>Figure 1.3 </a:t>
            </a:r>
            <a:r>
              <a:rPr lang="en-US" altLang="en-US" dirty="0"/>
              <a:t>Data and Information</a:t>
            </a:r>
            <a:endParaRPr lang="en-US" sz="2800" dirty="0"/>
          </a:p>
        </p:txBody>
      </p:sp>
      <p:pic>
        <p:nvPicPr>
          <p:cNvPr id="2050" name="Picture 2" descr="A butterfly flow diagram illustrates how an information system converts data into information. For a full description, see Notes. Press F6."/>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547802" y="920057"/>
            <a:ext cx="8073446" cy="3303384"/>
          </a:xfrm>
          <a:prstGeom prst="rect">
            <a:avLst/>
          </a:prstGeom>
          <a:noFill/>
          <a:extLst>
            <a:ext uri="{909E8E84-426E-40DD-AFC4-6F175D3DCCD1}">
              <a14:hiddenFill xmlns:a14="http://schemas.microsoft.com/office/drawing/2010/main">
                <a:solidFill>
                  <a:srgbClr val="FFFFFF"/>
                </a:solidFill>
              </a14:hiddenFill>
            </a:ext>
          </a:extLst>
        </p:spPr>
      </p:pic>
      <p:sp>
        <p:nvSpPr>
          <p:cNvPr id="2" name="Footer Placeholder 1">
            <a:extLst>
              <a:ext uri="{FF2B5EF4-FFF2-40B4-BE49-F238E27FC236}">
                <a16:creationId xmlns:a16="http://schemas.microsoft.com/office/drawing/2014/main" id="{05F71446-D379-4D23-B7F8-D65CDE9E0AAE}"/>
              </a:ext>
            </a:extLst>
          </p:cNvPr>
          <p:cNvSpPr>
            <a:spLocks noGrp="1"/>
          </p:cNvSpPr>
          <p:nvPr>
            <p:ph type="ftr" sz="quarter" idx="11"/>
          </p:nvPr>
        </p:nvSpPr>
        <p:spPr/>
        <p:txBody>
          <a:bodyPr/>
          <a:lstStyle/>
          <a:p>
            <a:r>
              <a:rPr lang="en-US"/>
              <a:t>Copyright © 2022, 2020, 2018 Pearson Education, Ltd. All Rights Reserved </a:t>
            </a:r>
            <a:endParaRPr lang="en-US" dirty="0"/>
          </a:p>
        </p:txBody>
      </p:sp>
    </p:spTree>
    <p:extLst>
      <p:ext uri="{BB962C8B-B14F-4D97-AF65-F5344CB8AC3E}">
        <p14:creationId xmlns:p14="http://schemas.microsoft.com/office/powerpoint/2010/main" val="339741712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24243"/>
            <a:ext cx="8229600" cy="984885"/>
          </a:xfrm>
        </p:spPr>
        <p:txBody>
          <a:bodyPr>
            <a:spAutoFit/>
          </a:bodyPr>
          <a:lstStyle/>
          <a:p>
            <a:r>
              <a:rPr lang="en-IN" dirty="0"/>
              <a:t>What Is an Information System?                 </a:t>
            </a:r>
            <a:r>
              <a:rPr lang="en-IN" sz="2800" dirty="0"/>
              <a:t>(2 of 3)</a:t>
            </a:r>
            <a:endParaRPr lang="en-US" sz="2800" dirty="0"/>
          </a:p>
        </p:txBody>
      </p:sp>
      <p:sp>
        <p:nvSpPr>
          <p:cNvPr id="5" name="Content Placeholder 4"/>
          <p:cNvSpPr>
            <a:spLocks noGrp="1"/>
          </p:cNvSpPr>
          <p:nvPr>
            <p:ph idx="1"/>
          </p:nvPr>
        </p:nvSpPr>
        <p:spPr>
          <a:xfrm>
            <a:off x="457200" y="1263084"/>
            <a:ext cx="8229600" cy="3454792"/>
          </a:xfrm>
        </p:spPr>
        <p:txBody>
          <a:bodyPr>
            <a:spAutoFit/>
          </a:bodyPr>
          <a:lstStyle/>
          <a:p>
            <a:r>
              <a:rPr lang="en-US" dirty="0"/>
              <a:t>Activities in an information system that produce information:</a:t>
            </a:r>
          </a:p>
          <a:p>
            <a:pPr lvl="1"/>
            <a:r>
              <a:rPr lang="en-US" sz="2400" dirty="0"/>
              <a:t>Input</a:t>
            </a:r>
          </a:p>
          <a:p>
            <a:pPr lvl="1"/>
            <a:r>
              <a:rPr lang="en-US" sz="2400" dirty="0"/>
              <a:t>Processing</a:t>
            </a:r>
          </a:p>
          <a:p>
            <a:pPr lvl="1"/>
            <a:r>
              <a:rPr lang="en-US" sz="2400" dirty="0"/>
              <a:t>Output</a:t>
            </a:r>
          </a:p>
          <a:p>
            <a:pPr lvl="1"/>
            <a:r>
              <a:rPr lang="en-US" sz="2400" dirty="0"/>
              <a:t>Feedback</a:t>
            </a:r>
          </a:p>
          <a:p>
            <a:r>
              <a:rPr lang="en-US" dirty="0"/>
              <a:t>Sharp distinction between computer or computer program versus information system</a:t>
            </a:r>
          </a:p>
        </p:txBody>
      </p:sp>
      <p:sp>
        <p:nvSpPr>
          <p:cNvPr id="2" name="Footer Placeholder 1">
            <a:extLst>
              <a:ext uri="{FF2B5EF4-FFF2-40B4-BE49-F238E27FC236}">
                <a16:creationId xmlns:a16="http://schemas.microsoft.com/office/drawing/2014/main" id="{E8EA9EC4-915D-4A59-8DC7-6982270019BA}"/>
              </a:ext>
            </a:extLst>
          </p:cNvPr>
          <p:cNvSpPr>
            <a:spLocks noGrp="1"/>
          </p:cNvSpPr>
          <p:nvPr>
            <p:ph type="ftr" sz="quarter" idx="11"/>
          </p:nvPr>
        </p:nvSpPr>
        <p:spPr/>
        <p:txBody>
          <a:bodyPr/>
          <a:lstStyle/>
          <a:p>
            <a:r>
              <a:rPr lang="en-US"/>
              <a:t>Copyright © 2022, 2020, 2018 Pearson Education, Ltd. All Rights Reserved </a:t>
            </a:r>
            <a:endParaRPr lang="en-US" dirty="0"/>
          </a:p>
        </p:txBody>
      </p:sp>
    </p:spTree>
    <p:extLst>
      <p:ext uri="{BB962C8B-B14F-4D97-AF65-F5344CB8AC3E}">
        <p14:creationId xmlns:p14="http://schemas.microsoft.com/office/powerpoint/2010/main" val="382739567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1717"/>
            <a:ext cx="8229600" cy="984885"/>
          </a:xfrm>
        </p:spPr>
        <p:txBody>
          <a:bodyPr>
            <a:spAutoFit/>
          </a:bodyPr>
          <a:lstStyle/>
          <a:p>
            <a:r>
              <a:rPr lang="en-IN" dirty="0"/>
              <a:t>What is an Information System?                 </a:t>
            </a:r>
            <a:r>
              <a:rPr lang="en-IN" sz="2800" dirty="0"/>
              <a:t>(3 of 3)</a:t>
            </a:r>
            <a:endParaRPr lang="en-US" sz="2800" dirty="0"/>
          </a:p>
        </p:txBody>
      </p:sp>
      <p:sp>
        <p:nvSpPr>
          <p:cNvPr id="5" name="Content Placeholder 4"/>
          <p:cNvSpPr>
            <a:spLocks noGrp="1"/>
          </p:cNvSpPr>
          <p:nvPr>
            <p:ph idx="1"/>
          </p:nvPr>
        </p:nvSpPr>
        <p:spPr>
          <a:xfrm>
            <a:off x="457200" y="1266474"/>
            <a:ext cx="8229600" cy="2931572"/>
          </a:xfrm>
        </p:spPr>
        <p:txBody>
          <a:bodyPr>
            <a:spAutoFit/>
          </a:bodyPr>
          <a:lstStyle/>
          <a:p>
            <a:r>
              <a:rPr lang="en-US" dirty="0"/>
              <a:t>Feedback </a:t>
            </a:r>
          </a:p>
          <a:p>
            <a:pPr lvl="1"/>
            <a:r>
              <a:rPr lang="en-US" sz="2400" dirty="0"/>
              <a:t>Output is returned to appropriate members of organization to help evaluate or correct input stage</a:t>
            </a:r>
          </a:p>
          <a:p>
            <a:r>
              <a:rPr lang="en-US" dirty="0"/>
              <a:t>Computer/computer program vs. information system</a:t>
            </a:r>
          </a:p>
          <a:p>
            <a:pPr lvl="1"/>
            <a:r>
              <a:rPr lang="en-US" sz="2400" dirty="0"/>
              <a:t>Computers and software are technical foundation and tools, similar to the material and tools used to build a house</a:t>
            </a:r>
          </a:p>
        </p:txBody>
      </p:sp>
      <p:sp>
        <p:nvSpPr>
          <p:cNvPr id="2" name="Footer Placeholder 1">
            <a:extLst>
              <a:ext uri="{FF2B5EF4-FFF2-40B4-BE49-F238E27FC236}">
                <a16:creationId xmlns:a16="http://schemas.microsoft.com/office/drawing/2014/main" id="{D4DB3784-E6B9-4058-8ACC-6D0A6A40BC35}"/>
              </a:ext>
            </a:extLst>
          </p:cNvPr>
          <p:cNvSpPr>
            <a:spLocks noGrp="1"/>
          </p:cNvSpPr>
          <p:nvPr>
            <p:ph type="ftr" sz="quarter" idx="11"/>
          </p:nvPr>
        </p:nvSpPr>
        <p:spPr/>
        <p:txBody>
          <a:bodyPr/>
          <a:lstStyle/>
          <a:p>
            <a:r>
              <a:rPr lang="en-US"/>
              <a:t>Copyright © 2022, 2020, 2018 Pearson Education, Ltd. All Rights Reserved </a:t>
            </a:r>
            <a:endParaRPr lang="en-US" dirty="0"/>
          </a:p>
        </p:txBody>
      </p:sp>
    </p:spTree>
    <p:extLst>
      <p:ext uri="{BB962C8B-B14F-4D97-AF65-F5344CB8AC3E}">
        <p14:creationId xmlns:p14="http://schemas.microsoft.com/office/powerpoint/2010/main" val="422603810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21439"/>
            <a:ext cx="8229600" cy="1097026"/>
          </a:xfrm>
        </p:spPr>
        <p:txBody>
          <a:bodyPr wrap="square">
            <a:spAutoFit/>
          </a:bodyPr>
          <a:lstStyle/>
          <a:p>
            <a:r>
              <a:rPr lang="en-US" dirty="0"/>
              <a:t>Figure 1.4 </a:t>
            </a:r>
            <a:r>
              <a:rPr lang="en-US" altLang="en-US" dirty="0"/>
              <a:t>Functions of an Information System</a:t>
            </a:r>
            <a:endParaRPr lang="en-US" sz="2800" dirty="0"/>
          </a:p>
        </p:txBody>
      </p:sp>
      <p:pic>
        <p:nvPicPr>
          <p:cNvPr id="3074" name="Picture 2" descr="A figure illustrates basic activities of an information system at an organization level and the environmental actors interacting with the organization and its information systems. For a full description, see Notes. Press F6."/>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1993922" y="1301402"/>
            <a:ext cx="5156160" cy="3334318"/>
          </a:xfrm>
          <a:prstGeom prst="rect">
            <a:avLst/>
          </a:prstGeom>
          <a:noFill/>
          <a:extLst>
            <a:ext uri="{909E8E84-426E-40DD-AFC4-6F175D3DCCD1}">
              <a14:hiddenFill xmlns:a14="http://schemas.microsoft.com/office/drawing/2010/main">
                <a:solidFill>
                  <a:srgbClr val="FFFFFF"/>
                </a:solidFill>
              </a14:hiddenFill>
            </a:ext>
          </a:extLst>
        </p:spPr>
      </p:pic>
      <p:sp>
        <p:nvSpPr>
          <p:cNvPr id="2" name="Footer Placeholder 1">
            <a:extLst>
              <a:ext uri="{FF2B5EF4-FFF2-40B4-BE49-F238E27FC236}">
                <a16:creationId xmlns:a16="http://schemas.microsoft.com/office/drawing/2014/main" id="{B7015B02-30FE-4768-85F8-2694E5C12F34}"/>
              </a:ext>
            </a:extLst>
          </p:cNvPr>
          <p:cNvSpPr>
            <a:spLocks noGrp="1"/>
          </p:cNvSpPr>
          <p:nvPr>
            <p:ph type="ftr" sz="quarter" idx="11"/>
          </p:nvPr>
        </p:nvSpPr>
        <p:spPr/>
        <p:txBody>
          <a:bodyPr/>
          <a:lstStyle/>
          <a:p>
            <a:r>
              <a:rPr lang="en-US"/>
              <a:t>Copyright © 2022, 2020, 2018 Pearson Education, Ltd. All Rights Reserved </a:t>
            </a:r>
            <a:endParaRPr lang="en-US" dirty="0"/>
          </a:p>
        </p:txBody>
      </p:sp>
    </p:spTree>
    <p:extLst>
      <p:ext uri="{BB962C8B-B14F-4D97-AF65-F5344CB8AC3E}">
        <p14:creationId xmlns:p14="http://schemas.microsoft.com/office/powerpoint/2010/main" val="312489611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24026"/>
            <a:ext cx="8229600" cy="553998"/>
          </a:xfrm>
        </p:spPr>
        <p:txBody>
          <a:bodyPr>
            <a:spAutoFit/>
          </a:bodyPr>
          <a:lstStyle/>
          <a:p>
            <a:r>
              <a:rPr lang="en-US" dirty="0"/>
              <a:t>Dimensions of Information Systems</a:t>
            </a:r>
            <a:endParaRPr lang="en-US" sz="2800" dirty="0"/>
          </a:p>
        </p:txBody>
      </p:sp>
      <p:sp>
        <p:nvSpPr>
          <p:cNvPr id="5" name="Content Placeholder 4"/>
          <p:cNvSpPr>
            <a:spLocks noGrp="1"/>
          </p:cNvSpPr>
          <p:nvPr>
            <p:ph idx="1"/>
          </p:nvPr>
        </p:nvSpPr>
        <p:spPr>
          <a:xfrm>
            <a:off x="457200" y="698034"/>
            <a:ext cx="8229600" cy="1492716"/>
          </a:xfrm>
        </p:spPr>
        <p:txBody>
          <a:bodyPr>
            <a:spAutoFit/>
          </a:bodyPr>
          <a:lstStyle/>
          <a:p>
            <a:r>
              <a:rPr lang="en-US" dirty="0"/>
              <a:t>Organizations</a:t>
            </a:r>
          </a:p>
          <a:p>
            <a:r>
              <a:rPr lang="en-US" dirty="0"/>
              <a:t>Management</a:t>
            </a:r>
          </a:p>
          <a:p>
            <a:r>
              <a:rPr lang="en-US" dirty="0"/>
              <a:t>Technology</a:t>
            </a:r>
          </a:p>
        </p:txBody>
      </p:sp>
      <p:sp>
        <p:nvSpPr>
          <p:cNvPr id="2" name="Footer Placeholder 1">
            <a:extLst>
              <a:ext uri="{FF2B5EF4-FFF2-40B4-BE49-F238E27FC236}">
                <a16:creationId xmlns:a16="http://schemas.microsoft.com/office/drawing/2014/main" id="{92AE0FEA-D0DB-4720-B13F-0E5EF5E70EB3}"/>
              </a:ext>
            </a:extLst>
          </p:cNvPr>
          <p:cNvSpPr>
            <a:spLocks noGrp="1"/>
          </p:cNvSpPr>
          <p:nvPr>
            <p:ph type="ftr" sz="quarter" idx="11"/>
          </p:nvPr>
        </p:nvSpPr>
        <p:spPr/>
        <p:txBody>
          <a:bodyPr/>
          <a:lstStyle/>
          <a:p>
            <a:r>
              <a:rPr lang="en-US"/>
              <a:t>Copyright © 2022, 2020, 2018 Pearson Education, Ltd. All Rights Reserved </a:t>
            </a:r>
            <a:endParaRPr lang="en-US" dirty="0"/>
          </a:p>
        </p:txBody>
      </p:sp>
    </p:spTree>
    <p:extLst>
      <p:ext uri="{BB962C8B-B14F-4D97-AF65-F5344CB8AC3E}">
        <p14:creationId xmlns:p14="http://schemas.microsoft.com/office/powerpoint/2010/main" val="320431361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21439"/>
            <a:ext cx="8229600" cy="1097026"/>
          </a:xfrm>
        </p:spPr>
        <p:txBody>
          <a:bodyPr wrap="square">
            <a:spAutoFit/>
          </a:bodyPr>
          <a:lstStyle/>
          <a:p>
            <a:r>
              <a:rPr lang="en-US" dirty="0"/>
              <a:t>Figure 1.5 </a:t>
            </a:r>
            <a:r>
              <a:rPr lang="en-US" altLang="en-US" dirty="0"/>
              <a:t>Information Systems Are More Than Computers</a:t>
            </a:r>
            <a:endParaRPr lang="en-US" sz="2800" dirty="0"/>
          </a:p>
        </p:txBody>
      </p:sp>
      <p:pic>
        <p:nvPicPr>
          <p:cNvPr id="4098" name="Picture 2" descr="A figure shows the three dimensions of information systems, which include organizations, management, and technology."/>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2435890" y="1336967"/>
            <a:ext cx="4247083" cy="3464837"/>
          </a:xfrm>
          <a:prstGeom prst="rect">
            <a:avLst/>
          </a:prstGeom>
          <a:noFill/>
          <a:extLst>
            <a:ext uri="{909E8E84-426E-40DD-AFC4-6F175D3DCCD1}">
              <a14:hiddenFill xmlns:a14="http://schemas.microsoft.com/office/drawing/2010/main">
                <a:solidFill>
                  <a:srgbClr val="FFFFFF"/>
                </a:solidFill>
              </a14:hiddenFill>
            </a:ext>
          </a:extLst>
        </p:spPr>
      </p:pic>
      <p:sp>
        <p:nvSpPr>
          <p:cNvPr id="2" name="Footer Placeholder 1">
            <a:extLst>
              <a:ext uri="{FF2B5EF4-FFF2-40B4-BE49-F238E27FC236}">
                <a16:creationId xmlns:a16="http://schemas.microsoft.com/office/drawing/2014/main" id="{59D9F36D-0F6E-4798-87FE-1C7CDDD491A7}"/>
              </a:ext>
            </a:extLst>
          </p:cNvPr>
          <p:cNvSpPr>
            <a:spLocks noGrp="1"/>
          </p:cNvSpPr>
          <p:nvPr>
            <p:ph type="ftr" sz="quarter" idx="11"/>
          </p:nvPr>
        </p:nvSpPr>
        <p:spPr/>
        <p:txBody>
          <a:bodyPr/>
          <a:lstStyle/>
          <a:p>
            <a:r>
              <a:rPr lang="en-US"/>
              <a:t>Copyright © 2022, 2020, 2018 Pearson Education, Ltd. All Rights Reserved </a:t>
            </a:r>
            <a:endParaRPr lang="en-US" dirty="0"/>
          </a:p>
        </p:txBody>
      </p:sp>
    </p:spTree>
    <p:extLst>
      <p:ext uri="{BB962C8B-B14F-4D97-AF65-F5344CB8AC3E}">
        <p14:creationId xmlns:p14="http://schemas.microsoft.com/office/powerpoint/2010/main" val="266957533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21439"/>
            <a:ext cx="8229600" cy="1097026"/>
          </a:xfrm>
        </p:spPr>
        <p:txBody>
          <a:bodyPr>
            <a:spAutoFit/>
          </a:bodyPr>
          <a:lstStyle/>
          <a:p>
            <a:r>
              <a:rPr lang="en-IN" dirty="0"/>
              <a:t>Dimensions of Information Systems: Organizations </a:t>
            </a:r>
            <a:r>
              <a:rPr lang="en-IN" sz="2800" dirty="0"/>
              <a:t>(1 of 2)</a:t>
            </a:r>
            <a:endParaRPr lang="en-US" sz="2800" dirty="0"/>
          </a:p>
        </p:txBody>
      </p:sp>
      <p:sp>
        <p:nvSpPr>
          <p:cNvPr id="5" name="Content Placeholder 4"/>
          <p:cNvSpPr>
            <a:spLocks noGrp="1"/>
          </p:cNvSpPr>
          <p:nvPr>
            <p:ph idx="1"/>
          </p:nvPr>
        </p:nvSpPr>
        <p:spPr>
          <a:xfrm>
            <a:off x="457200" y="1264836"/>
            <a:ext cx="8229600" cy="3046988"/>
          </a:xfrm>
        </p:spPr>
        <p:txBody>
          <a:bodyPr>
            <a:spAutoFit/>
          </a:bodyPr>
          <a:lstStyle/>
          <a:p>
            <a:r>
              <a:rPr lang="en-US" dirty="0"/>
              <a:t>Hierarchy of authority, responsibility</a:t>
            </a:r>
          </a:p>
          <a:p>
            <a:pPr lvl="1"/>
            <a:r>
              <a:rPr lang="en-US" sz="2400" dirty="0"/>
              <a:t>Senior management</a:t>
            </a:r>
          </a:p>
          <a:p>
            <a:pPr lvl="1"/>
            <a:r>
              <a:rPr lang="en-US" sz="2400" dirty="0"/>
              <a:t>Middle management</a:t>
            </a:r>
          </a:p>
          <a:p>
            <a:pPr lvl="1"/>
            <a:r>
              <a:rPr lang="en-US" sz="2400" dirty="0"/>
              <a:t>Operational management</a:t>
            </a:r>
          </a:p>
          <a:p>
            <a:pPr lvl="1"/>
            <a:r>
              <a:rPr lang="en-US" sz="2400" dirty="0"/>
              <a:t>Knowledge workers</a:t>
            </a:r>
          </a:p>
          <a:p>
            <a:pPr lvl="1"/>
            <a:r>
              <a:rPr lang="en-US" sz="2400" dirty="0"/>
              <a:t>Data workers</a:t>
            </a:r>
          </a:p>
          <a:p>
            <a:pPr lvl="1"/>
            <a:r>
              <a:rPr lang="en-US" sz="2400" dirty="0"/>
              <a:t>Production or service workers</a:t>
            </a:r>
          </a:p>
        </p:txBody>
      </p:sp>
      <p:sp>
        <p:nvSpPr>
          <p:cNvPr id="2" name="Footer Placeholder 1">
            <a:extLst>
              <a:ext uri="{FF2B5EF4-FFF2-40B4-BE49-F238E27FC236}">
                <a16:creationId xmlns:a16="http://schemas.microsoft.com/office/drawing/2014/main" id="{38953985-D7A1-4005-A1B2-56DEFB5F9ADC}"/>
              </a:ext>
            </a:extLst>
          </p:cNvPr>
          <p:cNvSpPr>
            <a:spLocks noGrp="1"/>
          </p:cNvSpPr>
          <p:nvPr>
            <p:ph type="ftr" sz="quarter" idx="11"/>
          </p:nvPr>
        </p:nvSpPr>
        <p:spPr/>
        <p:txBody>
          <a:bodyPr/>
          <a:lstStyle/>
          <a:p>
            <a:r>
              <a:rPr lang="en-US"/>
              <a:t>Copyright © 2022, 2020, 2018 Pearson Education, Ltd. All Rights Reserved </a:t>
            </a:r>
            <a:endParaRPr lang="en-US" dirty="0"/>
          </a:p>
        </p:txBody>
      </p:sp>
    </p:spTree>
    <p:extLst>
      <p:ext uri="{BB962C8B-B14F-4D97-AF65-F5344CB8AC3E}">
        <p14:creationId xmlns:p14="http://schemas.microsoft.com/office/powerpoint/2010/main" val="138691847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24026"/>
            <a:ext cx="8229600" cy="553998"/>
          </a:xfrm>
        </p:spPr>
        <p:txBody>
          <a:bodyPr wrap="square">
            <a:spAutoFit/>
          </a:bodyPr>
          <a:lstStyle/>
          <a:p>
            <a:r>
              <a:rPr lang="en-US" dirty="0"/>
              <a:t>Figure 1.6 </a:t>
            </a:r>
            <a:r>
              <a:rPr lang="en-US" altLang="en-US" dirty="0"/>
              <a:t>Levels in a Firm</a:t>
            </a:r>
            <a:endParaRPr lang="en-US" sz="2800" dirty="0"/>
          </a:p>
        </p:txBody>
      </p:sp>
      <p:pic>
        <p:nvPicPr>
          <p:cNvPr id="5122" name="Picture 2" descr="A figure shows a pyramid depicting the principal levels in a firm. For a full description, see Notes. Press F6."/>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2412184" y="774857"/>
            <a:ext cx="4338259" cy="3911816"/>
          </a:xfrm>
          <a:prstGeom prst="rect">
            <a:avLst/>
          </a:prstGeom>
          <a:noFill/>
          <a:extLst>
            <a:ext uri="{909E8E84-426E-40DD-AFC4-6F175D3DCCD1}">
              <a14:hiddenFill xmlns:a14="http://schemas.microsoft.com/office/drawing/2010/main">
                <a:solidFill>
                  <a:srgbClr val="FFFFFF"/>
                </a:solidFill>
              </a14:hiddenFill>
            </a:ext>
          </a:extLst>
        </p:spPr>
      </p:pic>
      <p:sp>
        <p:nvSpPr>
          <p:cNvPr id="2" name="Footer Placeholder 1">
            <a:extLst>
              <a:ext uri="{FF2B5EF4-FFF2-40B4-BE49-F238E27FC236}">
                <a16:creationId xmlns:a16="http://schemas.microsoft.com/office/drawing/2014/main" id="{2B51D48B-B63A-4955-843E-28D9F067EFB9}"/>
              </a:ext>
            </a:extLst>
          </p:cNvPr>
          <p:cNvSpPr>
            <a:spLocks noGrp="1"/>
          </p:cNvSpPr>
          <p:nvPr>
            <p:ph type="ftr" sz="quarter" idx="11"/>
          </p:nvPr>
        </p:nvSpPr>
        <p:spPr/>
        <p:txBody>
          <a:bodyPr/>
          <a:lstStyle/>
          <a:p>
            <a:r>
              <a:rPr lang="en-US"/>
              <a:t>Copyright © 2022, 2020, 2018 Pearson Education, Ltd. All Rights Reserved </a:t>
            </a:r>
            <a:endParaRPr lang="en-US" dirty="0"/>
          </a:p>
        </p:txBody>
      </p:sp>
    </p:spTree>
    <p:extLst>
      <p:ext uri="{BB962C8B-B14F-4D97-AF65-F5344CB8AC3E}">
        <p14:creationId xmlns:p14="http://schemas.microsoft.com/office/powerpoint/2010/main" val="343423641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21439"/>
            <a:ext cx="8229600" cy="1097026"/>
          </a:xfrm>
        </p:spPr>
        <p:txBody>
          <a:bodyPr>
            <a:spAutoFit/>
          </a:bodyPr>
          <a:lstStyle/>
          <a:p>
            <a:r>
              <a:rPr lang="en-IN" dirty="0"/>
              <a:t>Dimensions of Information Systems: Organizations </a:t>
            </a:r>
            <a:r>
              <a:rPr lang="en-IN" sz="2800" dirty="0"/>
              <a:t>(2 of 2)</a:t>
            </a:r>
            <a:endParaRPr lang="en-US" sz="2800" dirty="0"/>
          </a:p>
        </p:txBody>
      </p:sp>
      <p:sp>
        <p:nvSpPr>
          <p:cNvPr id="5" name="Content Placeholder 4"/>
          <p:cNvSpPr>
            <a:spLocks noGrp="1"/>
          </p:cNvSpPr>
          <p:nvPr>
            <p:ph idx="1"/>
          </p:nvPr>
        </p:nvSpPr>
        <p:spPr>
          <a:xfrm>
            <a:off x="457200" y="1263824"/>
            <a:ext cx="8229600" cy="3347070"/>
          </a:xfrm>
        </p:spPr>
        <p:txBody>
          <a:bodyPr>
            <a:spAutoFit/>
          </a:bodyPr>
          <a:lstStyle/>
          <a:p>
            <a:r>
              <a:rPr lang="en-US" sz="2000" dirty="0"/>
              <a:t>Separation of business functions</a:t>
            </a:r>
          </a:p>
          <a:p>
            <a:pPr lvl="1"/>
            <a:r>
              <a:rPr lang="en-US" sz="2000" dirty="0"/>
              <a:t>Sales and marketing</a:t>
            </a:r>
          </a:p>
          <a:p>
            <a:pPr lvl="1"/>
            <a:r>
              <a:rPr lang="en-US" sz="2000" dirty="0"/>
              <a:t>Human resources</a:t>
            </a:r>
          </a:p>
          <a:p>
            <a:pPr lvl="1"/>
            <a:r>
              <a:rPr lang="en-US" sz="2000" dirty="0"/>
              <a:t>Finance and accounting</a:t>
            </a:r>
          </a:p>
          <a:p>
            <a:pPr lvl="1"/>
            <a:r>
              <a:rPr lang="en-US" sz="2000" dirty="0"/>
              <a:t>Manufacturing and production</a:t>
            </a:r>
          </a:p>
          <a:p>
            <a:r>
              <a:rPr lang="en-US" sz="2000" dirty="0"/>
              <a:t>Unique business processes</a:t>
            </a:r>
          </a:p>
          <a:p>
            <a:r>
              <a:rPr lang="en-US" sz="2000" dirty="0"/>
              <a:t>Unique business culture</a:t>
            </a:r>
          </a:p>
          <a:p>
            <a:r>
              <a:rPr lang="en-US" sz="2000" dirty="0"/>
              <a:t>Organizational politics</a:t>
            </a:r>
          </a:p>
        </p:txBody>
      </p:sp>
      <p:sp>
        <p:nvSpPr>
          <p:cNvPr id="2" name="Footer Placeholder 1">
            <a:extLst>
              <a:ext uri="{FF2B5EF4-FFF2-40B4-BE49-F238E27FC236}">
                <a16:creationId xmlns:a16="http://schemas.microsoft.com/office/drawing/2014/main" id="{B41B4C57-2851-4FC6-B304-5F6179BB8F13}"/>
              </a:ext>
            </a:extLst>
          </p:cNvPr>
          <p:cNvSpPr>
            <a:spLocks noGrp="1"/>
          </p:cNvSpPr>
          <p:nvPr>
            <p:ph type="ftr" sz="quarter" idx="11"/>
          </p:nvPr>
        </p:nvSpPr>
        <p:spPr/>
        <p:txBody>
          <a:bodyPr/>
          <a:lstStyle/>
          <a:p>
            <a:r>
              <a:rPr lang="en-US"/>
              <a:t>Copyright © 2022, 2020, 2018 Pearson Education, Ltd. All Rights Reserved </a:t>
            </a:r>
            <a:endParaRPr lang="en-US" dirty="0"/>
          </a:p>
        </p:txBody>
      </p:sp>
    </p:spTree>
    <p:extLst>
      <p:ext uri="{BB962C8B-B14F-4D97-AF65-F5344CB8AC3E}">
        <p14:creationId xmlns:p14="http://schemas.microsoft.com/office/powerpoint/2010/main" val="411592027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21439"/>
            <a:ext cx="8229600" cy="1097026"/>
          </a:xfrm>
        </p:spPr>
        <p:txBody>
          <a:bodyPr>
            <a:spAutoFit/>
          </a:bodyPr>
          <a:lstStyle/>
          <a:p>
            <a:r>
              <a:rPr lang="en-US" dirty="0"/>
              <a:t>Dimensions of Information Systems: Management</a:t>
            </a:r>
            <a:endParaRPr lang="en-US" sz="2800" dirty="0"/>
          </a:p>
        </p:txBody>
      </p:sp>
      <p:sp>
        <p:nvSpPr>
          <p:cNvPr id="5" name="Content Placeholder 4"/>
          <p:cNvSpPr>
            <a:spLocks noGrp="1"/>
          </p:cNvSpPr>
          <p:nvPr>
            <p:ph idx="1"/>
          </p:nvPr>
        </p:nvSpPr>
        <p:spPr>
          <a:xfrm>
            <a:off x="457200" y="1263824"/>
            <a:ext cx="8229600" cy="2192908"/>
          </a:xfrm>
        </p:spPr>
        <p:txBody>
          <a:bodyPr>
            <a:spAutoFit/>
          </a:bodyPr>
          <a:lstStyle/>
          <a:p>
            <a:r>
              <a:rPr lang="en-US" dirty="0"/>
              <a:t>Managers set organizational strategy for responding to business challenges</a:t>
            </a:r>
          </a:p>
          <a:p>
            <a:r>
              <a:rPr lang="en-US" dirty="0"/>
              <a:t>In addition, managers must act creatively</a:t>
            </a:r>
          </a:p>
          <a:p>
            <a:pPr lvl="1"/>
            <a:r>
              <a:rPr lang="en-US" sz="2400" dirty="0"/>
              <a:t>Creation of new products and services</a:t>
            </a:r>
          </a:p>
          <a:p>
            <a:pPr lvl="1"/>
            <a:r>
              <a:rPr lang="en-US" sz="2400" dirty="0"/>
              <a:t>Occasionally re-creating the organization</a:t>
            </a:r>
          </a:p>
        </p:txBody>
      </p:sp>
      <p:sp>
        <p:nvSpPr>
          <p:cNvPr id="2" name="Footer Placeholder 1">
            <a:extLst>
              <a:ext uri="{FF2B5EF4-FFF2-40B4-BE49-F238E27FC236}">
                <a16:creationId xmlns:a16="http://schemas.microsoft.com/office/drawing/2014/main" id="{C1840404-9796-4B74-B264-FB9340C775F0}"/>
              </a:ext>
            </a:extLst>
          </p:cNvPr>
          <p:cNvSpPr>
            <a:spLocks noGrp="1"/>
          </p:cNvSpPr>
          <p:nvPr>
            <p:ph type="ftr" sz="quarter" idx="11"/>
          </p:nvPr>
        </p:nvSpPr>
        <p:spPr/>
        <p:txBody>
          <a:bodyPr/>
          <a:lstStyle/>
          <a:p>
            <a:r>
              <a:rPr lang="en-US"/>
              <a:t>Copyright © 2022, 2020, 2018 Pearson Education, Ltd. All Rights Reserved </a:t>
            </a:r>
            <a:endParaRPr lang="en-US" dirty="0"/>
          </a:p>
        </p:txBody>
      </p:sp>
    </p:spTree>
    <p:extLst>
      <p:ext uri="{BB962C8B-B14F-4D97-AF65-F5344CB8AC3E}">
        <p14:creationId xmlns:p14="http://schemas.microsoft.com/office/powerpoint/2010/main" val="316487971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0469"/>
            <a:ext cx="8229600" cy="1107996"/>
          </a:xfrm>
        </p:spPr>
        <p:txBody>
          <a:bodyPr>
            <a:spAutoFit/>
          </a:bodyPr>
          <a:lstStyle/>
          <a:p>
            <a:r>
              <a:rPr lang="en-US" dirty="0"/>
              <a:t>Dimensions of Information Systems: Information Technology</a:t>
            </a:r>
            <a:endParaRPr lang="en-US" sz="2800" dirty="0"/>
          </a:p>
        </p:txBody>
      </p:sp>
      <p:sp>
        <p:nvSpPr>
          <p:cNvPr id="5" name="Content Placeholder 4"/>
          <p:cNvSpPr>
            <a:spLocks noGrp="1"/>
          </p:cNvSpPr>
          <p:nvPr>
            <p:ph idx="1"/>
          </p:nvPr>
        </p:nvSpPr>
        <p:spPr>
          <a:xfrm>
            <a:off x="457200" y="1264356"/>
            <a:ext cx="8229600" cy="2870016"/>
          </a:xfrm>
        </p:spPr>
        <p:txBody>
          <a:bodyPr>
            <a:spAutoFit/>
          </a:bodyPr>
          <a:lstStyle/>
          <a:p>
            <a:r>
              <a:rPr lang="en-US" dirty="0"/>
              <a:t>Computer hardware and software</a:t>
            </a:r>
          </a:p>
          <a:p>
            <a:r>
              <a:rPr lang="en-US" dirty="0"/>
              <a:t>Data management technology</a:t>
            </a:r>
          </a:p>
          <a:p>
            <a:r>
              <a:rPr lang="en-US" dirty="0"/>
              <a:t>Networking and telecommunications technology</a:t>
            </a:r>
          </a:p>
          <a:p>
            <a:pPr lvl="1"/>
            <a:r>
              <a:rPr lang="en-US" sz="2400" dirty="0"/>
              <a:t>Networks, the Internet, intranets and extranets, World Wide Web</a:t>
            </a:r>
          </a:p>
          <a:p>
            <a:r>
              <a:rPr lang="en-US" spc="-300" dirty="0"/>
              <a:t>I </a:t>
            </a:r>
            <a:r>
              <a:rPr lang="en-US" dirty="0"/>
              <a:t>T infrastructure: provides platform that system is built on</a:t>
            </a:r>
          </a:p>
        </p:txBody>
      </p:sp>
      <p:sp>
        <p:nvSpPr>
          <p:cNvPr id="2" name="Footer Placeholder 1">
            <a:extLst>
              <a:ext uri="{FF2B5EF4-FFF2-40B4-BE49-F238E27FC236}">
                <a16:creationId xmlns:a16="http://schemas.microsoft.com/office/drawing/2014/main" id="{F431B536-5FB9-4A82-AD74-81A6CB8B2B11}"/>
              </a:ext>
            </a:extLst>
          </p:cNvPr>
          <p:cNvSpPr>
            <a:spLocks noGrp="1"/>
          </p:cNvSpPr>
          <p:nvPr>
            <p:ph type="ftr" sz="quarter" idx="11"/>
          </p:nvPr>
        </p:nvSpPr>
        <p:spPr/>
        <p:txBody>
          <a:bodyPr/>
          <a:lstStyle/>
          <a:p>
            <a:r>
              <a:rPr lang="en-US"/>
              <a:t>Copyright © 2022, 2020, 2018 Pearson Education, Ltd. All Rights Reserved </a:t>
            </a:r>
            <a:endParaRPr lang="en-US" dirty="0"/>
          </a:p>
        </p:txBody>
      </p:sp>
    </p:spTree>
    <p:extLst>
      <p:ext uri="{BB962C8B-B14F-4D97-AF65-F5344CB8AC3E}">
        <p14:creationId xmlns:p14="http://schemas.microsoft.com/office/powerpoint/2010/main" val="16912436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3198"/>
            <a:ext cx="8229600" cy="1661993"/>
          </a:xfrm>
        </p:spPr>
        <p:txBody>
          <a:bodyPr>
            <a:spAutoFit/>
          </a:bodyPr>
          <a:lstStyle/>
          <a:p>
            <a:r>
              <a:rPr lang="en-US" dirty="0"/>
              <a:t>Interactive Session – Technology: Healthcare at Singapore’s </a:t>
            </a:r>
            <a:r>
              <a:rPr lang="en-US" dirty="0" err="1"/>
              <a:t>JurongHealth</a:t>
            </a:r>
            <a:r>
              <a:rPr lang="en-US" dirty="0"/>
              <a:t> Services</a:t>
            </a:r>
            <a:endParaRPr lang="en-US" sz="2800" dirty="0"/>
          </a:p>
        </p:txBody>
      </p:sp>
      <p:sp>
        <p:nvSpPr>
          <p:cNvPr id="5" name="Content Placeholder 4"/>
          <p:cNvSpPr>
            <a:spLocks noGrp="1"/>
          </p:cNvSpPr>
          <p:nvPr>
            <p:ph idx="1"/>
          </p:nvPr>
        </p:nvSpPr>
        <p:spPr>
          <a:xfrm>
            <a:off x="457200" y="1784210"/>
            <a:ext cx="8229600" cy="3462486"/>
          </a:xfrm>
        </p:spPr>
        <p:txBody>
          <a:bodyPr>
            <a:spAutoFit/>
          </a:bodyPr>
          <a:lstStyle/>
          <a:p>
            <a:r>
              <a:rPr lang="en-US" sz="2000" dirty="0"/>
              <a:t>Class Discussion</a:t>
            </a:r>
          </a:p>
          <a:p>
            <a:pPr lvl="1"/>
            <a:r>
              <a:rPr lang="en-US" sz="2000" dirty="0"/>
              <a:t>What technologies are used by </a:t>
            </a:r>
            <a:r>
              <a:rPr lang="en-US" sz="2000" dirty="0" err="1"/>
              <a:t>JurongHealth</a:t>
            </a:r>
            <a:r>
              <a:rPr lang="en-US" sz="2000" dirty="0"/>
              <a:t>? What purpose do they serve?</a:t>
            </a:r>
          </a:p>
          <a:p>
            <a:pPr lvl="1"/>
            <a:r>
              <a:rPr lang="en-US" sz="2000" dirty="0"/>
              <a:t>Search the web for RFID. Suggest an example of using RFID for locating and tracking people.</a:t>
            </a:r>
          </a:p>
          <a:p>
            <a:pPr lvl="1"/>
            <a:r>
              <a:rPr lang="en-US" sz="2000" dirty="0"/>
              <a:t>What information systems are implemented by </a:t>
            </a:r>
            <a:r>
              <a:rPr lang="en-US" sz="2000" dirty="0" err="1"/>
              <a:t>JurongHealth</a:t>
            </a:r>
            <a:r>
              <a:rPr lang="en-US" sz="2000" dirty="0"/>
              <a:t>? Describe the input, processing, and output of any one such system.</a:t>
            </a:r>
          </a:p>
          <a:p>
            <a:pPr lvl="1"/>
            <a:r>
              <a:rPr lang="en-US" sz="2000" dirty="0"/>
              <a:t>Why are information systems important for </a:t>
            </a:r>
            <a:r>
              <a:rPr lang="en-US" sz="2000" dirty="0" err="1"/>
              <a:t>JurongHealth</a:t>
            </a:r>
            <a:r>
              <a:rPr lang="en-US" sz="2000" dirty="0"/>
              <a:t>?</a:t>
            </a:r>
          </a:p>
          <a:p>
            <a:pPr lvl="1"/>
            <a:endParaRPr lang="en-US" sz="2000" dirty="0"/>
          </a:p>
        </p:txBody>
      </p:sp>
      <p:sp>
        <p:nvSpPr>
          <p:cNvPr id="2" name="Footer Placeholder 1">
            <a:extLst>
              <a:ext uri="{FF2B5EF4-FFF2-40B4-BE49-F238E27FC236}">
                <a16:creationId xmlns:a16="http://schemas.microsoft.com/office/drawing/2014/main" id="{44F6A871-5497-4748-80BD-EFE61BD968E4}"/>
              </a:ext>
            </a:extLst>
          </p:cNvPr>
          <p:cNvSpPr>
            <a:spLocks noGrp="1"/>
          </p:cNvSpPr>
          <p:nvPr>
            <p:ph type="ftr" sz="quarter" idx="11"/>
          </p:nvPr>
        </p:nvSpPr>
        <p:spPr/>
        <p:txBody>
          <a:bodyPr/>
          <a:lstStyle/>
          <a:p>
            <a:r>
              <a:rPr lang="en-US"/>
              <a:t>Copyright © 2022, 2020, 2018 Pearson Education, Ltd. All Rights Reserved </a:t>
            </a:r>
            <a:endParaRPr lang="en-US" dirty="0"/>
          </a:p>
        </p:txBody>
      </p:sp>
    </p:spTree>
    <p:extLst>
      <p:ext uri="{BB962C8B-B14F-4D97-AF65-F5344CB8AC3E}">
        <p14:creationId xmlns:p14="http://schemas.microsoft.com/office/powerpoint/2010/main" val="225959035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23789"/>
            <a:ext cx="8229600" cy="1523647"/>
          </a:xfrm>
        </p:spPr>
        <p:txBody>
          <a:bodyPr>
            <a:spAutoFit/>
          </a:bodyPr>
          <a:lstStyle/>
          <a:p>
            <a:r>
              <a:rPr lang="en-IN" dirty="0"/>
              <a:t>It Isn’t Just Technology: A Business Perspective on Information Systems </a:t>
            </a:r>
            <a:r>
              <a:rPr lang="en-IN" sz="2800" dirty="0"/>
              <a:t>(1 of 3)</a:t>
            </a:r>
            <a:endParaRPr lang="en-US" sz="2800" dirty="0"/>
          </a:p>
        </p:txBody>
      </p:sp>
      <p:sp>
        <p:nvSpPr>
          <p:cNvPr id="5" name="Content Placeholder 4"/>
          <p:cNvSpPr>
            <a:spLocks noGrp="1"/>
          </p:cNvSpPr>
          <p:nvPr>
            <p:ph idx="1"/>
          </p:nvPr>
        </p:nvSpPr>
        <p:spPr>
          <a:xfrm>
            <a:off x="457200" y="1847328"/>
            <a:ext cx="8229600" cy="2639184"/>
          </a:xfrm>
        </p:spPr>
        <p:txBody>
          <a:bodyPr>
            <a:spAutoFit/>
          </a:bodyPr>
          <a:lstStyle/>
          <a:p>
            <a:pPr>
              <a:defRPr/>
            </a:pPr>
            <a:r>
              <a:rPr lang="en-US" dirty="0"/>
              <a:t>Information system is instrument for creating value</a:t>
            </a:r>
          </a:p>
          <a:p>
            <a:pPr>
              <a:defRPr/>
            </a:pPr>
            <a:r>
              <a:rPr lang="en-US" dirty="0"/>
              <a:t>Investments in information technology should result in superior returns</a:t>
            </a:r>
          </a:p>
          <a:p>
            <a:pPr lvl="1">
              <a:defRPr/>
            </a:pPr>
            <a:r>
              <a:rPr lang="en-US" sz="2400" dirty="0"/>
              <a:t>Productivity increases</a:t>
            </a:r>
          </a:p>
          <a:p>
            <a:pPr lvl="1">
              <a:defRPr/>
            </a:pPr>
            <a:r>
              <a:rPr lang="en-US" sz="2400" dirty="0"/>
              <a:t>Revenue increases</a:t>
            </a:r>
          </a:p>
          <a:p>
            <a:pPr lvl="1">
              <a:defRPr/>
            </a:pPr>
            <a:r>
              <a:rPr lang="en-US" sz="2400" dirty="0"/>
              <a:t>Superior long-term strategic positioning</a:t>
            </a:r>
          </a:p>
        </p:txBody>
      </p:sp>
      <p:sp>
        <p:nvSpPr>
          <p:cNvPr id="2" name="Footer Placeholder 1">
            <a:extLst>
              <a:ext uri="{FF2B5EF4-FFF2-40B4-BE49-F238E27FC236}">
                <a16:creationId xmlns:a16="http://schemas.microsoft.com/office/drawing/2014/main" id="{DE8E39F3-E681-4168-9760-F6C50538F2AC}"/>
              </a:ext>
            </a:extLst>
          </p:cNvPr>
          <p:cNvSpPr>
            <a:spLocks noGrp="1"/>
          </p:cNvSpPr>
          <p:nvPr>
            <p:ph type="ftr" sz="quarter" idx="11"/>
          </p:nvPr>
        </p:nvSpPr>
        <p:spPr/>
        <p:txBody>
          <a:bodyPr/>
          <a:lstStyle/>
          <a:p>
            <a:r>
              <a:rPr lang="en-US"/>
              <a:t>Copyright © 2022, 2020, 2018 Pearson Education, Ltd. All Rights Reserved </a:t>
            </a:r>
            <a:endParaRPr lang="en-US" dirty="0"/>
          </a:p>
        </p:txBody>
      </p:sp>
    </p:spTree>
    <p:extLst>
      <p:ext uri="{BB962C8B-B14F-4D97-AF65-F5344CB8AC3E}">
        <p14:creationId xmlns:p14="http://schemas.microsoft.com/office/powerpoint/2010/main" val="306956228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26146"/>
            <a:ext cx="8229600" cy="1523647"/>
          </a:xfrm>
        </p:spPr>
        <p:txBody>
          <a:bodyPr>
            <a:spAutoFit/>
          </a:bodyPr>
          <a:lstStyle/>
          <a:p>
            <a:r>
              <a:rPr lang="en-IN" dirty="0"/>
              <a:t>It Isn’t Just Technology: A Business Perspective on Information Systems </a:t>
            </a:r>
            <a:r>
              <a:rPr lang="en-IN" sz="2800" dirty="0"/>
              <a:t>(2 of 3)</a:t>
            </a:r>
            <a:endParaRPr lang="en-US" sz="2800" dirty="0"/>
          </a:p>
        </p:txBody>
      </p:sp>
      <p:sp>
        <p:nvSpPr>
          <p:cNvPr id="5" name="Content Placeholder 4"/>
          <p:cNvSpPr>
            <a:spLocks noGrp="1"/>
          </p:cNvSpPr>
          <p:nvPr>
            <p:ph idx="1"/>
          </p:nvPr>
        </p:nvSpPr>
        <p:spPr>
          <a:xfrm>
            <a:off x="457200" y="1783654"/>
            <a:ext cx="8229600" cy="2885405"/>
          </a:xfrm>
        </p:spPr>
        <p:txBody>
          <a:bodyPr>
            <a:spAutoFit/>
          </a:bodyPr>
          <a:lstStyle/>
          <a:p>
            <a:r>
              <a:rPr lang="en-US" sz="2000" dirty="0"/>
              <a:t>Business information value chain</a:t>
            </a:r>
          </a:p>
          <a:p>
            <a:pPr lvl="1"/>
            <a:r>
              <a:rPr lang="en-US" sz="2000" dirty="0"/>
              <a:t>Raw data acquired and transformed through stages that add value to that information</a:t>
            </a:r>
          </a:p>
          <a:p>
            <a:pPr lvl="1"/>
            <a:r>
              <a:rPr lang="en-US" sz="2000" dirty="0"/>
              <a:t>Value of information system determined in part by extent to which it leads to better decisions, greater efficiency, and higher profits</a:t>
            </a:r>
          </a:p>
          <a:p>
            <a:r>
              <a:rPr lang="en-US" sz="2000" dirty="0"/>
              <a:t>Business perspective </a:t>
            </a:r>
          </a:p>
          <a:p>
            <a:pPr lvl="1"/>
            <a:r>
              <a:rPr lang="en-US" sz="2000" dirty="0"/>
              <a:t>Calls attention to organizational and managerial nature of information systems</a:t>
            </a:r>
          </a:p>
        </p:txBody>
      </p:sp>
      <p:sp>
        <p:nvSpPr>
          <p:cNvPr id="2" name="Footer Placeholder 1">
            <a:extLst>
              <a:ext uri="{FF2B5EF4-FFF2-40B4-BE49-F238E27FC236}">
                <a16:creationId xmlns:a16="http://schemas.microsoft.com/office/drawing/2014/main" id="{F29FA4CC-843C-4DA5-9CD9-226D63D82EE9}"/>
              </a:ext>
            </a:extLst>
          </p:cNvPr>
          <p:cNvSpPr>
            <a:spLocks noGrp="1"/>
          </p:cNvSpPr>
          <p:nvPr>
            <p:ph type="ftr" sz="quarter" idx="11"/>
          </p:nvPr>
        </p:nvSpPr>
        <p:spPr/>
        <p:txBody>
          <a:bodyPr/>
          <a:lstStyle/>
          <a:p>
            <a:r>
              <a:rPr lang="en-US"/>
              <a:t>Copyright © 2022, 2020, 2018 Pearson Education, Ltd. All Rights Reserved </a:t>
            </a:r>
            <a:endParaRPr lang="en-US" dirty="0"/>
          </a:p>
        </p:txBody>
      </p:sp>
    </p:spTree>
    <p:extLst>
      <p:ext uri="{BB962C8B-B14F-4D97-AF65-F5344CB8AC3E}">
        <p14:creationId xmlns:p14="http://schemas.microsoft.com/office/powerpoint/2010/main" val="196520710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24833"/>
            <a:ext cx="8229600" cy="1523647"/>
          </a:xfrm>
        </p:spPr>
        <p:txBody>
          <a:bodyPr>
            <a:spAutoFit/>
          </a:bodyPr>
          <a:lstStyle/>
          <a:p>
            <a:r>
              <a:rPr lang="en-IN" dirty="0"/>
              <a:t>It Isn’t Just Technology: A Business Perspective on Information Systems </a:t>
            </a:r>
            <a:r>
              <a:rPr lang="en-IN" sz="2800" dirty="0"/>
              <a:t>(3 of 3)</a:t>
            </a:r>
            <a:endParaRPr lang="en-US" sz="2800" dirty="0"/>
          </a:p>
        </p:txBody>
      </p:sp>
      <p:sp>
        <p:nvSpPr>
          <p:cNvPr id="5" name="Content Placeholder 4"/>
          <p:cNvSpPr>
            <a:spLocks noGrp="1"/>
          </p:cNvSpPr>
          <p:nvPr>
            <p:ph idx="1"/>
          </p:nvPr>
        </p:nvSpPr>
        <p:spPr>
          <a:xfrm>
            <a:off x="457200" y="1765340"/>
            <a:ext cx="8229600" cy="3016210"/>
          </a:xfrm>
        </p:spPr>
        <p:txBody>
          <a:bodyPr>
            <a:spAutoFit/>
          </a:bodyPr>
          <a:lstStyle/>
          <a:p>
            <a:pPr>
              <a:spcBef>
                <a:spcPts val="600"/>
              </a:spcBef>
            </a:pPr>
            <a:r>
              <a:rPr lang="en-US" sz="2200" dirty="0"/>
              <a:t>Investing in information technology does not guarantee good returns</a:t>
            </a:r>
          </a:p>
          <a:p>
            <a:pPr>
              <a:spcBef>
                <a:spcPts val="600"/>
              </a:spcBef>
            </a:pPr>
            <a:r>
              <a:rPr lang="en-US" sz="2200" dirty="0"/>
              <a:t>There is considerable variation in the returns firms receive from systems investments</a:t>
            </a:r>
          </a:p>
          <a:p>
            <a:pPr>
              <a:spcBef>
                <a:spcPts val="600"/>
              </a:spcBef>
            </a:pPr>
            <a:r>
              <a:rPr lang="en-US" sz="2200" dirty="0"/>
              <a:t>Factors </a:t>
            </a:r>
          </a:p>
          <a:p>
            <a:pPr lvl="1"/>
            <a:r>
              <a:rPr lang="en-US" dirty="0"/>
              <a:t>Adopting the right business model</a:t>
            </a:r>
          </a:p>
          <a:p>
            <a:pPr lvl="1"/>
            <a:r>
              <a:rPr lang="en-US" dirty="0"/>
              <a:t>Investing in complementary assets (organizational and management capital)</a:t>
            </a:r>
          </a:p>
        </p:txBody>
      </p:sp>
      <p:sp>
        <p:nvSpPr>
          <p:cNvPr id="2" name="Footer Placeholder 1">
            <a:extLst>
              <a:ext uri="{FF2B5EF4-FFF2-40B4-BE49-F238E27FC236}">
                <a16:creationId xmlns:a16="http://schemas.microsoft.com/office/drawing/2014/main" id="{C0D452DF-2229-400F-A64B-3EDF204C69CE}"/>
              </a:ext>
            </a:extLst>
          </p:cNvPr>
          <p:cNvSpPr>
            <a:spLocks noGrp="1"/>
          </p:cNvSpPr>
          <p:nvPr>
            <p:ph type="ftr" sz="quarter" idx="11"/>
          </p:nvPr>
        </p:nvSpPr>
        <p:spPr/>
        <p:txBody>
          <a:bodyPr/>
          <a:lstStyle/>
          <a:p>
            <a:r>
              <a:rPr lang="en-US"/>
              <a:t>Copyright © 2022, 2020, 2018 Pearson Education, Ltd. All Rights Reserved </a:t>
            </a:r>
            <a:endParaRPr lang="en-US" dirty="0"/>
          </a:p>
        </p:txBody>
      </p:sp>
    </p:spTree>
    <p:extLst>
      <p:ext uri="{BB962C8B-B14F-4D97-AF65-F5344CB8AC3E}">
        <p14:creationId xmlns:p14="http://schemas.microsoft.com/office/powerpoint/2010/main" val="426720570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9572"/>
            <a:ext cx="8229600" cy="1107996"/>
          </a:xfrm>
        </p:spPr>
        <p:txBody>
          <a:bodyPr wrap="square">
            <a:spAutoFit/>
          </a:bodyPr>
          <a:lstStyle/>
          <a:p>
            <a:r>
              <a:rPr lang="en-US" dirty="0"/>
              <a:t>Figure 1.7 </a:t>
            </a:r>
            <a:r>
              <a:rPr lang="en-US" altLang="en-US" dirty="0"/>
              <a:t>The Business Information Value Chain</a:t>
            </a:r>
            <a:endParaRPr lang="en-US" sz="2800" dirty="0"/>
          </a:p>
        </p:txBody>
      </p:sp>
      <p:pic>
        <p:nvPicPr>
          <p:cNvPr id="6146" name="Picture 2" descr="A flow diagram shows parts of the business value chain. For a full description, see Notes. Press F6."/>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1837890" y="1428750"/>
            <a:ext cx="5468221" cy="3244475"/>
          </a:xfrm>
          <a:prstGeom prst="rect">
            <a:avLst/>
          </a:prstGeom>
          <a:noFill/>
          <a:extLst>
            <a:ext uri="{909E8E84-426E-40DD-AFC4-6F175D3DCCD1}">
              <a14:hiddenFill xmlns:a14="http://schemas.microsoft.com/office/drawing/2010/main">
                <a:solidFill>
                  <a:srgbClr val="FFFFFF"/>
                </a:solidFill>
              </a14:hiddenFill>
            </a:ext>
          </a:extLst>
        </p:spPr>
      </p:pic>
      <p:sp>
        <p:nvSpPr>
          <p:cNvPr id="2" name="Footer Placeholder 1">
            <a:extLst>
              <a:ext uri="{FF2B5EF4-FFF2-40B4-BE49-F238E27FC236}">
                <a16:creationId xmlns:a16="http://schemas.microsoft.com/office/drawing/2014/main" id="{859D2EB8-3303-4B90-A9F0-BFFFE5BBC40B}"/>
              </a:ext>
            </a:extLst>
          </p:cNvPr>
          <p:cNvSpPr>
            <a:spLocks noGrp="1"/>
          </p:cNvSpPr>
          <p:nvPr>
            <p:ph type="ftr" sz="quarter" idx="11"/>
          </p:nvPr>
        </p:nvSpPr>
        <p:spPr/>
        <p:txBody>
          <a:bodyPr/>
          <a:lstStyle/>
          <a:p>
            <a:r>
              <a:rPr lang="en-US"/>
              <a:t>Copyright © 2022, 2020, 2018 Pearson Education, Ltd. All Rights Reserved </a:t>
            </a:r>
            <a:endParaRPr lang="en-US" dirty="0"/>
          </a:p>
        </p:txBody>
      </p:sp>
    </p:spTree>
    <p:extLst>
      <p:ext uri="{BB962C8B-B14F-4D97-AF65-F5344CB8AC3E}">
        <p14:creationId xmlns:p14="http://schemas.microsoft.com/office/powerpoint/2010/main" val="421659609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6110"/>
            <a:ext cx="8229600" cy="1645538"/>
          </a:xfrm>
        </p:spPr>
        <p:txBody>
          <a:bodyPr>
            <a:spAutoFit/>
          </a:bodyPr>
          <a:lstStyle/>
          <a:p>
            <a:r>
              <a:rPr lang="en-IN" dirty="0"/>
              <a:t>Complementary Assets: Organizational Capital and the Right Business Model </a:t>
            </a:r>
            <a:r>
              <a:rPr lang="en-IN" sz="2800" dirty="0"/>
              <a:t>(1 of 2)</a:t>
            </a:r>
            <a:endParaRPr lang="en-US" sz="2800" dirty="0"/>
          </a:p>
        </p:txBody>
      </p:sp>
      <p:sp>
        <p:nvSpPr>
          <p:cNvPr id="5" name="Content Placeholder 4"/>
          <p:cNvSpPr>
            <a:spLocks noGrp="1"/>
          </p:cNvSpPr>
          <p:nvPr>
            <p:ph idx="1"/>
          </p:nvPr>
        </p:nvSpPr>
        <p:spPr>
          <a:xfrm>
            <a:off x="457200" y="1847328"/>
            <a:ext cx="8229600" cy="2231380"/>
          </a:xfrm>
        </p:spPr>
        <p:txBody>
          <a:bodyPr>
            <a:spAutoFit/>
          </a:bodyPr>
          <a:lstStyle/>
          <a:p>
            <a:r>
              <a:rPr lang="en-US" dirty="0"/>
              <a:t>Assets required to derive value from a primary investment</a:t>
            </a:r>
          </a:p>
          <a:p>
            <a:r>
              <a:rPr lang="en-US" dirty="0"/>
              <a:t>Firms supporting technology investments with investment in complementary assets receive superior returns</a:t>
            </a:r>
          </a:p>
          <a:p>
            <a:r>
              <a:rPr lang="en-US" dirty="0"/>
              <a:t>Example: Invest in technology and the people to make it work properly</a:t>
            </a:r>
          </a:p>
        </p:txBody>
      </p:sp>
      <p:sp>
        <p:nvSpPr>
          <p:cNvPr id="2" name="Footer Placeholder 1">
            <a:extLst>
              <a:ext uri="{FF2B5EF4-FFF2-40B4-BE49-F238E27FC236}">
                <a16:creationId xmlns:a16="http://schemas.microsoft.com/office/drawing/2014/main" id="{99106C4B-8358-4E79-B075-904A8F613036}"/>
              </a:ext>
            </a:extLst>
          </p:cNvPr>
          <p:cNvSpPr>
            <a:spLocks noGrp="1"/>
          </p:cNvSpPr>
          <p:nvPr>
            <p:ph type="ftr" sz="quarter" idx="11"/>
          </p:nvPr>
        </p:nvSpPr>
        <p:spPr/>
        <p:txBody>
          <a:bodyPr/>
          <a:lstStyle/>
          <a:p>
            <a:r>
              <a:rPr lang="en-US"/>
              <a:t>Copyright © 2022, 2020, 2018 Pearson Education, Ltd. All Rights Reserved </a:t>
            </a:r>
            <a:endParaRPr lang="en-US" dirty="0"/>
          </a:p>
        </p:txBody>
      </p:sp>
    </p:spTree>
    <p:extLst>
      <p:ext uri="{BB962C8B-B14F-4D97-AF65-F5344CB8AC3E}">
        <p14:creationId xmlns:p14="http://schemas.microsoft.com/office/powerpoint/2010/main" val="13495677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0469"/>
            <a:ext cx="8229600" cy="1107996"/>
          </a:xfrm>
        </p:spPr>
        <p:txBody>
          <a:bodyPr>
            <a:spAutoFit/>
          </a:bodyPr>
          <a:lstStyle/>
          <a:p>
            <a:r>
              <a:rPr lang="en-IN" dirty="0"/>
              <a:t>Figure 1.8 Variation in Returns on Information Technology Investment</a:t>
            </a:r>
            <a:endParaRPr lang="en-US" sz="2800" dirty="0"/>
          </a:p>
        </p:txBody>
      </p:sp>
      <p:pic>
        <p:nvPicPr>
          <p:cNvPr id="5" name="Picture 2" descr="A scatterplot shows the productivity in relation to IT capital stock, relative to industry average. For a full description, see Notes. Press F6."/>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2187221" y="1352550"/>
            <a:ext cx="4769559" cy="3365236"/>
          </a:xfrm>
          <a:prstGeom prst="rect">
            <a:avLst/>
          </a:prstGeom>
          <a:noFill/>
          <a:extLst>
            <a:ext uri="{909E8E84-426E-40DD-AFC4-6F175D3DCCD1}">
              <a14:hiddenFill xmlns:a14="http://schemas.microsoft.com/office/drawing/2010/main">
                <a:solidFill>
                  <a:srgbClr val="FFFFFF"/>
                </a:solidFill>
              </a14:hiddenFill>
            </a:ext>
          </a:extLst>
        </p:spPr>
      </p:pic>
      <p:sp>
        <p:nvSpPr>
          <p:cNvPr id="2" name="Footer Placeholder 1">
            <a:extLst>
              <a:ext uri="{FF2B5EF4-FFF2-40B4-BE49-F238E27FC236}">
                <a16:creationId xmlns:a16="http://schemas.microsoft.com/office/drawing/2014/main" id="{FE38E347-EF4C-43EB-9963-70FF0FBD50A1}"/>
              </a:ext>
            </a:extLst>
          </p:cNvPr>
          <p:cNvSpPr>
            <a:spLocks noGrp="1"/>
          </p:cNvSpPr>
          <p:nvPr>
            <p:ph type="ftr" sz="quarter" idx="11"/>
          </p:nvPr>
        </p:nvSpPr>
        <p:spPr/>
        <p:txBody>
          <a:bodyPr/>
          <a:lstStyle/>
          <a:p>
            <a:r>
              <a:rPr lang="en-US"/>
              <a:t>Copyright © 2022, 2020, 2018 Pearson Education, Ltd. All Rights Reserved </a:t>
            </a:r>
            <a:endParaRPr lang="en-US" dirty="0"/>
          </a:p>
        </p:txBody>
      </p:sp>
    </p:spTree>
    <p:extLst>
      <p:ext uri="{BB962C8B-B14F-4D97-AF65-F5344CB8AC3E}">
        <p14:creationId xmlns:p14="http://schemas.microsoft.com/office/powerpoint/2010/main" val="92533008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82202"/>
            <a:ext cx="8229600" cy="954107"/>
          </a:xfrm>
        </p:spPr>
        <p:txBody>
          <a:bodyPr>
            <a:spAutoFit/>
          </a:bodyPr>
          <a:lstStyle/>
          <a:p>
            <a:r>
              <a:rPr lang="en-IN" sz="3000" dirty="0"/>
              <a:t>Complementary Assets: Organizational Capital and the Right Business Model</a:t>
            </a:r>
            <a:r>
              <a:rPr lang="en-IN" sz="3200" dirty="0"/>
              <a:t> </a:t>
            </a:r>
            <a:r>
              <a:rPr lang="en-IN" sz="2400" dirty="0"/>
              <a:t>(2 of 2)</a:t>
            </a:r>
            <a:endParaRPr lang="en-US" sz="2400" dirty="0"/>
          </a:p>
        </p:txBody>
      </p:sp>
      <p:sp>
        <p:nvSpPr>
          <p:cNvPr id="5" name="Content Placeholder 4"/>
          <p:cNvSpPr>
            <a:spLocks noGrp="1"/>
          </p:cNvSpPr>
          <p:nvPr>
            <p:ph idx="1"/>
          </p:nvPr>
        </p:nvSpPr>
        <p:spPr>
          <a:xfrm>
            <a:off x="457200" y="1263824"/>
            <a:ext cx="8229600" cy="3462486"/>
          </a:xfrm>
        </p:spPr>
        <p:txBody>
          <a:bodyPr>
            <a:spAutoFit/>
          </a:bodyPr>
          <a:lstStyle/>
          <a:p>
            <a:r>
              <a:rPr lang="en-US" sz="1800" dirty="0"/>
              <a:t>Complementary assets </a:t>
            </a:r>
          </a:p>
          <a:p>
            <a:pPr lvl="1"/>
            <a:r>
              <a:rPr lang="en-US" sz="1800" dirty="0"/>
              <a:t>Examples of organizational assets</a:t>
            </a:r>
          </a:p>
          <a:p>
            <a:pPr lvl="2"/>
            <a:r>
              <a:rPr lang="en-US" sz="1800" dirty="0"/>
              <a:t>Appropriate business model</a:t>
            </a:r>
          </a:p>
          <a:p>
            <a:pPr lvl="2"/>
            <a:r>
              <a:rPr lang="en-US" sz="1800" dirty="0"/>
              <a:t>Efficient business processes</a:t>
            </a:r>
          </a:p>
          <a:p>
            <a:pPr lvl="1"/>
            <a:r>
              <a:rPr lang="en-US" sz="1800" dirty="0"/>
              <a:t>Examples of managerial assets</a:t>
            </a:r>
          </a:p>
          <a:p>
            <a:pPr lvl="2"/>
            <a:r>
              <a:rPr lang="en-US" sz="1800" dirty="0"/>
              <a:t>Incentives for management innovation</a:t>
            </a:r>
          </a:p>
          <a:p>
            <a:pPr lvl="2"/>
            <a:r>
              <a:rPr lang="en-US" sz="1800" dirty="0"/>
              <a:t>Teamwork and collaborative work environments</a:t>
            </a:r>
          </a:p>
          <a:p>
            <a:pPr lvl="1"/>
            <a:r>
              <a:rPr lang="en-US" sz="1800" dirty="0"/>
              <a:t>Examples of social assets</a:t>
            </a:r>
          </a:p>
          <a:p>
            <a:pPr lvl="2"/>
            <a:r>
              <a:rPr lang="en-US" sz="1800" dirty="0"/>
              <a:t>The Internet and telecommunications infrastructure</a:t>
            </a:r>
          </a:p>
          <a:p>
            <a:pPr lvl="2"/>
            <a:r>
              <a:rPr lang="en-US" sz="1800" dirty="0"/>
              <a:t>Technology standards</a:t>
            </a:r>
          </a:p>
        </p:txBody>
      </p:sp>
      <p:sp>
        <p:nvSpPr>
          <p:cNvPr id="2" name="Footer Placeholder 1">
            <a:extLst>
              <a:ext uri="{FF2B5EF4-FFF2-40B4-BE49-F238E27FC236}">
                <a16:creationId xmlns:a16="http://schemas.microsoft.com/office/drawing/2014/main" id="{811A0CE9-7873-4673-BC3B-83703FF1BC77}"/>
              </a:ext>
            </a:extLst>
          </p:cNvPr>
          <p:cNvSpPr>
            <a:spLocks noGrp="1"/>
          </p:cNvSpPr>
          <p:nvPr>
            <p:ph type="ftr" sz="quarter" idx="11"/>
          </p:nvPr>
        </p:nvSpPr>
        <p:spPr/>
        <p:txBody>
          <a:bodyPr/>
          <a:lstStyle/>
          <a:p>
            <a:r>
              <a:rPr lang="en-US"/>
              <a:t>Copyright © 2022, 2020, 2018 Pearson Education, Ltd. All Rights Reserved </a:t>
            </a:r>
            <a:endParaRPr lang="en-US" dirty="0"/>
          </a:p>
        </p:txBody>
      </p:sp>
    </p:spTree>
    <p:extLst>
      <p:ext uri="{BB962C8B-B14F-4D97-AF65-F5344CB8AC3E}">
        <p14:creationId xmlns:p14="http://schemas.microsoft.com/office/powerpoint/2010/main" val="233839982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9572"/>
            <a:ext cx="8229600" cy="1107996"/>
          </a:xfrm>
        </p:spPr>
        <p:txBody>
          <a:bodyPr wrap="square">
            <a:spAutoFit/>
          </a:bodyPr>
          <a:lstStyle/>
          <a:p>
            <a:r>
              <a:rPr lang="en-US" dirty="0"/>
              <a:t>Figure 1.9 </a:t>
            </a:r>
            <a:r>
              <a:rPr lang="en-US" altLang="en-US" dirty="0"/>
              <a:t>Contemporary Approaches to Information Systems</a:t>
            </a:r>
            <a:endParaRPr lang="en-US" sz="2800" dirty="0"/>
          </a:p>
        </p:txBody>
      </p:sp>
      <p:pic>
        <p:nvPicPr>
          <p:cNvPr id="8194" name="Picture 2" descr="A circular figure shows the technical approaches and behavioral approaches to MIS. For a full description, see Notes. Press F6."/>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1819625" y="1352550"/>
            <a:ext cx="5504750" cy="3270738"/>
          </a:xfrm>
          <a:prstGeom prst="rect">
            <a:avLst/>
          </a:prstGeom>
          <a:noFill/>
          <a:extLst>
            <a:ext uri="{909E8E84-426E-40DD-AFC4-6F175D3DCCD1}">
              <a14:hiddenFill xmlns:a14="http://schemas.microsoft.com/office/drawing/2010/main">
                <a:solidFill>
                  <a:srgbClr val="FFFFFF"/>
                </a:solidFill>
              </a14:hiddenFill>
            </a:ext>
          </a:extLst>
        </p:spPr>
      </p:pic>
      <p:sp>
        <p:nvSpPr>
          <p:cNvPr id="2" name="Footer Placeholder 1">
            <a:extLst>
              <a:ext uri="{FF2B5EF4-FFF2-40B4-BE49-F238E27FC236}">
                <a16:creationId xmlns:a16="http://schemas.microsoft.com/office/drawing/2014/main" id="{7803C2EC-C26E-41F7-93A8-4EC074BABF36}"/>
              </a:ext>
            </a:extLst>
          </p:cNvPr>
          <p:cNvSpPr>
            <a:spLocks noGrp="1"/>
          </p:cNvSpPr>
          <p:nvPr>
            <p:ph type="ftr" sz="quarter" idx="11"/>
          </p:nvPr>
        </p:nvSpPr>
        <p:spPr/>
        <p:txBody>
          <a:bodyPr/>
          <a:lstStyle/>
          <a:p>
            <a:r>
              <a:rPr lang="en-US"/>
              <a:t>Copyright © 2022, 2020, 2018 Pearson Education, Ltd. All Rights Reserved </a:t>
            </a:r>
            <a:endParaRPr lang="en-US" dirty="0"/>
          </a:p>
        </p:txBody>
      </p:sp>
    </p:spTree>
    <p:extLst>
      <p:ext uri="{BB962C8B-B14F-4D97-AF65-F5344CB8AC3E}">
        <p14:creationId xmlns:p14="http://schemas.microsoft.com/office/powerpoint/2010/main" val="121694107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24026"/>
            <a:ext cx="8229600" cy="553998"/>
          </a:xfrm>
        </p:spPr>
        <p:txBody>
          <a:bodyPr>
            <a:spAutoFit/>
          </a:bodyPr>
          <a:lstStyle/>
          <a:p>
            <a:r>
              <a:rPr lang="en-US" dirty="0"/>
              <a:t>Technical Approach</a:t>
            </a:r>
            <a:endParaRPr lang="en-US" sz="2800" dirty="0"/>
          </a:p>
        </p:txBody>
      </p:sp>
      <p:sp>
        <p:nvSpPr>
          <p:cNvPr id="5" name="Content Placeholder 4"/>
          <p:cNvSpPr>
            <a:spLocks noGrp="1"/>
          </p:cNvSpPr>
          <p:nvPr>
            <p:ph idx="1"/>
          </p:nvPr>
        </p:nvSpPr>
        <p:spPr>
          <a:xfrm>
            <a:off x="457200" y="699372"/>
            <a:ext cx="8229600" cy="1300356"/>
          </a:xfrm>
        </p:spPr>
        <p:txBody>
          <a:bodyPr>
            <a:spAutoFit/>
          </a:bodyPr>
          <a:lstStyle/>
          <a:p>
            <a:r>
              <a:rPr lang="en-US" dirty="0"/>
              <a:t>Emphasizes mathematically based models</a:t>
            </a:r>
          </a:p>
          <a:p>
            <a:r>
              <a:rPr lang="en-US" dirty="0"/>
              <a:t>Computer science, management science, operations research</a:t>
            </a:r>
          </a:p>
        </p:txBody>
      </p:sp>
      <p:sp>
        <p:nvSpPr>
          <p:cNvPr id="2" name="Footer Placeholder 1">
            <a:extLst>
              <a:ext uri="{FF2B5EF4-FFF2-40B4-BE49-F238E27FC236}">
                <a16:creationId xmlns:a16="http://schemas.microsoft.com/office/drawing/2014/main" id="{4AFD156F-1F5D-4DCD-8EAE-7AD5441E802C}"/>
              </a:ext>
            </a:extLst>
          </p:cNvPr>
          <p:cNvSpPr>
            <a:spLocks noGrp="1"/>
          </p:cNvSpPr>
          <p:nvPr>
            <p:ph type="ftr" sz="quarter" idx="11"/>
          </p:nvPr>
        </p:nvSpPr>
        <p:spPr/>
        <p:txBody>
          <a:bodyPr/>
          <a:lstStyle/>
          <a:p>
            <a:r>
              <a:rPr lang="en-US"/>
              <a:t>Copyright © 2022, 2020, 2018 Pearson Education, Ltd. All Rights Reserved </a:t>
            </a:r>
            <a:endParaRPr lang="en-US" dirty="0"/>
          </a:p>
        </p:txBody>
      </p:sp>
    </p:spTree>
    <p:extLst>
      <p:ext uri="{BB962C8B-B14F-4D97-AF65-F5344CB8AC3E}">
        <p14:creationId xmlns:p14="http://schemas.microsoft.com/office/powerpoint/2010/main" val="354420183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24026"/>
            <a:ext cx="8229600" cy="553998"/>
          </a:xfrm>
        </p:spPr>
        <p:txBody>
          <a:bodyPr>
            <a:spAutoFit/>
          </a:bodyPr>
          <a:lstStyle/>
          <a:p>
            <a:r>
              <a:rPr lang="en-US" dirty="0"/>
              <a:t>Behavioral Approach</a:t>
            </a:r>
            <a:endParaRPr lang="en-US" sz="2800" dirty="0"/>
          </a:p>
        </p:txBody>
      </p:sp>
      <p:sp>
        <p:nvSpPr>
          <p:cNvPr id="5" name="Content Placeholder 4"/>
          <p:cNvSpPr>
            <a:spLocks noGrp="1"/>
          </p:cNvSpPr>
          <p:nvPr>
            <p:ph idx="1"/>
          </p:nvPr>
        </p:nvSpPr>
        <p:spPr>
          <a:xfrm>
            <a:off x="457200" y="724424"/>
            <a:ext cx="8229600" cy="1300356"/>
          </a:xfrm>
        </p:spPr>
        <p:txBody>
          <a:bodyPr>
            <a:spAutoFit/>
          </a:bodyPr>
          <a:lstStyle/>
          <a:p>
            <a:r>
              <a:rPr lang="en-US" dirty="0"/>
              <a:t>Behavioral issues (strategic business integration, implementation, etc.)</a:t>
            </a:r>
          </a:p>
          <a:p>
            <a:r>
              <a:rPr lang="en-US" dirty="0"/>
              <a:t>Psychology, economics, sociology</a:t>
            </a:r>
          </a:p>
        </p:txBody>
      </p:sp>
      <p:sp>
        <p:nvSpPr>
          <p:cNvPr id="2" name="Footer Placeholder 1">
            <a:extLst>
              <a:ext uri="{FF2B5EF4-FFF2-40B4-BE49-F238E27FC236}">
                <a16:creationId xmlns:a16="http://schemas.microsoft.com/office/drawing/2014/main" id="{651B35D7-C5DF-451E-8EBB-E5918DC798BB}"/>
              </a:ext>
            </a:extLst>
          </p:cNvPr>
          <p:cNvSpPr>
            <a:spLocks noGrp="1"/>
          </p:cNvSpPr>
          <p:nvPr>
            <p:ph type="ftr" sz="quarter" idx="11"/>
          </p:nvPr>
        </p:nvSpPr>
        <p:spPr/>
        <p:txBody>
          <a:bodyPr/>
          <a:lstStyle/>
          <a:p>
            <a:r>
              <a:rPr lang="en-US"/>
              <a:t>Copyright © 2022, 2020, 2018 Pearson Education, Ltd. All Rights Reserved </a:t>
            </a:r>
            <a:endParaRPr lang="en-US" dirty="0"/>
          </a:p>
        </p:txBody>
      </p:sp>
    </p:spTree>
    <p:extLst>
      <p:ext uri="{BB962C8B-B14F-4D97-AF65-F5344CB8AC3E}">
        <p14:creationId xmlns:p14="http://schemas.microsoft.com/office/powerpoint/2010/main" val="389431315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39396"/>
            <a:ext cx="8229600" cy="1086164"/>
          </a:xfrm>
        </p:spPr>
        <p:txBody>
          <a:bodyPr>
            <a:spAutoFit/>
          </a:bodyPr>
          <a:lstStyle/>
          <a:p>
            <a:r>
              <a:rPr lang="en-IN" dirty="0"/>
              <a:t>Approach of This Text: Sociotechnical Systems </a:t>
            </a:r>
            <a:r>
              <a:rPr lang="en-IN" sz="2800" dirty="0"/>
              <a:t>(1 of 2)</a:t>
            </a:r>
            <a:endParaRPr lang="en-US" sz="2800" dirty="0"/>
          </a:p>
        </p:txBody>
      </p:sp>
      <p:sp>
        <p:nvSpPr>
          <p:cNvPr id="5" name="Content Placeholder 4"/>
          <p:cNvSpPr>
            <a:spLocks noGrp="1"/>
          </p:cNvSpPr>
          <p:nvPr>
            <p:ph idx="1"/>
          </p:nvPr>
        </p:nvSpPr>
        <p:spPr>
          <a:xfrm>
            <a:off x="457200" y="1265764"/>
            <a:ext cx="8229600" cy="3482658"/>
          </a:xfrm>
        </p:spPr>
        <p:txBody>
          <a:bodyPr>
            <a:spAutoFit/>
          </a:bodyPr>
          <a:lstStyle/>
          <a:p>
            <a:r>
              <a:rPr lang="en-US" altLang="en-US" sz="2200" dirty="0"/>
              <a:t>Management information systems</a:t>
            </a:r>
          </a:p>
          <a:p>
            <a:pPr lvl="1"/>
            <a:r>
              <a:rPr lang="en-US" altLang="en-US" dirty="0"/>
              <a:t>Combine computer science, management science, operations research, and practical orientation with behavioral issues</a:t>
            </a:r>
          </a:p>
          <a:p>
            <a:pPr>
              <a:spcBef>
                <a:spcPts val="600"/>
              </a:spcBef>
            </a:pPr>
            <a:r>
              <a:rPr lang="en-US" altLang="en-US" sz="2200" dirty="0"/>
              <a:t>Four main actors</a:t>
            </a:r>
          </a:p>
          <a:p>
            <a:pPr lvl="1"/>
            <a:r>
              <a:rPr lang="en-US" altLang="en-US" dirty="0"/>
              <a:t>Suppliers of hardware and software</a:t>
            </a:r>
          </a:p>
          <a:p>
            <a:pPr lvl="1"/>
            <a:r>
              <a:rPr lang="en-US" altLang="en-US" dirty="0"/>
              <a:t>Business firms</a:t>
            </a:r>
          </a:p>
          <a:p>
            <a:pPr lvl="1"/>
            <a:r>
              <a:rPr lang="en-US" altLang="en-US" dirty="0"/>
              <a:t>Managers and employees</a:t>
            </a:r>
          </a:p>
          <a:p>
            <a:pPr lvl="1"/>
            <a:r>
              <a:rPr lang="en-US" altLang="en-US" dirty="0"/>
              <a:t>Firm</a:t>
            </a:r>
            <a:r>
              <a:rPr lang="en-US" altLang="ja-JP" dirty="0"/>
              <a:t>’s environment (legal, social, cultural context)</a:t>
            </a:r>
            <a:endParaRPr lang="en-US" altLang="en-US" dirty="0"/>
          </a:p>
        </p:txBody>
      </p:sp>
      <p:sp>
        <p:nvSpPr>
          <p:cNvPr id="2" name="Footer Placeholder 1">
            <a:extLst>
              <a:ext uri="{FF2B5EF4-FFF2-40B4-BE49-F238E27FC236}">
                <a16:creationId xmlns:a16="http://schemas.microsoft.com/office/drawing/2014/main" id="{78AB83B5-DF98-483B-8D36-375987AF1FA9}"/>
              </a:ext>
            </a:extLst>
          </p:cNvPr>
          <p:cNvSpPr>
            <a:spLocks noGrp="1"/>
          </p:cNvSpPr>
          <p:nvPr>
            <p:ph type="ftr" sz="quarter" idx="11"/>
          </p:nvPr>
        </p:nvSpPr>
        <p:spPr/>
        <p:txBody>
          <a:bodyPr/>
          <a:lstStyle/>
          <a:p>
            <a:r>
              <a:rPr lang="en-US"/>
              <a:t>Copyright © 2022, 2020, 2018 Pearson Education, Ltd. All Rights Reserved </a:t>
            </a:r>
            <a:endParaRPr lang="en-US" dirty="0"/>
          </a:p>
        </p:txBody>
      </p:sp>
    </p:spTree>
    <p:extLst>
      <p:ext uri="{BB962C8B-B14F-4D97-AF65-F5344CB8AC3E}">
        <p14:creationId xmlns:p14="http://schemas.microsoft.com/office/powerpoint/2010/main" val="337085105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20395"/>
            <a:ext cx="8229600" cy="1097026"/>
          </a:xfrm>
        </p:spPr>
        <p:txBody>
          <a:bodyPr>
            <a:spAutoFit/>
          </a:bodyPr>
          <a:lstStyle/>
          <a:p>
            <a:r>
              <a:rPr lang="en-IN" dirty="0"/>
              <a:t>Approach of This Text: Sociotechnical Systems </a:t>
            </a:r>
            <a:r>
              <a:rPr lang="en-IN" sz="2800" dirty="0"/>
              <a:t>(2 of 2)</a:t>
            </a:r>
            <a:endParaRPr lang="en-US" sz="2800" dirty="0"/>
          </a:p>
        </p:txBody>
      </p:sp>
      <p:sp>
        <p:nvSpPr>
          <p:cNvPr id="5" name="Content Placeholder 4"/>
          <p:cNvSpPr>
            <a:spLocks noGrp="1"/>
          </p:cNvSpPr>
          <p:nvPr>
            <p:ph idx="1"/>
          </p:nvPr>
        </p:nvSpPr>
        <p:spPr>
          <a:xfrm>
            <a:off x="457200" y="1263824"/>
            <a:ext cx="8229600" cy="2000548"/>
          </a:xfrm>
        </p:spPr>
        <p:txBody>
          <a:bodyPr>
            <a:spAutoFit/>
          </a:bodyPr>
          <a:lstStyle/>
          <a:p>
            <a:r>
              <a:rPr lang="en-US" dirty="0"/>
              <a:t>Sociotechnical view</a:t>
            </a:r>
          </a:p>
          <a:p>
            <a:pPr lvl="1"/>
            <a:r>
              <a:rPr lang="en-US" sz="2400" dirty="0"/>
              <a:t>Optimal organizational performance achieved by jointly optimizing both social and technical systems used in production</a:t>
            </a:r>
          </a:p>
          <a:p>
            <a:pPr lvl="1"/>
            <a:r>
              <a:rPr lang="en-US" sz="2400" dirty="0"/>
              <a:t>Helps avoid purely technological approach</a:t>
            </a:r>
          </a:p>
        </p:txBody>
      </p:sp>
      <p:sp>
        <p:nvSpPr>
          <p:cNvPr id="2" name="Footer Placeholder 1">
            <a:extLst>
              <a:ext uri="{FF2B5EF4-FFF2-40B4-BE49-F238E27FC236}">
                <a16:creationId xmlns:a16="http://schemas.microsoft.com/office/drawing/2014/main" id="{D607A302-295D-4D6E-890E-05C16AC0C3B0}"/>
              </a:ext>
            </a:extLst>
          </p:cNvPr>
          <p:cNvSpPr>
            <a:spLocks noGrp="1"/>
          </p:cNvSpPr>
          <p:nvPr>
            <p:ph type="ftr" sz="quarter" idx="11"/>
          </p:nvPr>
        </p:nvSpPr>
        <p:spPr/>
        <p:txBody>
          <a:bodyPr/>
          <a:lstStyle/>
          <a:p>
            <a:r>
              <a:rPr lang="en-US"/>
              <a:t>Copyright © 2022, 2020, 2018 Pearson Education, Ltd. All Rights Reserved </a:t>
            </a:r>
            <a:endParaRPr lang="en-US" dirty="0"/>
          </a:p>
        </p:txBody>
      </p:sp>
    </p:spTree>
    <p:extLst>
      <p:ext uri="{BB962C8B-B14F-4D97-AF65-F5344CB8AC3E}">
        <p14:creationId xmlns:p14="http://schemas.microsoft.com/office/powerpoint/2010/main" val="157025433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21439"/>
            <a:ext cx="8229600" cy="1097026"/>
          </a:xfrm>
        </p:spPr>
        <p:txBody>
          <a:bodyPr wrap="square">
            <a:spAutoFit/>
          </a:bodyPr>
          <a:lstStyle/>
          <a:p>
            <a:r>
              <a:rPr lang="en-US" dirty="0"/>
              <a:t>Figure 1.10 </a:t>
            </a:r>
            <a:r>
              <a:rPr lang="en-US" altLang="en-US" dirty="0"/>
              <a:t>A Sociotechnical Perspective on Information Systems</a:t>
            </a:r>
            <a:endParaRPr lang="en-US" sz="2800" dirty="0"/>
          </a:p>
        </p:txBody>
      </p:sp>
      <p:pic>
        <p:nvPicPr>
          <p:cNvPr id="9218" name="Picture 2" descr="A figure illustrates the sociotechnical perspective on information systems. For a full description, press F6."/>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494910" y="1118465"/>
            <a:ext cx="8154180" cy="3465526"/>
          </a:xfrm>
          <a:prstGeom prst="rect">
            <a:avLst/>
          </a:prstGeom>
          <a:noFill/>
          <a:extLst>
            <a:ext uri="{909E8E84-426E-40DD-AFC4-6F175D3DCCD1}">
              <a14:hiddenFill xmlns:a14="http://schemas.microsoft.com/office/drawing/2010/main">
                <a:solidFill>
                  <a:srgbClr val="FFFFFF"/>
                </a:solidFill>
              </a14:hiddenFill>
            </a:ext>
          </a:extLst>
        </p:spPr>
      </p:pic>
      <p:sp>
        <p:nvSpPr>
          <p:cNvPr id="2" name="Footer Placeholder 1">
            <a:extLst>
              <a:ext uri="{FF2B5EF4-FFF2-40B4-BE49-F238E27FC236}">
                <a16:creationId xmlns:a16="http://schemas.microsoft.com/office/drawing/2014/main" id="{A5A02097-FA8E-4ED4-AFDF-5723ABFD4625}"/>
              </a:ext>
            </a:extLst>
          </p:cNvPr>
          <p:cNvSpPr>
            <a:spLocks noGrp="1"/>
          </p:cNvSpPr>
          <p:nvPr>
            <p:ph type="ftr" sz="quarter" idx="11"/>
          </p:nvPr>
        </p:nvSpPr>
        <p:spPr/>
        <p:txBody>
          <a:bodyPr/>
          <a:lstStyle/>
          <a:p>
            <a:r>
              <a:rPr lang="en-US"/>
              <a:t>Copyright © 2022, 2020, 2018 Pearson Education, Ltd. All Rights Reserved </a:t>
            </a:r>
            <a:endParaRPr lang="en-US" dirty="0"/>
          </a:p>
        </p:txBody>
      </p:sp>
    </p:spTree>
    <p:extLst>
      <p:ext uri="{BB962C8B-B14F-4D97-AF65-F5344CB8AC3E}">
        <p14:creationId xmlns:p14="http://schemas.microsoft.com/office/powerpoint/2010/main" val="382470832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24026"/>
            <a:ext cx="8229600" cy="553998"/>
          </a:xfrm>
        </p:spPr>
        <p:txBody>
          <a:bodyPr>
            <a:spAutoFit/>
          </a:bodyPr>
          <a:lstStyle/>
          <a:p>
            <a:r>
              <a:rPr lang="en-US" dirty="0"/>
              <a:t>How Will MIS Help My Career?</a:t>
            </a:r>
            <a:endParaRPr lang="en-US" sz="2800" dirty="0"/>
          </a:p>
        </p:txBody>
      </p:sp>
      <p:sp>
        <p:nvSpPr>
          <p:cNvPr id="5" name="Content Placeholder 4"/>
          <p:cNvSpPr>
            <a:spLocks noGrp="1"/>
          </p:cNvSpPr>
          <p:nvPr>
            <p:ph idx="1"/>
          </p:nvPr>
        </p:nvSpPr>
        <p:spPr>
          <a:xfrm>
            <a:off x="457200" y="731219"/>
            <a:ext cx="8229600" cy="2616101"/>
          </a:xfrm>
        </p:spPr>
        <p:txBody>
          <a:bodyPr>
            <a:spAutoFit/>
          </a:bodyPr>
          <a:lstStyle/>
          <a:p>
            <a:r>
              <a:rPr lang="en-US" dirty="0"/>
              <a:t>The Company: Power Financial Analytics Data Services</a:t>
            </a:r>
          </a:p>
          <a:p>
            <a:r>
              <a:rPr lang="en-US" dirty="0"/>
              <a:t>Position: Financial client support and sales assistant</a:t>
            </a:r>
          </a:p>
          <a:p>
            <a:r>
              <a:rPr lang="en-US" dirty="0"/>
              <a:t>Job Requirements</a:t>
            </a:r>
          </a:p>
          <a:p>
            <a:r>
              <a:rPr lang="en-US" dirty="0"/>
              <a:t>Interview Questions</a:t>
            </a:r>
          </a:p>
          <a:p>
            <a:r>
              <a:rPr lang="en-US" dirty="0"/>
              <a:t>Author Tips</a:t>
            </a:r>
          </a:p>
        </p:txBody>
      </p:sp>
      <p:sp>
        <p:nvSpPr>
          <p:cNvPr id="2" name="Footer Placeholder 1">
            <a:extLst>
              <a:ext uri="{FF2B5EF4-FFF2-40B4-BE49-F238E27FC236}">
                <a16:creationId xmlns:a16="http://schemas.microsoft.com/office/drawing/2014/main" id="{F579CF77-874C-4824-B0D7-76DCBFFF754A}"/>
              </a:ext>
            </a:extLst>
          </p:cNvPr>
          <p:cNvSpPr>
            <a:spLocks noGrp="1"/>
          </p:cNvSpPr>
          <p:nvPr>
            <p:ph type="ftr" sz="quarter" idx="11"/>
          </p:nvPr>
        </p:nvSpPr>
        <p:spPr/>
        <p:txBody>
          <a:bodyPr/>
          <a:lstStyle/>
          <a:p>
            <a:r>
              <a:rPr lang="en-US"/>
              <a:t>Copyright © 2022, 2020, 2018 Pearson Education, Ltd. All Rights Reserved </a:t>
            </a:r>
            <a:endParaRPr lang="en-US" dirty="0"/>
          </a:p>
        </p:txBody>
      </p:sp>
    </p:spTree>
    <p:extLst>
      <p:ext uri="{BB962C8B-B14F-4D97-AF65-F5344CB8AC3E}">
        <p14:creationId xmlns:p14="http://schemas.microsoft.com/office/powerpoint/2010/main" val="195411115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384"/>
        <p:cNvGrpSpPr/>
        <p:nvPr/>
      </p:nvGrpSpPr>
      <p:grpSpPr>
        <a:xfrm>
          <a:off x="0" y="0"/>
          <a:ext cx="0" cy="0"/>
          <a:chOff x="0" y="0"/>
          <a:chExt cx="0" cy="0"/>
        </a:xfrm>
      </p:grpSpPr>
      <p:sp>
        <p:nvSpPr>
          <p:cNvPr id="5" name="Title 4">
            <a:extLst>
              <a:ext uri="{FF2B5EF4-FFF2-40B4-BE49-F238E27FC236}">
                <a16:creationId xmlns:a16="http://schemas.microsoft.com/office/drawing/2014/main" id="{E47FF819-0D5D-491A-BF8F-B42813E7390C}"/>
              </a:ext>
            </a:extLst>
          </p:cNvPr>
          <p:cNvSpPr>
            <a:spLocks noGrp="1"/>
          </p:cNvSpPr>
          <p:nvPr>
            <p:ph type="title"/>
          </p:nvPr>
        </p:nvSpPr>
        <p:spPr>
          <a:xfrm>
            <a:off x="452974" y="36552"/>
            <a:ext cx="8214779" cy="553998"/>
          </a:xfrm>
        </p:spPr>
        <p:txBody>
          <a:bodyPr vert="horz" wrap="square" lIns="0" tIns="0" rIns="0" bIns="0" rtlCol="0" anchor="b" anchorCtr="0">
            <a:spAutoFit/>
          </a:bodyPr>
          <a:lstStyle/>
          <a:p>
            <a:r>
              <a:rPr lang="en-US" dirty="0"/>
              <a:t>Copyright</a:t>
            </a:r>
          </a:p>
        </p:txBody>
      </p:sp>
      <p:pic>
        <p:nvPicPr>
          <p:cNvPr id="7" name="Graphic 6" descr="Warning">
            <a:extLst>
              <a:ext uri="{FF2B5EF4-FFF2-40B4-BE49-F238E27FC236}">
                <a16:creationId xmlns:a16="http://schemas.microsoft.com/office/drawing/2014/main" id="{C06FB2D2-3F36-42C9-A5A6-B6234DC54C9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49875" y="1460109"/>
            <a:ext cx="1277815" cy="1434026"/>
          </a:xfrm>
          <a:prstGeom prst="rect">
            <a:avLst/>
          </a:prstGeom>
        </p:spPr>
      </p:pic>
      <p:sp>
        <p:nvSpPr>
          <p:cNvPr id="9" name="Text Placeholder 1">
            <a:extLst>
              <a:ext uri="{FF2B5EF4-FFF2-40B4-BE49-F238E27FC236}">
                <a16:creationId xmlns:a16="http://schemas.microsoft.com/office/drawing/2014/main" id="{AD5FAE7B-F718-4307-B112-AD6256157E8F}"/>
              </a:ext>
            </a:extLst>
          </p:cNvPr>
          <p:cNvSpPr txBox="1">
            <a:spLocks/>
          </p:cNvSpPr>
          <p:nvPr/>
        </p:nvSpPr>
        <p:spPr>
          <a:xfrm>
            <a:off x="1809752" y="994996"/>
            <a:ext cx="6858001" cy="2854836"/>
          </a:xfrm>
          <a:prstGeom prst="rect">
            <a:avLst/>
          </a:prstGeom>
        </p:spPr>
        <p:style>
          <a:lnRef idx="2">
            <a:schemeClr val="dk1"/>
          </a:lnRef>
          <a:fillRef idx="1">
            <a:schemeClr val="lt1"/>
          </a:fillRef>
          <a:effectRef idx="0">
            <a:schemeClr val="dk1"/>
          </a:effectRef>
          <a:fontRef idx="minor">
            <a:schemeClr val="dk1"/>
          </a:fontRef>
        </p:style>
        <p:txBody>
          <a:bodyPr vert="horz" lIns="182880" tIns="182880" rIns="182880" bIns="182880" rtlCol="0" anchor="ctr">
            <a:noAutofit/>
          </a:bodyPr>
          <a:lst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dk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dk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dk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dk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dk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dk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dk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dk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dk1"/>
                </a:solidFill>
                <a:latin typeface="+mn-lt"/>
                <a:ea typeface="+mn-ea"/>
                <a:cs typeface="+mn-cs"/>
              </a:defRPr>
            </a:lvl9pPr>
          </a:lstStyle>
          <a:p>
            <a:pPr marL="101600" indent="0">
              <a:buNone/>
            </a:pPr>
            <a:r>
              <a:rPr lang="en-US" b="1" dirty="0"/>
              <a:t>This work is protected by United States copyright laws and is provided solely for the use of instructors in teaching their courses and assessing student learning. Dissemination or sale of any part of this work (including on the World Wide Web) will destroy the integrity of the work and is not permitted. The work and materials from it should never be made available to students except by instructors using the accompanying text in their classes. All recipients of this work are expected to abide by these restrictions and to honor the intended pedagogical purposes and the needs of other instructors who rely on these materials.</a:t>
            </a:r>
          </a:p>
        </p:txBody>
      </p:sp>
      <p:sp>
        <p:nvSpPr>
          <p:cNvPr id="2" name="Footer Placeholder 1">
            <a:extLst>
              <a:ext uri="{FF2B5EF4-FFF2-40B4-BE49-F238E27FC236}">
                <a16:creationId xmlns:a16="http://schemas.microsoft.com/office/drawing/2014/main" id="{5B6A3861-AFDF-4B6B-8453-9E725834B763}"/>
              </a:ext>
            </a:extLst>
          </p:cNvPr>
          <p:cNvSpPr>
            <a:spLocks noGrp="1"/>
          </p:cNvSpPr>
          <p:nvPr>
            <p:ph type="ftr" idx="11"/>
          </p:nvPr>
        </p:nvSpPr>
        <p:spPr/>
        <p:txBody>
          <a:bodyPr/>
          <a:lstStyle/>
          <a:p>
            <a:r>
              <a:rPr lang="en-US"/>
              <a:t>Copyright © 2022, 2020, 2018 Pearson Education, Ltd. All Rights Reserved </a:t>
            </a:r>
            <a:endParaRPr lang="en-US" dirty="0"/>
          </a:p>
        </p:txBody>
      </p:sp>
    </p:spTree>
    <p:extLst>
      <p:ext uri="{BB962C8B-B14F-4D97-AF65-F5344CB8AC3E}">
        <p14:creationId xmlns:p14="http://schemas.microsoft.com/office/powerpoint/2010/main" val="200031676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_2" val="77bb34d93a4c6de111706773da7e89128aa"/>
</p:tagLst>
</file>

<file path=ppt/theme/theme1.xml><?xml version="1.0" encoding="utf-8"?>
<a:theme xmlns:a="http://schemas.openxmlformats.org/drawingml/2006/main" name="508 Lecture">
  <a:themeElements>
    <a:clrScheme name="Custom 7">
      <a:dk1>
        <a:sysClr val="windowText" lastClr="000000"/>
      </a:dk1>
      <a:lt1>
        <a:sysClr val="window" lastClr="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sz="20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defRPr sz="2000" dirty="0" err="1" smtClean="0"/>
        </a:defPPr>
      </a:lstStyle>
    </a:txDef>
  </a:objectDefaults>
  <a:extraClrSchemeLst/>
</a:theme>
</file>

<file path=ppt/theme/theme2.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Horizon</Template>
  <TotalTime>4463</TotalTime>
  <Words>7135</Words>
  <Application>Microsoft Office PowerPoint</Application>
  <PresentationFormat>On-screen Show (16:9)</PresentationFormat>
  <Paragraphs>528</Paragraphs>
  <Slides>51</Slides>
  <Notes>51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51</vt:i4>
      </vt:variant>
    </vt:vector>
  </HeadingPairs>
  <TitlesOfParts>
    <vt:vector size="58" baseType="lpstr">
      <vt:lpstr>Arial</vt:lpstr>
      <vt:lpstr>Courier New</vt:lpstr>
      <vt:lpstr>Segoe UI</vt:lpstr>
      <vt:lpstr>Times New Roman</vt:lpstr>
      <vt:lpstr>Verdana</vt:lpstr>
      <vt:lpstr>Wingdings</vt:lpstr>
      <vt:lpstr>508 Lecture</vt:lpstr>
      <vt:lpstr>Management Information Systems: Managing the Digital Firm</vt:lpstr>
      <vt:lpstr>Learning Objectives</vt:lpstr>
      <vt:lpstr>Video Cases</vt:lpstr>
      <vt:lpstr>Smart Stores Reinvent the Retail Space (1 of 2)</vt:lpstr>
      <vt:lpstr>Smart Stores Reinvent the Retail Space (2 of 2)</vt:lpstr>
      <vt:lpstr>How Information Systems Are Transforming Business </vt:lpstr>
      <vt:lpstr>Figure 1.1 Information Technology Capital Investment</vt:lpstr>
      <vt:lpstr>What’s New in Management Information Systems (1 of 3)</vt:lpstr>
      <vt:lpstr>What’s New in Management Information Systems (2 of 3)</vt:lpstr>
      <vt:lpstr>What’s New in Management Information Systems (3 of 3)</vt:lpstr>
      <vt:lpstr>Interactive Session: Management: Will the Coronavirus Pandemic Make Working from Home the New Normal? (1 of 2)</vt:lpstr>
      <vt:lpstr>Interactive Session: Management: Will the Coronavirus Pandemic Make Working from Home the New Normal? (2 of 2)</vt:lpstr>
      <vt:lpstr>Globalization Challenges and Opportunities: A Flattened World               </vt:lpstr>
      <vt:lpstr>The Emerging Digital Firm</vt:lpstr>
      <vt:lpstr>Strategic Business Objectives of Information Systems (1 of 2)</vt:lpstr>
      <vt:lpstr>Figure 1.2 The Interdependence Between Organizations and Information Systems</vt:lpstr>
      <vt:lpstr>Strategic Business Objectives of Information Systems (2 of 2)</vt:lpstr>
      <vt:lpstr>Operational Excellence</vt:lpstr>
      <vt:lpstr>New Products, Services, and Business Models</vt:lpstr>
      <vt:lpstr>Customer and Supplier Intimacy</vt:lpstr>
      <vt:lpstr>Improved Decision Making </vt:lpstr>
      <vt:lpstr>Competitive Advantage</vt:lpstr>
      <vt:lpstr>Survival</vt:lpstr>
      <vt:lpstr>What Is an Information System?                    (1 of 3)</vt:lpstr>
      <vt:lpstr>Figure 1.3 Data and Information</vt:lpstr>
      <vt:lpstr>What Is an Information System?                 (2 of 3)</vt:lpstr>
      <vt:lpstr>What is an Information System?                 (3 of 3)</vt:lpstr>
      <vt:lpstr>Figure 1.4 Functions of an Information System</vt:lpstr>
      <vt:lpstr>Dimensions of Information Systems</vt:lpstr>
      <vt:lpstr>Figure 1.5 Information Systems Are More Than Computers</vt:lpstr>
      <vt:lpstr>Dimensions of Information Systems: Organizations (1 of 2)</vt:lpstr>
      <vt:lpstr>Figure 1.6 Levels in a Firm</vt:lpstr>
      <vt:lpstr>Dimensions of Information Systems: Organizations (2 of 2)</vt:lpstr>
      <vt:lpstr>Dimensions of Information Systems: Management</vt:lpstr>
      <vt:lpstr>Dimensions of Information Systems: Information Technology</vt:lpstr>
      <vt:lpstr>Interactive Session – Technology: Healthcare at Singapore’s JurongHealth Services</vt:lpstr>
      <vt:lpstr>It Isn’t Just Technology: A Business Perspective on Information Systems (1 of 3)</vt:lpstr>
      <vt:lpstr>It Isn’t Just Technology: A Business Perspective on Information Systems (2 of 3)</vt:lpstr>
      <vt:lpstr>It Isn’t Just Technology: A Business Perspective on Information Systems (3 of 3)</vt:lpstr>
      <vt:lpstr>Figure 1.7 The Business Information Value Chain</vt:lpstr>
      <vt:lpstr>Complementary Assets: Organizational Capital and the Right Business Model (1 of 2)</vt:lpstr>
      <vt:lpstr>Figure 1.8 Variation in Returns on Information Technology Investment</vt:lpstr>
      <vt:lpstr>Complementary Assets: Organizational Capital and the Right Business Model (2 of 2)</vt:lpstr>
      <vt:lpstr>Figure 1.9 Contemporary Approaches to Information Systems</vt:lpstr>
      <vt:lpstr>Technical Approach</vt:lpstr>
      <vt:lpstr>Behavioral Approach</vt:lpstr>
      <vt:lpstr>Approach of This Text: Sociotechnical Systems (1 of 2)</vt:lpstr>
      <vt:lpstr>Approach of This Text: Sociotechnical Systems (2 of 2)</vt:lpstr>
      <vt:lpstr>Figure 1.10 A Sociotechnical Perspective on Information Systems</vt:lpstr>
      <vt:lpstr>How Will MIS Help My Career?</vt:lpstr>
      <vt:lpstr>Copyright</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Management Information Systems: Managing the Digital Firm, Sixteenth Edition</dc:title>
  <dc:subject>Management</dc:subject>
  <dc:creator>Kenneth C. Laudon / Jane P. Laudon</dc:creator>
  <cp:keywords>Management Information Systems</cp:keywords>
  <dc:description/>
  <cp:lastModifiedBy>Daniel Luiz</cp:lastModifiedBy>
  <cp:revision>1063</cp:revision>
  <dcterms:created xsi:type="dcterms:W3CDTF">2014-07-14T20:04:21Z</dcterms:created>
  <dcterms:modified xsi:type="dcterms:W3CDTF">2021-12-16T09:44:48Z</dcterms:modified>
</cp:coreProperties>
</file>