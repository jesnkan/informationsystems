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handoutMasterIdLst>
    <p:handoutMasterId r:id="rId51"/>
  </p:handoutMasterIdLst>
  <p:sldIdLst>
    <p:sldId id="506" r:id="rId2"/>
    <p:sldId id="380" r:id="rId3"/>
    <p:sldId id="518" r:id="rId4"/>
    <p:sldId id="519" r:id="rId5"/>
    <p:sldId id="520" r:id="rId6"/>
    <p:sldId id="521" r:id="rId7"/>
    <p:sldId id="522" r:id="rId8"/>
    <p:sldId id="564" r:id="rId9"/>
    <p:sldId id="524" r:id="rId10"/>
    <p:sldId id="525" r:id="rId11"/>
    <p:sldId id="565" r:id="rId12"/>
    <p:sldId id="566" r:id="rId13"/>
    <p:sldId id="528" r:id="rId14"/>
    <p:sldId id="529" r:id="rId15"/>
    <p:sldId id="567" r:id="rId16"/>
    <p:sldId id="531" r:id="rId17"/>
    <p:sldId id="532" r:id="rId18"/>
    <p:sldId id="533" r:id="rId19"/>
    <p:sldId id="534" r:id="rId20"/>
    <p:sldId id="535" r:id="rId21"/>
    <p:sldId id="568" r:id="rId22"/>
    <p:sldId id="537" r:id="rId23"/>
    <p:sldId id="538" r:id="rId24"/>
    <p:sldId id="539" r:id="rId25"/>
    <p:sldId id="540" r:id="rId26"/>
    <p:sldId id="541" r:id="rId27"/>
    <p:sldId id="569" r:id="rId28"/>
    <p:sldId id="575" r:id="rId29"/>
    <p:sldId id="570" r:id="rId30"/>
    <p:sldId id="545" r:id="rId31"/>
    <p:sldId id="571" r:id="rId32"/>
    <p:sldId id="546" r:id="rId33"/>
    <p:sldId id="548" r:id="rId34"/>
    <p:sldId id="572" r:id="rId35"/>
    <p:sldId id="550" r:id="rId36"/>
    <p:sldId id="573" r:id="rId37"/>
    <p:sldId id="552" r:id="rId38"/>
    <p:sldId id="555" r:id="rId39"/>
    <p:sldId id="556" r:id="rId40"/>
    <p:sldId id="557" r:id="rId41"/>
    <p:sldId id="574" r:id="rId42"/>
    <p:sldId id="559" r:id="rId43"/>
    <p:sldId id="576" r:id="rId44"/>
    <p:sldId id="562" r:id="rId45"/>
    <p:sldId id="560" r:id="rId46"/>
    <p:sldId id="561" r:id="rId47"/>
    <p:sldId id="563" r:id="rId48"/>
    <p:sldId id="514" r:id="rId49"/>
  </p:sldIdLst>
  <p:sldSz cx="9144000" cy="5143500" type="screen16x9"/>
  <p:notesSz cx="6858000" cy="9144000"/>
  <p:custDataLst>
    <p:tags r:id="rId5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orient="horz" pos="324" userDrawn="1">
          <p15:clr>
            <a:srgbClr val="A4A3A4"/>
          </p15:clr>
        </p15:guide>
        <p15:guide id="5" orient="horz" pos="3024" userDrawn="1">
          <p15:clr>
            <a:srgbClr val="A4A3A4"/>
          </p15:clr>
        </p15:guide>
        <p15:guide id="6" orient="horz" pos="792" userDrawn="1">
          <p15:clr>
            <a:srgbClr val="A4A3A4"/>
          </p15:clr>
        </p15:guide>
        <p15:guide id="7" pos="288" userDrawn="1">
          <p15:clr>
            <a:srgbClr val="A4A3A4"/>
          </p15:clr>
        </p15:guide>
        <p15:guide id="8" pos="5472" userDrawn="1">
          <p15:clr>
            <a:srgbClr val="A4A3A4"/>
          </p15:clr>
        </p15:guide>
        <p15:guide id="9" orient="horz" pos="648" userDrawn="1">
          <p15:clr>
            <a:srgbClr val="A4A3A4"/>
          </p15:clr>
        </p15:guide>
        <p15:guide id="10" orient="horz" pos="900" userDrawn="1">
          <p15:clr>
            <a:srgbClr val="A4A3A4"/>
          </p15:clr>
        </p15:guide>
        <p15:guide id="11" orient="horz" pos="11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5721E-C80B-4E26-9CED-0EBFDBA28B49}" v="48" dt="2019-01-02T20:47:52.858"/>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51" autoAdjust="0"/>
    <p:restoredTop sz="64642" autoAdjust="0"/>
  </p:normalViewPr>
  <p:slideViewPr>
    <p:cSldViewPr>
      <p:cViewPr varScale="1">
        <p:scale>
          <a:sx n="65" d="100"/>
          <a:sy n="65" d="100"/>
        </p:scale>
        <p:origin x="1518" y="60"/>
      </p:cViewPr>
      <p:guideLst>
        <p:guide orient="horz" pos="1620"/>
        <p:guide pos="2880"/>
        <p:guide orient="horz" pos="324"/>
        <p:guide orient="horz" pos="3024"/>
        <p:guide orient="horz" pos="792"/>
        <p:guide pos="288"/>
        <p:guide pos="5472"/>
        <p:guide orient="horz" pos="648"/>
        <p:guide orient="horz" pos="900"/>
        <p:guide orient="horz" pos="1152"/>
      </p:guideLst>
    </p:cSldViewPr>
  </p:slideViewPr>
  <p:outlineViewPr>
    <p:cViewPr>
      <p:scale>
        <a:sx n="33" d="100"/>
        <a:sy n="33" d="100"/>
      </p:scale>
      <p:origin x="0" y="-26814"/>
    </p:cViewPr>
  </p:outlineViewPr>
  <p:notesTextViewPr>
    <p:cViewPr>
      <p:scale>
        <a:sx n="1" d="1"/>
        <a:sy n="1" d="1"/>
      </p:scale>
      <p:origin x="0" y="0"/>
    </p:cViewPr>
  </p:notesText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12/16/2021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12/16/2021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en-US" dirty="0"/>
              <a:t>This chapter discusses the kinds of organizational changes that result from the implementation of new information systems, the activities involved in systems development, and the various methodologies used to build information systems. Ask students to give their first impressions on how a new information system could produce organizational change. Give an example of a type of business and a new system, for example, a business that introduces an automated call-answering system to direct sales and technical inquiries to the right department. Ask students to discuss what types of organizational change this might bring about.</a:t>
            </a:r>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first two of four different types of organizational change that information systems can enable. You can ask students to give examples of each type of change within the context of an example of a business, for example, a pizza chain. Ask students to define TQM (makes achieving quality an end in itself) and Six Sigma (specific measure of quality—3.4 defects per million). Ask students to evaluate the two methods. Would one be better in some industries or types of businesses over the other method? Which method would be better for a restaurant chain? Which would be better for a clothing manufacturer? Why?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third and fourth types of organizational change that information systems can enable. You can ask students to give examples of each type of change within the context of an example of a business, for example, a pizza chain. Or you can provide examples of change and ask students to determine what category that change falls into. </a:t>
            </a:r>
            <a:r>
              <a:rPr lang="en-US" altLang="ja-JP" dirty="0"/>
              <a:t>An example of a paradigm shift is Schneider National which changed its business model from being a long-haul trucking and transportation firm to using its information systems to manage logistics for other companies.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267200"/>
          </a:xfrm>
        </p:spPr>
        <p:txBody>
          <a:bodyP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13.1,</a:t>
            </a:r>
            <a:r>
              <a:rPr lang="en-US" altLang="en-US" baseline="0" dirty="0"/>
              <a:t> Page 492.</a:t>
            </a:r>
          </a:p>
          <a:p>
            <a:r>
              <a:rPr lang="en-US" sz="1200" b="0" i="1" u="none" strike="noStrike" kern="1200" cap="none" baseline="0" dirty="0">
                <a:solidFill>
                  <a:schemeClr val="tx1"/>
                </a:solidFill>
                <a:latin typeface="+mn-lt"/>
                <a:ea typeface="Arial"/>
                <a:cs typeface="Arial"/>
                <a:sym typeface="Arial"/>
              </a:rPr>
              <a:t>The most common forms of organizational change are automation and rationalization. These relatively slow-moving and slow-changing strategies present modest returns but little risk. Faster and more comprehensive change—such as redesign and paradigm shifts—carries high rewards but offers substantial chances of failure.</a:t>
            </a:r>
            <a:endParaRPr lang="en-US" altLang="en-US" i="1" baseline="0" dirty="0"/>
          </a:p>
          <a:p>
            <a:endParaRPr 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four types of change, identifying them according to the potential return on investment as well as level of risk. What makes automation a low risk? What makes a paradigm shift or redesign a high risk? It is important to note that BPR and paradigm shifts have high failure rates. Ask the students why this is so. (Organizational change is difficult to orchestrate.)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 graph plots four kinds of structural organizational changes enabled by information technology. </a:t>
            </a:r>
            <a:r>
              <a:rPr lang="en-US" sz="1200" dirty="0">
                <a:solidFill>
                  <a:srgbClr val="000000"/>
                </a:solidFill>
                <a:effectLst/>
                <a:latin typeface="+mn-lt"/>
                <a:ea typeface="Times New Roman" panose="02020603050405020304" pitchFamily="18" charset="0"/>
                <a:cs typeface="Calibri" panose="020F0502020204030204" pitchFamily="34" charset="0"/>
              </a:rPr>
              <a:t>The horizontal axis plots the return and the vertical axis plots the risk, both from low to high. The graph is in the form of a spectrum and marks organizational changes according to the risk and returns.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spectrum of organizational change is composed of four parts, arranged from lowest to highest in terms of both risks and rewards are as below: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Automation</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Rationalization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Redesign</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Paradigm shift.</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2694943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emphasizes business process management, a category of tools and techniques that help firms redesign business processes, the riskiness of business process redesign, and the need to properly manage it in order for BPR to be effective. Ask students what the importance is of each step. For example, why it is important to determine the right business process to change rather than all business processes (some processes may not yield time or cost savings, you could spend too much money trying to improve all processes, and some processes may already be effective). Give students an example of a business process and ask how the process could be measured. For example, how would you measure the business process of a customer ordering a meal? Of a kitchen preparing and delivering that meal? What about the business process of hiring a new employee? It is important to note that, even with effective process redesign, a majority of reengineering projects do not achieve breakthrough gains because of inadequate change management.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13.2,</a:t>
            </a:r>
            <a:r>
              <a:rPr lang="en-US" altLang="en-US" baseline="0" dirty="0"/>
              <a:t> Page 496.</a:t>
            </a:r>
          </a:p>
          <a:p>
            <a:r>
              <a:rPr lang="en-US" sz="1200" b="0" i="1" u="none" strike="noStrike" kern="1200" cap="none" baseline="0" dirty="0">
                <a:solidFill>
                  <a:schemeClr val="tx1"/>
                </a:solidFill>
                <a:latin typeface="+mn-lt"/>
                <a:ea typeface="Arial"/>
                <a:cs typeface="Arial"/>
                <a:sym typeface="Arial"/>
              </a:rPr>
              <a:t>Purchasing a book from a physical bookstore requires many steps to be performed by both the seller and the customer.</a:t>
            </a:r>
          </a:p>
          <a:p>
            <a:endParaRPr 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a:t>
            </a:r>
            <a:r>
              <a:rPr lang="en-US" altLang="ja-JP" dirty="0"/>
              <a:t>’s graphic illustrates the process of purchasing a book prior to reengineering, including the steps if a book is not available. It emphasizes the sequential nature of the task. Besides the time taken for this process, what are other disadvantages of this traditional business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flowchart explains the steps involved in purchasing a book from a physical bookstore. </a:t>
            </a:r>
            <a:r>
              <a:rPr lang="en-US" sz="1200" dirty="0">
                <a:solidFill>
                  <a:srgbClr val="000000"/>
                </a:solidFill>
                <a:effectLst/>
                <a:latin typeface="+mn-lt"/>
                <a:ea typeface="Times New Roman" panose="02020603050405020304" pitchFamily="18" charset="0"/>
                <a:cs typeface="Calibri" panose="020F0502020204030204" pitchFamily="34" charset="0"/>
              </a:rPr>
              <a:t>The possible scenarios are as below:</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customer goes to a bookstore, searches shelves, if the book is available purchases the book and goes home.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If the book is not available the clerk searches it, if found the customer purchases the book and goes home.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If the book is not available and the clerk is unable to find it, the customer enquires about ordering: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If the clerk is able to order it he places the order, receives the book, and notifies the customer. The customer returns to the store purchases the book and goes home.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If the clerk is unable to order it the customer goes to another store.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887479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13.3,</a:t>
            </a:r>
            <a:r>
              <a:rPr lang="en-US" altLang="en-US" baseline="0" dirty="0"/>
              <a:t> Page 496.</a:t>
            </a:r>
          </a:p>
          <a:p>
            <a:r>
              <a:rPr lang="en-US" sz="1200" b="0" i="1" u="none" strike="noStrike" kern="1200" cap="none" baseline="0" dirty="0">
                <a:solidFill>
                  <a:schemeClr val="tx1"/>
                </a:solidFill>
                <a:latin typeface="+mn-lt"/>
                <a:ea typeface="Arial"/>
                <a:cs typeface="Arial"/>
                <a:sym typeface="Arial"/>
              </a:rPr>
              <a:t>Using Internet technology makes it possible to redesign the process for purchasing a book so that it requires fewer steps and consumes fewer resources.</a:t>
            </a:r>
          </a:p>
          <a:p>
            <a:endParaRPr 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book purchasing process after reengineering as an online process. The new process and technology has reduced numerous stages to four or five. What are the elements that have allowed these steps to occur? Which of the four types of organizational change described earlier does this redesigned process most closely resemble—automation, rationalization, redesign, paradigm shift?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a:t>
            </a:r>
            <a:r>
              <a:rPr lang="en-US" sz="1200" baseline="0" dirty="0">
                <a:latin typeface="+mn-lt"/>
              </a:rPr>
              <a:t>description: A flow chart explains the steps involved in purchasing a book online.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below:</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Access online bookstore</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Search online catalog</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If the book is available, enter order and payment data and receive the book in mail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If the book is unavailable, select other online bookstore. If the book is available, enter order and payment data and receive the book in mail.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246912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gives an overview of the various types of BPM tools that firms use to redesign business processes. The text discusses the example of American National Insurance Company, which used </a:t>
            </a:r>
            <a:r>
              <a:rPr lang="en-US" altLang="en-US" dirty="0" err="1"/>
              <a:t>Pegasystems</a:t>
            </a:r>
            <a:r>
              <a:rPr lang="en-US" altLang="en-US" dirty="0"/>
              <a:t> BPM workflow software to streamline customer service processes across four business groups. BPM built rules to guide service reps through a single view of customer information across multiple systems, eliminating the need to access multiple applications when handling customer requests. This increased workload capacity of the representatives by 192 percent.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and the following slides discuss the activities involved in system development—the creation of a new (or improvements to an existing) information system. The activities listed are usually performed in order—the first two, systems analysis and systems design, are preparatory steps for the system. The last four steps translate the design of the system into actuality.</a:t>
            </a:r>
          </a:p>
          <a:p>
            <a:pPr eaLnBrk="1" hangingPunct="1"/>
            <a:endParaRPr lang="en-US" altLang="en-US" dirty="0"/>
          </a:p>
          <a:p>
            <a:pPr eaLnBrk="1" hangingPunct="1"/>
            <a:r>
              <a:rPr lang="en-US" altLang="en-US" dirty="0"/>
              <a:t>It is important to emphasize that an information system is not technology for technology</a:t>
            </a:r>
            <a:r>
              <a:rPr lang="en-US" altLang="ja-JP" dirty="0"/>
              <a:t>’s sake, it is a solution to a problem or set of problems the organization perceives it is facing—including the problem of an opportunity that requires the use of information systems in order to undertake. What problems with business processes have students encountered or witnessed in their work or educational career that could have been improved with the help of a new or improved information system?</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13.4,</a:t>
            </a:r>
            <a:r>
              <a:rPr lang="en-US" altLang="en-US" baseline="0" dirty="0"/>
              <a:t> Page 498.</a:t>
            </a:r>
          </a:p>
          <a:p>
            <a:r>
              <a:rPr lang="en-US" sz="1200" b="0" i="1" u="none" strike="noStrike" kern="1200" cap="none" baseline="0" dirty="0">
                <a:solidFill>
                  <a:schemeClr val="tx1"/>
                </a:solidFill>
                <a:latin typeface="+mn-lt"/>
                <a:ea typeface="Arial"/>
                <a:cs typeface="Arial"/>
                <a:sym typeface="Arial"/>
              </a:rPr>
              <a:t>Building a system can be broken down into six core activities.</a:t>
            </a:r>
          </a:p>
          <a:p>
            <a:endParaRPr lang="en-US" sz="1200" b="0" i="0" u="none" strike="noStrike" kern="1200" cap="none" baseline="0" dirty="0">
              <a:solidFill>
                <a:schemeClr val="tx1"/>
              </a:solidFill>
              <a:latin typeface="+mn-lt"/>
              <a:ea typeface="Arial"/>
              <a:cs typeface="Arial"/>
              <a:sym typeface="Arial"/>
            </a:endParaRPr>
          </a:p>
          <a:p>
            <a:pPr eaLnBrk="1" hangingPunct="1"/>
            <a:r>
              <a:rPr lang="en-US" altLang="en-US" dirty="0"/>
              <a:t>This graphic illustrates the six core activities of systems building. Ask students why these activities are represented as a circle.</a:t>
            </a:r>
          </a:p>
          <a:p>
            <a:pPr eaLnBrk="1" hangingPunct="1"/>
            <a:endParaRPr lang="en-US" altLang="en-US" dirty="0"/>
          </a:p>
          <a:p>
            <a:pPr eaLnBrk="1" hangingPunct="1"/>
            <a:r>
              <a:rPr lang="en-US" altLang="en-US" dirty="0"/>
              <a:t>The circular nature indicates that systems building is not a linear process that is finished once the system is built. Typically, additional changes and improvements will need to be made to the system or part of the system that will require additional analysis, design, programming, testing, conversion, and maintenance.</a:t>
            </a:r>
          </a:p>
          <a:p>
            <a:pPr eaLnBrk="1" hangingPunct="1"/>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An illustration explains the six core activities of a traditional systems lifecycle. </a:t>
            </a:r>
            <a:r>
              <a:rPr lang="en-US" sz="1200" dirty="0">
                <a:solidFill>
                  <a:srgbClr val="000000"/>
                </a:solidFill>
                <a:effectLst/>
                <a:latin typeface="+mn-lt"/>
                <a:ea typeface="Times New Roman" panose="02020603050405020304" pitchFamily="18" charset="0"/>
                <a:cs typeface="Calibri" panose="020F0502020204030204" pitchFamily="34" charset="0"/>
              </a:rPr>
              <a:t>The details of the activities </a:t>
            </a:r>
            <a:r>
              <a:rPr lang="en-US" sz="1200" dirty="0">
                <a:solidFill>
                  <a:srgbClr val="000000"/>
                </a:solidFill>
                <a:effectLst/>
                <a:latin typeface="+mn-lt"/>
                <a:ea typeface="Times New Roman" panose="02020603050405020304" pitchFamily="18" charset="0"/>
              </a:rPr>
              <a:t>involved in building a system </a:t>
            </a:r>
            <a:r>
              <a:rPr lang="en-US" sz="1200" dirty="0">
                <a:solidFill>
                  <a:srgbClr val="000000"/>
                </a:solidFill>
                <a:effectLst/>
                <a:latin typeface="+mn-lt"/>
                <a:ea typeface="Times New Roman" panose="02020603050405020304" pitchFamily="18" charset="0"/>
                <a:cs typeface="Calibri" panose="020F0502020204030204" pitchFamily="34" charset="0"/>
              </a:rPr>
              <a:t>are as below:</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Systems analysis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System design</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Programming</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Testing</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Conversion</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Production and maintenance.</a:t>
            </a:r>
            <a:endParaRPr lang="en-US" sz="1200" dirty="0">
              <a:effectLst/>
              <a:latin typeface="+mn-lt"/>
              <a:ea typeface="Calibri" panose="020F0502020204030204" pitchFamily="34" charset="0"/>
            </a:endParaRP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87392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describes the first stage of systems development, systems analysis.</a:t>
            </a:r>
          </a:p>
          <a:p>
            <a:pPr eaLnBrk="1" hangingPunct="1"/>
            <a:endParaRPr lang="en-US" altLang="en-US" dirty="0"/>
          </a:p>
          <a:p>
            <a:pPr eaLnBrk="1" hangingPunct="1"/>
            <a:r>
              <a:rPr lang="en-US" altLang="en-US" dirty="0"/>
              <a:t>The systems analyst first creates a road map of the existing organization and systems. What does this road map consist of? (Identifying primary owners and users of data along with existing hardware and software.) What constitutes a primary owner of data? Ask students how an analyst would determine if a problem existed with existing systems. (He/she would examine documents, work papers, procedures, observe system operations, and interview key users as well as managers.)</a:t>
            </a:r>
          </a:p>
          <a:p>
            <a:pPr eaLnBrk="1" hangingPunct="1"/>
            <a:endParaRPr lang="en-US" altLang="en-US" dirty="0"/>
          </a:p>
          <a:p>
            <a:pPr eaLnBrk="1" hangingPunct="1"/>
            <a:r>
              <a:rPr lang="en-US" altLang="en-US" dirty="0"/>
              <a:t>What does it mean that a solution is feasible from a financial standpoint? A technical standpoint? An organizational standpoint?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the second stage of systems development, systems design. The text explains that like houses or buildings, information systems may have many possible designs. Each design represents a unique blend of all technical and organizational components. What makes one design superior to others is the ease and efficiency with which it fulfills user requirements within a specific set of technical, organizational, financial, and time constraints.</a:t>
            </a:r>
            <a:r>
              <a:rPr lang="en-US" altLang="ja-JP" dirty="0"/>
              <a:t> Given an identical systems analysis, what elements might be different in a system design created by two different systems designers?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Table 13.1, Page 500.</a:t>
            </a:r>
          </a:p>
          <a:p>
            <a:endParaRPr lang="en-US" altLang="en-US" dirty="0"/>
          </a:p>
          <a:p>
            <a:r>
              <a:rPr lang="en-US" altLang="en-US" dirty="0"/>
              <a:t>This slide lists the various types of specifications that must be detailed and described in a systems design. From this it is easy to see how complex designing a system can be, and how many opportunities there are for mistakes to creep in. Problems in any one of these areas could produce a less-than optimal system and losses in efficiency and productivity. Select a few of the specifications here and ask students what types of problems could result from an inadequate definition of that specification.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Table 13.1 (continued), Page 500.</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describes the third and fourth stages of systems development, programming and testing.</a:t>
            </a:r>
          </a:p>
          <a:p>
            <a:pPr eaLnBrk="1" hangingPunct="1"/>
            <a:endParaRPr lang="en-US" altLang="en-US" dirty="0"/>
          </a:p>
          <a:p>
            <a:pPr eaLnBrk="1" hangingPunct="1"/>
            <a:r>
              <a:rPr lang="en-US" altLang="en-US" dirty="0"/>
              <a:t>Many companies today do not perform their own programming, but purchase software or outsource programming to a vendor. In outsourcing, who would be responsible for the testing, the vendor or the purchasing company? Would any testing be needed when software is purchased as a package? It is important to note that the importance of testing is typically underrated in systems project planning, and the risks resulting from inadequate testing are enormous. Ask students why, if system testing is performed that checks the entire system, would unit testing be important.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495800"/>
          </a:xfrm>
        </p:spPr>
        <p:txBody>
          <a:bodyP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13.5,</a:t>
            </a:r>
            <a:r>
              <a:rPr lang="en-US" altLang="en-US" baseline="0" dirty="0"/>
              <a:t> Page 501.</a:t>
            </a:r>
          </a:p>
          <a:p>
            <a:r>
              <a:rPr lang="en-US" sz="1200" b="0" i="1" u="none" strike="noStrike" kern="1200" cap="none" baseline="0" dirty="0">
                <a:solidFill>
                  <a:schemeClr val="tx1"/>
                </a:solidFill>
                <a:latin typeface="+mn-lt"/>
                <a:ea typeface="Arial"/>
                <a:cs typeface="Arial"/>
                <a:sym typeface="Arial"/>
              </a:rPr>
              <a:t>When developing a test plan, it is imperative to include the various conditions to be tested, the requirements for each condition tested, and the expected results. Test plans require input from both end users and information systems specialists.</a:t>
            </a:r>
          </a:p>
          <a:p>
            <a:endParaRPr 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a portion of a test plan. Ask students to describe what the columns of this table mean. It looks at six different possible situations, given a user of the system attempting to change a record in the database, from trying to change an existing address in the system (2.1) to not completing the record change (2.6). Ask students what they understand about system testing from looking at this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table records series of changes, while developing a test plan. </a:t>
            </a:r>
            <a:r>
              <a:rPr lang="en-US" sz="1200" dirty="0">
                <a:solidFill>
                  <a:srgbClr val="000000"/>
                </a:solidFill>
                <a:effectLst/>
                <a:latin typeface="+mn-lt"/>
                <a:ea typeface="Times New Roman" panose="02020603050405020304" pitchFamily="18" charset="0"/>
                <a:cs typeface="Calibri" panose="020F0502020204030204" pitchFamily="34" charset="0"/>
              </a:rPr>
              <a:t>The table includes the following details: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Procedure: Address and maintenance “Record change series” for test series 2.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There are blanks to input information in the following fields: Prepared by, date, and version.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Details corresponding to the test reference number, condition tested, special requirements, expected results, output on, and next screen are as below:</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Test reference 2.0: Change records.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Test reference 2.1: Change existing records; Special requirements: key field; Expected results: Not allowed.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Test reference 2.2: Change nonexistent records; Special requirements: Other fields; Expected results: Invalid key message.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Test reference 2.3: Change deleted record; Special requirements: Deleted record must be available; Expected results: Deleted message.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Test reference 2.4: Make second record; Special requirements: Change 2.1 above; Expected results: OK if valid; Output on: Transaction file; Next screen: V45.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Test reference 2.5: Insert record; Special requirements: None; Expected results: OK if valid; Output on: Transaction file; Next screen: V45.</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Test reference 2.6: Abort during change; Special requirements: Abort 2.5; Expected results: No change; Output on: Transaction file; Next screen: V45.</a:t>
            </a:r>
            <a:endParaRPr lang="en-US" sz="1200" dirty="0">
              <a:effectLst/>
              <a:latin typeface="+mn-lt"/>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9551919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the fifth stage of systems development, conversion. Ask students to describe each of the strategies. What would make one approach more appropriate than another? Is there any case in which a direct cutover would be the optimal strategy?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the sixth and final stage of systems development, production and maintenance, and shows that an information system is never </a:t>
            </a:r>
            <a:r>
              <a:rPr lang="ja-JP" altLang="en-US" dirty="0"/>
              <a:t>“</a:t>
            </a:r>
            <a:r>
              <a:rPr lang="en-US" altLang="ja-JP" dirty="0"/>
              <a:t>finished.</a:t>
            </a:r>
            <a:r>
              <a:rPr lang="ja-JP" altLang="en-US" dirty="0"/>
              <a:t>”</a:t>
            </a:r>
            <a:r>
              <a:rPr lang="en-US" altLang="ja-JP" dirty="0"/>
              <a:t> Situations and business environments always change, and systems have to change along with the business. Of course, many businesses do not want to spend the resources to change their systems as required by a changing environment. And for this reason, systems can become dysfunctional, costing the firm money fixing the problems created by an outdated system. Ask students to discuss if any of the types of maintenance work listed here could be eliminated by better analysis and design?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Table 13.2, Page 502.</a:t>
            </a:r>
          </a:p>
          <a:p>
            <a:endParaRPr lang="en-US" altLang="en-US" dirty="0"/>
          </a:p>
          <a:p>
            <a:r>
              <a:rPr lang="en-US" altLang="en-US" dirty="0"/>
              <a:t>This slide summarizes the six stages in system development. Ask students what the difference is between information requirements and design specifications.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introduces the core concepts behind a structured methodology, a prominent methodology for modeling systems. Ask students what a process is or to give an example of a process. What does it mean to </a:t>
            </a:r>
            <a:r>
              <a:rPr lang="ja-JP" altLang="en-US" dirty="0"/>
              <a:t>“</a:t>
            </a:r>
            <a:r>
              <a:rPr lang="en-US" altLang="ja-JP" dirty="0"/>
              <a:t>separate data from processes”?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continues the discussion of structured methodologies, looking at the tools and techniques that it uses to model an information system. An example data flow diagram is shown on the next slide, so it may be helpful to move to that slide to discuss these diagrams. A data dictionary is needed so that system builders know exactly what data is stored and manipulated. Process specifications express the logic that is used when one piece of data is transformed by a process.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13.6,</a:t>
            </a:r>
            <a:r>
              <a:rPr lang="en-US" altLang="en-US" baseline="0" dirty="0"/>
              <a:t> Page 504.</a:t>
            </a:r>
          </a:p>
          <a:p>
            <a:r>
              <a:rPr lang="en-US" sz="1200" b="0" i="1" u="none" strike="noStrike" kern="1200" cap="none" baseline="0" dirty="0">
                <a:solidFill>
                  <a:schemeClr val="tx1"/>
                </a:solidFill>
                <a:latin typeface="+mn-lt"/>
                <a:ea typeface="Arial"/>
                <a:cs typeface="Arial"/>
                <a:sym typeface="Arial"/>
              </a:rPr>
              <a:t>The system has three processes: Verify availability (1.0), Enroll student (2.0), and Confirm registration (3.0). The name and content of each of the data flows appear adjacent to each arrow. There is one external entity in this system: the student. There are two data stores: the student master file and the course file.</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is a data flow diagram. Ask students what the rounded boxes represent (processes) and what the square box represents (an external entity). What about the open rectangle and the arrows? Where does the process begin? Ask a student to step through the process of registering a student for a course, noting what data is transferred at each step. It</a:t>
            </a:r>
            <a:r>
              <a:rPr lang="en-US" altLang="ja-JP" dirty="0"/>
              <a:t>’s always fun to do data flow diagrams as a group because it illustrates how the same process is seen differently by different people.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data flow diagram explains a student registration process through three processes. </a:t>
            </a:r>
            <a:r>
              <a:rPr lang="en-US" sz="1200" dirty="0">
                <a:solidFill>
                  <a:srgbClr val="000000"/>
                </a:solidFill>
                <a:effectLst/>
                <a:latin typeface="+mn-lt"/>
                <a:ea typeface="Times New Roman" panose="02020603050405020304" pitchFamily="18" charset="0"/>
                <a:cs typeface="Calibri" panose="020F0502020204030204" pitchFamily="34" charset="0"/>
              </a:rPr>
              <a:t>The details of the flow are as follows, when the student requests for courses:</a:t>
            </a:r>
            <a:endParaRPr lang="en-US" sz="1200"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Process 1.0 is to verify availability.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Process 2.0 is to enroll student after accepting or rejecting selections</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Process 3.0 is to confirm registration after registration, send confirmation letter to the student. </a:t>
            </a:r>
            <a:endParaRPr lang="en-US" sz="1200" dirty="0">
              <a:effectLst/>
              <a:latin typeface="+mn-lt"/>
              <a:ea typeface="Calibri" panose="020F0502020204030204" pitchFamily="34"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availability is verified from the course file, if there are open courses. The course file also provides course details necessary for process 2.0. it also aids in course enrollment and sends the student details to the student master file. </a:t>
            </a:r>
            <a:endParaRPr lang="en-US" sz="1200" dirty="0">
              <a:solidFill>
                <a:srgbClr val="000000"/>
              </a:solidFill>
              <a:effectLst/>
              <a:latin typeface="+mn-lt"/>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29358579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continues the discussion of structured methodologies, looking at the tools and techniques that it uses to model an information system. Process specifications express the logic that is used when one piece of data is transformed by a process. A structure chart looks at the main function of the system, breaks it down into </a:t>
            </a:r>
            <a:r>
              <a:rPr lang="en-US" altLang="en-US" dirty="0" err="1"/>
              <a:t>subfunctions</a:t>
            </a:r>
            <a:r>
              <a:rPr lang="en-US" altLang="en-US" dirty="0"/>
              <a:t>, breaks </a:t>
            </a:r>
            <a:r>
              <a:rPr lang="en-US" altLang="en-US" dirty="0" err="1"/>
              <a:t>subfunctions</a:t>
            </a:r>
            <a:r>
              <a:rPr lang="en-US" altLang="en-US" dirty="0"/>
              <a:t> into more detailed </a:t>
            </a:r>
            <a:r>
              <a:rPr lang="en-US" altLang="en-US" dirty="0" err="1"/>
              <a:t>subfunctions</a:t>
            </a:r>
            <a:r>
              <a:rPr lang="en-US" altLang="en-US" dirty="0"/>
              <a:t>, until the smallest level of detail is reached. Ask students to give an example of what the smallest level of detail might look like, for example, in a university system managing student grades and reports.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41459082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13.7,</a:t>
            </a:r>
            <a:r>
              <a:rPr lang="en-US" altLang="en-US" baseline="0" dirty="0"/>
              <a:t> Page 505.</a:t>
            </a:r>
          </a:p>
          <a:p>
            <a:r>
              <a:rPr lang="en-US" sz="1200" b="0" i="1" u="none" strike="noStrike" kern="1200" cap="none" baseline="0" dirty="0">
                <a:solidFill>
                  <a:schemeClr val="tx1"/>
                </a:solidFill>
                <a:latin typeface="+mn-lt"/>
                <a:ea typeface="Arial"/>
                <a:cs typeface="Arial"/>
                <a:sym typeface="Arial"/>
              </a:rPr>
              <a:t>This structure chart shows the highest or most abstract level of design for a payroll system, providing an overview of the entire system.</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t>This graphic shows a high-level structure chart. Note that this is high-level—and </a:t>
            </a:r>
            <a:r>
              <a:rPr lang="en-US" altLang="en-US" dirty="0" err="1"/>
              <a:t>subfunctions</a:t>
            </a:r>
            <a:r>
              <a:rPr lang="en-US" altLang="en-US" dirty="0"/>
              <a:t> exist for the functions </a:t>
            </a:r>
            <a:r>
              <a:rPr lang="ja-JP" altLang="en-US" dirty="0"/>
              <a:t>“</a:t>
            </a:r>
            <a:r>
              <a:rPr lang="en-US" altLang="ja-JP" dirty="0"/>
              <a:t>Get inputs,</a:t>
            </a:r>
            <a:r>
              <a:rPr lang="ja-JP" altLang="en-US" dirty="0"/>
              <a:t>”</a:t>
            </a:r>
            <a:r>
              <a:rPr lang="en-US" altLang="ja-JP" dirty="0"/>
              <a:t> </a:t>
            </a:r>
            <a:r>
              <a:rPr lang="ja-JP" altLang="en-US" dirty="0"/>
              <a:t>“</a:t>
            </a:r>
            <a:r>
              <a:rPr lang="en-US" altLang="ja-JP" dirty="0"/>
              <a:t>Validate inputs,</a:t>
            </a:r>
            <a:r>
              <a:rPr lang="ja-JP" altLang="en-US" dirty="0"/>
              <a:t>”</a:t>
            </a:r>
            <a:r>
              <a:rPr lang="en-US" altLang="ja-JP" dirty="0"/>
              <a:t> and so on. What might be a </a:t>
            </a:r>
            <a:r>
              <a:rPr lang="en-US" altLang="ja-JP" dirty="0" err="1"/>
              <a:t>subfunction</a:t>
            </a:r>
            <a:r>
              <a:rPr lang="en-US" altLang="ja-JP" dirty="0"/>
              <a:t> for </a:t>
            </a:r>
            <a:r>
              <a:rPr lang="ja-JP" altLang="en-US" dirty="0"/>
              <a:t>“</a:t>
            </a:r>
            <a:r>
              <a:rPr lang="en-US" altLang="ja-JP" dirty="0"/>
              <a:t>Calculate gross pay</a:t>
            </a:r>
            <a:r>
              <a:rPr lang="ja-JP" altLang="en-US" dirty="0"/>
              <a:t>”</a:t>
            </a:r>
            <a:r>
              <a:rPr lang="en-US" altLang="ja-JP" dirty="0"/>
              <a:t>?</a:t>
            </a:r>
          </a:p>
          <a:p>
            <a:endParaRPr lang="en-US" dirty="0"/>
          </a:p>
          <a:p>
            <a:r>
              <a:rPr lang="en-US" u="sng" dirty="0"/>
              <a:t>Alt Text</a:t>
            </a:r>
          </a:p>
          <a:p>
            <a:pPr marL="0" marR="0">
              <a:lnSpc>
                <a:spcPct val="115000"/>
              </a:lnSpc>
              <a:spcBef>
                <a:spcPts val="0"/>
              </a:spcBef>
              <a:spcAft>
                <a:spcPts val="0"/>
              </a:spcAft>
            </a:pPr>
            <a:r>
              <a:rPr lang="en-US" sz="1200" dirty="0">
                <a:latin typeface="+mn-lt"/>
              </a:rPr>
              <a:t>Long description: A hierarchical chart explains the process of a payroll system.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below from top to bottom:</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Process payroll</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Get valid inputs: Get and validate inputs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Calculate pay: Calculate gross and net pay</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Write outputs: Update master file and write checks, reports, and output files.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6026103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introduces the second of the two main system modeling methodologies—object-oriented development. A key concept here is that of class and inheritance. Ask students what a class is (general category of similar objects) and to describe objects that might be in the same class. For example, what objects might be in the category </a:t>
            </a:r>
            <a:r>
              <a:rPr lang="ja-JP" altLang="en-US" dirty="0"/>
              <a:t>“</a:t>
            </a:r>
            <a:r>
              <a:rPr lang="en-US" altLang="ja-JP" dirty="0"/>
              <a:t>Degrees</a:t>
            </a:r>
            <a:r>
              <a:rPr lang="ja-JP" altLang="en-US" dirty="0"/>
              <a:t>”</a:t>
            </a:r>
            <a:r>
              <a:rPr lang="en-US" altLang="ja-JP" dirty="0"/>
              <a:t> in a university’s information system?</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13.8,</a:t>
            </a:r>
            <a:r>
              <a:rPr lang="en-US" altLang="en-US" baseline="0" dirty="0"/>
              <a:t> Page 506.</a:t>
            </a:r>
          </a:p>
          <a:p>
            <a:r>
              <a:rPr lang="en-US" sz="1200" b="0" i="1" u="none" strike="noStrike" kern="1200" cap="none" baseline="0" dirty="0">
                <a:solidFill>
                  <a:schemeClr val="tx1"/>
                </a:solidFill>
                <a:latin typeface="+mn-lt"/>
                <a:ea typeface="Arial"/>
                <a:cs typeface="Arial"/>
                <a:sym typeface="Arial"/>
              </a:rPr>
              <a:t>This figure illustrates how classes inherit the common features of their superclass.</a:t>
            </a:r>
          </a:p>
          <a:p>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concept of class and inheritance in object-oriented development. The Class employee allows subclasses to be created using the </a:t>
            </a:r>
            <a:r>
              <a:rPr lang="ja-JP" altLang="en-US" dirty="0"/>
              <a:t>“</a:t>
            </a:r>
            <a:r>
              <a:rPr lang="en-US" altLang="ja-JP" dirty="0"/>
              <a:t>template</a:t>
            </a:r>
            <a:r>
              <a:rPr lang="ja-JP" altLang="en-US" dirty="0"/>
              <a:t>”</a:t>
            </a:r>
            <a:r>
              <a:rPr lang="en-US" altLang="ja-JP" dirty="0"/>
              <a:t> or superclass </a:t>
            </a:r>
            <a:r>
              <a:rPr lang="ja-JP" altLang="en-US" dirty="0"/>
              <a:t>“</a:t>
            </a:r>
            <a:r>
              <a:rPr lang="en-US" altLang="ja-JP" dirty="0"/>
              <a:t>Employee</a:t>
            </a:r>
            <a:r>
              <a:rPr lang="ja-JP" altLang="en-US" dirty="0"/>
              <a:t>”</a:t>
            </a:r>
            <a:r>
              <a:rPr lang="en-US" altLang="ja-JP" dirty="0"/>
              <a:t> and use the processes and properties defined for Employee. Subclasses can use properties of their superclass and also add their own properties. If a subclass </a:t>
            </a:r>
            <a:r>
              <a:rPr lang="ja-JP" altLang="en-US" dirty="0"/>
              <a:t>“</a:t>
            </a:r>
            <a:r>
              <a:rPr lang="en-US" altLang="ja-JP" dirty="0"/>
              <a:t>Intern</a:t>
            </a:r>
            <a:r>
              <a:rPr lang="ja-JP" altLang="en-US" dirty="0"/>
              <a:t>”</a:t>
            </a:r>
            <a:r>
              <a:rPr lang="en-US" altLang="ja-JP" dirty="0"/>
              <a:t> was added to this chart, what unique properties might it have?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converging flow diagram explains how classes inherit the common features of their superclass. </a:t>
            </a:r>
          </a:p>
          <a:p>
            <a:pPr marL="0" marR="0">
              <a:lnSpc>
                <a:spcPct val="115000"/>
              </a:lnSpc>
              <a:spcBef>
                <a:spcPts val="0"/>
              </a:spcBef>
              <a:spcAft>
                <a:spcPts val="0"/>
              </a:spcAft>
            </a:pPr>
            <a:endParaRPr lang="en-US" sz="12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details of the super class are as follows: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Employee: ID, name, address, date hired, position, and pay.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endParaRPr lang="en-US" sz="12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details of the classes are as follows:</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Salaried: Annual salary bonus; Calculate bonus.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Hourly: Hourly rate and overtime rate; Calculate overtime.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Temporary: Daily rate and YTD hours; Determine permanent eligibility. </a:t>
            </a:r>
            <a:endParaRPr lang="en-US" sz="1200" dirty="0">
              <a:effectLst/>
              <a:latin typeface="+mn-lt"/>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16704867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continues the discussion of object-oriented development, highlighting unique considerations during the systems development process. Ask students to perform some rudimentary systems analysis and design for an information system that managed inventory for a department store. What classes might be created? What properties would they have? What subclasses would there be for one of these classes and what properties would they inherit?</a:t>
            </a:r>
          </a:p>
          <a:p>
            <a:pPr eaLnBrk="1" hangingPunct="1"/>
            <a:endParaRPr lang="en-US" altLang="en-US" dirty="0"/>
          </a:p>
          <a:p>
            <a:pPr eaLnBrk="1" hangingPunct="1"/>
            <a:r>
              <a:rPr lang="en-US" altLang="en-US" dirty="0"/>
              <a:t>It is important to emphasize that object-oriented development can reduce the time and cost of development through reusing objects and classes from one application for other applications.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the traditional systems life cycle method of building systems. Ask students what the effects of unanticipated user requirements are when using this type of building method. What is the role of end users in this method? What happens when users change their minds halfway through the project? Can the systems analysis be started over?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13.9,</a:t>
            </a:r>
            <a:r>
              <a:rPr lang="en-US" altLang="en-US" baseline="0" dirty="0"/>
              <a:t> Page 507.</a:t>
            </a:r>
          </a:p>
          <a:p>
            <a:r>
              <a:rPr lang="en-US" sz="1200" b="0" i="1" u="none" strike="noStrike" kern="1200" cap="none" baseline="0" dirty="0">
                <a:solidFill>
                  <a:schemeClr val="tx1"/>
                </a:solidFill>
                <a:latin typeface="+mn-lt"/>
                <a:ea typeface="Arial"/>
                <a:cs typeface="Arial"/>
                <a:sym typeface="Arial"/>
              </a:rPr>
              <a:t>The systems development life cycle partitions systems development into formal stages, with each stage requiring completion before the next stage can begin.</a:t>
            </a:r>
          </a:p>
          <a:p>
            <a:endParaRPr lang="en-US" sz="1200" b="0" i="0" u="none" strike="noStrike" kern="1200" cap="none" baseline="0" dirty="0">
              <a:solidFill>
                <a:schemeClr val="tx1"/>
              </a:solidFill>
              <a:latin typeface="+mn-lt"/>
              <a:cs typeface="Arial"/>
              <a:sym typeface="Arial"/>
            </a:endParaRPr>
          </a:p>
          <a:p>
            <a:pPr marL="0" marR="0">
              <a:lnSpc>
                <a:spcPct val="115000"/>
              </a:lnSpc>
              <a:spcBef>
                <a:spcPts val="0"/>
              </a:spcBef>
              <a:spcAft>
                <a:spcPts val="0"/>
              </a:spcAft>
            </a:pPr>
            <a:r>
              <a:rPr lang="en-US" sz="1200" b="0" i="0" u="sng" strike="noStrike" kern="1200" cap="none" baseline="0" dirty="0">
                <a:solidFill>
                  <a:schemeClr val="tx1"/>
                </a:solidFill>
                <a:latin typeface="+mn-lt"/>
                <a:cs typeface="Arial"/>
                <a:sym typeface="Arial"/>
              </a:rPr>
              <a:t>Alt Text</a:t>
            </a:r>
          </a:p>
          <a:p>
            <a:pPr marL="0" marR="0">
              <a:lnSpc>
                <a:spcPct val="115000"/>
              </a:lnSpc>
              <a:spcBef>
                <a:spcPts val="0"/>
              </a:spcBef>
              <a:spcAft>
                <a:spcPts val="0"/>
              </a:spcAft>
            </a:pPr>
            <a:r>
              <a:rPr lang="en-US" sz="1200" b="0" i="0" u="none" strike="noStrike" kern="1200" cap="none" baseline="0" dirty="0">
                <a:solidFill>
                  <a:schemeClr val="tx1"/>
                </a:solidFill>
                <a:latin typeface="+mn-lt"/>
                <a:cs typeface="Arial"/>
                <a:sym typeface="Arial"/>
              </a:rPr>
              <a:t>Long description: A step diagram explains the various stages of a traditional systems life cycle.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below:</a:t>
            </a:r>
            <a:endParaRPr lang="en-US" sz="1200"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Systems analysis</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System design</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Programming</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Testing</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Conversion</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Production and maintenance.</a:t>
            </a:r>
            <a:endParaRPr lang="en-US" sz="1200" dirty="0">
              <a:effectLst/>
              <a:latin typeface="+mn-lt"/>
              <a:ea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22182808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discusses the prototyping method of systems building. Prototyping is an explicitly iterative process. The term iterative has been used several times; ask students to describe what this means (steps to build the system can be repeated over and over). What are the benefits of an iterative process?</a:t>
            </a:r>
          </a:p>
          <a:p>
            <a:pPr eaLnBrk="1" hangingPunct="1"/>
            <a:endParaRPr lang="en-US" altLang="en-US" dirty="0"/>
          </a:p>
          <a:p>
            <a:pPr eaLnBrk="1" hangingPunct="1"/>
            <a:r>
              <a:rPr lang="en-US" altLang="en-US" dirty="0"/>
              <a:t>Note that once no more iterations are needed, the prototype becomes the finished specifications for the final application, or may serve as the production version of the application.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13.10,</a:t>
            </a:r>
            <a:r>
              <a:rPr lang="en-US" altLang="en-US" baseline="0" dirty="0"/>
              <a:t> Page 509.</a:t>
            </a:r>
          </a:p>
          <a:p>
            <a:r>
              <a:rPr lang="en-US" sz="1200" b="0" i="1" u="none" strike="noStrike" kern="1200" cap="none" baseline="0" dirty="0">
                <a:solidFill>
                  <a:schemeClr val="tx1"/>
                </a:solidFill>
                <a:latin typeface="+mn-lt"/>
                <a:ea typeface="Arial"/>
                <a:cs typeface="Arial"/>
                <a:sym typeface="Arial"/>
              </a:rPr>
              <a:t>The process of developing a prototype can be broken down into four steps. Because a prototype can be developed quickly and inexpensively, systems builders can go through several iterations, repeating steps 3 and 4, to refine and enhance the prototype before arriving at the final operational one.</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four steps (rectangles) of prototyping. The steps that are repeated are steps 3) use the prototype and 4) revise and enhance the prototype. Would this type of system development be appropriate for developing a large, enterprise management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flowchart explains the steps involved in the process of developing a prototype.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below: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1: Identify basic requirements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2: Develop a working prototype</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3: Use the prototype. If the user is satisfied it becomes an operational prototype.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4: If the user is not satisfied after the use of the prototype, revise and enhance the prototype and go back to step 3. </a:t>
            </a:r>
            <a:endParaRPr lang="en-US" sz="1200" dirty="0">
              <a:effectLst/>
              <a:latin typeface="+mn-lt"/>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6867761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continues the discussion of prototyping, listing the advantages and disadvantages to using this method of building systems.</a:t>
            </a:r>
          </a:p>
          <a:p>
            <a:pPr eaLnBrk="1" hangingPunct="1"/>
            <a:endParaRPr lang="en-US" altLang="en-US" dirty="0"/>
          </a:p>
          <a:p>
            <a:pPr eaLnBrk="1" hangingPunct="1"/>
            <a:r>
              <a:rPr lang="en-US" altLang="en-US" dirty="0"/>
              <a:t>Ask students to explain these advantages and disadvantages. For example, why is prototyping useful if there is uncertainty in requirements? What kinds of essential steps might be glossed over?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another alternative in systems building, the use of application software packages and cloud software services. It is important to note that many functions are common to all business organizations—payroll, accounts receivable, or inventory control. Software packages or cloud software services may fulfill the need for many organizations for these types of functions. However, it is still important to perform systems analysis in order to determine your organization</a:t>
            </a:r>
            <a:r>
              <a:rPr lang="en-US" altLang="ja-JP" dirty="0"/>
              <a:t>’s requirements for a system. Step through and explain (or have students explain) the evaluation criteria. For example, you would want to outline the functions you need from the software and determine whether the software or service provides that.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outsourcing, yet another alternative in systems building. SaaS and cloud computing were introduced in Chapter 5. Have students describe these types of outsourcing in their own words.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continues the discussion of outsourcing. It is important to emphasize the amount of work involved in partnering and sharing work with a vendor. It may take anywhere from three months to a year to fully transfer work to a vendor. What other types of hidden costs can students identify?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648200"/>
          </a:xfrm>
        </p:spPr>
        <p:txBody>
          <a:bodyPr>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400" dirty="0"/>
              <a:t>Figure 13.11,</a:t>
            </a:r>
            <a:r>
              <a:rPr lang="en-US" altLang="en-US" sz="1400" baseline="0" dirty="0"/>
              <a:t> Page 511.</a:t>
            </a:r>
          </a:p>
          <a:p>
            <a:r>
              <a:rPr lang="en-US" sz="1400" b="0" i="1" u="none" strike="noStrike" kern="1200" cap="none" baseline="0" dirty="0">
                <a:solidFill>
                  <a:schemeClr val="tx1"/>
                </a:solidFill>
                <a:latin typeface="+mn-lt"/>
                <a:ea typeface="Arial"/>
                <a:cs typeface="Arial"/>
                <a:sym typeface="Arial"/>
              </a:rPr>
              <a:t>If a firm spends $10 million on offshore outsourcing contracts, that company will actually spend 15.2 percent in extra costs even under the best-case scenario. In the worst-case scenario, where there is a dramatic drop in productivity along with exceptionally high transition and layoff costs, a firm can expect to pay up to 57 percent in extra costs on top of the $10 million outlay for an offshore contract.</a:t>
            </a:r>
          </a:p>
          <a:p>
            <a:endParaRPr lang="en-US" altLang="en-US" sz="14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400" dirty="0"/>
              <a:t>This graphic looks at the best- and worst-case scenarios regarding hidden costs in outsourcing. The best-case column shows the lowest estimates for additional costs, and the worst case reflects the highest estimates for these costs. In the Additional Cost column at the lower right, you can see that hidden costs increase the total cost of an offshore outsourcing project by an extra 15 to 57 percent. However, it is important to note that even with these extra hidden costs, many firms will benefit from offshore outsourcing if they manage the work well.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u="sng" dirty="0">
                <a:latin typeface="+mn-lt"/>
              </a:rPr>
              <a:t>Alt Text</a:t>
            </a:r>
          </a:p>
          <a:p>
            <a:pPr marL="0" marR="0">
              <a:lnSpc>
                <a:spcPct val="115000"/>
              </a:lnSpc>
              <a:spcBef>
                <a:spcPts val="0"/>
              </a:spcBef>
              <a:spcAft>
                <a:spcPts val="0"/>
              </a:spcAft>
            </a:pPr>
            <a:r>
              <a:rPr lang="en-US" dirty="0">
                <a:latin typeface="+mn-lt"/>
              </a:rPr>
              <a:t>Long</a:t>
            </a:r>
            <a:r>
              <a:rPr lang="en-US" baseline="0" dirty="0">
                <a:latin typeface="+mn-lt"/>
              </a:rPr>
              <a:t> description: A table summarizes the total cost of offshore outsourcing. </a:t>
            </a:r>
            <a:r>
              <a:rPr lang="en-US" dirty="0">
                <a:solidFill>
                  <a:srgbClr val="000000"/>
                </a:solidFill>
                <a:effectLst/>
                <a:latin typeface="+mn-lt"/>
                <a:ea typeface="Times New Roman" panose="02020603050405020304" pitchFamily="18" charset="0"/>
                <a:cs typeface="Calibri" panose="020F0502020204030204" pitchFamily="34" charset="0"/>
              </a:rPr>
              <a:t>Cost of outsourcing contract: $10,000,000. </a:t>
            </a:r>
            <a:endParaRPr lang="en-US"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dirty="0">
                <a:solidFill>
                  <a:srgbClr val="000000"/>
                </a:solidFill>
                <a:effectLst/>
                <a:latin typeface="+mn-lt"/>
                <a:ea typeface="Times New Roman" panose="02020603050405020304" pitchFamily="18" charset="0"/>
                <a:cs typeface="Calibri" panose="020F0502020204030204" pitchFamily="34" charset="0"/>
              </a:rPr>
              <a:t>The details of various hidden costs and their corresponding best-case percentage, additional cost, worst case percentage, and additional cost are given below:</a:t>
            </a:r>
            <a:endParaRPr lang="en-US"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Vendor selection: Best case: .02%; Additional cost: $20,000; Worst case: 2%; Additional cost: $200,000.</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Transition costs: Best case: 2%; Additional cost: $200,000; Worst case: 3%; Additional cost: $300,000.</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Layoffs and retention: Best case: 3%; Additional cost: $300,000; Worst case: 5%; Additional cost: $500,000.</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Lost productivity and cultural issues: Best case: 3%; Additional cost: $300,000; Worst case: 27%; Additional cost: $2,700,000.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Improving development processes: Best case: 1%; Additional cost: $100,000; Worst case: 10%; Additional cost: $1,100,000.</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Managing the contract: Best case: 6%; Additional cost: $600,000; Worst case: 10%; Additional cost: $1,100,000.</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Total additional costs: Best case: NA; Additional cost: $1,520,000; Worst case: NA; Additional cost: $5,700,000.</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Total cost of outsourcing best case: Outstanding contract, $10,000,000; Additional cost: $1,520,000; Total cost: 11,520,000; Additional cost: 15.2%.</a:t>
            </a:r>
          </a:p>
          <a:p>
            <a:pPr marL="171450" marR="0" lvl="0" indent="-171450">
              <a:lnSpc>
                <a:spcPct val="115000"/>
              </a:lnSpc>
              <a:spcBef>
                <a:spcPts val="0"/>
              </a:spcBef>
              <a:spcAft>
                <a:spcPts val="0"/>
              </a:spcAft>
              <a:buFont typeface="Arial" panose="020B0604020202020204" pitchFamily="34" charset="0"/>
              <a:buChar char="•"/>
            </a:pPr>
            <a:r>
              <a:rPr lang="en-US" dirty="0">
                <a:solidFill>
                  <a:srgbClr val="000000"/>
                </a:solidFill>
                <a:effectLst/>
                <a:latin typeface="+mn-lt"/>
                <a:ea typeface="Times New Roman" panose="02020603050405020304" pitchFamily="18" charset="0"/>
              </a:rPr>
              <a:t>Total cost of outsourcing worst case: Outstanding contract, $10,000,000; Additional cost: $15,700,000; Total cost: 11,520,000; Additional cost: 57.0%.</a:t>
            </a:r>
            <a:endParaRPr lang="en-US"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8680438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and the following two slides discuss application development methods that emphasize providing fast solutions needed in an increasingly digital world. What elements in RAD are similar to building methods already discussed and used in other forms of application development, such as prototyping?</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The slide continues the discussion of application development methods that emphasize providing fast solutions needed in an increasingly digital world.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35640194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The fastest growing business platform is the mobile tablet and smartphone platform. Rebuilding old applications for delivery on the new platform is an expensive challenge for many businesses. All the large enterprise software firms (Oracle, IBM, and SAP) have adapted their legacy software to the mobile platform (for the most part). All new application development is aimed as multiplatform delivery on the desktop, tablet, and smartphone.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good opportunity for a class discussion of the</a:t>
            </a:r>
            <a:r>
              <a:rPr lang="en-US" baseline="0" dirty="0"/>
              <a:t> section on careers. Would any in the class be interested in a job like this? What do they think are the most important skills the employer is looking for? How would they answer the interviewer questions?</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1"/>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B882DF7A-25C9-4C0E-9403-063111FA140B}" type="datetime1">
              <a:rPr lang="en-US" smtClean="0"/>
              <a:t>12/16/2021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688622" cy="209973"/>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6"/>
            <a:ext cx="918000" cy="209936"/>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738F7DF7-AB3C-47B9-A75A-BB60B6363382}"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1"/>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0A9BAF80-A637-4D46-9F1B-88671BA4F110}"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810284"/>
            <a:ext cx="8595360" cy="248411"/>
          </a:xfrm>
        </p:spPr>
        <p:txBody>
          <a:bodyPr/>
          <a:lstStyle/>
          <a:p>
            <a:r>
              <a:rPr lang="en-US"/>
              <a:t>Copyright © 2022, 2020, 2018 Pearson Education, Ltd. All Rights Reserved</a:t>
            </a:r>
            <a:endParaRPr lang="en-US" dirty="0"/>
          </a:p>
        </p:txBody>
      </p:sp>
      <p:sp>
        <p:nvSpPr>
          <p:cNvPr id="9" name="Date Placeholder 3"/>
          <p:cNvSpPr>
            <a:spLocks noGrp="1"/>
          </p:cNvSpPr>
          <p:nvPr>
            <p:ph type="dt" sz="half" idx="10"/>
          </p:nvPr>
        </p:nvSpPr>
        <p:spPr>
          <a:xfrm>
            <a:off x="6335713" y="84804"/>
            <a:ext cx="2133600" cy="137160"/>
          </a:xfrm>
        </p:spPr>
        <p:txBody>
          <a:bodyPr/>
          <a:lstStyle/>
          <a:p>
            <a:fld id="{D70DEAB4-A4C0-47F4-B18E-B3BC32EE554D}" type="datetime1">
              <a:rPr lang="en-US" smtClean="0"/>
              <a:t>12/16/2021</a:t>
            </a:fld>
            <a:endParaRPr lang="en-US" dirty="0"/>
          </a:p>
        </p:txBody>
      </p:sp>
      <p:sp>
        <p:nvSpPr>
          <p:cNvPr id="10" name="Slide Number Placeholder 5"/>
          <p:cNvSpPr>
            <a:spLocks noGrp="1"/>
          </p:cNvSpPr>
          <p:nvPr>
            <p:ph type="sldNum" sz="quarter" idx="12"/>
          </p:nvPr>
        </p:nvSpPr>
        <p:spPr>
          <a:xfrm>
            <a:off x="8469313"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810285"/>
            <a:ext cx="8595360" cy="333215"/>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45B6865B-4B60-4672-92E3-4920439D8D75}" type="datetime1">
              <a:rPr lang="en-US" smtClean="0"/>
              <a:t>12/16/2021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89A00362-5A7F-4CD0-8B81-A05764CDF418}" type="datetime1">
              <a:rPr lang="en-US" smtClean="0"/>
              <a:t>12/16/2021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6"/>
            <a:ext cx="918000" cy="209936"/>
          </a:xfrm>
          <a:prstGeom prst="rect">
            <a:avLst/>
          </a:prstGeom>
        </p:spPr>
      </p:pic>
      <p:sp>
        <p:nvSpPr>
          <p:cNvPr id="9" name="TextBox 8"/>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921536"/>
            <a:ext cx="8595360" cy="137160"/>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74EFBF3C-6CED-40D8-A47D-0D9140D0F6FE}" type="datetime1">
              <a:rPr lang="en-US" smtClean="0"/>
              <a:t>12/16/2021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93969" y="4781550"/>
            <a:ext cx="8595360" cy="277146"/>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9BB2B987-12F6-46C5-825B-F11360D80DDB}"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1"/>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8"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ADB52631-08B5-4A18-93B5-8DFF02A367AB}" type="datetime1">
              <a:rPr lang="en-US" smtClean="0"/>
              <a:t>12/16/2021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857750"/>
            <a:ext cx="8595360" cy="200946"/>
          </a:xfrm>
        </p:spPr>
        <p:txBody>
          <a:bodyPr/>
          <a:lstStyle/>
          <a:p>
            <a:r>
              <a:rPr lang="en-US"/>
              <a:t>Copyright © 2022, 2020, 2018 Pearson Education, Ltd. All Rights Reserved</a:t>
            </a:r>
            <a:endParaRPr lang="en-US" dirty="0"/>
          </a:p>
        </p:txBody>
      </p:sp>
      <p:sp>
        <p:nvSpPr>
          <p:cNvPr id="3" name="Date Placeholder 2"/>
          <p:cNvSpPr>
            <a:spLocks noGrp="1"/>
          </p:cNvSpPr>
          <p:nvPr>
            <p:ph type="dt" sz="half" idx="10"/>
          </p:nvPr>
        </p:nvSpPr>
        <p:spPr/>
        <p:txBody>
          <a:bodyPr/>
          <a:lstStyle/>
          <a:p>
            <a:fld id="{B991FD85-BC53-417D-BE10-CD12ADD1E8A7}"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1BE651A0-3573-4F15-87CE-8A37571C816C}" type="datetime1">
              <a:rPr lang="en-US" smtClean="0"/>
              <a:t>12/16/2021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6"/>
            <a:ext cx="918000" cy="209936"/>
          </a:xfrm>
          <a:prstGeom prst="rect">
            <a:avLst/>
          </a:prstGeom>
        </p:spPr>
      </p:pic>
      <p:sp>
        <p:nvSpPr>
          <p:cNvPr id="11" name="TextBox 10"/>
          <p:cNvSpPr txBox="1"/>
          <p:nvPr userDrawn="1"/>
        </p:nvSpPr>
        <p:spPr>
          <a:xfrm>
            <a:off x="95799" y="4828541"/>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3"/>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0155EF8B-5ACD-4648-B3E5-CC1276F17D25}"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688622" cy="209973"/>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29"/>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0" y="4629150"/>
            <a:ext cx="8595359" cy="5143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a:t>Copyright © 2022, 2020, 2018 Pearson Education, Ltd. All Rights Reserved</a:t>
            </a:r>
            <a:endParaRPr dirty="0"/>
          </a:p>
        </p:txBody>
      </p:sp>
      <p:sp>
        <p:nvSpPr>
          <p:cNvPr id="35" name="Shape 35"/>
          <p:cNvSpPr txBox="1">
            <a:spLocks noGrp="1"/>
          </p:cNvSpPr>
          <p:nvPr>
            <p:ph type="dt" idx="10"/>
          </p:nvPr>
        </p:nvSpPr>
        <p:spPr>
          <a:xfrm>
            <a:off x="6335713" y="84804"/>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7943BF55-FFC2-4AB2-BD00-97B562ADA261}" type="datetime1">
              <a:rPr lang="en-US" smtClean="0"/>
              <a:t>12/16/2021</a:t>
            </a:fld>
            <a:endParaRPr dirty="0"/>
          </a:p>
        </p:txBody>
      </p:sp>
      <p:sp>
        <p:nvSpPr>
          <p:cNvPr id="36" name="Shape 36"/>
          <p:cNvSpPr txBox="1">
            <a:spLocks noGrp="1"/>
          </p:cNvSpPr>
          <p:nvPr>
            <p:ph type="sldNum" idx="12"/>
          </p:nvPr>
        </p:nvSpPr>
        <p:spPr>
          <a:xfrm>
            <a:off x="8469312" y="84804"/>
            <a:ext cx="551783" cy="137159"/>
          </a:xfrm>
          <a:prstGeom prst="rect">
            <a:avLst/>
          </a:prstGeom>
          <a:noFill/>
          <a:ln>
            <a:noFill/>
          </a:ln>
        </p:spPr>
        <p:txBody>
          <a:bodyPr lIns="91425" tIns="45700" rIns="91425" bIns="45700" anchor="ctr" anchorCtr="0">
            <a:noAutofit/>
          </a:bodyPr>
          <a:lstStyle/>
          <a:p>
            <a:pPr>
              <a:buSzPct val="25000"/>
            </a:pPr>
            <a:fld id="{00000000-1234-1234-1234-123412341234}" type="slidenum">
              <a:rPr lang="en-US" smtClean="0">
                <a:solidFill>
                  <a:schemeClr val="lt1"/>
                </a:solidFill>
                <a:ea typeface="Arial"/>
                <a:cs typeface="Arial"/>
                <a:sym typeface="Arial"/>
              </a:rPr>
              <a:pPr>
                <a:buSzPct val="25000"/>
              </a:pPr>
              <a:t>‹#›</a:t>
            </a:fld>
            <a:endParaRPr lang="en-US" dirty="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4"/>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1"/>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15B698AF-4B05-4857-AB3D-A516AD9321E8}" type="datetime1">
              <a:rPr lang="en-US" smtClean="0"/>
              <a:t>12/16/2021</a:t>
            </a:fld>
            <a:endParaRPr lang="en-US" dirty="0"/>
          </a:p>
        </p:txBody>
      </p:sp>
      <p:sp>
        <p:nvSpPr>
          <p:cNvPr id="6" name="Slide Number Placeholder 5"/>
          <p:cNvSpPr>
            <a:spLocks noGrp="1"/>
          </p:cNvSpPr>
          <p:nvPr>
            <p:ph type="sldNum" sz="quarter" idx="4"/>
          </p:nvPr>
        </p:nvSpPr>
        <p:spPr>
          <a:xfrm>
            <a:off x="8469313"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1"/>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Inc.</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4825796"/>
            <a:ext cx="688622" cy="209973"/>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 id="2147483664" r:id="rId14"/>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u-pSk9lln50"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hyperlink" Target="http://www.youtube.com/watch?v=3KJjKY8k9Lk"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14.xml"/><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5062"/>
            <a:ext cx="8229600" cy="1107996"/>
          </a:xfrm>
        </p:spPr>
        <p:txBody>
          <a:bodyPr wrap="square" anchor="b">
            <a:spAutoFit/>
          </a:bodyPr>
          <a:lstStyle/>
          <a:p>
            <a:r>
              <a:rPr lang="en-IN" dirty="0"/>
              <a:t>Management Information Systems: Managing the Digital Firm</a:t>
            </a:r>
          </a:p>
        </p:txBody>
      </p:sp>
      <p:sp>
        <p:nvSpPr>
          <p:cNvPr id="3" name="Text Placeholder 2"/>
          <p:cNvSpPr>
            <a:spLocks noGrp="1"/>
          </p:cNvSpPr>
          <p:nvPr>
            <p:ph type="body" sz="quarter" idx="13"/>
          </p:nvPr>
        </p:nvSpPr>
        <p:spPr>
          <a:xfrm>
            <a:off x="457200" y="1273373"/>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5" y="1935229"/>
            <a:ext cx="4117765" cy="492443"/>
          </a:xfrm>
        </p:spPr>
        <p:txBody>
          <a:bodyPr wrap="square">
            <a:spAutoFit/>
          </a:bodyPr>
          <a:lstStyle/>
          <a:p>
            <a:r>
              <a:rPr lang="en-IN" sz="3200" dirty="0"/>
              <a:t>Chapter 13</a:t>
            </a:r>
          </a:p>
        </p:txBody>
      </p:sp>
      <p:sp>
        <p:nvSpPr>
          <p:cNvPr id="5" name="Text Placeholder 4"/>
          <p:cNvSpPr>
            <a:spLocks noGrp="1"/>
          </p:cNvSpPr>
          <p:nvPr>
            <p:ph type="body" sz="quarter" idx="15"/>
          </p:nvPr>
        </p:nvSpPr>
        <p:spPr>
          <a:xfrm>
            <a:off x="4569035" y="2571751"/>
            <a:ext cx="4117765" cy="307777"/>
          </a:xfrm>
        </p:spPr>
        <p:txBody>
          <a:bodyPr wrap="square">
            <a:spAutoFit/>
          </a:bodyPr>
          <a:lstStyle/>
          <a:p>
            <a:r>
              <a:rPr lang="en-US" sz="2000" dirty="0"/>
              <a:t>Building Information Systems</a:t>
            </a:r>
          </a:p>
        </p:txBody>
      </p:sp>
      <p:sp>
        <p:nvSpPr>
          <p:cNvPr id="11" name="Text Placeholder 3"/>
          <p:cNvSpPr>
            <a:spLocks noGrp="1"/>
          </p:cNvSpPr>
          <p:nvPr>
            <p:ph type="body" sz="quarter" idx="14"/>
          </p:nvPr>
        </p:nvSpPr>
        <p:spPr>
          <a:xfrm>
            <a:off x="2309414" y="4842760"/>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id="{B656026F-5906-4B8E-A425-64EEA0F7464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65656" y="1578274"/>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6780"/>
            <a:ext cx="8229600" cy="553998"/>
          </a:xfrm>
        </p:spPr>
        <p:txBody>
          <a:bodyPr>
            <a:spAutoFit/>
          </a:bodyPr>
          <a:lstStyle/>
          <a:p>
            <a:r>
              <a:rPr lang="en-US" altLang="en-US" dirty="0"/>
              <a:t>Learning Objectives</a:t>
            </a:r>
            <a:endParaRPr lang="en-US" dirty="0"/>
          </a:p>
        </p:txBody>
      </p:sp>
      <p:sp>
        <p:nvSpPr>
          <p:cNvPr id="5" name="Content Placeholder 4"/>
          <p:cNvSpPr>
            <a:spLocks noGrp="1"/>
          </p:cNvSpPr>
          <p:nvPr>
            <p:ph idx="1"/>
          </p:nvPr>
        </p:nvSpPr>
        <p:spPr>
          <a:xfrm>
            <a:off x="457200" y="994626"/>
            <a:ext cx="8229600" cy="3116238"/>
          </a:xfrm>
        </p:spPr>
        <p:txBody>
          <a:bodyPr vert="horz" lIns="0" tIns="0" rIns="0" bIns="0" rtlCol="0" anchor="t">
            <a:spAutoFit/>
          </a:bodyPr>
          <a:lstStyle/>
          <a:p>
            <a:pPr marL="628650" indent="-628650">
              <a:buNone/>
              <a:tabLst>
                <a:tab pos="682625" algn="l"/>
              </a:tabLst>
            </a:pPr>
            <a:r>
              <a:rPr lang="en-US" altLang="en-US" sz="2000" b="1" dirty="0">
                <a:solidFill>
                  <a:schemeClr val="bg2"/>
                </a:solidFill>
              </a:rPr>
              <a:t>13.1</a:t>
            </a:r>
            <a:r>
              <a:rPr lang="en-US" altLang="en-US" sz="2000" b="1" dirty="0"/>
              <a:t> </a:t>
            </a:r>
            <a:r>
              <a:rPr lang="en-US" sz="2000" dirty="0"/>
              <a:t>How does building new systems produce organizational change?</a:t>
            </a:r>
            <a:endParaRPr lang="en-IN" altLang="en-US" sz="2000" dirty="0"/>
          </a:p>
          <a:p>
            <a:pPr marL="628650" indent="-628650" defTabSz="534988">
              <a:buNone/>
              <a:tabLst>
                <a:tab pos="673100" algn="l"/>
              </a:tabLst>
            </a:pPr>
            <a:r>
              <a:rPr lang="en-US" altLang="en-US" sz="2000" b="1" dirty="0">
                <a:solidFill>
                  <a:schemeClr val="bg2"/>
                </a:solidFill>
              </a:rPr>
              <a:t>13.2</a:t>
            </a:r>
            <a:r>
              <a:rPr lang="en-US" altLang="en-US" sz="2000" b="1" dirty="0"/>
              <a:t> </a:t>
            </a:r>
            <a:r>
              <a:rPr lang="en-US" sz="2000" dirty="0"/>
              <a:t>What are the core activities in the systems development process?</a:t>
            </a:r>
            <a:endParaRPr lang="en-IN" altLang="en-US" sz="2000" dirty="0"/>
          </a:p>
          <a:p>
            <a:pPr marL="628650" indent="-628650" defTabSz="534988">
              <a:buNone/>
              <a:tabLst>
                <a:tab pos="673100" algn="l"/>
              </a:tabLst>
            </a:pPr>
            <a:r>
              <a:rPr lang="en-US" altLang="en-US" sz="2000" b="1" dirty="0">
                <a:solidFill>
                  <a:schemeClr val="bg2"/>
                </a:solidFill>
              </a:rPr>
              <a:t>13.3</a:t>
            </a:r>
            <a:r>
              <a:rPr lang="en-US" altLang="en-US" sz="2000" b="1" dirty="0"/>
              <a:t> </a:t>
            </a:r>
            <a:r>
              <a:rPr lang="en-US" sz="2000" dirty="0"/>
              <a:t>What are the principal methodologies for modeling and designing systems?</a:t>
            </a:r>
            <a:endParaRPr lang="en-IN" altLang="en-US" sz="2000" dirty="0"/>
          </a:p>
          <a:p>
            <a:pPr marL="628650" indent="-628650" defTabSz="534988">
              <a:buNone/>
              <a:tabLst>
                <a:tab pos="661988" algn="l"/>
              </a:tabLst>
            </a:pPr>
            <a:r>
              <a:rPr lang="en-US" altLang="en-US" sz="2000" b="1" dirty="0">
                <a:solidFill>
                  <a:schemeClr val="bg2"/>
                </a:solidFill>
              </a:rPr>
              <a:t>13.4</a:t>
            </a:r>
            <a:r>
              <a:rPr lang="en-US" altLang="en-US" sz="2000" dirty="0">
                <a:cs typeface="Arial"/>
              </a:rPr>
              <a:t> </a:t>
            </a:r>
            <a:r>
              <a:rPr lang="en-US" sz="2000" dirty="0"/>
              <a:t>What are alternative methods for building information systems?</a:t>
            </a:r>
          </a:p>
          <a:p>
            <a:pPr marL="628650" indent="-628650" defTabSz="534988">
              <a:buNone/>
              <a:tabLst>
                <a:tab pos="661988" algn="l"/>
              </a:tabLst>
            </a:pPr>
            <a:r>
              <a:rPr lang="en-US" altLang="en-US" sz="2000" b="1" dirty="0">
                <a:solidFill>
                  <a:schemeClr val="bg2"/>
                </a:solidFill>
              </a:rPr>
              <a:t>13.5</a:t>
            </a:r>
            <a:r>
              <a:rPr lang="en-US" altLang="en-US" sz="2000" dirty="0">
                <a:cs typeface="Arial"/>
              </a:rPr>
              <a:t> </a:t>
            </a:r>
            <a:r>
              <a:rPr lang="en-US" sz="2000" dirty="0"/>
              <a:t>What are new approaches for system building in the digital firm era?</a:t>
            </a:r>
            <a:endParaRPr lang="en-IN" sz="2000" dirty="0"/>
          </a:p>
          <a:p>
            <a:pPr marL="0" indent="0">
              <a:buNone/>
            </a:pPr>
            <a:r>
              <a:rPr lang="en-US" altLang="en-US" sz="2000" b="1" dirty="0">
                <a:solidFill>
                  <a:schemeClr val="bg2"/>
                </a:solidFill>
              </a:rPr>
              <a:t>13.6</a:t>
            </a:r>
            <a:r>
              <a:rPr lang="en-US" altLang="en-US" sz="2000" dirty="0">
                <a:cs typeface="Arial"/>
              </a:rPr>
              <a:t> </a:t>
            </a:r>
            <a:r>
              <a:rPr lang="en-IN" sz="2000" dirty="0"/>
              <a:t>How will </a:t>
            </a:r>
            <a:r>
              <a:rPr lang="en-IN" sz="2000" spc="-300" dirty="0"/>
              <a:t>M I </a:t>
            </a:r>
            <a:r>
              <a:rPr lang="en-IN" sz="2000" dirty="0"/>
              <a:t>S help my career?</a:t>
            </a:r>
          </a:p>
        </p:txBody>
      </p:sp>
      <p:sp>
        <p:nvSpPr>
          <p:cNvPr id="2" name="Footer Placeholder 1">
            <a:extLst>
              <a:ext uri="{FF2B5EF4-FFF2-40B4-BE49-F238E27FC236}">
                <a16:creationId xmlns:a16="http://schemas.microsoft.com/office/drawing/2014/main" id="{84AC688A-8833-4013-9060-79D17C760FD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1666"/>
            <a:ext cx="8229600" cy="553998"/>
          </a:xfrm>
        </p:spPr>
        <p:txBody>
          <a:bodyPr>
            <a:spAutoFit/>
          </a:bodyPr>
          <a:lstStyle/>
          <a:p>
            <a:r>
              <a:rPr lang="en-IN" altLang="en-US" dirty="0"/>
              <a:t>Video Cases</a:t>
            </a:r>
            <a:endParaRPr lang="en-US" sz="2800" dirty="0"/>
          </a:p>
        </p:txBody>
      </p:sp>
      <p:sp>
        <p:nvSpPr>
          <p:cNvPr id="5" name="Content Placeholder 4"/>
          <p:cNvSpPr>
            <a:spLocks noGrp="1"/>
          </p:cNvSpPr>
          <p:nvPr>
            <p:ph idx="1"/>
          </p:nvPr>
        </p:nvSpPr>
        <p:spPr>
          <a:xfrm>
            <a:off x="457200" y="963574"/>
            <a:ext cx="8229600" cy="3162404"/>
          </a:xfrm>
        </p:spPr>
        <p:txBody>
          <a:bodyPr>
            <a:spAutoFit/>
          </a:bodyPr>
          <a:lstStyle/>
          <a:p>
            <a:r>
              <a:rPr lang="en-IN" dirty="0"/>
              <a:t>Case 1: </a:t>
            </a:r>
            <a:r>
              <a:rPr lang="en-IN" spc="-300" dirty="0"/>
              <a:t>I B </a:t>
            </a:r>
            <a:r>
              <a:rPr lang="en-IN" dirty="0"/>
              <a:t>M: Business Process Management in a </a:t>
            </a:r>
            <a:r>
              <a:rPr lang="en-IN" spc="-300" dirty="0"/>
              <a:t>S a </a:t>
            </a:r>
            <a:r>
              <a:rPr lang="en-IN" spc="-300" dirty="0" err="1"/>
              <a:t>a</a:t>
            </a:r>
            <a:r>
              <a:rPr lang="en-IN" spc="-300" dirty="0"/>
              <a:t> </a:t>
            </a:r>
            <a:r>
              <a:rPr lang="en-IN" dirty="0"/>
              <a:t>S Environment</a:t>
            </a:r>
          </a:p>
          <a:p>
            <a:r>
              <a:rPr lang="en-IN" dirty="0"/>
              <a:t>Case 2: </a:t>
            </a:r>
            <a:r>
              <a:rPr lang="en-IN" spc="-300" dirty="0"/>
              <a:t>I B </a:t>
            </a:r>
            <a:r>
              <a:rPr lang="en-IN" dirty="0"/>
              <a:t>M Helps the City of Madrid with Real-Time </a:t>
            </a:r>
            <a:r>
              <a:rPr lang="en-IN" spc="-300" dirty="0"/>
              <a:t>B P </a:t>
            </a:r>
            <a:r>
              <a:rPr lang="en-IN" dirty="0"/>
              <a:t>M Software</a:t>
            </a:r>
          </a:p>
          <a:p>
            <a:r>
              <a:rPr lang="en-IN" dirty="0">
                <a:hlinkClick r:id="rId3"/>
              </a:rPr>
              <a:t>Instructional Video 1: </a:t>
            </a:r>
            <a:r>
              <a:rPr lang="en-IN" spc="-300" dirty="0">
                <a:hlinkClick r:id="rId3"/>
              </a:rPr>
              <a:t>B P </a:t>
            </a:r>
            <a:r>
              <a:rPr lang="en-IN" dirty="0">
                <a:hlinkClick r:id="rId3"/>
              </a:rPr>
              <a:t>M Business Process Management Customer Story</a:t>
            </a:r>
            <a:endParaRPr lang="en-IN" dirty="0"/>
          </a:p>
          <a:p>
            <a:r>
              <a:rPr lang="en-IN" dirty="0">
                <a:hlinkClick r:id="rId4"/>
              </a:rPr>
              <a:t>Instructional Video 2: Workflow Management Visualized</a:t>
            </a:r>
            <a:endParaRPr lang="en-IN" dirty="0"/>
          </a:p>
        </p:txBody>
      </p:sp>
      <p:sp>
        <p:nvSpPr>
          <p:cNvPr id="2" name="Footer Placeholder 1">
            <a:extLst>
              <a:ext uri="{FF2B5EF4-FFF2-40B4-BE49-F238E27FC236}">
                <a16:creationId xmlns:a16="http://schemas.microsoft.com/office/drawing/2014/main" id="{B6B0250C-048D-4B43-B26B-990E46A9234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3576"/>
            <a:ext cx="8229600" cy="861774"/>
          </a:xfrm>
        </p:spPr>
        <p:txBody>
          <a:bodyPr>
            <a:spAutoFit/>
          </a:bodyPr>
          <a:lstStyle/>
          <a:p>
            <a:r>
              <a:rPr lang="en-IN" altLang="en-US" sz="2800" dirty="0"/>
              <a:t>Vinci Energies Builds a New Mobile Employee Time Sheet App </a:t>
            </a:r>
            <a:r>
              <a:rPr lang="en-IN" altLang="en-US" sz="2400" dirty="0"/>
              <a:t>(1 of 2)</a:t>
            </a:r>
            <a:endParaRPr lang="en-US" sz="2400" dirty="0"/>
          </a:p>
        </p:txBody>
      </p:sp>
      <p:sp>
        <p:nvSpPr>
          <p:cNvPr id="5" name="Content Placeholder 4"/>
          <p:cNvSpPr>
            <a:spLocks noGrp="1"/>
          </p:cNvSpPr>
          <p:nvPr>
            <p:ph idx="1"/>
          </p:nvPr>
        </p:nvSpPr>
        <p:spPr>
          <a:xfrm>
            <a:off x="457200" y="895350"/>
            <a:ext cx="8229600" cy="3931846"/>
          </a:xfrm>
        </p:spPr>
        <p:txBody>
          <a:bodyPr>
            <a:spAutoFit/>
          </a:bodyPr>
          <a:lstStyle/>
          <a:p>
            <a:r>
              <a:rPr lang="en-IN" altLang="en-US" sz="1800" dirty="0"/>
              <a:t>Problem</a:t>
            </a:r>
          </a:p>
          <a:p>
            <a:pPr lvl="1"/>
            <a:r>
              <a:rPr lang="en-IN" altLang="en-US" sz="1800" dirty="0"/>
              <a:t>Inefficient manual processes</a:t>
            </a:r>
          </a:p>
          <a:p>
            <a:pPr lvl="1"/>
            <a:r>
              <a:rPr lang="en-IN" altLang="en-US" sz="1800" dirty="0"/>
              <a:t>Geographically dispersed organization </a:t>
            </a:r>
          </a:p>
          <a:p>
            <a:pPr lvl="1"/>
            <a:r>
              <a:rPr lang="en-IN" altLang="en-US" sz="1800" dirty="0"/>
              <a:t>Project-based business</a:t>
            </a:r>
          </a:p>
          <a:p>
            <a:pPr lvl="1"/>
            <a:r>
              <a:rPr lang="en-IN" altLang="en-US" sz="1800" dirty="0"/>
              <a:t>Rapid growth</a:t>
            </a:r>
          </a:p>
          <a:p>
            <a:r>
              <a:rPr lang="en-IN" altLang="en-US" sz="1800" dirty="0"/>
              <a:t>Solutions</a:t>
            </a:r>
          </a:p>
          <a:p>
            <a:pPr lvl="1"/>
            <a:r>
              <a:rPr lang="en-IN" altLang="en-US" sz="1800" dirty="0"/>
              <a:t>Select system solution</a:t>
            </a:r>
          </a:p>
          <a:p>
            <a:pPr lvl="1"/>
            <a:r>
              <a:rPr lang="en-IN" altLang="en-US" sz="1800" dirty="0"/>
              <a:t>Monitor project</a:t>
            </a:r>
          </a:p>
          <a:p>
            <a:pPr lvl="1"/>
            <a:r>
              <a:rPr lang="en-IN" altLang="en-US" sz="1800" dirty="0"/>
              <a:t>Redesign timesheet reporting process</a:t>
            </a:r>
          </a:p>
          <a:p>
            <a:pPr lvl="1"/>
            <a:r>
              <a:rPr lang="en-IN" altLang="en-US" sz="1800" dirty="0"/>
              <a:t>SAP S/4 Hana; SAP Cloud Platform</a:t>
            </a:r>
          </a:p>
          <a:p>
            <a:pPr lvl="1"/>
            <a:r>
              <a:rPr lang="en-IN" altLang="en-US" sz="1800" dirty="0"/>
              <a:t>Mobile phones, tablets</a:t>
            </a:r>
          </a:p>
        </p:txBody>
      </p:sp>
      <p:sp>
        <p:nvSpPr>
          <p:cNvPr id="2" name="Footer Placeholder 1">
            <a:extLst>
              <a:ext uri="{FF2B5EF4-FFF2-40B4-BE49-F238E27FC236}">
                <a16:creationId xmlns:a16="http://schemas.microsoft.com/office/drawing/2014/main" id="{D472266E-FCC1-455B-8440-0930F3FF354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1246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2176"/>
            <a:ext cx="8229600" cy="861774"/>
          </a:xfrm>
        </p:spPr>
        <p:txBody>
          <a:bodyPr>
            <a:spAutoFit/>
          </a:bodyPr>
          <a:lstStyle/>
          <a:p>
            <a:r>
              <a:rPr lang="en-IN" altLang="en-US" sz="2800" dirty="0"/>
              <a:t>Vinci Energies Builds a New Mobile Employee Time Sheet App </a:t>
            </a:r>
            <a:r>
              <a:rPr lang="en-IN" altLang="en-US" sz="2400" dirty="0"/>
              <a:t>(2 of 2)</a:t>
            </a:r>
            <a:endParaRPr lang="en-US" sz="2400" dirty="0"/>
          </a:p>
        </p:txBody>
      </p:sp>
      <p:sp>
        <p:nvSpPr>
          <p:cNvPr id="5" name="Content Placeholder 4"/>
          <p:cNvSpPr>
            <a:spLocks noGrp="1"/>
          </p:cNvSpPr>
          <p:nvPr>
            <p:ph idx="1"/>
          </p:nvPr>
        </p:nvSpPr>
        <p:spPr>
          <a:xfrm>
            <a:off x="457200" y="1368755"/>
            <a:ext cx="8229600" cy="2077492"/>
          </a:xfrm>
        </p:spPr>
        <p:txBody>
          <a:bodyPr>
            <a:spAutoFit/>
          </a:bodyPr>
          <a:lstStyle/>
          <a:p>
            <a:r>
              <a:rPr lang="en-IN" altLang="en-US" sz="2200" dirty="0"/>
              <a:t>New MOBTIME app</a:t>
            </a:r>
          </a:p>
          <a:p>
            <a:r>
              <a:rPr lang="en-IN" altLang="en-US" sz="2200" dirty="0"/>
              <a:t>Demonstrates steps needed to design and build new information systems </a:t>
            </a:r>
          </a:p>
          <a:p>
            <a:r>
              <a:rPr lang="en-IN" altLang="en-US" sz="2200" dirty="0"/>
              <a:t>Illustrates redesigning business processes as a part of system building</a:t>
            </a:r>
          </a:p>
        </p:txBody>
      </p:sp>
      <p:sp>
        <p:nvSpPr>
          <p:cNvPr id="2" name="Footer Placeholder 1">
            <a:extLst>
              <a:ext uri="{FF2B5EF4-FFF2-40B4-BE49-F238E27FC236}">
                <a16:creationId xmlns:a16="http://schemas.microsoft.com/office/drawing/2014/main" id="{801EA0F3-CA09-4E40-A63D-3870A2C2424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360752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9821"/>
            <a:ext cx="8229600" cy="1046440"/>
          </a:xfrm>
        </p:spPr>
        <p:txBody>
          <a:bodyPr>
            <a:spAutoFit/>
          </a:bodyPr>
          <a:lstStyle/>
          <a:p>
            <a:r>
              <a:rPr lang="en-IN" altLang="en-US" sz="3400" dirty="0"/>
              <a:t>Systems Development and Organizational Change </a:t>
            </a:r>
            <a:r>
              <a:rPr lang="en-IN" altLang="en-US" sz="2600" dirty="0"/>
              <a:t>(1 of 2)</a:t>
            </a:r>
            <a:endParaRPr lang="en-US" sz="2600" dirty="0"/>
          </a:p>
        </p:txBody>
      </p:sp>
      <p:sp>
        <p:nvSpPr>
          <p:cNvPr id="5" name="Content Placeholder 4"/>
          <p:cNvSpPr>
            <a:spLocks noGrp="1"/>
          </p:cNvSpPr>
          <p:nvPr>
            <p:ph idx="1"/>
          </p:nvPr>
        </p:nvSpPr>
        <p:spPr>
          <a:xfrm>
            <a:off x="457200" y="1289774"/>
            <a:ext cx="8229600" cy="3339376"/>
          </a:xfrm>
        </p:spPr>
        <p:txBody>
          <a:bodyPr>
            <a:spAutoFit/>
          </a:bodyPr>
          <a:lstStyle/>
          <a:p>
            <a:r>
              <a:rPr lang="en-IN" altLang="en-US" sz="1800" spc="-300" dirty="0"/>
              <a:t>I </a:t>
            </a:r>
            <a:r>
              <a:rPr lang="en-IN" altLang="en-US" sz="1800" dirty="0"/>
              <a:t>T-enabled organizational change</a:t>
            </a:r>
          </a:p>
          <a:p>
            <a:r>
              <a:rPr lang="en-IN" altLang="en-US" sz="1800" dirty="0"/>
              <a:t>Automation</a:t>
            </a:r>
          </a:p>
          <a:p>
            <a:pPr lvl="1"/>
            <a:r>
              <a:rPr lang="en-IN" altLang="en-US" sz="1800" dirty="0"/>
              <a:t>Increases efficiency</a:t>
            </a:r>
          </a:p>
          <a:p>
            <a:pPr lvl="1"/>
            <a:r>
              <a:rPr lang="en-IN" altLang="en-US" sz="1800" dirty="0"/>
              <a:t>Replaces manual tasks</a:t>
            </a:r>
          </a:p>
          <a:p>
            <a:r>
              <a:rPr lang="en-IN" altLang="en-US" sz="1800" dirty="0"/>
              <a:t>Rationalization of procedures</a:t>
            </a:r>
          </a:p>
          <a:p>
            <a:pPr lvl="1"/>
            <a:r>
              <a:rPr lang="en-IN" altLang="en-US" sz="1800" dirty="0"/>
              <a:t>Streamlines standard operating procedures</a:t>
            </a:r>
          </a:p>
          <a:p>
            <a:pPr lvl="1"/>
            <a:r>
              <a:rPr lang="en-IN" altLang="en-US" sz="1800" dirty="0"/>
              <a:t>Often found in programs for making continuous quality improvements</a:t>
            </a:r>
          </a:p>
          <a:p>
            <a:pPr lvl="2"/>
            <a:r>
              <a:rPr lang="en-IN" altLang="en-US" sz="1800" dirty="0"/>
              <a:t>Total quality management (</a:t>
            </a:r>
            <a:r>
              <a:rPr lang="en-IN" altLang="en-US" sz="1800" spc="-300" dirty="0"/>
              <a:t>T Q </a:t>
            </a:r>
            <a:r>
              <a:rPr lang="en-IN" altLang="en-US" sz="1800" dirty="0"/>
              <a:t>M)</a:t>
            </a:r>
          </a:p>
          <a:p>
            <a:pPr lvl="2"/>
            <a:r>
              <a:rPr lang="en-IN" altLang="en-US" sz="1800" dirty="0"/>
              <a:t>Six Sigma</a:t>
            </a:r>
          </a:p>
        </p:txBody>
      </p:sp>
      <p:sp>
        <p:nvSpPr>
          <p:cNvPr id="2" name="Footer Placeholder 1">
            <a:extLst>
              <a:ext uri="{FF2B5EF4-FFF2-40B4-BE49-F238E27FC236}">
                <a16:creationId xmlns:a16="http://schemas.microsoft.com/office/drawing/2014/main" id="{28BC352C-3779-4BF5-B8CF-08B084608FC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188323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9953"/>
            <a:ext cx="8229600" cy="1046440"/>
          </a:xfrm>
        </p:spPr>
        <p:txBody>
          <a:bodyPr>
            <a:spAutoFit/>
          </a:bodyPr>
          <a:lstStyle/>
          <a:p>
            <a:r>
              <a:rPr lang="en-IN" altLang="en-US" sz="3400" dirty="0"/>
              <a:t>Systems Development and Organizational Change </a:t>
            </a:r>
            <a:r>
              <a:rPr lang="en-IN" altLang="en-US" sz="2600" dirty="0"/>
              <a:t>(2 of 2)</a:t>
            </a:r>
            <a:endParaRPr lang="en-US" sz="2600" dirty="0"/>
          </a:p>
        </p:txBody>
      </p:sp>
      <p:sp>
        <p:nvSpPr>
          <p:cNvPr id="5" name="Content Placeholder 4"/>
          <p:cNvSpPr>
            <a:spLocks noGrp="1"/>
          </p:cNvSpPr>
          <p:nvPr>
            <p:ph idx="1"/>
          </p:nvPr>
        </p:nvSpPr>
        <p:spPr>
          <a:xfrm>
            <a:off x="457200" y="1379347"/>
            <a:ext cx="8229600" cy="2731517"/>
          </a:xfrm>
        </p:spPr>
        <p:txBody>
          <a:bodyPr>
            <a:spAutoFit/>
          </a:bodyPr>
          <a:lstStyle/>
          <a:p>
            <a:r>
              <a:rPr lang="en-IN" altLang="en-US" sz="2000" dirty="0"/>
              <a:t>Business process redesign</a:t>
            </a:r>
          </a:p>
          <a:p>
            <a:pPr lvl="1"/>
            <a:r>
              <a:rPr lang="en-IN" altLang="en-US" sz="2000" dirty="0" err="1"/>
              <a:t>Analyze</a:t>
            </a:r>
            <a:r>
              <a:rPr lang="en-IN" altLang="en-US" sz="2000" dirty="0"/>
              <a:t>, simplify, and redesign business processes</a:t>
            </a:r>
          </a:p>
          <a:p>
            <a:pPr lvl="1"/>
            <a:r>
              <a:rPr lang="en-IN" altLang="en-US" sz="2000" dirty="0"/>
              <a:t>Reorganize workflow, combine steps, eliminate repetition</a:t>
            </a:r>
          </a:p>
          <a:p>
            <a:r>
              <a:rPr lang="en-IN" altLang="en-US" sz="2000" dirty="0"/>
              <a:t>Paradigm shifts</a:t>
            </a:r>
          </a:p>
          <a:p>
            <a:pPr lvl="1"/>
            <a:r>
              <a:rPr lang="en-IN" altLang="en-US" sz="2000" dirty="0"/>
              <a:t>Rethink nature of business</a:t>
            </a:r>
          </a:p>
          <a:p>
            <a:pPr lvl="1"/>
            <a:r>
              <a:rPr lang="en-IN" altLang="en-US" sz="2000" dirty="0"/>
              <a:t>Define new business model</a:t>
            </a:r>
          </a:p>
          <a:p>
            <a:pPr lvl="1"/>
            <a:r>
              <a:rPr lang="en-IN" altLang="en-US" sz="2000" dirty="0"/>
              <a:t>Change nature of organization</a:t>
            </a:r>
          </a:p>
        </p:txBody>
      </p:sp>
      <p:sp>
        <p:nvSpPr>
          <p:cNvPr id="2" name="Footer Placeholder 1">
            <a:extLst>
              <a:ext uri="{FF2B5EF4-FFF2-40B4-BE49-F238E27FC236}">
                <a16:creationId xmlns:a16="http://schemas.microsoft.com/office/drawing/2014/main" id="{76D38909-5916-4DF3-A27E-B0CB49B2751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350083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8207"/>
            <a:ext cx="8229600" cy="984885"/>
          </a:xfrm>
        </p:spPr>
        <p:txBody>
          <a:bodyPr>
            <a:spAutoFit/>
          </a:bodyPr>
          <a:lstStyle/>
          <a:p>
            <a:r>
              <a:rPr lang="en-IN" altLang="en-US" sz="3200" dirty="0"/>
              <a:t>Figure 13.1 Organizational Change Carries Risks and Rewards</a:t>
            </a:r>
            <a:endParaRPr lang="en-US" sz="3200" dirty="0"/>
          </a:p>
        </p:txBody>
      </p:sp>
      <p:pic>
        <p:nvPicPr>
          <p:cNvPr id="5" name="Picture 4" descr="A graph plots four kinds of structural organizational changes enabled by information technology. For a full description, see Notes. Press F6.">
            <a:extLst>
              <a:ext uri="{FF2B5EF4-FFF2-40B4-BE49-F238E27FC236}">
                <a16:creationId xmlns:a16="http://schemas.microsoft.com/office/drawing/2014/main" id="{D71EDF33-67C8-40F3-B90A-7E0E32CBD4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0" y="1276350"/>
            <a:ext cx="3662315" cy="3404016"/>
          </a:xfrm>
          <a:prstGeom prst="rect">
            <a:avLst/>
          </a:prstGeom>
        </p:spPr>
      </p:pic>
      <p:sp>
        <p:nvSpPr>
          <p:cNvPr id="2" name="Footer Placeholder 1">
            <a:extLst>
              <a:ext uri="{FF2B5EF4-FFF2-40B4-BE49-F238E27FC236}">
                <a16:creationId xmlns:a16="http://schemas.microsoft.com/office/drawing/2014/main" id="{B04BC313-559F-43DC-BFAC-2F33E69A212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40302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85286"/>
            <a:ext cx="8229600" cy="738664"/>
          </a:xfrm>
        </p:spPr>
        <p:txBody>
          <a:bodyPr>
            <a:spAutoFit/>
          </a:bodyPr>
          <a:lstStyle/>
          <a:p>
            <a:r>
              <a:rPr lang="en-US" altLang="en-US" sz="2400" dirty="0"/>
              <a:t>Interactive Session: Organizations: Business Process Redesign at DP World</a:t>
            </a:r>
            <a:endParaRPr lang="en-US" sz="2400" dirty="0"/>
          </a:p>
        </p:txBody>
      </p:sp>
      <p:sp>
        <p:nvSpPr>
          <p:cNvPr id="5" name="Content Placeholder 4"/>
          <p:cNvSpPr>
            <a:spLocks noGrp="1"/>
          </p:cNvSpPr>
          <p:nvPr>
            <p:ph idx="1"/>
          </p:nvPr>
        </p:nvSpPr>
        <p:spPr>
          <a:xfrm>
            <a:off x="457200" y="1276350"/>
            <a:ext cx="8229600" cy="2600712"/>
          </a:xfrm>
        </p:spPr>
        <p:txBody>
          <a:bodyPr>
            <a:spAutoFit/>
          </a:bodyPr>
          <a:lstStyle/>
          <a:p>
            <a:r>
              <a:rPr lang="en-IN" altLang="en-US" sz="2200" dirty="0"/>
              <a:t>Class discussion</a:t>
            </a:r>
          </a:p>
          <a:p>
            <a:pPr marL="740664" marR="0" lvl="1" indent="-283464" algn="l" defTabSz="914400" rtl="0" eaLnBrk="1" fontAlgn="auto" latinLnBrk="0" hangingPunct="1">
              <a:lnSpc>
                <a:spcPct val="100000"/>
              </a:lnSpc>
              <a:spcBef>
                <a:spcPts val="600"/>
              </a:spcBef>
              <a:spcAft>
                <a:spcPts val="0"/>
              </a:spcAft>
              <a:buClr>
                <a:srgbClr val="007FA3"/>
              </a:buClr>
              <a:buSzTx/>
              <a:buFont typeface="Arial" panose="020B0604020202020204" pitchFamily="34" charset="0"/>
              <a:buChar char="–"/>
              <a:tabLst/>
              <a:defRPr/>
            </a:pPr>
            <a:r>
              <a:rPr kumimoji="0" lang="en-IN" altLang="en-US" b="0" i="0" u="none" strike="noStrike" kern="1200" cap="none" spc="0" normalizeH="0" baseline="0" noProof="0" dirty="0">
                <a:ln>
                  <a:noFill/>
                </a:ln>
                <a:solidFill>
                  <a:prstClr val="black"/>
                </a:solidFill>
                <a:effectLst/>
                <a:uLnTx/>
                <a:uFillTx/>
                <a:latin typeface="Arial"/>
                <a:ea typeface="+mn-ea"/>
                <a:cs typeface="+mn-cs"/>
              </a:rPr>
              <a:t>How did </a:t>
            </a:r>
            <a:r>
              <a:rPr kumimoji="0" lang="en-US" b="0" i="0" u="none" strike="noStrike" kern="1200" cap="none" spc="0" normalizeH="0" baseline="0" noProof="0" dirty="0">
                <a:ln>
                  <a:noFill/>
                </a:ln>
                <a:solidFill>
                  <a:prstClr val="black"/>
                </a:solidFill>
                <a:effectLst/>
                <a:uLnTx/>
                <a:uFillTx/>
                <a:latin typeface="Arial"/>
                <a:ea typeface="+mn-ea"/>
                <a:cs typeface="+mn-cs"/>
              </a:rPr>
              <a:t>DP World</a:t>
            </a:r>
            <a:r>
              <a:rPr kumimoji="0" lang="en-IN" altLang="en-US" b="0" i="0" u="none" strike="noStrike" kern="1200" cap="none" spc="0" normalizeH="0" baseline="0" noProof="0" dirty="0">
                <a:ln>
                  <a:noFill/>
                </a:ln>
                <a:solidFill>
                  <a:prstClr val="black"/>
                </a:solidFill>
                <a:effectLst/>
                <a:uLnTx/>
                <a:uFillTx/>
                <a:latin typeface="Arial"/>
                <a:ea typeface="+mn-ea"/>
                <a:cs typeface="+mn-cs"/>
              </a:rPr>
              <a:t>’s previous processes affect its operations?</a:t>
            </a:r>
          </a:p>
          <a:p>
            <a:pPr marL="740664" marR="0" lvl="1" indent="-283464" algn="l" defTabSz="914400" rtl="0" eaLnBrk="1" fontAlgn="auto" latinLnBrk="0" hangingPunct="1">
              <a:lnSpc>
                <a:spcPct val="100000"/>
              </a:lnSpc>
              <a:spcBef>
                <a:spcPts val="600"/>
              </a:spcBef>
              <a:spcAft>
                <a:spcPts val="0"/>
              </a:spcAft>
              <a:buClr>
                <a:srgbClr val="007FA3"/>
              </a:buClr>
              <a:buSzTx/>
              <a:buFont typeface="Arial" panose="020B0604020202020204" pitchFamily="34" charset="0"/>
              <a:buChar char="–"/>
              <a:tabLst/>
              <a:defRPr/>
            </a:pPr>
            <a:r>
              <a:rPr kumimoji="0" lang="en-IN" altLang="en-US" b="0" i="0" u="none" strike="noStrike" kern="1200" cap="none" spc="0" normalizeH="0" baseline="0" noProof="0" dirty="0">
                <a:ln>
                  <a:noFill/>
                </a:ln>
                <a:solidFill>
                  <a:prstClr val="black"/>
                </a:solidFill>
                <a:effectLst/>
                <a:uLnTx/>
                <a:uFillTx/>
                <a:latin typeface="Arial"/>
                <a:ea typeface="+mn-ea"/>
                <a:cs typeface="+mn-cs"/>
              </a:rPr>
              <a:t>Describe the role of AI and IoT in </a:t>
            </a:r>
            <a:r>
              <a:rPr kumimoji="0" lang="en-US" b="0" i="0" u="none" strike="noStrike" kern="1200" cap="none" spc="0" normalizeH="0" baseline="0" noProof="0" dirty="0">
                <a:ln>
                  <a:noFill/>
                </a:ln>
                <a:solidFill>
                  <a:prstClr val="black"/>
                </a:solidFill>
                <a:effectLst/>
                <a:uLnTx/>
                <a:uFillTx/>
                <a:latin typeface="Arial"/>
                <a:ea typeface="+mn-ea"/>
                <a:cs typeface="+mn-cs"/>
              </a:rPr>
              <a:t>improving how DP World handles cargo</a:t>
            </a:r>
            <a:r>
              <a:rPr kumimoji="0" lang="en-IN" altLang="en-US" b="0" i="0" u="none" strike="noStrike" kern="1200" cap="none" spc="0" normalizeH="0" baseline="0" noProof="0" dirty="0">
                <a:ln>
                  <a:noFill/>
                </a:ln>
                <a:solidFill>
                  <a:prstClr val="black"/>
                </a:solidFill>
                <a:effectLst/>
                <a:uLnTx/>
                <a:uFillTx/>
                <a:latin typeface="Arial"/>
                <a:ea typeface="+mn-ea"/>
                <a:cs typeface="+mn-cs"/>
              </a:rPr>
              <a:t>.</a:t>
            </a:r>
          </a:p>
          <a:p>
            <a:pPr marL="740664" marR="0" lvl="1" indent="-283464" algn="l" defTabSz="914400" rtl="0" eaLnBrk="1" fontAlgn="auto" latinLnBrk="0" hangingPunct="1">
              <a:lnSpc>
                <a:spcPct val="100000"/>
              </a:lnSpc>
              <a:spcBef>
                <a:spcPts val="600"/>
              </a:spcBef>
              <a:spcAft>
                <a:spcPts val="0"/>
              </a:spcAft>
              <a:buClr>
                <a:srgbClr val="007FA3"/>
              </a:buClr>
              <a:buSzTx/>
              <a:buFont typeface="Arial" panose="020B0604020202020204" pitchFamily="34" charset="0"/>
              <a:buChar char="–"/>
              <a:tabLst/>
              <a:defRPr/>
            </a:pPr>
            <a:r>
              <a:rPr kumimoji="0" lang="en-IN" altLang="en-US" b="0" i="0" u="none" strike="noStrike" kern="1200" cap="none" spc="0" normalizeH="0" baseline="0" noProof="0" dirty="0">
                <a:ln>
                  <a:noFill/>
                </a:ln>
                <a:solidFill>
                  <a:prstClr val="black"/>
                </a:solidFill>
                <a:effectLst/>
                <a:uLnTx/>
                <a:uFillTx/>
                <a:latin typeface="Arial"/>
                <a:ea typeface="+mn-ea"/>
                <a:cs typeface="+mn-cs"/>
              </a:rPr>
              <a:t>How would business process redesign enable digitized </a:t>
            </a:r>
            <a:r>
              <a:rPr kumimoji="0" lang="en-US" b="0" i="0" u="none" strike="noStrike" kern="1200" cap="none" spc="0" normalizeH="0" baseline="0" noProof="0" dirty="0">
                <a:ln>
                  <a:noFill/>
                </a:ln>
                <a:solidFill>
                  <a:prstClr val="black"/>
                </a:solidFill>
                <a:effectLst/>
                <a:uLnTx/>
                <a:uFillTx/>
                <a:latin typeface="Arial"/>
                <a:ea typeface="+mn-ea"/>
                <a:cs typeface="+mn-cs"/>
              </a:rPr>
              <a:t>global trade?</a:t>
            </a:r>
            <a:endParaRPr lang="en-IN" altLang="en-US" dirty="0"/>
          </a:p>
        </p:txBody>
      </p:sp>
      <p:sp>
        <p:nvSpPr>
          <p:cNvPr id="2" name="Footer Placeholder 1">
            <a:extLst>
              <a:ext uri="{FF2B5EF4-FFF2-40B4-BE49-F238E27FC236}">
                <a16:creationId xmlns:a16="http://schemas.microsoft.com/office/drawing/2014/main" id="{26A5C9AC-5E7E-49B2-A8D5-135E76BB7ED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49767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82444"/>
            <a:ext cx="8229600" cy="523220"/>
          </a:xfrm>
        </p:spPr>
        <p:txBody>
          <a:bodyPr>
            <a:spAutoFit/>
          </a:bodyPr>
          <a:lstStyle/>
          <a:p>
            <a:r>
              <a:rPr lang="en-IN" altLang="en-US" sz="3400" dirty="0"/>
              <a:t>Business Process Redesign</a:t>
            </a:r>
            <a:endParaRPr lang="en-US" sz="3400" dirty="0"/>
          </a:p>
        </p:txBody>
      </p:sp>
      <p:sp>
        <p:nvSpPr>
          <p:cNvPr id="5" name="Content Placeholder 4"/>
          <p:cNvSpPr>
            <a:spLocks noGrp="1"/>
          </p:cNvSpPr>
          <p:nvPr>
            <p:ph idx="1"/>
          </p:nvPr>
        </p:nvSpPr>
        <p:spPr>
          <a:xfrm>
            <a:off x="457200" y="750507"/>
            <a:ext cx="8229600" cy="1885131"/>
          </a:xfrm>
        </p:spPr>
        <p:txBody>
          <a:bodyPr anchor="ctr">
            <a:spAutoFit/>
          </a:bodyPr>
          <a:lstStyle/>
          <a:p>
            <a:pPr>
              <a:defRPr/>
            </a:pPr>
            <a:r>
              <a:rPr lang="en-IN" sz="2000" dirty="0">
                <a:cs typeface="ＭＳ Ｐゴシック" charset="0"/>
              </a:rPr>
              <a:t>Business process management (</a:t>
            </a:r>
            <a:r>
              <a:rPr lang="en-IN" sz="2000" spc="-300" dirty="0">
                <a:cs typeface="ＭＳ Ｐゴシック" charset="0"/>
              </a:rPr>
              <a:t>B P </a:t>
            </a:r>
            <a:r>
              <a:rPr lang="en-IN" sz="2000" dirty="0">
                <a:cs typeface="ＭＳ Ｐゴシック" charset="0"/>
              </a:rPr>
              <a:t>M)</a:t>
            </a:r>
          </a:p>
          <a:p>
            <a:pPr lvl="1">
              <a:defRPr/>
            </a:pPr>
            <a:r>
              <a:rPr lang="en-IN" sz="2000" dirty="0">
                <a:cs typeface="ＭＳ Ｐゴシック" charset="0"/>
              </a:rPr>
              <a:t>Variety of tools, methodologies to </a:t>
            </a:r>
            <a:r>
              <a:rPr lang="en-IN" sz="2000" dirty="0" err="1">
                <a:cs typeface="ＭＳ Ｐゴシック" charset="0"/>
              </a:rPr>
              <a:t>analyze</a:t>
            </a:r>
            <a:r>
              <a:rPr lang="en-IN" sz="2000" dirty="0">
                <a:cs typeface="ＭＳ Ｐゴシック" charset="0"/>
              </a:rPr>
              <a:t>, design, optimize processes</a:t>
            </a:r>
          </a:p>
          <a:p>
            <a:pPr lvl="1">
              <a:defRPr/>
            </a:pPr>
            <a:r>
              <a:rPr lang="en-IN" sz="2000" dirty="0">
                <a:cs typeface="ＭＳ Ｐゴシック" charset="0"/>
              </a:rPr>
              <a:t>Used by firms to manage business process redesign</a:t>
            </a:r>
          </a:p>
          <a:p>
            <a:pPr>
              <a:defRPr/>
            </a:pPr>
            <a:r>
              <a:rPr lang="en-IN" sz="2000" dirty="0">
                <a:cs typeface="ＭＳ Ｐゴシック" charset="0"/>
              </a:rPr>
              <a:t>Steps in </a:t>
            </a:r>
            <a:r>
              <a:rPr lang="en-IN" sz="2000" spc="-300" dirty="0">
                <a:cs typeface="ＭＳ Ｐゴシック" charset="0"/>
              </a:rPr>
              <a:t>B P M</a:t>
            </a:r>
          </a:p>
        </p:txBody>
      </p:sp>
      <p:sp>
        <p:nvSpPr>
          <p:cNvPr id="2" name="Content Placeholder 1"/>
          <p:cNvSpPr>
            <a:spLocks noGrp="1"/>
          </p:cNvSpPr>
          <p:nvPr>
            <p:ph idx="13"/>
          </p:nvPr>
        </p:nvSpPr>
        <p:spPr>
          <a:xfrm>
            <a:off x="457200" y="2652128"/>
            <a:ext cx="8229600" cy="2163763"/>
          </a:xfrm>
        </p:spPr>
        <p:txBody>
          <a:bodyPr anchor="ctr"/>
          <a:lstStyle/>
          <a:p>
            <a:pPr marL="944118" lvl="1" indent="-457200">
              <a:buFont typeface="+mj-lt"/>
              <a:buAutoNum type="arabicPeriod"/>
            </a:pPr>
            <a:r>
              <a:rPr lang="en-IN" sz="2000" dirty="0"/>
              <a:t>Identify processes for change</a:t>
            </a:r>
          </a:p>
          <a:p>
            <a:pPr marL="944118" lvl="1" indent="-457200">
              <a:buFont typeface="+mj-lt"/>
              <a:buAutoNum type="arabicPeriod"/>
            </a:pPr>
            <a:r>
              <a:rPr lang="en-IN" sz="2000" dirty="0" err="1"/>
              <a:t>Analyze</a:t>
            </a:r>
            <a:r>
              <a:rPr lang="en-IN" sz="2000" dirty="0"/>
              <a:t> existing processes</a:t>
            </a:r>
          </a:p>
          <a:p>
            <a:pPr marL="944118" lvl="1" indent="-457200">
              <a:buFont typeface="+mj-lt"/>
              <a:buAutoNum type="arabicPeriod"/>
            </a:pPr>
            <a:r>
              <a:rPr lang="en-IN" sz="2000" dirty="0"/>
              <a:t>Design the new process</a:t>
            </a:r>
          </a:p>
          <a:p>
            <a:pPr marL="944118" lvl="1" indent="-457200">
              <a:buFont typeface="+mj-lt"/>
              <a:buAutoNum type="arabicPeriod"/>
            </a:pPr>
            <a:r>
              <a:rPr lang="en-IN" sz="2000" dirty="0"/>
              <a:t>Implement the new process</a:t>
            </a:r>
          </a:p>
          <a:p>
            <a:pPr marL="944118" lvl="1" indent="-457200">
              <a:buFont typeface="+mj-lt"/>
              <a:buAutoNum type="arabicPeriod"/>
            </a:pPr>
            <a:r>
              <a:rPr lang="en-IN" sz="2000" dirty="0"/>
              <a:t>Continuous measurement</a:t>
            </a:r>
          </a:p>
        </p:txBody>
      </p:sp>
      <p:sp>
        <p:nvSpPr>
          <p:cNvPr id="3" name="Footer Placeholder 2">
            <a:extLst>
              <a:ext uri="{FF2B5EF4-FFF2-40B4-BE49-F238E27FC236}">
                <a16:creationId xmlns:a16="http://schemas.microsoft.com/office/drawing/2014/main" id="{D4AE58B3-B65E-4F40-B6A9-D31345E8CC8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706364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0"/>
            <a:ext cx="8229600" cy="1384995"/>
          </a:xfrm>
        </p:spPr>
        <p:txBody>
          <a:bodyPr>
            <a:spAutoFit/>
          </a:bodyPr>
          <a:lstStyle/>
          <a:p>
            <a:r>
              <a:rPr lang="en-IN" altLang="en-US" sz="3000" dirty="0"/>
              <a:t>Figure 13.2 As-is Business Process for Purchasing a Book from a Physical Bookstore</a:t>
            </a:r>
            <a:endParaRPr lang="en-US" sz="3000" dirty="0"/>
          </a:p>
        </p:txBody>
      </p:sp>
      <p:pic>
        <p:nvPicPr>
          <p:cNvPr id="2050" name="Picture 2" descr="A flow chart explains the steps involved in purchasing a book from a physical bookstore.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58587" y="1657350"/>
            <a:ext cx="5426827" cy="290577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982111F0-8C00-47AB-9C21-2EF14F4CA50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96783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8837"/>
            <a:ext cx="8229600" cy="984885"/>
          </a:xfrm>
        </p:spPr>
        <p:txBody>
          <a:bodyPr>
            <a:spAutoFit/>
          </a:bodyPr>
          <a:lstStyle/>
          <a:p>
            <a:r>
              <a:rPr lang="en-US" sz="3200" dirty="0"/>
              <a:t>Figure 13.3 Redesigned Process for Purchasing a Book Online</a:t>
            </a:r>
          </a:p>
        </p:txBody>
      </p:sp>
      <p:pic>
        <p:nvPicPr>
          <p:cNvPr id="3074" name="Picture 2" descr="A flow chart explains the steps involved in purchasing a book online.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05225" y="1833196"/>
            <a:ext cx="7333550" cy="211015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B1102908-BFAB-423D-9578-F445EC03AE1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88463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5793"/>
            <a:ext cx="8229600" cy="492443"/>
          </a:xfrm>
        </p:spPr>
        <p:txBody>
          <a:bodyPr>
            <a:spAutoFit/>
          </a:bodyPr>
          <a:lstStyle/>
          <a:p>
            <a:r>
              <a:rPr lang="en-US" sz="3200" dirty="0"/>
              <a:t>Tools for Business Process Management</a:t>
            </a:r>
          </a:p>
        </p:txBody>
      </p:sp>
      <p:sp>
        <p:nvSpPr>
          <p:cNvPr id="5" name="Content Placeholder 4"/>
          <p:cNvSpPr>
            <a:spLocks noGrp="1"/>
          </p:cNvSpPr>
          <p:nvPr>
            <p:ph idx="1"/>
          </p:nvPr>
        </p:nvSpPr>
        <p:spPr>
          <a:xfrm>
            <a:off x="457200" y="872049"/>
            <a:ext cx="8229600" cy="3808735"/>
          </a:xfrm>
        </p:spPr>
        <p:txBody>
          <a:bodyPr>
            <a:spAutoFit/>
          </a:bodyPr>
          <a:lstStyle/>
          <a:p>
            <a:r>
              <a:rPr lang="en-IN" altLang="en-US" sz="2000" dirty="0"/>
              <a:t>Identify and document existing processes</a:t>
            </a:r>
          </a:p>
          <a:p>
            <a:pPr lvl="1"/>
            <a:r>
              <a:rPr lang="en-IN" altLang="en-US" sz="2000" dirty="0"/>
              <a:t>Identify inefficiencies</a:t>
            </a:r>
          </a:p>
          <a:p>
            <a:r>
              <a:rPr lang="en-IN" altLang="en-US" sz="2000" dirty="0"/>
              <a:t>Create models of improved processes</a:t>
            </a:r>
          </a:p>
          <a:p>
            <a:r>
              <a:rPr lang="en-IN" altLang="en-US" sz="2000" dirty="0"/>
              <a:t>Capture and enforce business rules for performing, automating processes</a:t>
            </a:r>
          </a:p>
          <a:p>
            <a:r>
              <a:rPr lang="en-IN" altLang="en-US" sz="2000" dirty="0"/>
              <a:t>Integrate existing systems to support process improvements</a:t>
            </a:r>
          </a:p>
          <a:p>
            <a:r>
              <a:rPr lang="en-IN" altLang="en-US" sz="2000" dirty="0"/>
              <a:t>Verify that new processes have improved</a:t>
            </a:r>
          </a:p>
          <a:p>
            <a:r>
              <a:rPr lang="en-IN" altLang="en-US" sz="2000" dirty="0"/>
              <a:t>Measure impact of process changes on key business performance indicators</a:t>
            </a:r>
          </a:p>
        </p:txBody>
      </p:sp>
      <p:sp>
        <p:nvSpPr>
          <p:cNvPr id="2" name="Footer Placeholder 1">
            <a:extLst>
              <a:ext uri="{FF2B5EF4-FFF2-40B4-BE49-F238E27FC236}">
                <a16:creationId xmlns:a16="http://schemas.microsoft.com/office/drawing/2014/main" id="{057443F0-B358-43FF-9717-A70B3C4A71A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40418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5664"/>
            <a:ext cx="8229600" cy="492443"/>
          </a:xfrm>
        </p:spPr>
        <p:txBody>
          <a:bodyPr>
            <a:spAutoFit/>
          </a:bodyPr>
          <a:lstStyle/>
          <a:p>
            <a:r>
              <a:rPr lang="en-US" sz="3200" dirty="0"/>
              <a:t>Systems Development</a:t>
            </a:r>
          </a:p>
        </p:txBody>
      </p:sp>
      <p:sp>
        <p:nvSpPr>
          <p:cNvPr id="5" name="Content Placeholder 4"/>
          <p:cNvSpPr>
            <a:spLocks noGrp="1"/>
          </p:cNvSpPr>
          <p:nvPr>
            <p:ph idx="1"/>
          </p:nvPr>
        </p:nvSpPr>
        <p:spPr>
          <a:xfrm>
            <a:off x="457200" y="961559"/>
            <a:ext cx="8229600" cy="3416320"/>
          </a:xfrm>
        </p:spPr>
        <p:txBody>
          <a:bodyPr>
            <a:spAutoFit/>
          </a:bodyPr>
          <a:lstStyle/>
          <a:p>
            <a:r>
              <a:rPr lang="en-IN" altLang="en-US" dirty="0"/>
              <a:t>Activities that go into producing an information system solution to an organizational problem or opportunity</a:t>
            </a:r>
          </a:p>
          <a:p>
            <a:pPr lvl="1"/>
            <a:r>
              <a:rPr lang="en-IN" altLang="en-US" sz="2400" dirty="0"/>
              <a:t>Systems analysis</a:t>
            </a:r>
          </a:p>
          <a:p>
            <a:pPr lvl="1"/>
            <a:r>
              <a:rPr lang="en-IN" altLang="en-US" sz="2400" dirty="0"/>
              <a:t>Systems design</a:t>
            </a:r>
          </a:p>
          <a:p>
            <a:pPr lvl="1"/>
            <a:r>
              <a:rPr lang="en-IN" altLang="en-US" sz="2400" dirty="0"/>
              <a:t>Programming</a:t>
            </a:r>
          </a:p>
          <a:p>
            <a:pPr lvl="1"/>
            <a:r>
              <a:rPr lang="en-IN" altLang="en-US" sz="2400" dirty="0"/>
              <a:t>Testing</a:t>
            </a:r>
          </a:p>
          <a:p>
            <a:pPr lvl="1"/>
            <a:r>
              <a:rPr lang="en-IN" altLang="en-US" sz="2400" dirty="0"/>
              <a:t>Conversion</a:t>
            </a:r>
          </a:p>
          <a:p>
            <a:pPr lvl="1"/>
            <a:r>
              <a:rPr lang="en-IN" altLang="en-US" sz="2400" dirty="0"/>
              <a:t>Production and maintenance</a:t>
            </a:r>
          </a:p>
        </p:txBody>
      </p:sp>
      <p:sp>
        <p:nvSpPr>
          <p:cNvPr id="2" name="Footer Placeholder 1">
            <a:extLst>
              <a:ext uri="{FF2B5EF4-FFF2-40B4-BE49-F238E27FC236}">
                <a16:creationId xmlns:a16="http://schemas.microsoft.com/office/drawing/2014/main" id="{1A7D7DE4-71F9-4C5C-BCE3-A7F6656AA31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18575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0"/>
            <a:ext cx="8229600" cy="923330"/>
          </a:xfrm>
        </p:spPr>
        <p:txBody>
          <a:bodyPr>
            <a:spAutoFit/>
          </a:bodyPr>
          <a:lstStyle/>
          <a:p>
            <a:r>
              <a:rPr lang="en-US" sz="3000" dirty="0"/>
              <a:t>Figure 13.4 The Systems Development Process</a:t>
            </a:r>
          </a:p>
        </p:txBody>
      </p:sp>
      <p:pic>
        <p:nvPicPr>
          <p:cNvPr id="4098" name="Picture 2" descr="An illustration explains the six core activities of a traditional systems lifecycle.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50846" y="1107031"/>
            <a:ext cx="3642309" cy="362854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A2B33BBA-A1D5-48A8-AA0D-C5D1EEF020E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698700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5664"/>
            <a:ext cx="8229600" cy="492443"/>
          </a:xfrm>
        </p:spPr>
        <p:txBody>
          <a:bodyPr>
            <a:spAutoFit/>
          </a:bodyPr>
          <a:lstStyle/>
          <a:p>
            <a:r>
              <a:rPr lang="en-US" sz="3200" dirty="0"/>
              <a:t>Systems Analysis</a:t>
            </a:r>
          </a:p>
        </p:txBody>
      </p:sp>
      <p:sp>
        <p:nvSpPr>
          <p:cNvPr id="5" name="Content Placeholder 4"/>
          <p:cNvSpPr>
            <a:spLocks noGrp="1"/>
          </p:cNvSpPr>
          <p:nvPr>
            <p:ph idx="1"/>
          </p:nvPr>
        </p:nvSpPr>
        <p:spPr>
          <a:xfrm>
            <a:off x="457200" y="819150"/>
            <a:ext cx="8229600" cy="3731791"/>
          </a:xfrm>
        </p:spPr>
        <p:txBody>
          <a:bodyPr>
            <a:spAutoFit/>
          </a:bodyPr>
          <a:lstStyle/>
          <a:p>
            <a:r>
              <a:rPr lang="en-IN" altLang="en-US" sz="1800" dirty="0"/>
              <a:t>Analysis of problem to be solved by new system</a:t>
            </a:r>
          </a:p>
          <a:p>
            <a:pPr lvl="1"/>
            <a:r>
              <a:rPr lang="en-IN" altLang="en-US" sz="1800" dirty="0"/>
              <a:t>Defining the problem</a:t>
            </a:r>
          </a:p>
          <a:p>
            <a:pPr lvl="1"/>
            <a:r>
              <a:rPr lang="en-IN" altLang="en-US" sz="1800" dirty="0"/>
              <a:t>Identifying causes</a:t>
            </a:r>
          </a:p>
          <a:p>
            <a:pPr lvl="1"/>
            <a:r>
              <a:rPr lang="en-IN" altLang="en-US" sz="1800" dirty="0"/>
              <a:t>Specifying solutions</a:t>
            </a:r>
          </a:p>
          <a:p>
            <a:pPr lvl="1"/>
            <a:r>
              <a:rPr lang="en-IN" altLang="en-US" sz="1800" dirty="0"/>
              <a:t>Identifying information requirements</a:t>
            </a:r>
          </a:p>
          <a:p>
            <a:r>
              <a:rPr lang="en-IN" altLang="en-US" sz="1800" dirty="0"/>
              <a:t>Feasibility study</a:t>
            </a:r>
          </a:p>
          <a:p>
            <a:r>
              <a:rPr lang="en-IN" altLang="en-US" sz="1800" dirty="0"/>
              <a:t>Systems proposal report</a:t>
            </a:r>
          </a:p>
          <a:p>
            <a:r>
              <a:rPr lang="en-IN" altLang="en-US" sz="1800" dirty="0"/>
              <a:t>Information requirements</a:t>
            </a:r>
          </a:p>
          <a:p>
            <a:pPr lvl="1"/>
            <a:r>
              <a:rPr lang="en-IN" altLang="en-US" sz="1800" dirty="0"/>
              <a:t>Faulty requirements analysis is a leading cause of systems failure and high systems development costs</a:t>
            </a:r>
          </a:p>
        </p:txBody>
      </p:sp>
      <p:sp>
        <p:nvSpPr>
          <p:cNvPr id="2" name="Footer Placeholder 1">
            <a:extLst>
              <a:ext uri="{FF2B5EF4-FFF2-40B4-BE49-F238E27FC236}">
                <a16:creationId xmlns:a16="http://schemas.microsoft.com/office/drawing/2014/main" id="{BF91E021-AC47-4C0C-A37E-A2DEE059D6E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803773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3222"/>
            <a:ext cx="8229600" cy="492443"/>
          </a:xfrm>
        </p:spPr>
        <p:txBody>
          <a:bodyPr>
            <a:spAutoFit/>
          </a:bodyPr>
          <a:lstStyle/>
          <a:p>
            <a:r>
              <a:rPr lang="en-US" sz="3200" dirty="0"/>
              <a:t>Systems Design</a:t>
            </a:r>
          </a:p>
        </p:txBody>
      </p:sp>
      <p:sp>
        <p:nvSpPr>
          <p:cNvPr id="5" name="Content Placeholder 4"/>
          <p:cNvSpPr>
            <a:spLocks noGrp="1"/>
          </p:cNvSpPr>
          <p:nvPr>
            <p:ph idx="1"/>
          </p:nvPr>
        </p:nvSpPr>
        <p:spPr>
          <a:xfrm>
            <a:off x="457200" y="783431"/>
            <a:ext cx="8229600" cy="3693319"/>
          </a:xfrm>
        </p:spPr>
        <p:txBody>
          <a:bodyPr>
            <a:spAutoFit/>
          </a:bodyPr>
          <a:lstStyle/>
          <a:p>
            <a:r>
              <a:rPr lang="en-IN" altLang="en-US" sz="2000" dirty="0"/>
              <a:t>Describes system specifications that will deliver functions identified during systems analysis</a:t>
            </a:r>
          </a:p>
          <a:p>
            <a:r>
              <a:rPr lang="en-IN" altLang="en-US" sz="2000" dirty="0"/>
              <a:t>Should address all managerial, organizational, and technological components of system solution</a:t>
            </a:r>
          </a:p>
          <a:p>
            <a:r>
              <a:rPr lang="en-IN" altLang="en-US" sz="2000" dirty="0"/>
              <a:t>Role of end users</a:t>
            </a:r>
          </a:p>
          <a:p>
            <a:pPr lvl="1"/>
            <a:r>
              <a:rPr lang="en-IN" altLang="en-US" sz="2000" dirty="0"/>
              <a:t>User information requirements drive system building</a:t>
            </a:r>
          </a:p>
          <a:p>
            <a:pPr lvl="1"/>
            <a:r>
              <a:rPr lang="en-IN" altLang="en-US" sz="2000" dirty="0"/>
              <a:t>Users must have sufficient control over design process to ensure system reflects their business priorities and information needs</a:t>
            </a:r>
          </a:p>
          <a:p>
            <a:pPr lvl="1"/>
            <a:r>
              <a:rPr lang="en-IN" altLang="en-US" sz="2000" dirty="0"/>
              <a:t>Insufficient user involvement in design effort is major cause of system failure</a:t>
            </a:r>
          </a:p>
        </p:txBody>
      </p:sp>
      <p:sp>
        <p:nvSpPr>
          <p:cNvPr id="2" name="Footer Placeholder 1">
            <a:extLst>
              <a:ext uri="{FF2B5EF4-FFF2-40B4-BE49-F238E27FC236}">
                <a16:creationId xmlns:a16="http://schemas.microsoft.com/office/drawing/2014/main" id="{C680DAC7-813C-4C1B-9A84-E61257B05A5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304446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63578"/>
            <a:ext cx="8229600" cy="430887"/>
          </a:xfrm>
        </p:spPr>
        <p:txBody>
          <a:bodyPr>
            <a:spAutoFit/>
          </a:bodyPr>
          <a:lstStyle/>
          <a:p>
            <a:r>
              <a:rPr lang="en-IN" sz="2800" dirty="0"/>
              <a:t>Table 13.1 System Design Specifications </a:t>
            </a:r>
            <a:r>
              <a:rPr lang="en-IN" sz="2200" dirty="0"/>
              <a:t>(1 of 2)</a:t>
            </a:r>
            <a:endParaRPr lang="en-US" sz="2200" dirty="0"/>
          </a:p>
        </p:txBody>
      </p:sp>
      <p:graphicFrame>
        <p:nvGraphicFramePr>
          <p:cNvPr id="5" name="Table 4"/>
          <p:cNvGraphicFramePr>
            <a:graphicFrameLocks noGrp="1"/>
          </p:cNvGraphicFramePr>
          <p:nvPr>
            <p:extLst>
              <p:ext uri="{D42A27DB-BD31-4B8C-83A1-F6EECF244321}">
                <p14:modId xmlns:p14="http://schemas.microsoft.com/office/powerpoint/2010/main" val="1446171879"/>
              </p:ext>
            </p:extLst>
          </p:nvPr>
        </p:nvGraphicFramePr>
        <p:xfrm>
          <a:off x="857959" y="789354"/>
          <a:ext cx="7600241" cy="3839796"/>
        </p:xfrm>
        <a:graphic>
          <a:graphicData uri="http://schemas.openxmlformats.org/drawingml/2006/table">
            <a:tbl>
              <a:tblPr firstRow="1" bandRow="1">
                <a:tableStyleId>{3B4B98B0-60AC-42C2-AFA5-B58CD77FA1E5}</a:tableStyleId>
              </a:tblPr>
              <a:tblGrid>
                <a:gridCol w="2233288">
                  <a:extLst>
                    <a:ext uri="{9D8B030D-6E8A-4147-A177-3AD203B41FA5}">
                      <a16:colId xmlns:a16="http://schemas.microsoft.com/office/drawing/2014/main" val="20000"/>
                    </a:ext>
                  </a:extLst>
                </a:gridCol>
                <a:gridCol w="5366953">
                  <a:extLst>
                    <a:ext uri="{9D8B030D-6E8A-4147-A177-3AD203B41FA5}">
                      <a16:colId xmlns:a16="http://schemas.microsoft.com/office/drawing/2014/main" val="20001"/>
                    </a:ext>
                  </a:extLst>
                </a:gridCol>
              </a:tblGrid>
              <a:tr h="59142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u="none" strike="noStrike" kern="1200" baseline="0" dirty="0">
                          <a:solidFill>
                            <a:schemeClr val="bg1"/>
                          </a:solidFill>
                          <a:latin typeface="+mn-lt"/>
                        </a:rPr>
                        <a:t>Category</a:t>
                      </a: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300" u="none" strike="noStrike" kern="1200" baseline="0" dirty="0">
                          <a:solidFill>
                            <a:schemeClr val="bg1"/>
                          </a:solidFill>
                          <a:latin typeface="+mn-lt"/>
                        </a:rPr>
                        <a:t>Specifications</a:t>
                      </a: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43674">
                <a:tc>
                  <a:txBody>
                    <a:bodyPr/>
                    <a:lstStyle/>
                    <a:p>
                      <a:r>
                        <a:rPr lang="en-US" sz="1300" dirty="0"/>
                        <a:t>Output</a:t>
                      </a: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300" dirty="0"/>
                        <a:t>Medium, Content,</a:t>
                      </a:r>
                      <a:r>
                        <a:rPr lang="en-US" sz="1300" baseline="0" dirty="0"/>
                        <a:t> Timing</a:t>
                      </a:r>
                      <a:endParaRPr lang="en-US" sz="1300" dirty="0"/>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43674">
                <a:tc>
                  <a:txBody>
                    <a:bodyPr/>
                    <a:lstStyle/>
                    <a:p>
                      <a:r>
                        <a:rPr lang="en-US" sz="1300" dirty="0"/>
                        <a:t>Input</a:t>
                      </a: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300" dirty="0"/>
                        <a:t>Origins, Flow, Data entry</a:t>
                      </a: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43674">
                <a:tc>
                  <a:txBody>
                    <a:bodyPr/>
                    <a:lstStyle/>
                    <a:p>
                      <a:r>
                        <a:rPr lang="en-US" sz="1300" u="none" strike="noStrike" kern="1200" baseline="0" dirty="0">
                          <a:latin typeface="+mn-lt"/>
                        </a:rPr>
                        <a:t>User Interface</a:t>
                      </a: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300" dirty="0"/>
                        <a:t>Simplicity, Efficiency,</a:t>
                      </a:r>
                      <a:r>
                        <a:rPr lang="en-US" sz="1300" baseline="0" dirty="0"/>
                        <a:t> Logic, Feedback, Errors</a:t>
                      </a:r>
                      <a:endParaRPr lang="en-US" sz="1300" dirty="0"/>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549765">
                <a:tc>
                  <a:txBody>
                    <a:bodyPr/>
                    <a:lstStyle/>
                    <a:p>
                      <a:r>
                        <a:rPr lang="en-US" sz="1300" dirty="0"/>
                        <a:t>Database Design</a:t>
                      </a: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u="none" strike="noStrike" cap="none" normalizeH="0" baseline="0" dirty="0">
                          <a:ln>
                            <a:noFill/>
                          </a:ln>
                          <a:effectLst/>
                        </a:rPr>
                        <a:t>Logical data model, Volume and speed requirements, File organization and design, Record specifications</a:t>
                      </a:r>
                      <a:endParaRPr kumimoji="0" lang="en-US" sz="1300" b="0" i="0" u="none" strike="noStrike" cap="none" normalizeH="0" baseline="0" dirty="0">
                        <a:ln>
                          <a:noFill/>
                        </a:ln>
                        <a:solidFill>
                          <a:schemeClr val="tx1"/>
                        </a:solidFill>
                        <a:effectLst/>
                        <a:latin typeface="Arial" charset="0"/>
                      </a:endParaRP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549765">
                <a:tc>
                  <a:txBody>
                    <a:bodyPr/>
                    <a:lstStyle/>
                    <a:p>
                      <a:r>
                        <a:rPr lang="en-US" sz="1300" dirty="0"/>
                        <a:t>Processing</a:t>
                      </a: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u="none" strike="noStrike" cap="none" normalizeH="0" baseline="0" dirty="0">
                          <a:ln>
                            <a:noFill/>
                          </a:ln>
                          <a:effectLst/>
                        </a:rPr>
                        <a:t>Computations, Program modules, Required reports, Timing of outputs</a:t>
                      </a:r>
                      <a:endParaRPr kumimoji="0" lang="en-US" sz="1300" b="0" i="0" u="none" strike="noStrike" cap="none" normalizeH="0" baseline="0" dirty="0">
                        <a:ln>
                          <a:noFill/>
                        </a:ln>
                        <a:solidFill>
                          <a:schemeClr val="tx1"/>
                        </a:solidFill>
                        <a:effectLst/>
                        <a:latin typeface="Arial" charset="0"/>
                      </a:endParaRP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43674">
                <a:tc>
                  <a:txBody>
                    <a:bodyPr/>
                    <a:lstStyle/>
                    <a:p>
                      <a:r>
                        <a:rPr lang="en-US" sz="1300" dirty="0"/>
                        <a:t>Manual Procedures</a:t>
                      </a: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300" u="none" strike="noStrike" kern="1200" baseline="0" dirty="0">
                          <a:latin typeface="+mn-lt"/>
                        </a:rPr>
                        <a:t>What activities, Who performs them, When, How, Where</a:t>
                      </a: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774146">
                <a:tc>
                  <a:txBody>
                    <a:bodyPr/>
                    <a:lstStyle/>
                    <a:p>
                      <a:r>
                        <a:rPr lang="en-US" sz="1300" dirty="0"/>
                        <a:t>Controls</a:t>
                      </a:r>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u="none" strike="noStrike" cap="none" normalizeH="0" baseline="0" dirty="0">
                          <a:ln>
                            <a:noFill/>
                          </a:ln>
                          <a:effectLst/>
                        </a:rPr>
                        <a:t>Input controls (characters, limit, reasonableness), Processing controls (consistency, record counts), Output controls (totals, samples of output), Procedural controls (passwords, special forms)</a:t>
                      </a:r>
                      <a:endParaRPr lang="en-US" sz="1300" dirty="0"/>
                    </a:p>
                  </a:txBody>
                  <a:tcPr marL="84741" marR="84741" marT="42371" marB="4237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bl>
          </a:graphicData>
        </a:graphic>
      </p:graphicFrame>
      <p:sp>
        <p:nvSpPr>
          <p:cNvPr id="2" name="Footer Placeholder 1">
            <a:extLst>
              <a:ext uri="{FF2B5EF4-FFF2-40B4-BE49-F238E27FC236}">
                <a16:creationId xmlns:a16="http://schemas.microsoft.com/office/drawing/2014/main" id="{D4653A0C-82AA-4318-BC7B-CBDC68A1037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426211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71135"/>
            <a:ext cx="8229600" cy="430887"/>
          </a:xfrm>
        </p:spPr>
        <p:txBody>
          <a:bodyPr>
            <a:spAutoFit/>
          </a:bodyPr>
          <a:lstStyle/>
          <a:p>
            <a:r>
              <a:rPr lang="en-IN" sz="2800" dirty="0"/>
              <a:t>Table 13.1 System Design Specifications </a:t>
            </a:r>
            <a:r>
              <a:rPr lang="en-IN" sz="2200" dirty="0"/>
              <a:t>(2 of 2)</a:t>
            </a:r>
            <a:endParaRPr lang="en-US" sz="2200" dirty="0"/>
          </a:p>
        </p:txBody>
      </p:sp>
      <p:graphicFrame>
        <p:nvGraphicFramePr>
          <p:cNvPr id="5" name="Table 4"/>
          <p:cNvGraphicFramePr>
            <a:graphicFrameLocks noGrp="1"/>
          </p:cNvGraphicFramePr>
          <p:nvPr>
            <p:extLst>
              <p:ext uri="{D42A27DB-BD31-4B8C-83A1-F6EECF244321}">
                <p14:modId xmlns:p14="http://schemas.microsoft.com/office/powerpoint/2010/main" val="81913455"/>
              </p:ext>
            </p:extLst>
          </p:nvPr>
        </p:nvGraphicFramePr>
        <p:xfrm>
          <a:off x="485776" y="971550"/>
          <a:ext cx="8201025" cy="3325495"/>
        </p:xfrm>
        <a:graphic>
          <a:graphicData uri="http://schemas.openxmlformats.org/drawingml/2006/table">
            <a:tbl>
              <a:tblPr firstRow="1" bandRow="1">
                <a:tableStyleId>{3B4B98B0-60AC-42C2-AFA5-B58CD77FA1E5}</a:tableStyleId>
              </a:tblPr>
              <a:tblGrid>
                <a:gridCol w="2409825">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6381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solidFill>
                            <a:schemeClr val="bg1"/>
                          </a:solidFill>
                          <a:latin typeface="+mn-lt"/>
                        </a:rPr>
                        <a:t>Category</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u="none" strike="noStrike" kern="1200" baseline="0" dirty="0">
                          <a:solidFill>
                            <a:schemeClr val="bg1"/>
                          </a:solidFill>
                          <a:latin typeface="+mn-lt"/>
                        </a:rPr>
                        <a:t>Specifications</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0840">
                <a:tc>
                  <a:txBody>
                    <a:bodyPr/>
                    <a:lstStyle/>
                    <a:p>
                      <a:r>
                        <a:rPr lang="en-US" sz="1600" dirty="0"/>
                        <a:t>Security</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Access controls, Catastrophe plans, Audit trails </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r>
                        <a:rPr lang="en-US" sz="1600" dirty="0"/>
                        <a:t>Documentation</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Operations documentation, Systems documents, User documentation</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0840">
                <a:tc>
                  <a:txBody>
                    <a:bodyPr/>
                    <a:lstStyle/>
                    <a:p>
                      <a:r>
                        <a:rPr lang="en-US" sz="1600" dirty="0"/>
                        <a:t>Conversion</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Transfer files, Initiate new procedures, Select testing method</a:t>
                      </a:r>
                    </a:p>
                    <a:p>
                      <a:pPr marL="0" marR="0" lvl="0" indent="0" algn="l" defTabSz="914400" rtl="0" eaLnBrk="1" fontAlgn="base" latinLnBrk="0" hangingPunct="1">
                        <a:lnSpc>
                          <a:spcPct val="100000"/>
                        </a:lnSpc>
                        <a:spcBef>
                          <a:spcPct val="0"/>
                        </a:spcBef>
                        <a:spcAft>
                          <a:spcPct val="50000"/>
                        </a:spcAft>
                        <a:buClrTx/>
                        <a:buSzTx/>
                        <a:buFontTx/>
                        <a:buNone/>
                        <a:tabLst/>
                      </a:pPr>
                      <a:r>
                        <a:rPr kumimoji="0" lang="en-US" sz="1600" u="none" strike="noStrike" cap="none" normalizeH="0" baseline="0" dirty="0">
                          <a:ln>
                            <a:noFill/>
                          </a:ln>
                          <a:effectLst/>
                        </a:rPr>
                        <a:t>Cut over to new system</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70840">
                <a:tc>
                  <a:txBody>
                    <a:bodyPr/>
                    <a:lstStyle/>
                    <a:p>
                      <a:r>
                        <a:rPr lang="en-US" sz="1600" dirty="0"/>
                        <a:t>Training</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Select training techniques, Develop training modules, Identify training facilities</a:t>
                      </a:r>
                      <a:endParaRPr kumimoji="0" lang="en-US" sz="1600" b="0" i="0" u="none" strike="noStrike" cap="none" normalizeH="0" baseline="0" dirty="0">
                        <a:ln>
                          <a:noFill/>
                        </a:ln>
                        <a:solidFill>
                          <a:schemeClr val="tx1"/>
                        </a:solidFill>
                        <a:effectLst/>
                        <a:latin typeface="Arial" charset="0"/>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70840">
                <a:tc>
                  <a:txBody>
                    <a:bodyPr/>
                    <a:lstStyle/>
                    <a:p>
                      <a:r>
                        <a:rPr lang="en-US" sz="1600" dirty="0"/>
                        <a:t>Organizational Changes</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Task redesign, Job redesign, Process design, Organization structure design, Reporting relationships</a:t>
                      </a:r>
                      <a:endParaRPr kumimoji="0" lang="en-US" sz="1600" b="0" i="0" u="none" strike="noStrike" cap="none" normalizeH="0" baseline="0" dirty="0">
                        <a:ln>
                          <a:noFill/>
                        </a:ln>
                        <a:solidFill>
                          <a:schemeClr val="tx1"/>
                        </a:solidFill>
                        <a:effectLst/>
                        <a:latin typeface="Arial" charset="0"/>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bl>
          </a:graphicData>
        </a:graphic>
      </p:graphicFrame>
      <p:sp>
        <p:nvSpPr>
          <p:cNvPr id="2" name="Footer Placeholder 1">
            <a:extLst>
              <a:ext uri="{FF2B5EF4-FFF2-40B4-BE49-F238E27FC236}">
                <a16:creationId xmlns:a16="http://schemas.microsoft.com/office/drawing/2014/main" id="{06351158-1EC3-4C9E-AD0B-D96AFC775B5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807896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8207"/>
            <a:ext cx="8229600" cy="984885"/>
          </a:xfrm>
        </p:spPr>
        <p:txBody>
          <a:bodyPr>
            <a:spAutoFit/>
          </a:bodyPr>
          <a:lstStyle/>
          <a:p>
            <a:r>
              <a:rPr lang="en-IN" sz="3200" dirty="0"/>
              <a:t>Completing the Systems Development Process </a:t>
            </a:r>
            <a:r>
              <a:rPr lang="en-IN" sz="2400" dirty="0"/>
              <a:t>(1 of 3)</a:t>
            </a:r>
            <a:endParaRPr lang="en-US" sz="2400" dirty="0"/>
          </a:p>
        </p:txBody>
      </p:sp>
      <p:sp>
        <p:nvSpPr>
          <p:cNvPr id="5" name="Content Placeholder 4"/>
          <p:cNvSpPr>
            <a:spLocks noGrp="1"/>
          </p:cNvSpPr>
          <p:nvPr>
            <p:ph idx="1"/>
          </p:nvPr>
        </p:nvSpPr>
        <p:spPr>
          <a:xfrm>
            <a:off x="457200" y="1266222"/>
            <a:ext cx="8229600" cy="3424014"/>
          </a:xfrm>
        </p:spPr>
        <p:txBody>
          <a:bodyPr>
            <a:spAutoFit/>
          </a:bodyPr>
          <a:lstStyle/>
          <a:p>
            <a:r>
              <a:rPr lang="en-IN" altLang="en-US" sz="1800" dirty="0"/>
              <a:t>Programming</a:t>
            </a:r>
          </a:p>
          <a:p>
            <a:pPr lvl="1"/>
            <a:r>
              <a:rPr lang="en-IN" altLang="en-US" sz="1800" dirty="0"/>
              <a:t>System specifications from design stage are translated into software program code</a:t>
            </a:r>
          </a:p>
          <a:p>
            <a:r>
              <a:rPr lang="en-IN" altLang="en-US" sz="1800" dirty="0"/>
              <a:t>Testing</a:t>
            </a:r>
          </a:p>
          <a:p>
            <a:pPr lvl="1"/>
            <a:r>
              <a:rPr lang="en-IN" altLang="en-US" sz="1800" dirty="0"/>
              <a:t>Ensures system produces right results</a:t>
            </a:r>
          </a:p>
          <a:p>
            <a:pPr lvl="1"/>
            <a:r>
              <a:rPr lang="en-IN" altLang="en-US" sz="1800" dirty="0"/>
              <a:t>Unit testing: Tests each program in system separately</a:t>
            </a:r>
          </a:p>
          <a:p>
            <a:pPr lvl="1"/>
            <a:r>
              <a:rPr lang="en-IN" altLang="en-US" sz="1800" dirty="0"/>
              <a:t>System testing: Test functioning of system as a whole </a:t>
            </a:r>
          </a:p>
          <a:p>
            <a:pPr lvl="1"/>
            <a:r>
              <a:rPr lang="en-IN" altLang="en-US" sz="1800" dirty="0"/>
              <a:t>Acceptance testing: Makes sure system is ready to be used in production setting</a:t>
            </a:r>
          </a:p>
          <a:p>
            <a:pPr lvl="1"/>
            <a:r>
              <a:rPr lang="en-IN" altLang="en-US" sz="1800" dirty="0"/>
              <a:t>Test plan: All preparations for series of tests</a:t>
            </a:r>
          </a:p>
        </p:txBody>
      </p:sp>
      <p:sp>
        <p:nvSpPr>
          <p:cNvPr id="2" name="Footer Placeholder 1">
            <a:extLst>
              <a:ext uri="{FF2B5EF4-FFF2-40B4-BE49-F238E27FC236}">
                <a16:creationId xmlns:a16="http://schemas.microsoft.com/office/drawing/2014/main" id="{52BB1C3E-E25C-4621-A5EA-564EF619D0E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858913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3093"/>
            <a:ext cx="8229600" cy="984885"/>
          </a:xfrm>
        </p:spPr>
        <p:txBody>
          <a:bodyPr>
            <a:spAutoFit/>
          </a:bodyPr>
          <a:lstStyle/>
          <a:p>
            <a:r>
              <a:rPr lang="en-IN" sz="3200" dirty="0"/>
              <a:t>Figure 13.5 A Sample Test Plan to Test a Record Change</a:t>
            </a:r>
            <a:endParaRPr lang="en-US" sz="3200" dirty="0"/>
          </a:p>
        </p:txBody>
      </p:sp>
      <p:pic>
        <p:nvPicPr>
          <p:cNvPr id="3" name="Picture 2" descr="A table records series of changes, while developing a test plan. For a full description, see Notes. Press F6.">
            <a:extLst>
              <a:ext uri="{FF2B5EF4-FFF2-40B4-BE49-F238E27FC236}">
                <a16:creationId xmlns:a16="http://schemas.microsoft.com/office/drawing/2014/main" id="{8D8C8AA3-1D17-4084-AA99-B7357A6D76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1919" y="1345414"/>
            <a:ext cx="5500163" cy="3055136"/>
          </a:xfrm>
          <a:prstGeom prst="rect">
            <a:avLst/>
          </a:prstGeom>
        </p:spPr>
      </p:pic>
      <p:sp>
        <p:nvSpPr>
          <p:cNvPr id="2" name="Footer Placeholder 1">
            <a:extLst>
              <a:ext uri="{FF2B5EF4-FFF2-40B4-BE49-F238E27FC236}">
                <a16:creationId xmlns:a16="http://schemas.microsoft.com/office/drawing/2014/main" id="{0AACA583-7C56-47C9-9A21-0140585D374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059797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9065"/>
            <a:ext cx="8229600" cy="984885"/>
          </a:xfrm>
        </p:spPr>
        <p:txBody>
          <a:bodyPr>
            <a:spAutoFit/>
          </a:bodyPr>
          <a:lstStyle/>
          <a:p>
            <a:r>
              <a:rPr lang="en-IN" sz="3200" dirty="0"/>
              <a:t>Completing the Systems Development Process </a:t>
            </a:r>
            <a:r>
              <a:rPr lang="en-IN" sz="2400" dirty="0"/>
              <a:t>(2 of 3)</a:t>
            </a:r>
            <a:endParaRPr lang="en-US" sz="2400" dirty="0"/>
          </a:p>
        </p:txBody>
      </p:sp>
      <p:sp>
        <p:nvSpPr>
          <p:cNvPr id="5" name="Content Placeholder 4"/>
          <p:cNvSpPr>
            <a:spLocks noGrp="1"/>
          </p:cNvSpPr>
          <p:nvPr>
            <p:ph idx="1"/>
          </p:nvPr>
        </p:nvSpPr>
        <p:spPr>
          <a:xfrm>
            <a:off x="457200" y="1282023"/>
            <a:ext cx="8229600" cy="3385542"/>
          </a:xfrm>
        </p:spPr>
        <p:txBody>
          <a:bodyPr>
            <a:spAutoFit/>
          </a:bodyPr>
          <a:lstStyle/>
          <a:p>
            <a:r>
              <a:rPr lang="en-IN" altLang="en-US" sz="1800" dirty="0"/>
              <a:t>Conversion</a:t>
            </a:r>
          </a:p>
          <a:p>
            <a:pPr lvl="1"/>
            <a:r>
              <a:rPr lang="en-IN" altLang="en-US" sz="1800" dirty="0"/>
              <a:t>Process of changing from old system to new system</a:t>
            </a:r>
          </a:p>
          <a:p>
            <a:pPr lvl="1"/>
            <a:r>
              <a:rPr lang="en-IN" altLang="en-US" sz="1800" dirty="0"/>
              <a:t>Four main strategies</a:t>
            </a:r>
          </a:p>
          <a:p>
            <a:pPr lvl="2"/>
            <a:r>
              <a:rPr lang="en-IN" altLang="en-US" sz="1800" dirty="0"/>
              <a:t>Parallel strategy</a:t>
            </a:r>
          </a:p>
          <a:p>
            <a:pPr lvl="2"/>
            <a:r>
              <a:rPr lang="en-IN" altLang="en-US" sz="1800" dirty="0"/>
              <a:t>Direct cutover</a:t>
            </a:r>
          </a:p>
          <a:p>
            <a:pPr lvl="2"/>
            <a:r>
              <a:rPr lang="en-IN" altLang="en-US" sz="1800" dirty="0"/>
              <a:t>Pilot study</a:t>
            </a:r>
          </a:p>
          <a:p>
            <a:pPr lvl="2"/>
            <a:r>
              <a:rPr lang="en-IN" altLang="en-US" sz="1800" dirty="0"/>
              <a:t>Phased approach</a:t>
            </a:r>
          </a:p>
          <a:p>
            <a:pPr lvl="1"/>
            <a:r>
              <a:rPr lang="en-IN" altLang="en-US" sz="1800" dirty="0"/>
              <a:t>Requires end-user training</a:t>
            </a:r>
          </a:p>
          <a:p>
            <a:pPr lvl="1"/>
            <a:r>
              <a:rPr lang="en-IN" altLang="en-US" sz="1800" dirty="0"/>
              <a:t>Finalization of detailed documentation showing how system works from technical and end-user standpoint</a:t>
            </a:r>
          </a:p>
        </p:txBody>
      </p:sp>
      <p:sp>
        <p:nvSpPr>
          <p:cNvPr id="2" name="Footer Placeholder 1">
            <a:extLst>
              <a:ext uri="{FF2B5EF4-FFF2-40B4-BE49-F238E27FC236}">
                <a16:creationId xmlns:a16="http://schemas.microsoft.com/office/drawing/2014/main" id="{A9B495C4-8C3D-4F8B-878F-1379192D86C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351071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0422"/>
            <a:ext cx="8229600" cy="984885"/>
          </a:xfrm>
        </p:spPr>
        <p:txBody>
          <a:bodyPr>
            <a:spAutoFit/>
          </a:bodyPr>
          <a:lstStyle/>
          <a:p>
            <a:r>
              <a:rPr lang="en-IN" sz="3200" dirty="0"/>
              <a:t>Completing the Systems Development Process </a:t>
            </a:r>
            <a:r>
              <a:rPr lang="en-IN" sz="2400" dirty="0"/>
              <a:t>(3 of 3)</a:t>
            </a:r>
            <a:endParaRPr lang="en-US" sz="2400" dirty="0"/>
          </a:p>
        </p:txBody>
      </p:sp>
      <p:sp>
        <p:nvSpPr>
          <p:cNvPr id="5" name="Content Placeholder 4"/>
          <p:cNvSpPr>
            <a:spLocks noGrp="1"/>
          </p:cNvSpPr>
          <p:nvPr>
            <p:ph idx="1"/>
          </p:nvPr>
        </p:nvSpPr>
        <p:spPr>
          <a:xfrm>
            <a:off x="457200" y="1154178"/>
            <a:ext cx="8229600" cy="3262432"/>
          </a:xfrm>
        </p:spPr>
        <p:txBody>
          <a:bodyPr>
            <a:spAutoFit/>
          </a:bodyPr>
          <a:lstStyle/>
          <a:p>
            <a:r>
              <a:rPr lang="en-IN" altLang="en-US" dirty="0"/>
              <a:t>Production and maintenance</a:t>
            </a:r>
          </a:p>
          <a:p>
            <a:pPr lvl="1"/>
            <a:r>
              <a:rPr lang="en-IN" altLang="en-US" sz="2400" dirty="0"/>
              <a:t>System reviewed to determine if revisions needed</a:t>
            </a:r>
          </a:p>
          <a:p>
            <a:pPr lvl="1"/>
            <a:r>
              <a:rPr lang="en-IN" altLang="en-US" sz="2400" dirty="0"/>
              <a:t>May include post-implementation audit document</a:t>
            </a:r>
          </a:p>
          <a:p>
            <a:pPr lvl="1"/>
            <a:r>
              <a:rPr lang="en-IN" altLang="en-US" sz="2400" dirty="0"/>
              <a:t>Maintenance</a:t>
            </a:r>
          </a:p>
          <a:p>
            <a:pPr lvl="2"/>
            <a:r>
              <a:rPr lang="en-IN" altLang="en-US" sz="2400" dirty="0"/>
              <a:t>Changes in hardware, software, documentation, or procedures to a production system to correct errors, meet new requirements, or improve processing efficiency</a:t>
            </a:r>
          </a:p>
        </p:txBody>
      </p:sp>
      <p:sp>
        <p:nvSpPr>
          <p:cNvPr id="2" name="Footer Placeholder 1">
            <a:extLst>
              <a:ext uri="{FF2B5EF4-FFF2-40B4-BE49-F238E27FC236}">
                <a16:creationId xmlns:a16="http://schemas.microsoft.com/office/drawing/2014/main" id="{4101B662-11EB-45E9-A429-32BCADA7CF1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778801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9223"/>
            <a:ext cx="8229600" cy="553998"/>
          </a:xfrm>
        </p:spPr>
        <p:txBody>
          <a:bodyPr>
            <a:spAutoFit/>
          </a:bodyPr>
          <a:lstStyle/>
          <a:p>
            <a:r>
              <a:rPr lang="en-IN" dirty="0"/>
              <a:t>Table 13.2 Systems Development</a:t>
            </a:r>
            <a:endParaRPr lang="en-US" sz="2800" dirty="0"/>
          </a:p>
        </p:txBody>
      </p:sp>
      <p:graphicFrame>
        <p:nvGraphicFramePr>
          <p:cNvPr id="5" name="Table 4"/>
          <p:cNvGraphicFramePr>
            <a:graphicFrameLocks noGrp="1"/>
          </p:cNvGraphicFramePr>
          <p:nvPr>
            <p:extLst>
              <p:ext uri="{D42A27DB-BD31-4B8C-83A1-F6EECF244321}">
                <p14:modId xmlns:p14="http://schemas.microsoft.com/office/powerpoint/2010/main" val="1685865482"/>
              </p:ext>
            </p:extLst>
          </p:nvPr>
        </p:nvGraphicFramePr>
        <p:xfrm>
          <a:off x="485776" y="932815"/>
          <a:ext cx="8201025" cy="3696335"/>
        </p:xfrm>
        <a:graphic>
          <a:graphicData uri="http://schemas.openxmlformats.org/drawingml/2006/table">
            <a:tbl>
              <a:tblPr firstRow="1" bandRow="1">
                <a:tableStyleId>{3B4B98B0-60AC-42C2-AFA5-B58CD77FA1E5}</a:tableStyleId>
              </a:tblPr>
              <a:tblGrid>
                <a:gridCol w="2409825">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6381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solidFill>
                            <a:schemeClr val="bg1"/>
                          </a:solidFill>
                          <a:latin typeface="+mn-lt"/>
                        </a:rPr>
                        <a:t>Core Activity</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u="none" strike="noStrike" kern="1200" baseline="0" dirty="0">
                          <a:solidFill>
                            <a:schemeClr val="bg1"/>
                          </a:solidFill>
                          <a:latin typeface="+mn-lt"/>
                        </a:rPr>
                        <a:t>Core Activity</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0840">
                <a:tc>
                  <a:txBody>
                    <a:bodyPr/>
                    <a:lstStyle/>
                    <a:p>
                      <a:r>
                        <a:rPr lang="en-US" sz="1600" u="none" strike="noStrike" kern="1200" baseline="0" dirty="0"/>
                        <a:t>Systems analysis</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u="none" strike="noStrike" kern="1200" baseline="0" dirty="0"/>
                        <a:t>Identify problem(s), Specify solutions, Establish information requirements</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r>
                        <a:rPr lang="en-US" sz="1600" u="none" strike="noStrike" kern="1200" baseline="0" dirty="0"/>
                        <a:t>Systems design</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u="none" strike="noStrike" kern="1200" baseline="0" dirty="0"/>
                        <a:t>Create design specifications</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0840">
                <a:tc>
                  <a:txBody>
                    <a:bodyPr/>
                    <a:lstStyle/>
                    <a:p>
                      <a:r>
                        <a:rPr lang="en-US" sz="1600" u="none" strike="noStrike" kern="1200" baseline="0" dirty="0"/>
                        <a:t>Programming</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u="none" strike="noStrike" kern="1200" baseline="0" dirty="0"/>
                        <a:t>Translate design specifications into program code</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70840">
                <a:tc>
                  <a:txBody>
                    <a:bodyPr/>
                    <a:lstStyle/>
                    <a:p>
                      <a:r>
                        <a:rPr lang="en-US" sz="1600" u="none" strike="noStrike" kern="1200" baseline="0" dirty="0"/>
                        <a:t>Testing</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u="none" strike="noStrike" kern="1200" baseline="0" dirty="0"/>
                        <a:t>Perform unit testing, Perform systems testing, Perform acceptance testing</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70840">
                <a:tc>
                  <a:txBody>
                    <a:bodyPr/>
                    <a:lstStyle/>
                    <a:p>
                      <a:r>
                        <a:rPr lang="en-US" sz="1600" u="none" strike="noStrike" kern="1200" baseline="0" dirty="0"/>
                        <a:t>Conversion</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u="none" strike="noStrike" kern="1200" baseline="0" dirty="0"/>
                        <a:t>Plan conversion, Prepare documentation, Train users and technical staff</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Production and maintenance</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u="none" strike="noStrike" kern="1200" baseline="0" dirty="0"/>
                        <a:t>Operate the system, Evaluate the system, Modify the system</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sp>
        <p:nvSpPr>
          <p:cNvPr id="2" name="Footer Placeholder 1">
            <a:extLst>
              <a:ext uri="{FF2B5EF4-FFF2-40B4-BE49-F238E27FC236}">
                <a16:creationId xmlns:a16="http://schemas.microsoft.com/office/drawing/2014/main" id="{2632E2D6-15EE-435F-9971-A1DADF1EF99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18790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8236"/>
            <a:ext cx="8229600" cy="492443"/>
          </a:xfrm>
        </p:spPr>
        <p:txBody>
          <a:bodyPr>
            <a:spAutoFit/>
          </a:bodyPr>
          <a:lstStyle/>
          <a:p>
            <a:r>
              <a:rPr lang="en-IN" sz="3200" dirty="0"/>
              <a:t>Structured Methodologies </a:t>
            </a:r>
            <a:r>
              <a:rPr lang="en-IN" sz="2400" dirty="0"/>
              <a:t>(1 of 3)</a:t>
            </a:r>
            <a:endParaRPr lang="en-US" sz="2400" dirty="0"/>
          </a:p>
        </p:txBody>
      </p:sp>
      <p:sp>
        <p:nvSpPr>
          <p:cNvPr id="5" name="Content Placeholder 4"/>
          <p:cNvSpPr>
            <a:spLocks noGrp="1"/>
          </p:cNvSpPr>
          <p:nvPr>
            <p:ph idx="1"/>
          </p:nvPr>
        </p:nvSpPr>
        <p:spPr>
          <a:xfrm>
            <a:off x="457200" y="773178"/>
            <a:ext cx="8229600" cy="1862048"/>
          </a:xfrm>
        </p:spPr>
        <p:txBody>
          <a:bodyPr>
            <a:spAutoFit/>
          </a:bodyPr>
          <a:lstStyle/>
          <a:p>
            <a:r>
              <a:rPr lang="en-IN" altLang="en-US" dirty="0"/>
              <a:t>Structured: Techniques are step-by-step, progressive</a:t>
            </a:r>
          </a:p>
          <a:p>
            <a:r>
              <a:rPr lang="en-IN" altLang="en-US" dirty="0"/>
              <a:t>Process-oriented: Focusing on modeling processes or actions that manipulate data</a:t>
            </a:r>
          </a:p>
          <a:p>
            <a:r>
              <a:rPr lang="en-IN" altLang="en-US" dirty="0"/>
              <a:t>Separate data from processes</a:t>
            </a:r>
          </a:p>
        </p:txBody>
      </p:sp>
      <p:sp>
        <p:nvSpPr>
          <p:cNvPr id="2" name="Footer Placeholder 1">
            <a:extLst>
              <a:ext uri="{FF2B5EF4-FFF2-40B4-BE49-F238E27FC236}">
                <a16:creationId xmlns:a16="http://schemas.microsoft.com/office/drawing/2014/main" id="{70733AF6-9A06-454E-AD8F-DA9EF50A9B8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689677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3221"/>
            <a:ext cx="8229600" cy="492443"/>
          </a:xfrm>
        </p:spPr>
        <p:txBody>
          <a:bodyPr>
            <a:spAutoFit/>
          </a:bodyPr>
          <a:lstStyle/>
          <a:p>
            <a:r>
              <a:rPr lang="en-IN" sz="3200" dirty="0"/>
              <a:t>Structured Methodologies </a:t>
            </a:r>
            <a:r>
              <a:rPr lang="en-IN" sz="2400" dirty="0"/>
              <a:t>(2 of 3)</a:t>
            </a:r>
            <a:endParaRPr lang="en-US" sz="2400" dirty="0"/>
          </a:p>
        </p:txBody>
      </p:sp>
      <p:sp>
        <p:nvSpPr>
          <p:cNvPr id="5" name="Content Placeholder 4"/>
          <p:cNvSpPr>
            <a:spLocks noGrp="1"/>
          </p:cNvSpPr>
          <p:nvPr>
            <p:ph idx="1"/>
          </p:nvPr>
        </p:nvSpPr>
        <p:spPr>
          <a:xfrm>
            <a:off x="457200" y="924163"/>
            <a:ext cx="8229600" cy="2362185"/>
          </a:xfrm>
        </p:spPr>
        <p:txBody>
          <a:bodyPr>
            <a:spAutoFit/>
          </a:bodyPr>
          <a:lstStyle/>
          <a:p>
            <a:r>
              <a:rPr lang="en-IN" altLang="en-US" sz="2200" dirty="0"/>
              <a:t>Data flow diagram</a:t>
            </a:r>
          </a:p>
          <a:p>
            <a:pPr lvl="1"/>
            <a:r>
              <a:rPr lang="en-IN" altLang="en-US" sz="2000" dirty="0"/>
              <a:t>Represents system’s component processes and flow of data between them</a:t>
            </a:r>
          </a:p>
          <a:p>
            <a:pPr lvl="1"/>
            <a:r>
              <a:rPr lang="en-IN" altLang="en-US" sz="2000" dirty="0"/>
              <a:t>Logical graphic model of information flow</a:t>
            </a:r>
          </a:p>
          <a:p>
            <a:r>
              <a:rPr lang="en-IN" altLang="en-US" sz="2200" dirty="0"/>
              <a:t>Data dictionary</a:t>
            </a:r>
          </a:p>
          <a:p>
            <a:pPr lvl="1"/>
            <a:r>
              <a:rPr lang="en-IN" altLang="en-US" dirty="0"/>
              <a:t>Defines contents of data flows and data stores</a:t>
            </a:r>
          </a:p>
        </p:txBody>
      </p:sp>
      <p:sp>
        <p:nvSpPr>
          <p:cNvPr id="2" name="Footer Placeholder 1">
            <a:extLst>
              <a:ext uri="{FF2B5EF4-FFF2-40B4-BE49-F238E27FC236}">
                <a16:creationId xmlns:a16="http://schemas.microsoft.com/office/drawing/2014/main" id="{289A6DD5-A7AF-4C86-8542-90AC8789E7C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06980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3122"/>
            <a:ext cx="8229600" cy="984885"/>
          </a:xfrm>
        </p:spPr>
        <p:txBody>
          <a:bodyPr>
            <a:spAutoFit/>
          </a:bodyPr>
          <a:lstStyle/>
          <a:p>
            <a:r>
              <a:rPr lang="en-US" sz="3200" dirty="0"/>
              <a:t>Figure 13.6 Data Flow Diagram for Mail-in University Registration System</a:t>
            </a:r>
          </a:p>
        </p:txBody>
      </p:sp>
      <p:pic>
        <p:nvPicPr>
          <p:cNvPr id="6146" name="Picture 2" descr="A data flow diagram explains a student registration process through three processe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1919" y="1412702"/>
            <a:ext cx="5500163" cy="311477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478192B6-2A6D-4E65-947D-007C2BDCE79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4142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3221"/>
            <a:ext cx="8229600" cy="492443"/>
          </a:xfrm>
        </p:spPr>
        <p:txBody>
          <a:bodyPr>
            <a:spAutoFit/>
          </a:bodyPr>
          <a:lstStyle/>
          <a:p>
            <a:r>
              <a:rPr lang="en-IN" sz="3200" dirty="0"/>
              <a:t>Structured Methodologies </a:t>
            </a:r>
            <a:r>
              <a:rPr lang="en-IN" sz="2400" dirty="0"/>
              <a:t>(3 of 3)</a:t>
            </a:r>
            <a:endParaRPr lang="en-US" sz="2400" dirty="0"/>
          </a:p>
        </p:txBody>
      </p:sp>
      <p:sp>
        <p:nvSpPr>
          <p:cNvPr id="5" name="Content Placeholder 4"/>
          <p:cNvSpPr>
            <a:spLocks noGrp="1"/>
          </p:cNvSpPr>
          <p:nvPr>
            <p:ph idx="1"/>
          </p:nvPr>
        </p:nvSpPr>
        <p:spPr>
          <a:xfrm>
            <a:off x="457200" y="924163"/>
            <a:ext cx="8229600" cy="2377574"/>
          </a:xfrm>
        </p:spPr>
        <p:txBody>
          <a:bodyPr>
            <a:spAutoFit/>
          </a:bodyPr>
          <a:lstStyle/>
          <a:p>
            <a:r>
              <a:rPr lang="en-IN" altLang="en-US" sz="2200" dirty="0"/>
              <a:t>Process specifications</a:t>
            </a:r>
          </a:p>
          <a:p>
            <a:pPr lvl="1"/>
            <a:r>
              <a:rPr lang="en-IN" altLang="en-US" dirty="0"/>
              <a:t>Describe transformation occurring within lowest level of data flow diagrams</a:t>
            </a:r>
          </a:p>
          <a:p>
            <a:r>
              <a:rPr lang="en-IN" altLang="en-US" sz="2200" dirty="0"/>
              <a:t>Structure chart</a:t>
            </a:r>
          </a:p>
          <a:p>
            <a:pPr lvl="1"/>
            <a:r>
              <a:rPr lang="en-IN" altLang="en-US" dirty="0"/>
              <a:t>Top-down chart, showing each level of design, relationship to other levels, and place in overall design structure</a:t>
            </a:r>
          </a:p>
        </p:txBody>
      </p:sp>
      <p:sp>
        <p:nvSpPr>
          <p:cNvPr id="2" name="Footer Placeholder 1">
            <a:extLst>
              <a:ext uri="{FF2B5EF4-FFF2-40B4-BE49-F238E27FC236}">
                <a16:creationId xmlns:a16="http://schemas.microsoft.com/office/drawing/2014/main" id="{7BC42744-BBF9-424B-80CA-410C4FFFAC8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770740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3093"/>
            <a:ext cx="8229600" cy="984885"/>
          </a:xfrm>
        </p:spPr>
        <p:txBody>
          <a:bodyPr>
            <a:spAutoFit/>
          </a:bodyPr>
          <a:lstStyle/>
          <a:p>
            <a:r>
              <a:rPr lang="en-US" sz="3200" dirty="0"/>
              <a:t>Figure 13.7 High-level Structure Chart for a Payroll System</a:t>
            </a:r>
          </a:p>
        </p:txBody>
      </p:sp>
      <p:pic>
        <p:nvPicPr>
          <p:cNvPr id="7170" name="Picture 2" descr="A hierarchical chart explains the process of a payroll system.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5928" y="1562456"/>
            <a:ext cx="8154179" cy="2271472"/>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FA2EB073-E957-4E95-A45F-17D9A17EFF7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484869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5664"/>
            <a:ext cx="8229600" cy="492443"/>
          </a:xfrm>
        </p:spPr>
        <p:txBody>
          <a:bodyPr>
            <a:spAutoFit/>
          </a:bodyPr>
          <a:lstStyle/>
          <a:p>
            <a:r>
              <a:rPr lang="en-IN" sz="3200" dirty="0"/>
              <a:t>Object-Oriented Development </a:t>
            </a:r>
            <a:r>
              <a:rPr lang="en-IN" sz="2400" dirty="0"/>
              <a:t>(1 of 2)</a:t>
            </a:r>
            <a:endParaRPr lang="en-US" sz="2400" dirty="0"/>
          </a:p>
        </p:txBody>
      </p:sp>
      <p:sp>
        <p:nvSpPr>
          <p:cNvPr id="5" name="Content Placeholder 4"/>
          <p:cNvSpPr>
            <a:spLocks noGrp="1"/>
          </p:cNvSpPr>
          <p:nvPr>
            <p:ph idx="1"/>
          </p:nvPr>
        </p:nvSpPr>
        <p:spPr>
          <a:xfrm>
            <a:off x="457200" y="773178"/>
            <a:ext cx="8229600" cy="3731791"/>
          </a:xfrm>
        </p:spPr>
        <p:txBody>
          <a:bodyPr>
            <a:spAutoFit/>
          </a:bodyPr>
          <a:lstStyle/>
          <a:p>
            <a:r>
              <a:rPr lang="en-IN" altLang="en-US" sz="2000" dirty="0"/>
              <a:t>Object</a:t>
            </a:r>
          </a:p>
          <a:p>
            <a:pPr lvl="1"/>
            <a:r>
              <a:rPr lang="en-IN" altLang="en-US" sz="2000" dirty="0"/>
              <a:t>Basic unit of systems analysis and design</a:t>
            </a:r>
          </a:p>
          <a:p>
            <a:pPr lvl="1"/>
            <a:r>
              <a:rPr lang="en-IN" altLang="en-US" sz="2000" dirty="0"/>
              <a:t>Combines data and the processes that operate on those data</a:t>
            </a:r>
          </a:p>
          <a:p>
            <a:pPr lvl="1"/>
            <a:r>
              <a:rPr lang="en-IN" altLang="en-US" sz="2000" dirty="0"/>
              <a:t>Data in object can be accessed only by operations associated with that object</a:t>
            </a:r>
          </a:p>
          <a:p>
            <a:r>
              <a:rPr lang="en-IN" altLang="en-US" sz="2000" dirty="0"/>
              <a:t>Object-oriented modeling</a:t>
            </a:r>
          </a:p>
          <a:p>
            <a:pPr lvl="1"/>
            <a:r>
              <a:rPr lang="en-IN" altLang="en-US" sz="2000" dirty="0"/>
              <a:t>Based on concepts of class and inheritance</a:t>
            </a:r>
          </a:p>
          <a:p>
            <a:pPr lvl="1"/>
            <a:r>
              <a:rPr lang="en-IN" altLang="en-US" sz="2000" dirty="0"/>
              <a:t>Objects belong to a certain class and have features of that class</a:t>
            </a:r>
          </a:p>
          <a:p>
            <a:pPr lvl="1"/>
            <a:r>
              <a:rPr lang="en-IN" altLang="en-US" sz="2000" dirty="0"/>
              <a:t>May inherit structures and </a:t>
            </a:r>
            <a:r>
              <a:rPr lang="en-IN" altLang="en-US" sz="2000" dirty="0" err="1"/>
              <a:t>behaviors</a:t>
            </a:r>
            <a:r>
              <a:rPr lang="en-IN" altLang="en-US" sz="2000" dirty="0"/>
              <a:t> of a more general, ancestor class</a:t>
            </a:r>
          </a:p>
        </p:txBody>
      </p:sp>
      <p:sp>
        <p:nvSpPr>
          <p:cNvPr id="2" name="Footer Placeholder 1">
            <a:extLst>
              <a:ext uri="{FF2B5EF4-FFF2-40B4-BE49-F238E27FC236}">
                <a16:creationId xmlns:a16="http://schemas.microsoft.com/office/drawing/2014/main" id="{FAEA7EB2-78B9-4B0D-A327-4CEC99DB940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648899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87378"/>
            <a:ext cx="8229600" cy="523220"/>
          </a:xfrm>
        </p:spPr>
        <p:txBody>
          <a:bodyPr>
            <a:spAutoFit/>
          </a:bodyPr>
          <a:lstStyle/>
          <a:p>
            <a:r>
              <a:rPr lang="en-IN" sz="3400" dirty="0"/>
              <a:t>Figure 13.8 Class and Inheritance</a:t>
            </a:r>
            <a:endParaRPr lang="en-US" sz="3400" dirty="0"/>
          </a:p>
        </p:txBody>
      </p:sp>
      <p:pic>
        <p:nvPicPr>
          <p:cNvPr id="8194" name="Picture 2" descr="A converging flow diagram explains how classes inherit the common features of their superclass.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188596" y="974862"/>
            <a:ext cx="4766808" cy="357808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16B9234-9019-464A-A85B-F0F226197FB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8596658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8107"/>
            <a:ext cx="8229600" cy="492443"/>
          </a:xfrm>
        </p:spPr>
        <p:txBody>
          <a:bodyPr>
            <a:spAutoFit/>
          </a:bodyPr>
          <a:lstStyle/>
          <a:p>
            <a:r>
              <a:rPr lang="en-IN" sz="3200" dirty="0"/>
              <a:t>Object-Oriented Development </a:t>
            </a:r>
            <a:r>
              <a:rPr lang="en-IN" sz="2400" dirty="0"/>
              <a:t>(2 of 2)</a:t>
            </a:r>
            <a:endParaRPr lang="en-US" sz="2400" dirty="0"/>
          </a:p>
        </p:txBody>
      </p:sp>
      <p:sp>
        <p:nvSpPr>
          <p:cNvPr id="5" name="Content Placeholder 4"/>
          <p:cNvSpPr>
            <a:spLocks noGrp="1"/>
          </p:cNvSpPr>
          <p:nvPr>
            <p:ph idx="1"/>
          </p:nvPr>
        </p:nvSpPr>
        <p:spPr>
          <a:xfrm>
            <a:off x="457200" y="822647"/>
            <a:ext cx="8229600" cy="3577903"/>
          </a:xfrm>
        </p:spPr>
        <p:txBody>
          <a:bodyPr>
            <a:spAutoFit/>
          </a:bodyPr>
          <a:lstStyle/>
          <a:p>
            <a:r>
              <a:rPr lang="en-IN" altLang="en-US" sz="2000" dirty="0"/>
              <a:t>More iterative and incremental than traditional structured development</a:t>
            </a:r>
          </a:p>
          <a:p>
            <a:pPr lvl="1"/>
            <a:r>
              <a:rPr lang="en-IN" altLang="en-US" sz="2000" dirty="0"/>
              <a:t>Systems analysis: Interactions between system and users </a:t>
            </a:r>
            <a:r>
              <a:rPr lang="en-IN" altLang="en-US" sz="2000" dirty="0" err="1"/>
              <a:t>analyzed</a:t>
            </a:r>
            <a:r>
              <a:rPr lang="en-IN" altLang="en-US" sz="2000" dirty="0"/>
              <a:t> to identify objects</a:t>
            </a:r>
          </a:p>
          <a:p>
            <a:pPr lvl="1"/>
            <a:r>
              <a:rPr lang="en-IN" altLang="en-US" sz="2000" dirty="0"/>
              <a:t>Design phase: Describes how objects will behave and interact; grouped into classes, subclasses, and hierarchies</a:t>
            </a:r>
          </a:p>
          <a:p>
            <a:pPr lvl="1"/>
            <a:r>
              <a:rPr lang="en-IN" altLang="en-US" sz="2000" dirty="0"/>
              <a:t>Implementation: Some classes may be reused from existing library of classes, others created or inherited</a:t>
            </a:r>
          </a:p>
          <a:p>
            <a:r>
              <a:rPr lang="en-IN" altLang="en-US" sz="2000" dirty="0"/>
              <a:t>Objects are reusable</a:t>
            </a:r>
          </a:p>
          <a:p>
            <a:pPr lvl="1"/>
            <a:r>
              <a:rPr lang="en-IN" altLang="en-US" sz="2000" dirty="0"/>
              <a:t>Object-oriented development can potentially reduce time and cost of development</a:t>
            </a:r>
          </a:p>
        </p:txBody>
      </p:sp>
      <p:sp>
        <p:nvSpPr>
          <p:cNvPr id="2" name="Footer Placeholder 1">
            <a:extLst>
              <a:ext uri="{FF2B5EF4-FFF2-40B4-BE49-F238E27FC236}">
                <a16:creationId xmlns:a16="http://schemas.microsoft.com/office/drawing/2014/main" id="{52BB653F-1F05-4B92-8554-0D2151EE79B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99704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5664"/>
            <a:ext cx="8229600" cy="492443"/>
          </a:xfrm>
        </p:spPr>
        <p:txBody>
          <a:bodyPr>
            <a:spAutoFit/>
          </a:bodyPr>
          <a:lstStyle/>
          <a:p>
            <a:r>
              <a:rPr lang="en-US" sz="3200" dirty="0"/>
              <a:t>Traditional Systems Life Cycle</a:t>
            </a:r>
          </a:p>
        </p:txBody>
      </p:sp>
      <p:sp>
        <p:nvSpPr>
          <p:cNvPr id="5" name="Content Placeholder 4"/>
          <p:cNvSpPr>
            <a:spLocks noGrp="1"/>
          </p:cNvSpPr>
          <p:nvPr>
            <p:ph idx="1"/>
          </p:nvPr>
        </p:nvSpPr>
        <p:spPr>
          <a:xfrm>
            <a:off x="457200" y="795849"/>
            <a:ext cx="8229600" cy="3885679"/>
          </a:xfrm>
        </p:spPr>
        <p:txBody>
          <a:bodyPr>
            <a:spAutoFit/>
          </a:bodyPr>
          <a:lstStyle/>
          <a:p>
            <a:r>
              <a:rPr lang="en-IN" altLang="en-US" sz="2000" dirty="0"/>
              <a:t>Oldest method for building information systems</a:t>
            </a:r>
          </a:p>
          <a:p>
            <a:r>
              <a:rPr lang="en-IN" altLang="en-US" sz="2000" dirty="0"/>
              <a:t>Phased approach</a:t>
            </a:r>
          </a:p>
          <a:p>
            <a:pPr lvl="1"/>
            <a:r>
              <a:rPr lang="en-IN" altLang="en-US" sz="2000" dirty="0"/>
              <a:t>Development divided into formal stages</a:t>
            </a:r>
          </a:p>
          <a:p>
            <a:pPr lvl="1"/>
            <a:r>
              <a:rPr lang="en-IN" altLang="en-US" sz="2000" dirty="0"/>
              <a:t>“Waterfall” approach: One stage finishes before next stage begins</a:t>
            </a:r>
          </a:p>
          <a:p>
            <a:r>
              <a:rPr lang="en-IN" altLang="en-US" sz="2000" dirty="0"/>
              <a:t>Formal division of </a:t>
            </a:r>
            <a:r>
              <a:rPr lang="en-IN" altLang="en-US" sz="2000" dirty="0" err="1"/>
              <a:t>labor</a:t>
            </a:r>
            <a:r>
              <a:rPr lang="en-IN" altLang="en-US" sz="2000" dirty="0"/>
              <a:t> between end users and information systems specialists</a:t>
            </a:r>
          </a:p>
          <a:p>
            <a:r>
              <a:rPr lang="en-IN" altLang="en-US" sz="2000" dirty="0"/>
              <a:t>Emphasizes formal specifications and paperwork</a:t>
            </a:r>
          </a:p>
          <a:p>
            <a:r>
              <a:rPr lang="en-IN" altLang="en-US" sz="2000" dirty="0"/>
              <a:t>Still used for building large complex systems</a:t>
            </a:r>
          </a:p>
          <a:p>
            <a:r>
              <a:rPr lang="en-IN" altLang="en-US" sz="2000" dirty="0"/>
              <a:t>Can be costly, time-consuming, and inflexible</a:t>
            </a:r>
          </a:p>
        </p:txBody>
      </p:sp>
      <p:sp>
        <p:nvSpPr>
          <p:cNvPr id="2" name="Footer Placeholder 1">
            <a:extLst>
              <a:ext uri="{FF2B5EF4-FFF2-40B4-BE49-F238E27FC236}">
                <a16:creationId xmlns:a16="http://schemas.microsoft.com/office/drawing/2014/main" id="{E5909457-A676-4AE9-A65E-5B73B96E496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4294935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1977"/>
            <a:ext cx="8229600" cy="923330"/>
          </a:xfrm>
        </p:spPr>
        <p:txBody>
          <a:bodyPr>
            <a:spAutoFit/>
          </a:bodyPr>
          <a:lstStyle/>
          <a:p>
            <a:r>
              <a:rPr lang="en-IN" sz="3000" dirty="0"/>
              <a:t>Figure 13.9 The Traditional Systems Development Life Cycle</a:t>
            </a:r>
            <a:endParaRPr lang="en-US" sz="3000" dirty="0"/>
          </a:p>
        </p:txBody>
      </p:sp>
      <p:pic>
        <p:nvPicPr>
          <p:cNvPr id="9218" name="Picture 2" descr="A step diagram explains the various stages of a traditional systems life cycle. For a full description, see Notes. Press F6. "/>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1919" y="1196073"/>
            <a:ext cx="5500163" cy="350927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A8CD31E-38CE-4BFC-89CE-18F95B59745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481838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1666"/>
            <a:ext cx="8229600" cy="553998"/>
          </a:xfrm>
        </p:spPr>
        <p:txBody>
          <a:bodyPr>
            <a:spAutoFit/>
          </a:bodyPr>
          <a:lstStyle/>
          <a:p>
            <a:r>
              <a:rPr lang="en-US" dirty="0"/>
              <a:t>Prototyping </a:t>
            </a:r>
            <a:r>
              <a:rPr lang="en-US" sz="2800" dirty="0"/>
              <a:t>(1 of 2)</a:t>
            </a:r>
          </a:p>
        </p:txBody>
      </p:sp>
      <p:sp>
        <p:nvSpPr>
          <p:cNvPr id="5" name="Content Placeholder 4"/>
          <p:cNvSpPr>
            <a:spLocks noGrp="1"/>
          </p:cNvSpPr>
          <p:nvPr>
            <p:ph idx="1"/>
          </p:nvPr>
        </p:nvSpPr>
        <p:spPr>
          <a:xfrm>
            <a:off x="457200" y="937320"/>
            <a:ext cx="8229600" cy="3539430"/>
          </a:xfrm>
        </p:spPr>
        <p:txBody>
          <a:bodyPr>
            <a:spAutoFit/>
          </a:bodyPr>
          <a:lstStyle/>
          <a:p>
            <a:r>
              <a:rPr lang="en-IN" altLang="en-US" sz="2000" dirty="0"/>
              <a:t>Building experimental system rapidly and inexpensively for end users to evaluate</a:t>
            </a:r>
          </a:p>
          <a:p>
            <a:r>
              <a:rPr lang="en-IN" altLang="en-US" sz="2000" dirty="0"/>
              <a:t>Prototype: Working but preliminary version of information system</a:t>
            </a:r>
          </a:p>
          <a:p>
            <a:pPr lvl="1"/>
            <a:r>
              <a:rPr lang="en-IN" altLang="en-US" sz="2000" dirty="0"/>
              <a:t>Approved prototype serves as template for final system</a:t>
            </a:r>
          </a:p>
          <a:p>
            <a:r>
              <a:rPr lang="en-IN" altLang="en-US" sz="2000" dirty="0"/>
              <a:t>Steps in prototyping</a:t>
            </a:r>
          </a:p>
          <a:p>
            <a:pPr lvl="1"/>
            <a:r>
              <a:rPr lang="en-IN" altLang="en-US" sz="2000" dirty="0"/>
              <a:t>Identify user requirements</a:t>
            </a:r>
          </a:p>
          <a:p>
            <a:pPr lvl="1"/>
            <a:r>
              <a:rPr lang="en-IN" altLang="en-US" sz="2000" dirty="0"/>
              <a:t>Develop initial prototype</a:t>
            </a:r>
          </a:p>
          <a:p>
            <a:pPr lvl="1"/>
            <a:r>
              <a:rPr lang="en-IN" altLang="en-US" sz="2000" dirty="0"/>
              <a:t>Use prototype</a:t>
            </a:r>
          </a:p>
          <a:p>
            <a:pPr lvl="1"/>
            <a:r>
              <a:rPr lang="en-IN" altLang="en-US" sz="2000" dirty="0"/>
              <a:t>Revise and enhance prototype</a:t>
            </a:r>
          </a:p>
        </p:txBody>
      </p:sp>
      <p:sp>
        <p:nvSpPr>
          <p:cNvPr id="2" name="Footer Placeholder 1">
            <a:extLst>
              <a:ext uri="{FF2B5EF4-FFF2-40B4-BE49-F238E27FC236}">
                <a16:creationId xmlns:a16="http://schemas.microsoft.com/office/drawing/2014/main" id="{CAD05515-9A28-4E93-A56B-C8362BD899D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7357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3221"/>
            <a:ext cx="8229600" cy="492443"/>
          </a:xfrm>
        </p:spPr>
        <p:txBody>
          <a:bodyPr>
            <a:spAutoFit/>
          </a:bodyPr>
          <a:lstStyle/>
          <a:p>
            <a:r>
              <a:rPr lang="en-US" sz="3200" dirty="0"/>
              <a:t>Figure 13.10 The Prototyping Process</a:t>
            </a:r>
          </a:p>
        </p:txBody>
      </p:sp>
      <p:pic>
        <p:nvPicPr>
          <p:cNvPr id="10242" name="Picture 2" descr="A flowchart explains the steps involved in the process of developing a prototyp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107125" y="990409"/>
            <a:ext cx="2929750" cy="348634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D4A5F818-29F6-4506-9B9B-AEC7FA0FA6C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6764968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1666"/>
            <a:ext cx="8229600" cy="553998"/>
          </a:xfrm>
        </p:spPr>
        <p:txBody>
          <a:bodyPr>
            <a:spAutoFit/>
          </a:bodyPr>
          <a:lstStyle/>
          <a:p>
            <a:r>
              <a:rPr lang="en-US" dirty="0"/>
              <a:t>Prototyping </a:t>
            </a:r>
            <a:r>
              <a:rPr lang="en-US" sz="2800" dirty="0"/>
              <a:t>(2 of 2)</a:t>
            </a:r>
          </a:p>
        </p:txBody>
      </p:sp>
      <p:sp>
        <p:nvSpPr>
          <p:cNvPr id="5" name="Content Placeholder 4"/>
          <p:cNvSpPr>
            <a:spLocks noGrp="1"/>
          </p:cNvSpPr>
          <p:nvPr>
            <p:ph idx="1"/>
          </p:nvPr>
        </p:nvSpPr>
        <p:spPr>
          <a:xfrm>
            <a:off x="457200" y="778164"/>
            <a:ext cx="8229600" cy="3424014"/>
          </a:xfrm>
        </p:spPr>
        <p:txBody>
          <a:bodyPr>
            <a:spAutoFit/>
          </a:bodyPr>
          <a:lstStyle/>
          <a:p>
            <a:r>
              <a:rPr lang="en-IN" altLang="en-US" sz="2000" dirty="0"/>
              <a:t>Advantages of prototyping</a:t>
            </a:r>
          </a:p>
          <a:p>
            <a:pPr lvl="1"/>
            <a:r>
              <a:rPr lang="en-IN" altLang="en-US" sz="2000" dirty="0"/>
              <a:t>Useful if some uncertainty in requirements or design solutions</a:t>
            </a:r>
          </a:p>
          <a:p>
            <a:pPr lvl="1"/>
            <a:r>
              <a:rPr lang="en-IN" altLang="en-US" sz="2000" dirty="0"/>
              <a:t>Often used for end-user interface design</a:t>
            </a:r>
          </a:p>
          <a:p>
            <a:pPr lvl="1"/>
            <a:r>
              <a:rPr lang="en-IN" altLang="en-US" sz="2000" dirty="0"/>
              <a:t>More likely to </a:t>
            </a:r>
            <a:r>
              <a:rPr lang="en-IN" altLang="en-US" sz="2000" dirty="0" err="1"/>
              <a:t>fulfill</a:t>
            </a:r>
            <a:r>
              <a:rPr lang="en-IN" altLang="en-US" sz="2000" dirty="0"/>
              <a:t> end-user requirements</a:t>
            </a:r>
          </a:p>
          <a:p>
            <a:r>
              <a:rPr lang="en-IN" altLang="en-US" sz="2000" dirty="0"/>
              <a:t>Disadvantages</a:t>
            </a:r>
          </a:p>
          <a:p>
            <a:pPr lvl="1"/>
            <a:r>
              <a:rPr lang="en-IN" altLang="en-US" sz="2000" dirty="0"/>
              <a:t>May gloss over essential steps</a:t>
            </a:r>
          </a:p>
          <a:p>
            <a:pPr lvl="1"/>
            <a:r>
              <a:rPr lang="en-IN" altLang="en-US" sz="2000" dirty="0"/>
              <a:t>May not accommodate large quantities of data or large number of users</a:t>
            </a:r>
          </a:p>
          <a:p>
            <a:pPr lvl="2"/>
            <a:r>
              <a:rPr lang="en-IN" altLang="en-US" dirty="0"/>
              <a:t>May not undergo full testing or documentation</a:t>
            </a:r>
          </a:p>
        </p:txBody>
      </p:sp>
      <p:sp>
        <p:nvSpPr>
          <p:cNvPr id="2" name="Footer Placeholder 1">
            <a:extLst>
              <a:ext uri="{FF2B5EF4-FFF2-40B4-BE49-F238E27FC236}">
                <a16:creationId xmlns:a16="http://schemas.microsoft.com/office/drawing/2014/main" id="{9395716D-18B6-4979-BFB9-6A61B5F08ED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0100094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1795"/>
            <a:ext cx="8229600" cy="984885"/>
          </a:xfrm>
        </p:spPr>
        <p:txBody>
          <a:bodyPr>
            <a:spAutoFit/>
          </a:bodyPr>
          <a:lstStyle/>
          <a:p>
            <a:r>
              <a:rPr lang="en-US" sz="3200" dirty="0"/>
              <a:t>Application Software Packages, Software Services, and Outsourcing </a:t>
            </a:r>
            <a:r>
              <a:rPr lang="en-US" sz="2400" dirty="0"/>
              <a:t>(1 of 3)</a:t>
            </a:r>
          </a:p>
        </p:txBody>
      </p:sp>
      <p:sp>
        <p:nvSpPr>
          <p:cNvPr id="5" name="Content Placeholder 4"/>
          <p:cNvSpPr>
            <a:spLocks noGrp="1"/>
          </p:cNvSpPr>
          <p:nvPr>
            <p:ph idx="1"/>
          </p:nvPr>
        </p:nvSpPr>
        <p:spPr>
          <a:xfrm>
            <a:off x="457200" y="1123950"/>
            <a:ext cx="8229600" cy="3816429"/>
          </a:xfrm>
        </p:spPr>
        <p:txBody>
          <a:bodyPr>
            <a:spAutoFit/>
          </a:bodyPr>
          <a:lstStyle/>
          <a:p>
            <a:r>
              <a:rPr lang="en-IN" altLang="en-US" sz="1800" dirty="0"/>
              <a:t>Application software packages and software services</a:t>
            </a:r>
          </a:p>
          <a:p>
            <a:pPr lvl="1"/>
            <a:r>
              <a:rPr lang="en-IN" altLang="en-US" sz="1800" dirty="0"/>
              <a:t>Save time and money</a:t>
            </a:r>
          </a:p>
          <a:p>
            <a:pPr lvl="1"/>
            <a:r>
              <a:rPr lang="en-IN" altLang="en-US" sz="1800" dirty="0"/>
              <a:t>Many packages offer customization features</a:t>
            </a:r>
          </a:p>
          <a:p>
            <a:r>
              <a:rPr lang="en-IN" altLang="en-US" sz="1800" dirty="0"/>
              <a:t>Evaluation criteria for systems analysis include:</a:t>
            </a:r>
          </a:p>
          <a:p>
            <a:pPr lvl="1"/>
            <a:r>
              <a:rPr lang="en-IN" altLang="en-US" sz="1800" dirty="0"/>
              <a:t>Functions provided, flexibility, user friendliness, required resources, database requirements, installation and maintenance efforts, documentation, vendor quality, and cost</a:t>
            </a:r>
          </a:p>
          <a:p>
            <a:r>
              <a:rPr lang="en-IN" altLang="en-US" sz="1800" dirty="0"/>
              <a:t>Request for Proposal (</a:t>
            </a:r>
            <a:r>
              <a:rPr lang="en-IN" altLang="en-US" sz="1800" spc="-300" dirty="0"/>
              <a:t>R F </a:t>
            </a:r>
            <a:r>
              <a:rPr lang="en-IN" altLang="en-US" sz="1800" dirty="0"/>
              <a:t>P)</a:t>
            </a:r>
          </a:p>
          <a:p>
            <a:pPr lvl="1"/>
            <a:r>
              <a:rPr lang="en-IN" altLang="en-US" sz="1800" dirty="0"/>
              <a:t>Detailed list of questions submitted to software vendors</a:t>
            </a:r>
          </a:p>
          <a:p>
            <a:pPr lvl="1"/>
            <a:r>
              <a:rPr lang="en-IN" altLang="en-US" sz="1800" dirty="0"/>
              <a:t>Used to evaluate alternative software packages and cloud software services</a:t>
            </a:r>
          </a:p>
        </p:txBody>
      </p:sp>
      <p:sp>
        <p:nvSpPr>
          <p:cNvPr id="2" name="Footer Placeholder 1">
            <a:extLst>
              <a:ext uri="{FF2B5EF4-FFF2-40B4-BE49-F238E27FC236}">
                <a16:creationId xmlns:a16="http://schemas.microsoft.com/office/drawing/2014/main" id="{073AE8F2-F3B1-4043-9843-BD83233EE96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6145380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984885"/>
          </a:xfrm>
        </p:spPr>
        <p:txBody>
          <a:bodyPr>
            <a:spAutoFit/>
          </a:bodyPr>
          <a:lstStyle/>
          <a:p>
            <a:r>
              <a:rPr lang="en-US" sz="3200" dirty="0"/>
              <a:t>Application Software Packages, Software Services, and Outsourcing </a:t>
            </a:r>
            <a:r>
              <a:rPr lang="en-US" sz="2400" dirty="0"/>
              <a:t>(2 of 3)</a:t>
            </a:r>
          </a:p>
        </p:txBody>
      </p:sp>
      <p:sp>
        <p:nvSpPr>
          <p:cNvPr id="5" name="Content Placeholder 4"/>
          <p:cNvSpPr>
            <a:spLocks noGrp="1"/>
          </p:cNvSpPr>
          <p:nvPr>
            <p:ph idx="1"/>
          </p:nvPr>
        </p:nvSpPr>
        <p:spPr>
          <a:xfrm>
            <a:off x="457200" y="1103620"/>
            <a:ext cx="8229600" cy="3677930"/>
          </a:xfrm>
        </p:spPr>
        <p:txBody>
          <a:bodyPr>
            <a:spAutoFit/>
          </a:bodyPr>
          <a:lstStyle/>
          <a:p>
            <a:r>
              <a:rPr lang="en-IN" altLang="en-US" sz="2000" dirty="0"/>
              <a:t>Outsourcing: several types</a:t>
            </a:r>
          </a:p>
          <a:p>
            <a:pPr lvl="1"/>
            <a:r>
              <a:rPr lang="en-IN" altLang="en-US" sz="2000" dirty="0"/>
              <a:t>Cloud and </a:t>
            </a:r>
            <a:r>
              <a:rPr lang="en-IN" altLang="en-US" sz="2000" spc="-300" dirty="0"/>
              <a:t>S a </a:t>
            </a:r>
            <a:r>
              <a:rPr lang="en-IN" altLang="en-US" sz="2000" spc="-300" dirty="0" err="1"/>
              <a:t>a</a:t>
            </a:r>
            <a:r>
              <a:rPr lang="en-IN" altLang="en-US" sz="2000" spc="-300" dirty="0"/>
              <a:t> </a:t>
            </a:r>
            <a:r>
              <a:rPr lang="en-IN" altLang="en-US" sz="2000" dirty="0"/>
              <a:t>S providers: s</a:t>
            </a:r>
            <a:r>
              <a:rPr lang="en-IN" altLang="en-US" dirty="0"/>
              <a:t>ubscribing companies use software and hardware provided by vendors</a:t>
            </a:r>
          </a:p>
          <a:p>
            <a:pPr lvl="1"/>
            <a:r>
              <a:rPr lang="en-IN" altLang="en-US" sz="2000" dirty="0"/>
              <a:t>External vendors</a:t>
            </a:r>
          </a:p>
          <a:p>
            <a:pPr lvl="2"/>
            <a:r>
              <a:rPr lang="en-IN" altLang="en-US" dirty="0"/>
              <a:t>Hired to design, create software</a:t>
            </a:r>
          </a:p>
          <a:p>
            <a:pPr lvl="2"/>
            <a:r>
              <a:rPr lang="en-IN" altLang="en-US" dirty="0"/>
              <a:t>Domestic outsourcing</a:t>
            </a:r>
          </a:p>
          <a:p>
            <a:pPr lvl="3"/>
            <a:r>
              <a:rPr lang="en-IN" altLang="en-US" sz="2000" dirty="0"/>
              <a:t>Driven by firm’s need for additional skills, resources, assets</a:t>
            </a:r>
          </a:p>
          <a:p>
            <a:pPr lvl="2"/>
            <a:r>
              <a:rPr lang="en-IN" altLang="en-US" dirty="0"/>
              <a:t>Offshore outsourcing</a:t>
            </a:r>
          </a:p>
          <a:p>
            <a:pPr lvl="3"/>
            <a:r>
              <a:rPr lang="en-IN" altLang="en-US" sz="2000" dirty="0"/>
              <a:t>Driven by cost-savings</a:t>
            </a:r>
          </a:p>
        </p:txBody>
      </p:sp>
      <p:sp>
        <p:nvSpPr>
          <p:cNvPr id="2" name="Footer Placeholder 1">
            <a:extLst>
              <a:ext uri="{FF2B5EF4-FFF2-40B4-BE49-F238E27FC236}">
                <a16:creationId xmlns:a16="http://schemas.microsoft.com/office/drawing/2014/main" id="{8926BE6E-5814-4FEE-B29A-B347B360536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0514646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1015663"/>
          </a:xfrm>
        </p:spPr>
        <p:txBody>
          <a:bodyPr>
            <a:spAutoFit/>
          </a:bodyPr>
          <a:lstStyle/>
          <a:p>
            <a:r>
              <a:rPr lang="en-US" sz="3200" dirty="0"/>
              <a:t>Application Software Packages, Software Services, and Outsourcing </a:t>
            </a:r>
            <a:r>
              <a:rPr lang="en-US" sz="2400" dirty="0"/>
              <a:t>(3 of 3)</a:t>
            </a:r>
          </a:p>
        </p:txBody>
      </p:sp>
      <p:sp>
        <p:nvSpPr>
          <p:cNvPr id="5" name="Content Placeholder 4"/>
          <p:cNvSpPr>
            <a:spLocks noGrp="1"/>
          </p:cNvSpPr>
          <p:nvPr>
            <p:ph idx="1"/>
          </p:nvPr>
        </p:nvSpPr>
        <p:spPr>
          <a:xfrm>
            <a:off x="457200" y="1385828"/>
            <a:ext cx="8229600" cy="2862322"/>
          </a:xfrm>
        </p:spPr>
        <p:txBody>
          <a:bodyPr>
            <a:spAutoFit/>
          </a:bodyPr>
          <a:lstStyle/>
          <a:p>
            <a:r>
              <a:rPr lang="en-IN" altLang="en-US" dirty="0"/>
              <a:t>Outsourcing Advantages/Disadvantages</a:t>
            </a:r>
          </a:p>
          <a:p>
            <a:pPr lvl="1"/>
            <a:r>
              <a:rPr lang="en-IN" altLang="en-US" dirty="0"/>
              <a:t>Advantages: Allows organization flexibility in </a:t>
            </a:r>
            <a:r>
              <a:rPr lang="en-IN" altLang="en-US" spc="-300" dirty="0"/>
              <a:t>I </a:t>
            </a:r>
            <a:r>
              <a:rPr lang="en-IN" altLang="en-US" dirty="0"/>
              <a:t>T needs</a:t>
            </a:r>
          </a:p>
          <a:p>
            <a:pPr lvl="1"/>
            <a:r>
              <a:rPr lang="en-IN" altLang="en-US" dirty="0"/>
              <a:t>Disadvantages</a:t>
            </a:r>
          </a:p>
          <a:p>
            <a:pPr lvl="2"/>
            <a:r>
              <a:rPr lang="en-IN" altLang="en-US" sz="2200" dirty="0"/>
              <a:t>Hidden costs, for example:</a:t>
            </a:r>
          </a:p>
          <a:p>
            <a:pPr lvl="3"/>
            <a:r>
              <a:rPr lang="en-IN" altLang="en-US" sz="2200" dirty="0"/>
              <a:t>Identifying and selecting vendor</a:t>
            </a:r>
          </a:p>
          <a:p>
            <a:pPr lvl="3"/>
            <a:r>
              <a:rPr lang="en-IN" altLang="en-US" sz="2200" dirty="0"/>
              <a:t>Transitioning to vendor</a:t>
            </a:r>
          </a:p>
          <a:p>
            <a:pPr lvl="2"/>
            <a:r>
              <a:rPr lang="en-IN" altLang="en-US" sz="2200" dirty="0"/>
              <a:t>Opening up proprietary business processes to third party</a:t>
            </a:r>
          </a:p>
        </p:txBody>
      </p:sp>
      <p:sp>
        <p:nvSpPr>
          <p:cNvPr id="2" name="Footer Placeholder 1">
            <a:extLst>
              <a:ext uri="{FF2B5EF4-FFF2-40B4-BE49-F238E27FC236}">
                <a16:creationId xmlns:a16="http://schemas.microsoft.com/office/drawing/2014/main" id="{09B6EDDC-740F-4CF3-A3C2-ADB028DFA7E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167273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394"/>
            <a:ext cx="8229600" cy="984885"/>
          </a:xfrm>
        </p:spPr>
        <p:txBody>
          <a:bodyPr>
            <a:spAutoFit/>
          </a:bodyPr>
          <a:lstStyle/>
          <a:p>
            <a:r>
              <a:rPr lang="en-IN" sz="3200" dirty="0"/>
              <a:t>Figure 13.11 Total Cost of Offshore Outsourcing</a:t>
            </a:r>
            <a:endParaRPr lang="en-US" sz="3200" dirty="0"/>
          </a:p>
        </p:txBody>
      </p:sp>
      <p:pic>
        <p:nvPicPr>
          <p:cNvPr id="3" name="Picture 2" descr="A table summarizes the total cost of offshore outsourcing. For a full description, see Notes. Press F6. &#10;&#10;">
            <a:extLst>
              <a:ext uri="{FF2B5EF4-FFF2-40B4-BE49-F238E27FC236}">
                <a16:creationId xmlns:a16="http://schemas.microsoft.com/office/drawing/2014/main" id="{85DF774D-1430-411A-81BB-0540AF49C7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225" y="1200150"/>
            <a:ext cx="6559550" cy="3340100"/>
          </a:xfrm>
          <a:prstGeom prst="rect">
            <a:avLst/>
          </a:prstGeom>
        </p:spPr>
      </p:pic>
      <p:sp>
        <p:nvSpPr>
          <p:cNvPr id="2" name="Footer Placeholder 1">
            <a:extLst>
              <a:ext uri="{FF2B5EF4-FFF2-40B4-BE49-F238E27FC236}">
                <a16:creationId xmlns:a16="http://schemas.microsoft.com/office/drawing/2014/main" id="{73AB4B92-BB79-4377-8836-57C15B0ACC5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306584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622"/>
            <a:ext cx="8229600" cy="1477328"/>
          </a:xfrm>
        </p:spPr>
        <p:txBody>
          <a:bodyPr>
            <a:spAutoFit/>
          </a:bodyPr>
          <a:lstStyle/>
          <a:p>
            <a:r>
              <a:rPr lang="en-IN" sz="3200" dirty="0"/>
              <a:t>Rapid Application Development (</a:t>
            </a:r>
            <a:r>
              <a:rPr lang="en-IN" sz="3200" spc="-450" dirty="0"/>
              <a:t>R A </a:t>
            </a:r>
            <a:r>
              <a:rPr lang="en-IN" sz="3200" dirty="0"/>
              <a:t>D), Agile Development, Automated Software Testing, and DevOps </a:t>
            </a:r>
            <a:r>
              <a:rPr lang="en-IN" sz="2400" dirty="0"/>
              <a:t>(1 of 3)</a:t>
            </a:r>
            <a:endParaRPr lang="en-US" sz="2400" dirty="0"/>
          </a:p>
        </p:txBody>
      </p:sp>
      <p:sp>
        <p:nvSpPr>
          <p:cNvPr id="5" name="Content Placeholder 4"/>
          <p:cNvSpPr>
            <a:spLocks noGrp="1"/>
          </p:cNvSpPr>
          <p:nvPr>
            <p:ph idx="1"/>
          </p:nvPr>
        </p:nvSpPr>
        <p:spPr>
          <a:xfrm>
            <a:off x="457200" y="1756395"/>
            <a:ext cx="8229600" cy="2562240"/>
          </a:xfrm>
        </p:spPr>
        <p:txBody>
          <a:bodyPr>
            <a:spAutoFit/>
          </a:bodyPr>
          <a:lstStyle/>
          <a:p>
            <a:r>
              <a:rPr lang="en-IN" altLang="en-US" dirty="0"/>
              <a:t>Rapid application development (</a:t>
            </a:r>
            <a:r>
              <a:rPr lang="en-IN" altLang="en-US" spc="-300" dirty="0"/>
              <a:t>R A </a:t>
            </a:r>
            <a:r>
              <a:rPr lang="en-IN" altLang="en-US" dirty="0"/>
              <a:t>D)</a:t>
            </a:r>
          </a:p>
          <a:p>
            <a:pPr lvl="1"/>
            <a:r>
              <a:rPr lang="en-IN" altLang="en-US" sz="2400" dirty="0"/>
              <a:t>Process of creating workable systems in a very short period of time</a:t>
            </a:r>
          </a:p>
          <a:p>
            <a:r>
              <a:rPr lang="en-IN" altLang="en-US" dirty="0"/>
              <a:t>Joint application design (</a:t>
            </a:r>
            <a:r>
              <a:rPr lang="en-IN" altLang="en-US" spc="-300" dirty="0"/>
              <a:t>J A </a:t>
            </a:r>
            <a:r>
              <a:rPr lang="en-IN" altLang="en-US" dirty="0"/>
              <a:t>D)</a:t>
            </a:r>
          </a:p>
          <a:p>
            <a:pPr lvl="1"/>
            <a:r>
              <a:rPr lang="en-IN" altLang="en-US" sz="2400" dirty="0"/>
              <a:t>Used to accelerate generation of information requirements and to develop initial systems design</a:t>
            </a:r>
          </a:p>
        </p:txBody>
      </p:sp>
      <p:sp>
        <p:nvSpPr>
          <p:cNvPr id="2" name="Footer Placeholder 1">
            <a:extLst>
              <a:ext uri="{FF2B5EF4-FFF2-40B4-BE49-F238E27FC236}">
                <a16:creationId xmlns:a16="http://schemas.microsoft.com/office/drawing/2014/main" id="{E456F337-7A8A-4570-854E-57429B4663C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674287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755"/>
            <a:ext cx="8229600" cy="1384995"/>
          </a:xfrm>
        </p:spPr>
        <p:txBody>
          <a:bodyPr>
            <a:spAutoFit/>
          </a:bodyPr>
          <a:lstStyle/>
          <a:p>
            <a:r>
              <a:rPr lang="en-IN" sz="3000" dirty="0"/>
              <a:t>Rapid Application Development (</a:t>
            </a:r>
            <a:r>
              <a:rPr lang="en-IN" sz="3000" spc="-450" dirty="0"/>
              <a:t>R A </a:t>
            </a:r>
            <a:r>
              <a:rPr lang="en-IN" sz="3000" dirty="0"/>
              <a:t>D), Agile Development, Automated Software Testing, and DevOps </a:t>
            </a:r>
            <a:r>
              <a:rPr lang="en-IN" sz="2400" dirty="0"/>
              <a:t>(2 of 3)</a:t>
            </a:r>
            <a:endParaRPr lang="en-US" sz="2400" dirty="0"/>
          </a:p>
        </p:txBody>
      </p:sp>
      <p:sp>
        <p:nvSpPr>
          <p:cNvPr id="5" name="Content Placeholder 4"/>
          <p:cNvSpPr>
            <a:spLocks noGrp="1"/>
          </p:cNvSpPr>
          <p:nvPr>
            <p:ph idx="1"/>
          </p:nvPr>
        </p:nvSpPr>
        <p:spPr>
          <a:xfrm>
            <a:off x="457200" y="1504950"/>
            <a:ext cx="8272130" cy="2923877"/>
          </a:xfrm>
        </p:spPr>
        <p:txBody>
          <a:bodyPr wrap="square">
            <a:spAutoFit/>
          </a:bodyPr>
          <a:lstStyle/>
          <a:p>
            <a:r>
              <a:rPr lang="en-IN" altLang="en-US" sz="2000" dirty="0"/>
              <a:t>Agile development</a:t>
            </a:r>
          </a:p>
          <a:p>
            <a:pPr lvl="1"/>
            <a:r>
              <a:rPr lang="en-IN" altLang="en-US" sz="1800" dirty="0"/>
              <a:t>Focuses on rapid delivery of working software by breaking large project into subprojects that can be completed in short periods of time</a:t>
            </a:r>
          </a:p>
          <a:p>
            <a:r>
              <a:rPr lang="en-IN" altLang="en-US" sz="2000" dirty="0"/>
              <a:t>Automated software testing</a:t>
            </a:r>
          </a:p>
          <a:p>
            <a:pPr lvl="1"/>
            <a:r>
              <a:rPr lang="en-IN" altLang="en-US" sz="1800" dirty="0"/>
              <a:t>Tools to perform examinations of software, report outcomes, compare results with earlier test runs</a:t>
            </a:r>
          </a:p>
          <a:p>
            <a:r>
              <a:rPr lang="en-IN" altLang="en-US" sz="2000" dirty="0"/>
              <a:t>DevOps</a:t>
            </a:r>
          </a:p>
          <a:p>
            <a:pPr lvl="1"/>
            <a:r>
              <a:rPr lang="en-IN" altLang="en-US" sz="1800" dirty="0"/>
              <a:t>Builds on agile development principles as an organizational strategy</a:t>
            </a:r>
          </a:p>
        </p:txBody>
      </p:sp>
      <p:sp>
        <p:nvSpPr>
          <p:cNvPr id="2" name="Footer Placeholder 1">
            <a:extLst>
              <a:ext uri="{FF2B5EF4-FFF2-40B4-BE49-F238E27FC236}">
                <a16:creationId xmlns:a16="http://schemas.microsoft.com/office/drawing/2014/main" id="{DA50C19A-26E7-4BEA-A1A3-A52A3710028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115240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0050"/>
            <a:ext cx="8229600" cy="984885"/>
          </a:xfrm>
        </p:spPr>
        <p:txBody>
          <a:bodyPr>
            <a:spAutoFit/>
          </a:bodyPr>
          <a:lstStyle/>
          <a:p>
            <a:r>
              <a:rPr lang="en-IN" sz="3200" dirty="0"/>
              <a:t>Interactive Session: Technology: McAfee Turns to Automated Software Testing</a:t>
            </a:r>
            <a:endParaRPr lang="en-US" sz="3200" dirty="0"/>
          </a:p>
        </p:txBody>
      </p:sp>
      <p:sp>
        <p:nvSpPr>
          <p:cNvPr id="5" name="Content Placeholder 4"/>
          <p:cNvSpPr>
            <a:spLocks noGrp="1"/>
          </p:cNvSpPr>
          <p:nvPr>
            <p:ph idx="1"/>
          </p:nvPr>
        </p:nvSpPr>
        <p:spPr>
          <a:xfrm>
            <a:off x="457200" y="1200150"/>
            <a:ext cx="8229600" cy="3354765"/>
          </a:xfrm>
        </p:spPr>
        <p:txBody>
          <a:bodyPr>
            <a:spAutoFit/>
          </a:bodyPr>
          <a:lstStyle/>
          <a:p>
            <a:r>
              <a:rPr lang="en-IN" altLang="en-US" sz="2200" dirty="0"/>
              <a:t>Class discussion</a:t>
            </a:r>
          </a:p>
          <a:p>
            <a:pPr lvl="1"/>
            <a:r>
              <a:rPr lang="en-IN" altLang="en-US" dirty="0"/>
              <a:t>Why would a company such as McAfee benefit from automated software testing?</a:t>
            </a:r>
          </a:p>
          <a:p>
            <a:pPr lvl="1"/>
            <a:r>
              <a:rPr lang="en-IN" altLang="en-US" dirty="0"/>
              <a:t>What management, organization, and technology factors did McAfee address in moving to automated software testing?</a:t>
            </a:r>
          </a:p>
          <a:p>
            <a:pPr lvl="1"/>
            <a:r>
              <a:rPr lang="en-IN" altLang="en-US" dirty="0"/>
              <a:t>Was </a:t>
            </a:r>
            <a:r>
              <a:rPr lang="en-IN" altLang="en-US" dirty="0" err="1"/>
              <a:t>Worksoft</a:t>
            </a:r>
            <a:r>
              <a:rPr lang="en-IN" altLang="en-US" dirty="0"/>
              <a:t> Certify a good solution for McAfee? Why or why not?</a:t>
            </a:r>
          </a:p>
          <a:p>
            <a:pPr lvl="1"/>
            <a:r>
              <a:rPr lang="en-IN" altLang="en-US" dirty="0"/>
              <a:t>How did automated software testing change the way McAfee ran its business.</a:t>
            </a:r>
          </a:p>
        </p:txBody>
      </p:sp>
      <p:sp>
        <p:nvSpPr>
          <p:cNvPr id="2" name="Footer Placeholder 1">
            <a:extLst>
              <a:ext uri="{FF2B5EF4-FFF2-40B4-BE49-F238E27FC236}">
                <a16:creationId xmlns:a16="http://schemas.microsoft.com/office/drawing/2014/main" id="{A6A2119F-58B3-4854-9908-F85F108A43D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4715010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622"/>
            <a:ext cx="8229600" cy="1477328"/>
          </a:xfrm>
        </p:spPr>
        <p:txBody>
          <a:bodyPr>
            <a:spAutoFit/>
          </a:bodyPr>
          <a:lstStyle/>
          <a:p>
            <a:r>
              <a:rPr lang="en-IN" sz="3200" dirty="0"/>
              <a:t>Rapid Application Development (</a:t>
            </a:r>
            <a:r>
              <a:rPr lang="en-IN" sz="3200" spc="-450" dirty="0"/>
              <a:t>R A </a:t>
            </a:r>
            <a:r>
              <a:rPr lang="en-IN" sz="3200" dirty="0"/>
              <a:t>D), Agile Development, Automated Software Testing, and DevOps </a:t>
            </a:r>
            <a:r>
              <a:rPr lang="en-IN" sz="2400" dirty="0"/>
              <a:t>(3 of 3)</a:t>
            </a:r>
            <a:endParaRPr lang="en-US" sz="2400" dirty="0"/>
          </a:p>
        </p:txBody>
      </p:sp>
      <p:sp>
        <p:nvSpPr>
          <p:cNvPr id="5" name="Content Placeholder 4"/>
          <p:cNvSpPr>
            <a:spLocks noGrp="1"/>
          </p:cNvSpPr>
          <p:nvPr>
            <p:ph idx="1"/>
          </p:nvPr>
        </p:nvSpPr>
        <p:spPr>
          <a:xfrm>
            <a:off x="457200" y="1669033"/>
            <a:ext cx="8229600" cy="2854628"/>
          </a:xfrm>
        </p:spPr>
        <p:txBody>
          <a:bodyPr>
            <a:spAutoFit/>
          </a:bodyPr>
          <a:lstStyle/>
          <a:p>
            <a:r>
              <a:rPr lang="en-IN" altLang="en-US" sz="2000" dirty="0"/>
              <a:t>Low-code development</a:t>
            </a:r>
          </a:p>
          <a:p>
            <a:pPr lvl="1"/>
            <a:r>
              <a:rPr lang="en-IN" altLang="en-US" sz="1800" dirty="0"/>
              <a:t>Enables faster development of applications, with minimal hand-coding, using visual modelling in a graphical interface</a:t>
            </a:r>
          </a:p>
          <a:p>
            <a:r>
              <a:rPr lang="en-IN" altLang="en-US" sz="2000" dirty="0"/>
              <a:t>No-code development</a:t>
            </a:r>
          </a:p>
          <a:p>
            <a:pPr lvl="1"/>
            <a:r>
              <a:rPr lang="en-IN" altLang="en-US" sz="1800" dirty="0"/>
              <a:t>Includes built-in tools that enable user to create apps without any coding</a:t>
            </a:r>
          </a:p>
          <a:p>
            <a:pPr lvl="1"/>
            <a:r>
              <a:rPr lang="en-IN" altLang="en-US" sz="1800" dirty="0"/>
              <a:t>Some disadvantages</a:t>
            </a:r>
          </a:p>
          <a:p>
            <a:pPr lvl="2"/>
            <a:r>
              <a:rPr lang="en-IN" altLang="en-US" sz="1800" dirty="0"/>
              <a:t>Have limited functionality</a:t>
            </a:r>
          </a:p>
          <a:p>
            <a:pPr lvl="2"/>
            <a:r>
              <a:rPr lang="en-IN" altLang="en-US" sz="1800" dirty="0"/>
              <a:t>Users can create applications without proper management oversight</a:t>
            </a:r>
          </a:p>
        </p:txBody>
      </p:sp>
      <p:sp>
        <p:nvSpPr>
          <p:cNvPr id="2" name="Footer Placeholder 1">
            <a:extLst>
              <a:ext uri="{FF2B5EF4-FFF2-40B4-BE49-F238E27FC236}">
                <a16:creationId xmlns:a16="http://schemas.microsoft.com/office/drawing/2014/main" id="{38CD9BC0-9C1E-463D-BFB8-55141D1CA6F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302353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4707"/>
            <a:ext cx="8229600" cy="553998"/>
          </a:xfrm>
        </p:spPr>
        <p:txBody>
          <a:bodyPr>
            <a:spAutoFit/>
          </a:bodyPr>
          <a:lstStyle/>
          <a:p>
            <a:r>
              <a:rPr lang="en-IN" dirty="0"/>
              <a:t>Mobile Application Development</a:t>
            </a:r>
            <a:endParaRPr lang="en-US" dirty="0"/>
          </a:p>
        </p:txBody>
      </p:sp>
      <p:sp>
        <p:nvSpPr>
          <p:cNvPr id="5" name="Content Placeholder 4"/>
          <p:cNvSpPr>
            <a:spLocks noGrp="1"/>
          </p:cNvSpPr>
          <p:nvPr>
            <p:ph idx="1"/>
          </p:nvPr>
        </p:nvSpPr>
        <p:spPr>
          <a:xfrm>
            <a:off x="457200" y="935831"/>
            <a:ext cx="8229600" cy="3693319"/>
          </a:xfrm>
        </p:spPr>
        <p:txBody>
          <a:bodyPr>
            <a:spAutoFit/>
          </a:bodyPr>
          <a:lstStyle/>
          <a:p>
            <a:r>
              <a:rPr lang="en-IN" altLang="en-US" sz="2000" dirty="0"/>
              <a:t>Mobile websites</a:t>
            </a:r>
          </a:p>
          <a:p>
            <a:r>
              <a:rPr lang="en-IN" altLang="en-US" sz="2000" dirty="0"/>
              <a:t>Mobile web apps</a:t>
            </a:r>
          </a:p>
          <a:p>
            <a:r>
              <a:rPr lang="en-IN" altLang="en-US" sz="2000" dirty="0"/>
              <a:t>Native apps</a:t>
            </a:r>
          </a:p>
          <a:p>
            <a:r>
              <a:rPr lang="en-IN" altLang="en-US" sz="2000" dirty="0"/>
              <a:t>Special requirements for mobile platform</a:t>
            </a:r>
          </a:p>
          <a:p>
            <a:pPr lvl="1"/>
            <a:r>
              <a:rPr lang="en-IN" altLang="en-US" sz="2000" dirty="0"/>
              <a:t>Smaller screens, keyboards, </a:t>
            </a:r>
            <a:r>
              <a:rPr lang="en-IN" altLang="en-US" sz="2000" dirty="0" err="1"/>
              <a:t>multitouch</a:t>
            </a:r>
            <a:r>
              <a:rPr lang="en-IN" altLang="en-US" sz="2000" dirty="0"/>
              <a:t> gestures, saving resources (memory, processing)</a:t>
            </a:r>
          </a:p>
          <a:p>
            <a:r>
              <a:rPr lang="en-IN" altLang="en-US" sz="2000" dirty="0"/>
              <a:t>Responsive web design</a:t>
            </a:r>
          </a:p>
          <a:p>
            <a:pPr lvl="1"/>
            <a:r>
              <a:rPr lang="en-IN" altLang="en-US" sz="2000" dirty="0"/>
              <a:t>Websites programmed so that layouts change automatically according to user’s computing device</a:t>
            </a:r>
          </a:p>
        </p:txBody>
      </p:sp>
      <p:sp>
        <p:nvSpPr>
          <p:cNvPr id="2" name="Footer Placeholder 1">
            <a:extLst>
              <a:ext uri="{FF2B5EF4-FFF2-40B4-BE49-F238E27FC236}">
                <a16:creationId xmlns:a16="http://schemas.microsoft.com/office/drawing/2014/main" id="{3E9BC6EF-6891-4F52-84E0-C6BD0032331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468963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4707"/>
            <a:ext cx="8229600" cy="553998"/>
          </a:xfrm>
        </p:spPr>
        <p:txBody>
          <a:bodyPr>
            <a:spAutoFit/>
          </a:bodyPr>
          <a:lstStyle/>
          <a:p>
            <a:r>
              <a:rPr lang="en-US" dirty="0"/>
              <a:t>How Will MIS Help My Career?</a:t>
            </a:r>
          </a:p>
        </p:txBody>
      </p:sp>
      <p:sp>
        <p:nvSpPr>
          <p:cNvPr id="5" name="Content Placeholder 4"/>
          <p:cNvSpPr>
            <a:spLocks noGrp="1"/>
          </p:cNvSpPr>
          <p:nvPr>
            <p:ph idx="1"/>
          </p:nvPr>
        </p:nvSpPr>
        <p:spPr>
          <a:xfrm>
            <a:off x="457200" y="963993"/>
            <a:ext cx="8229600" cy="2462213"/>
          </a:xfrm>
        </p:spPr>
        <p:txBody>
          <a:bodyPr>
            <a:spAutoFit/>
          </a:bodyPr>
          <a:lstStyle/>
          <a:p>
            <a:r>
              <a:rPr lang="en-IN" altLang="en-US" sz="2200" dirty="0"/>
              <a:t>The Company: Systems 100 Technology Consultants</a:t>
            </a:r>
          </a:p>
          <a:p>
            <a:r>
              <a:rPr lang="en-IN" altLang="en-US" sz="2200" dirty="0"/>
              <a:t>Position Description: Entry-level junior business systems analyst</a:t>
            </a:r>
          </a:p>
          <a:p>
            <a:r>
              <a:rPr lang="en-IN" altLang="en-US" sz="2200" dirty="0"/>
              <a:t>Job Requirements</a:t>
            </a:r>
          </a:p>
          <a:p>
            <a:r>
              <a:rPr lang="en-IN" altLang="en-US" sz="2200" dirty="0"/>
              <a:t>Interview Questions</a:t>
            </a:r>
          </a:p>
          <a:p>
            <a:r>
              <a:rPr lang="en-IN" altLang="en-US" sz="2200" dirty="0"/>
              <a:t>Author Tips</a:t>
            </a:r>
          </a:p>
        </p:txBody>
      </p:sp>
      <p:sp>
        <p:nvSpPr>
          <p:cNvPr id="2" name="Footer Placeholder 1">
            <a:extLst>
              <a:ext uri="{FF2B5EF4-FFF2-40B4-BE49-F238E27FC236}">
                <a16:creationId xmlns:a16="http://schemas.microsoft.com/office/drawing/2014/main" id="{D252CB33-5991-4289-A406-D703BCA49A2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8852290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2972" y="64707"/>
            <a:ext cx="8124825" cy="553998"/>
          </a:xfrm>
        </p:spPr>
        <p:txBody>
          <a:bodyPr vert="horz" wrap="square" lIns="0" tIns="0" rIns="0" bIns="0" rtlCol="0" anchor="b"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73" y="1460109"/>
            <a:ext cx="1277815" cy="1434026"/>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09750" y="994996"/>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
        <p:nvSpPr>
          <p:cNvPr id="3" name="Footer Placeholder 2">
            <a:extLst>
              <a:ext uri="{FF2B5EF4-FFF2-40B4-BE49-F238E27FC236}">
                <a16:creationId xmlns:a16="http://schemas.microsoft.com/office/drawing/2014/main" id="{F3968630-B1C3-4CCE-BC63-DB50E5CBE0AD}"/>
              </a:ext>
            </a:extLst>
          </p:cNvPr>
          <p:cNvSpPr>
            <a:spLocks noGrp="1"/>
          </p:cNvSpPr>
          <p:nvPr>
            <p:ph type="ft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00316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4627</TotalTime>
  <Words>7866</Words>
  <Application>Microsoft Office PowerPoint</Application>
  <PresentationFormat>On-screen Show (16:9)</PresentationFormat>
  <Paragraphs>596</Paragraphs>
  <Slides>48</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Symbol</vt:lpstr>
      <vt:lpstr>Times New Roman</vt:lpstr>
      <vt:lpstr>Verdana</vt:lpstr>
      <vt:lpstr>Wingdings</vt:lpstr>
      <vt:lpstr>508 Lecture</vt:lpstr>
      <vt:lpstr>Management Information Systems: Managing the Digital Firm</vt:lpstr>
      <vt:lpstr>Learning Objectives</vt:lpstr>
      <vt:lpstr>Video Cases</vt:lpstr>
      <vt:lpstr>Vinci Energies Builds a New Mobile Employee Time Sheet App (1 of 2)</vt:lpstr>
      <vt:lpstr>Vinci Energies Builds a New Mobile Employee Time Sheet App (2 of 2)</vt:lpstr>
      <vt:lpstr>Systems Development and Organizational Change (1 of 2)</vt:lpstr>
      <vt:lpstr>Systems Development and Organizational Change (2 of 2)</vt:lpstr>
      <vt:lpstr>Figure 13.1 Organizational Change Carries Risks and Rewards</vt:lpstr>
      <vt:lpstr>Interactive Session: Organizations: Business Process Redesign at DP World</vt:lpstr>
      <vt:lpstr>Business Process Redesign</vt:lpstr>
      <vt:lpstr>Figure 13.2 As-is Business Process for Purchasing a Book from a Physical Bookstore</vt:lpstr>
      <vt:lpstr>Figure 13.3 Redesigned Process for Purchasing a Book Online</vt:lpstr>
      <vt:lpstr>Tools for Business Process Management</vt:lpstr>
      <vt:lpstr>Systems Development</vt:lpstr>
      <vt:lpstr>Figure 13.4 The Systems Development Process</vt:lpstr>
      <vt:lpstr>Systems Analysis</vt:lpstr>
      <vt:lpstr>Systems Design</vt:lpstr>
      <vt:lpstr>Table 13.1 System Design Specifications (1 of 2)</vt:lpstr>
      <vt:lpstr>Table 13.1 System Design Specifications (2 of 2)</vt:lpstr>
      <vt:lpstr>Completing the Systems Development Process (1 of 3)</vt:lpstr>
      <vt:lpstr>Figure 13.5 A Sample Test Plan to Test a Record Change</vt:lpstr>
      <vt:lpstr>Completing the Systems Development Process (2 of 3)</vt:lpstr>
      <vt:lpstr>Completing the Systems Development Process (3 of 3)</vt:lpstr>
      <vt:lpstr>Table 13.2 Systems Development</vt:lpstr>
      <vt:lpstr>Structured Methodologies (1 of 3)</vt:lpstr>
      <vt:lpstr>Structured Methodologies (2 of 3)</vt:lpstr>
      <vt:lpstr>Figure 13.6 Data Flow Diagram for Mail-in University Registration System</vt:lpstr>
      <vt:lpstr>Structured Methodologies (3 of 3)</vt:lpstr>
      <vt:lpstr>Figure 13.7 High-level Structure Chart for a Payroll System</vt:lpstr>
      <vt:lpstr>Object-Oriented Development (1 of 2)</vt:lpstr>
      <vt:lpstr>Figure 13.8 Class and Inheritance</vt:lpstr>
      <vt:lpstr>Object-Oriented Development (2 of 2)</vt:lpstr>
      <vt:lpstr>Traditional Systems Life Cycle</vt:lpstr>
      <vt:lpstr>Figure 13.9 The Traditional Systems Development Life Cycle</vt:lpstr>
      <vt:lpstr>Prototyping (1 of 2)</vt:lpstr>
      <vt:lpstr>Figure 13.10 The Prototyping Process</vt:lpstr>
      <vt:lpstr>Prototyping (2 of 2)</vt:lpstr>
      <vt:lpstr>Application Software Packages, Software Services, and Outsourcing (1 of 3)</vt:lpstr>
      <vt:lpstr>Application Software Packages, Software Services, and Outsourcing (2 of 3)</vt:lpstr>
      <vt:lpstr>Application Software Packages, Software Services, and Outsourcing (3 of 3)</vt:lpstr>
      <vt:lpstr>Figure 13.11 Total Cost of Offshore Outsourcing</vt:lpstr>
      <vt:lpstr>Rapid Application Development (R A D), Agile Development, Automated Software Testing, and DevOps (1 of 3)</vt:lpstr>
      <vt:lpstr>Rapid Application Development (R A D), Agile Development, Automated Software Testing, and DevOps (2 of 3)</vt:lpstr>
      <vt:lpstr>Interactive Session: Technology: McAfee Turns to Automated Software Testing</vt:lpstr>
      <vt:lpstr>Rapid Application Development (R A D), Agile Development, Automated Software Testing, and DevOps (3 of 3)</vt:lpstr>
      <vt:lpstr>Mobile Application Development</vt:lpstr>
      <vt:lpstr>How Will MIS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Daniel Luiz</cp:lastModifiedBy>
  <cp:revision>1128</cp:revision>
  <cp:lastPrinted>2020-11-04T19:38:58Z</cp:lastPrinted>
  <dcterms:created xsi:type="dcterms:W3CDTF">2014-07-14T20:04:21Z</dcterms:created>
  <dcterms:modified xsi:type="dcterms:W3CDTF">2021-12-16T09:49:10Z</dcterms:modified>
</cp:coreProperties>
</file>