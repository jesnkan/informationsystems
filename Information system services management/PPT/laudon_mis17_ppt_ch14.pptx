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506" r:id="rId2"/>
    <p:sldId id="380" r:id="rId3"/>
    <p:sldId id="518" r:id="rId4"/>
    <p:sldId id="519" r:id="rId5"/>
    <p:sldId id="555" r:id="rId6"/>
    <p:sldId id="553" r:id="rId7"/>
    <p:sldId id="525" r:id="rId8"/>
    <p:sldId id="526" r:id="rId9"/>
    <p:sldId id="527" r:id="rId10"/>
    <p:sldId id="550" r:id="rId11"/>
    <p:sldId id="529" r:id="rId12"/>
    <p:sldId id="530" r:id="rId13"/>
    <p:sldId id="531" r:id="rId14"/>
    <p:sldId id="532" r:id="rId15"/>
    <p:sldId id="520" r:id="rId16"/>
    <p:sldId id="548" r:id="rId17"/>
    <p:sldId id="522" r:id="rId18"/>
    <p:sldId id="533" r:id="rId19"/>
    <p:sldId id="534" r:id="rId20"/>
    <p:sldId id="535" r:id="rId21"/>
    <p:sldId id="536" r:id="rId22"/>
    <p:sldId id="537" r:id="rId23"/>
    <p:sldId id="538" r:id="rId24"/>
    <p:sldId id="551" r:id="rId25"/>
    <p:sldId id="552" r:id="rId26"/>
    <p:sldId id="542" r:id="rId27"/>
    <p:sldId id="544" r:id="rId28"/>
    <p:sldId id="543" r:id="rId29"/>
    <p:sldId id="545" r:id="rId30"/>
    <p:sldId id="546" r:id="rId31"/>
    <p:sldId id="547" r:id="rId32"/>
    <p:sldId id="514" r:id="rId33"/>
  </p:sldIdLst>
  <p:sldSz cx="9144000" cy="5143500" type="screen16x9"/>
  <p:notesSz cx="6858000" cy="9144000"/>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324"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10" orient="horz" pos="900" userDrawn="1">
          <p15:clr>
            <a:srgbClr val="A4A3A4"/>
          </p15:clr>
        </p15:guide>
        <p15:guide id="11" orient="horz" pos="11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ol Traver" initials="CT" lastIdx="3" clrIdx="0">
    <p:extLst>
      <p:ext uri="{19B8F6BF-5375-455C-9EA6-DF929625EA0E}">
        <p15:presenceInfo xmlns:p15="http://schemas.microsoft.com/office/powerpoint/2012/main" userId="017e1d6f1d8651f9" providerId="Windows Live"/>
      </p:ext>
    </p:extLst>
  </p:cmAuthor>
  <p:cmAuthor id="2" name="Diane Kosharek" initials="DK" lastIdx="4" clrIdx="1">
    <p:extLst>
      <p:ext uri="{19B8F6BF-5375-455C-9EA6-DF929625EA0E}">
        <p15:presenceInfo xmlns:p15="http://schemas.microsoft.com/office/powerpoint/2012/main" userId="f80e80a411c6fff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5721E-C80B-4E26-9CED-0EBFDBA28B49}" v="48" dt="2019-01-02T20:47:52.858"/>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3" autoAdjust="0"/>
    <p:restoredTop sz="80364" autoAdjust="0"/>
  </p:normalViewPr>
  <p:slideViewPr>
    <p:cSldViewPr>
      <p:cViewPr varScale="1">
        <p:scale>
          <a:sx n="76" d="100"/>
          <a:sy n="76" d="100"/>
        </p:scale>
        <p:origin x="1122" y="84"/>
      </p:cViewPr>
      <p:guideLst>
        <p:guide orient="horz" pos="1620"/>
        <p:guide pos="2880"/>
        <p:guide orient="horz" pos="324"/>
        <p:guide orient="horz" pos="3024"/>
        <p:guide orient="horz" pos="792"/>
        <p:guide pos="288"/>
        <p:guide pos="5472"/>
        <p:guide orient="horz" pos="900"/>
        <p:guide orient="horz" pos="1152"/>
      </p:guideLst>
    </p:cSldViewPr>
  </p:slideViewPr>
  <p:outlineViewPr>
    <p:cViewPr>
      <p:scale>
        <a:sx n="33" d="100"/>
        <a:sy n="33" d="100"/>
      </p:scale>
      <p:origin x="0" y="-19842"/>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t>This chapter discusses the role and importance of developing a business case for the acquisition and development of a new information system and then effectively managing projects and project risk. Have students describe why project management is important to information systems projects. Have some students worked on projects (not necessarily IT projects) at work which were poorly managed? How many have worked on well-managed projects? What were the really significant factors that made for a </a:t>
            </a:r>
            <a:r>
              <a:rPr lang="ja-JP" altLang="en-US" dirty="0"/>
              <a:t>“</a:t>
            </a:r>
            <a:r>
              <a:rPr lang="en-US" altLang="ja-JP" dirty="0"/>
              <a:t>well-managed</a:t>
            </a:r>
            <a:r>
              <a:rPr lang="ja-JP" altLang="en-US" dirty="0"/>
              <a:t>”</a:t>
            </a:r>
            <a:r>
              <a:rPr lang="en-US" altLang="ja-JP" dirty="0"/>
              <a:t> (or </a:t>
            </a:r>
            <a:r>
              <a:rPr lang="ja-JP" altLang="en-US" dirty="0"/>
              <a:t>“</a:t>
            </a:r>
            <a:r>
              <a:rPr lang="en-US" altLang="ja-JP" dirty="0"/>
              <a:t>poorly managed</a:t>
            </a:r>
            <a:r>
              <a:rPr lang="ja-JP" altLang="en-US" dirty="0"/>
              <a:t>”</a:t>
            </a:r>
            <a:r>
              <a:rPr lang="en-US" altLang="ja-JP" dirty="0"/>
              <a:t>) project?</a:t>
            </a:r>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This slide introduces the important elements that should be included in a business case for the acquisition and development of a new information system. One way to help students relate to this topic is to ask them to create a business case for a major purchase they have recently made, or would like to make, such as for a computer, smartphone, or car.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131212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14.1,</a:t>
            </a:r>
            <a:r>
              <a:rPr lang="en-US" altLang="en-US" baseline="0" dirty="0"/>
              <a:t> Page 530.</a:t>
            </a:r>
          </a:p>
          <a:p>
            <a:r>
              <a:rPr lang="en-US" sz="1200" b="0" i="1" u="none" strike="noStrike" kern="1200" cap="none" baseline="0" dirty="0">
                <a:solidFill>
                  <a:schemeClr val="tx1"/>
                </a:solidFill>
                <a:latin typeface="+mn-lt"/>
                <a:ea typeface="Arial"/>
                <a:cs typeface="Arial"/>
                <a:sym typeface="Arial"/>
              </a:rPr>
              <a:t>There are seven factors that should be addressed when making the business case for an information system.</a:t>
            </a:r>
          </a:p>
          <a:p>
            <a:endParaRPr lang="en-US" sz="1200" b="0" i="0" u="none" strike="noStrike" kern="1200" cap="none" baseline="0" dirty="0">
              <a:solidFill>
                <a:schemeClr val="tx1"/>
              </a:solidFill>
              <a:latin typeface="+mn-lt"/>
              <a:ea typeface="Arial"/>
              <a:cs typeface="Arial"/>
              <a:sym typeface="Arial"/>
            </a:endParaRPr>
          </a:p>
          <a:p>
            <a:pPr marL="0" marR="0">
              <a:lnSpc>
                <a:spcPct val="115000"/>
              </a:lnSpc>
              <a:spcBef>
                <a:spcPts val="0"/>
              </a:spcBef>
              <a:spcAft>
                <a:spcPts val="0"/>
              </a:spcAft>
            </a:pPr>
            <a:r>
              <a:rPr lang="en-US" sz="1200" b="0" i="0" u="sng" strike="noStrike" kern="1200" cap="none" baseline="0" dirty="0">
                <a:solidFill>
                  <a:schemeClr val="tx1"/>
                </a:solidFill>
                <a:latin typeface="+mn-lt"/>
                <a:ea typeface="Arial"/>
                <a:cs typeface="Arial"/>
                <a:sym typeface="Arial"/>
              </a:rPr>
              <a:t>Alt Text</a:t>
            </a:r>
          </a:p>
          <a:p>
            <a:pPr marL="0" marR="0">
              <a:lnSpc>
                <a:spcPct val="115000"/>
              </a:lnSpc>
              <a:spcBef>
                <a:spcPts val="0"/>
              </a:spcBef>
              <a:spcAft>
                <a:spcPts val="0"/>
              </a:spcAft>
            </a:pPr>
            <a:r>
              <a:rPr lang="en-US" sz="1200" b="0" i="0" u="none" strike="noStrike" kern="1200" cap="none" baseline="0" dirty="0">
                <a:solidFill>
                  <a:schemeClr val="tx1"/>
                </a:solidFill>
                <a:latin typeface="+mn-lt"/>
                <a:ea typeface="Arial"/>
                <a:cs typeface="Arial"/>
                <a:sym typeface="Arial"/>
              </a:rPr>
              <a:t>Long description: An illustration lists the seven factors to be considered when making the business case for an information system. </a:t>
            </a:r>
            <a:r>
              <a:rPr lang="en-US" sz="1200" dirty="0">
                <a:solidFill>
                  <a:srgbClr val="000000"/>
                </a:solidFill>
                <a:effectLst/>
                <a:latin typeface="+mn-lt"/>
                <a:ea typeface="Times New Roman" panose="02020603050405020304" pitchFamily="18" charset="0"/>
                <a:cs typeface="Calibri" panose="020F0502020204030204" pitchFamily="34" charset="0"/>
              </a:rPr>
              <a:t>The factors are listed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New products and services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Strategic: Low cost; Differentiation; Scope; Competitors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Survival</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Financial Rationale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Customers and Suppliers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Long term IT plan</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Improved decision making. </a:t>
            </a:r>
            <a:endParaRPr lang="en-US" sz="1200" b="0" i="0" u="none" strike="noStrike" kern="1200" cap="none" baseline="0" dirty="0">
              <a:solidFill>
                <a:schemeClr val="tx1"/>
              </a:solidFill>
              <a:latin typeface="+mn-lt"/>
              <a:ea typeface="Arial"/>
              <a:cs typeface="Arial"/>
              <a:sym typeface="Arial"/>
            </a:endParaRPr>
          </a:p>
          <a:p>
            <a:endParaRPr lang="en-US" sz="1200" b="0" i="0" u="none" strike="noStrike" kern="1200" cap="none" baseline="0" dirty="0">
              <a:solidFill>
                <a:schemeClr val="tx1"/>
              </a:solidFill>
              <a:latin typeface="+mn-lt"/>
              <a:ea typeface="Arial"/>
              <a:cs typeface="Arial"/>
              <a:sym typeface="Arial"/>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2362186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emphasizes the importance of making sure systems projects will support the firm</a:t>
            </a:r>
            <a:r>
              <a:rPr lang="en-US" altLang="ja-JP" dirty="0"/>
              <a:t>’s overall business goals. A key document in ensuring this is the information systems plan. What management decisions are involved in the management strategy? (Hardware acquisition; telecommunications; centralization of authority, data, and hardware; required organizational change)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look at the steps a firm should take in selecting the right systems projects to pursue. Ask students why it is important to inventory existing hardware and software. Ask students to give an example of a long-term information requirement versus a short-term information requirement.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portfolio analysis, a method used to evaluate alternative systems projects according to their levels of risk and benefit. In portfolio analysis, you seek to have a balance between types of systems, based on the level of risk you can afford, similar to a financial portfolio. Ask students what kinds of systems projects would be riskier than others. How could you determine the relative benefit of an information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14.2,</a:t>
            </a:r>
            <a:r>
              <a:rPr lang="en-US" altLang="en-US" baseline="0" dirty="0"/>
              <a:t> Page 532.</a:t>
            </a:r>
          </a:p>
          <a:p>
            <a:r>
              <a:rPr lang="en-US" sz="1200" b="0" i="1" u="none" strike="noStrike" kern="1200" cap="none" baseline="0" dirty="0">
                <a:solidFill>
                  <a:schemeClr val="tx1"/>
                </a:solidFill>
                <a:latin typeface="+mn-lt"/>
                <a:ea typeface="Arial"/>
                <a:cs typeface="Arial"/>
                <a:sym typeface="Arial"/>
              </a:rPr>
              <a:t>Companies should examine their portfolio of projects in terms of potential benefits and likely risks. Certain kinds of projects should be avoided altogether and others developed rapidly. There is no ideal mix. Companies in different industries have different profiles.</a:t>
            </a:r>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priorities a firm should give to information systems with different levels of risk and benefit. The only projects to avoid are high-risk, low-benefit projects. The emphasis given to any of the other three categories depends upon the individual firm. What types of influences on or within a firm might alter the firm</a:t>
            </a:r>
            <a:r>
              <a:rPr lang="en-US" altLang="ja-JP" dirty="0"/>
              <a:t>’s emphasis on one category (e.g., high-benefit, high-risk) over another?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two by two matrix explains the different levels of benefit and risk in a system portfolio. </a:t>
            </a:r>
            <a:r>
              <a:rPr lang="en-US" sz="1200" dirty="0">
                <a:solidFill>
                  <a:srgbClr val="000000"/>
                </a:solidFill>
                <a:effectLst/>
                <a:latin typeface="+mn-lt"/>
                <a:ea typeface="Times New Roman" panose="02020603050405020304" pitchFamily="18" charset="0"/>
                <a:cs typeface="Calibri" panose="020F0502020204030204" pitchFamily="34" charset="0"/>
              </a:rPr>
              <a:t>The vertical dimension of the matrix represents the potential benefits to the firm. The horizontal axis represents the project risk. The various possibilities are listed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Cautiously examine when potential benefits are high and project risk is also high.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Identify and develop when potential benefits are high and project risk is low.</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Routine projects are those where potential benefits are low and project risk is also low.</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Avoid when potential benefits are low and project risk is high.</a:t>
            </a:r>
            <a:endParaRPr lang="en-US" sz="1200" dirty="0">
              <a:effectLst/>
              <a:latin typeface="+mn-l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731148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Scoring models are a convenient way to rank projects for development. But it is necessary</a:t>
            </a:r>
            <a:r>
              <a:rPr lang="en-US" baseline="0" dirty="0"/>
              <a:t> to clarify precisely what are the dimensions of comparison and have all the participants in scoring systems to agree on how to measure these dimensions. A financial analysis should precede the use of scoring models so that everyone understands the financial impact on the firm using fairly objective criteria.</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Table 14.2, Page 533.</a:t>
            </a:r>
          </a:p>
          <a:p>
            <a:endParaRPr lang="en-US" dirty="0"/>
          </a:p>
          <a:p>
            <a:r>
              <a:rPr lang="en-US" dirty="0"/>
              <a:t>This slide provides an excerpt from Table 14.2. For the full table, refer students to the text.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In portfolio analysis, systems are compared along the lines of risk and benefit. This slide examines the ways a project</a:t>
            </a:r>
            <a:r>
              <a:rPr lang="en-US" altLang="ja-JP" dirty="0"/>
              <a:t>’s benefits can be identified and quantified or evaluated. In addition to identifying direct costs (costs for hardware, services, personnel, etc.), firms need to identify tangible benefits and intangible benefits. Ask students to provide examples of tangible and intangible benefits. Note that Chapter 5 introduced the total cost of ownership (TCO) method for evaluating the cost of information systems projects. The TCO method does include expenditures beyond the initial cost of purchasing and installing hardware and software, but does not typically deal with benefits, cost categories such as complexity costs, or </a:t>
            </a:r>
            <a:r>
              <a:rPr lang="ja-JP" altLang="en-US" dirty="0"/>
              <a:t>“</a:t>
            </a:r>
            <a:r>
              <a:rPr lang="en-US" altLang="ja-JP" dirty="0"/>
              <a:t>soft</a:t>
            </a:r>
            <a:r>
              <a:rPr lang="ja-JP" altLang="en-US" dirty="0"/>
              <a:t>”</a:t>
            </a:r>
            <a:r>
              <a:rPr lang="en-US" altLang="ja-JP" dirty="0"/>
              <a:t> and strategic factors discussed later.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introduces the practice of using financial analysis to determine what the return on investment is for an information systems project. Ask students why using these capital budgeting methods may be more accurate in understanding the value of an information system rather than a TCO approach. At the same time, what are some of the pitfalls of using only an ROI approach to investing in IT? Although costs might be relatively easy to establish, benefits are not so easy to identify, and especially in a quantitative manner.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Financial accounting methods do not take into account all of the factors that can affect costs and benefits. Ask the students to describe some of the factors that may affect revenues or costs (costs from organizational disruptions: cost to train end users, productivity costs due to users</a:t>
            </a:r>
            <a:r>
              <a:rPr lang="en-US" altLang="ja-JP" dirty="0"/>
              <a:t>’ learning curves for a new system, time managers need to spend overseeing new system-related changes) as well as some of the benefits that may not be addressed by financial methods (more timely decisions from a new system, enhanced employee learning and expertise).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emphasizes the high risk that projects may run over budget or take more time than anticipated to deliver. Ask students why they think this occurs so frequently. The slide also details the main ways a system can be considered to have </a:t>
            </a:r>
            <a:r>
              <a:rPr lang="ja-JP" altLang="en-US" dirty="0"/>
              <a:t>“</a:t>
            </a:r>
            <a:r>
              <a:rPr lang="en-US" altLang="ja-JP" dirty="0"/>
              <a:t>failed.</a:t>
            </a:r>
            <a:r>
              <a:rPr lang="ja-JP" altLang="en-US" dirty="0"/>
              <a:t>”</a:t>
            </a:r>
            <a:r>
              <a:rPr lang="en-US" altLang="ja-JP" dirty="0"/>
              <a:t> Ask students what is meant by </a:t>
            </a:r>
            <a:r>
              <a:rPr lang="ja-JP" altLang="en-US" dirty="0"/>
              <a:t>“</a:t>
            </a:r>
            <a:r>
              <a:rPr lang="en-US" altLang="ja-JP" dirty="0"/>
              <a:t>Fail to provide organizational benefits</a:t>
            </a:r>
            <a:r>
              <a:rPr lang="ja-JP" altLang="en-US" dirty="0"/>
              <a:t>”</a:t>
            </a:r>
            <a:r>
              <a:rPr lang="en-US" altLang="ja-JP" dirty="0"/>
              <a:t> and provide an example.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14.4,</a:t>
            </a:r>
            <a:r>
              <a:rPr lang="en-US" altLang="en-US" baseline="0" dirty="0"/>
              <a:t> Page 537.</a:t>
            </a:r>
          </a:p>
          <a:p>
            <a:r>
              <a:rPr lang="en-US" sz="1200" b="0" i="1" u="none" strike="noStrike" kern="1200" cap="none" baseline="0" dirty="0">
                <a:solidFill>
                  <a:schemeClr val="tx1"/>
                </a:solidFill>
                <a:latin typeface="+mn-lt"/>
                <a:ea typeface="Arial"/>
                <a:cs typeface="Arial"/>
                <a:sym typeface="Arial"/>
              </a:rPr>
              <a:t>Without proper management, a systems development project takes longer to complete and most often exceeds the allocated budget. The resulting information system most likely is technically inferior and may not be able to demonstrate any benefits to the organization.</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main consequences when an information project is not properly managed. Have any students encountered an information system that was too difficult to use or that didn</a:t>
            </a:r>
            <a:r>
              <a:rPr lang="en-US" altLang="ja-JP" dirty="0"/>
              <a:t>’t work as intended? Have any students experienced a poorly managed project?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1661040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main activities involved in project management and lists the five major variables that project management must deal with. Ask students to describe what </a:t>
            </a:r>
            <a:r>
              <a:rPr lang="ja-JP" altLang="en-US" dirty="0"/>
              <a:t>“</a:t>
            </a:r>
            <a:r>
              <a:rPr lang="en-US" altLang="ja-JP" dirty="0"/>
              <a:t>scope</a:t>
            </a:r>
            <a:r>
              <a:rPr lang="ja-JP" altLang="en-US" dirty="0"/>
              <a:t>”</a:t>
            </a:r>
            <a:r>
              <a:rPr lang="en-US" altLang="ja-JP" dirty="0"/>
              <a:t> means. You can also ask students what project management activities concern the five variables. For example, to control scope, project managers define the work as included in the project. To manage the time spent on the project, project management estimates the time to complete each task and schedules the tasks for optimal efficiency.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discusses a major factor in evaluating projects, risk. (Remember that portfolio analysis ranks systems according to two criteria, benefit and risk.) Most managers don</a:t>
            </a:r>
            <a:r>
              <a:rPr lang="en-US" altLang="ja-JP" dirty="0"/>
              <a:t>’t like to think about risk and most make no attempt to measure it. Most managers are optimists and think about benefits. For instance, in the financial meltdown of 2007, financial managers did not seriously consider risk, or worse,</a:t>
            </a:r>
            <a:r>
              <a:rPr lang="en-US" altLang="ja-JP" baseline="0" dirty="0"/>
              <a:t> neglected risk calculations. </a:t>
            </a:r>
            <a:r>
              <a:rPr lang="en-US" altLang="ja-JP" dirty="0"/>
              <a:t>A great many systems projects fail, which perhaps could have been avoided had managers had a better understanding of project risk. </a:t>
            </a:r>
          </a:p>
          <a:p>
            <a:pPr eaLnBrk="1" hangingPunct="1"/>
            <a:endParaRPr lang="en-US" altLang="en-US" dirty="0"/>
          </a:p>
          <a:p>
            <a:pPr eaLnBrk="1" hangingPunct="1"/>
            <a:r>
              <a:rPr lang="en-US" altLang="en-US" dirty="0"/>
              <a:t>What is meant by risk? Ask students how the size of a project affects its risk. What does organizational complexity mean in this context? Which of these components are organizational versus technical? Can all of them be countered through better project management?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emphasizes that introduction or alteration of an information system has a powerful behavioral and organizational impact. Change management is required to counter resistance and opposition. Ask students for examples of behavioral and organizational impacts that a new information system might have. What types of changes should an analyst look for in assessing the impact of a new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also introduces the concept of implementation and the role of the systems analyst as a change agent, a key role in change management efforts. Ask students what types of activities a change agent would engage in to encourage the adoption of a new information system throughout the enterprise. Why don</a:t>
            </a:r>
            <a:r>
              <a:rPr lang="en-US" altLang="ja-JP" dirty="0"/>
              <a:t>’t employees and managers simply adopt new systems without question?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Two important factors in successful implementation are user involvement and management support. This slide discusses the role of users and the effects of the user–designer communications gap. Ask students to provide examples of user concerns and designer concerns regarding an information system. What are the goals of these two groups?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also discusses a second major factor in successful implementation—management support. It is particularly important to note that if management gives high priority to a project then the project will more likely be treated the same way by users. In what ways can management show support for a project? Which of these are most likely to influence users and technical staff? Why would managers sometimes not show enthusiastic support for a project? (Sometimes, personal, political, and organizational culture differences reduce support for some projects.)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emphasizes the high failure rate for large-scale enterprise and business process management (BPM) projects and the importance of implementation and change management. To some extent, the failure rate has declined in recent years as the major vendor firms stabilized their offerings, making the technology less of a risk. In turn, large corporations have developed a deep experience base with large scale systems. Nevertheless, large-scale system implementations almost invariably run over budget, and are behind schedule. </a:t>
            </a:r>
          </a:p>
          <a:p>
            <a:pPr eaLnBrk="1" hangingPunct="1"/>
            <a:endParaRPr lang="en-US" altLang="en-US" dirty="0"/>
          </a:p>
          <a:p>
            <a:pPr eaLnBrk="1" hangingPunct="1"/>
            <a:r>
              <a:rPr lang="en-US" altLang="en-US" dirty="0"/>
              <a:t>Ask students to recall what implementation means. Ask students why both employees and managers become concerned about changes to functions and career paths.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The next few slides discuss various project management, requirements gathering, and planning methodologies that can be used to counter different types of implementation problems. For instance, technical complexity can be managed by using internal integration tools. Why are these called </a:t>
            </a:r>
            <a:r>
              <a:rPr lang="ja-JP" altLang="en-US" dirty="0"/>
              <a:t>“</a:t>
            </a:r>
            <a:r>
              <a:rPr lang="en-US" altLang="ja-JP" dirty="0"/>
              <a:t>internal integration</a:t>
            </a:r>
            <a:r>
              <a:rPr lang="ja-JP" altLang="en-US" dirty="0"/>
              <a:t>”</a:t>
            </a:r>
            <a:r>
              <a:rPr lang="en-US" altLang="ja-JP" dirty="0"/>
              <a:t> tools?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724400"/>
          </a:xfrm>
        </p:spPr>
        <p:txBody>
          <a:bodyPr>
            <a:normAutofit fontScale="25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3200" dirty="0"/>
              <a:t>Figure 14.5,</a:t>
            </a:r>
            <a:r>
              <a:rPr lang="en-US" altLang="en-US" sz="3200" baseline="0" dirty="0"/>
              <a:t> Page 543.</a:t>
            </a:r>
          </a:p>
          <a:p>
            <a:r>
              <a:rPr lang="en-US" sz="3200" b="0" i="1" u="none" strike="noStrike" kern="1200" cap="none" baseline="0" dirty="0">
                <a:solidFill>
                  <a:schemeClr val="tx1"/>
                </a:solidFill>
                <a:latin typeface="+mn-lt"/>
                <a:ea typeface="Arial"/>
                <a:cs typeface="Arial"/>
                <a:sym typeface="Arial"/>
              </a:rPr>
              <a:t>The Gantt chart in this figure shows the task, person-days, and initials of each responsible person as well as the start and finish dates for each task. The resource summary provides a good manager with the total person-days for each month and for each person working on the project to manage the project successfully. The project described here is a data administration project.</a:t>
            </a:r>
          </a:p>
          <a:p>
            <a:endParaRPr lang="en-US" sz="3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3200" dirty="0"/>
              <a:t>This slide shows a Gantt Chart. The orange lines show the beginning, duration, and end of each task. Organizing a project in this way can allow a manager to see what is or should be worked on at any given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3200" dirty="0"/>
          </a:p>
          <a:p>
            <a:pPr marL="0" marR="0">
              <a:lnSpc>
                <a:spcPct val="115000"/>
              </a:lnSpc>
              <a:spcBef>
                <a:spcPts val="0"/>
              </a:spcBef>
              <a:spcAft>
                <a:spcPts val="0"/>
              </a:spcAft>
            </a:pPr>
            <a:r>
              <a:rPr lang="en-US" altLang="en-US" sz="3200" u="sng" dirty="0">
                <a:latin typeface="+mn-lt"/>
              </a:rPr>
              <a:t>Alt Text</a:t>
            </a:r>
          </a:p>
          <a:p>
            <a:pPr marL="0" marR="0">
              <a:lnSpc>
                <a:spcPct val="115000"/>
              </a:lnSpc>
              <a:spcBef>
                <a:spcPts val="0"/>
              </a:spcBef>
              <a:spcAft>
                <a:spcPts val="0"/>
              </a:spcAft>
            </a:pPr>
            <a:r>
              <a:rPr lang="en-US" altLang="en-US" sz="3200" dirty="0">
                <a:latin typeface="+mn-lt"/>
              </a:rPr>
              <a:t>Long description: A sample Gantt Chart with a resource summary for a data administration project. </a:t>
            </a:r>
            <a:r>
              <a:rPr lang="en-US" sz="3200" dirty="0">
                <a:solidFill>
                  <a:srgbClr val="000000"/>
                </a:solidFill>
                <a:effectLst/>
                <a:latin typeface="+mn-lt"/>
                <a:ea typeface="Times New Roman" panose="02020603050405020304" pitchFamily="18" charset="0"/>
                <a:cs typeface="Calibri" panose="020F0502020204030204" pitchFamily="34" charset="0"/>
              </a:rPr>
              <a:t>The Gantt chart here is similar to that of a horizontal bar chart and illustrates a project schedule. This chart lists the tasks to be performed on the vertical axis, and time intervals on the horizontal axis.</a:t>
            </a:r>
            <a:endParaRPr lang="en-US" sz="3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endParaRPr lang="en-US" sz="3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3200" dirty="0">
                <a:solidFill>
                  <a:srgbClr val="000000"/>
                </a:solidFill>
                <a:effectLst/>
                <a:latin typeface="+mn-lt"/>
                <a:ea typeface="Times New Roman" panose="02020603050405020304" pitchFamily="18" charset="0"/>
                <a:cs typeface="Calibri" panose="020F0502020204030204" pitchFamily="34" charset="0"/>
              </a:rPr>
              <a:t>The width of the horizontal bars in the graph shows the duration of each activity, by illustrating the start and finish dates of a project.</a:t>
            </a:r>
            <a:endParaRPr lang="en-US" sz="3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endParaRPr lang="en-US" sz="3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3200" dirty="0">
                <a:solidFill>
                  <a:srgbClr val="000000"/>
                </a:solidFill>
                <a:effectLst/>
                <a:latin typeface="+mn-lt"/>
                <a:ea typeface="Times New Roman" panose="02020603050405020304" pitchFamily="18" charset="0"/>
                <a:cs typeface="Calibri" panose="020F0502020204030204" pitchFamily="34" charset="0"/>
              </a:rPr>
              <a:t>The details of the task, person-days, and initials of each responsible person as well as the start and finish dates for each task are described below:</a:t>
            </a:r>
            <a:endParaRPr lang="en-US" sz="3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3200" dirty="0">
                <a:solidFill>
                  <a:srgbClr val="000000"/>
                </a:solidFill>
                <a:effectLst/>
                <a:latin typeface="+mn-lt"/>
                <a:ea typeface="Times New Roman" panose="02020603050405020304" pitchFamily="18" charset="0"/>
                <a:cs typeface="Calibri" panose="020F0502020204030204" pitchFamily="34" charset="0"/>
              </a:rPr>
              <a:t>Data administration security:</a:t>
            </a:r>
            <a:endParaRPr lang="en-US" sz="3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QMF security review or setup: Days, 20; Who, EF and TP; Timeline, Mid November 2020 to End of January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Security orientation: Days, 2; Who, EF and JA; Timeline, last week of November 2020 to 3</a:t>
            </a:r>
            <a:r>
              <a:rPr lang="en-US" baseline="30000" dirty="0">
                <a:effectLst/>
                <a:latin typeface="+mn-lt"/>
                <a:ea typeface="Calibri" panose="020F0502020204030204" pitchFamily="34" charset="0"/>
                <a:cs typeface="Calibri" panose="020F0502020204030204" pitchFamily="34" charset="0"/>
              </a:rPr>
              <a:t>rd</a:t>
            </a:r>
            <a:r>
              <a:rPr lang="en-US" dirty="0">
                <a:effectLst/>
                <a:latin typeface="+mn-lt"/>
                <a:ea typeface="Calibri" panose="020F0502020204030204" pitchFamily="34" charset="0"/>
                <a:cs typeface="Calibri" panose="020F0502020204030204" pitchFamily="34" charset="0"/>
              </a:rPr>
              <a:t> week of December 2020.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QMF security maintenance: Days, 35; Who, TP and GL; Timeline, Mid-February 2021 to end of February 2022.</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Data entry sec. profiles: Days, 4; Who, EF and TP; Timeline, December 2020 to January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Data entry sec. views estimation: Days, 12; Who, EF and TP; Timeline, Mid-October 2021 to 3</a:t>
            </a:r>
            <a:r>
              <a:rPr lang="en-US" baseline="30000" dirty="0">
                <a:effectLst/>
                <a:latin typeface="+mn-lt"/>
                <a:ea typeface="Calibri" panose="020F0502020204030204" pitchFamily="34" charset="0"/>
                <a:cs typeface="Calibri" panose="020F0502020204030204" pitchFamily="34" charset="0"/>
              </a:rPr>
              <a:t>rd</a:t>
            </a:r>
            <a:r>
              <a:rPr lang="en-US" dirty="0">
                <a:effectLst/>
                <a:latin typeface="+mn-lt"/>
                <a:ea typeface="Calibri" panose="020F0502020204030204" pitchFamily="34" charset="0"/>
                <a:cs typeface="Calibri" panose="020F0502020204030204" pitchFamily="34" charset="0"/>
              </a:rPr>
              <a:t> week of January 2022.</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Data entry security profiles: Days, 65; Who, EF and TP; Timeline, Mid-August 2021 to 1</a:t>
            </a:r>
            <a:r>
              <a:rPr lang="en-US" baseline="30000" dirty="0">
                <a:effectLst/>
                <a:latin typeface="+mn-lt"/>
                <a:ea typeface="Calibri" panose="020F0502020204030204" pitchFamily="34" charset="0"/>
                <a:cs typeface="Calibri" panose="020F0502020204030204" pitchFamily="34" charset="0"/>
              </a:rPr>
              <a:t>st</a:t>
            </a:r>
            <a:r>
              <a:rPr lang="en-US" dirty="0">
                <a:effectLst/>
                <a:latin typeface="+mn-lt"/>
                <a:ea typeface="Calibri" panose="020F0502020204030204" pitchFamily="34" charset="0"/>
                <a:cs typeface="Calibri" panose="020F0502020204030204" pitchFamily="34" charset="0"/>
              </a:rPr>
              <a:t> week of January 2022.</a:t>
            </a:r>
            <a:endParaRPr lang="en-US" dirty="0">
              <a:effectLst/>
              <a:latin typeface="+mn-lt"/>
              <a:ea typeface="Calibri" panose="020F0502020204030204" pitchFamily="34" charset="0"/>
            </a:endParaRPr>
          </a:p>
          <a:p>
            <a:pPr marL="0" marR="0">
              <a:lnSpc>
                <a:spcPct val="115000"/>
              </a:lnSpc>
              <a:spcBef>
                <a:spcPts val="0"/>
              </a:spcBef>
              <a:spcAft>
                <a:spcPts val="0"/>
              </a:spcAft>
            </a:pPr>
            <a:r>
              <a:rPr lang="en-US" dirty="0">
                <a:solidFill>
                  <a:srgbClr val="000000"/>
                </a:solidFill>
                <a:effectLst/>
                <a:latin typeface="+mn-lt"/>
                <a:ea typeface="Times New Roman" panose="02020603050405020304" pitchFamily="18" charset="0"/>
                <a:cs typeface="Calibri" panose="020F0502020204030204" pitchFamily="34" charset="0"/>
              </a:rPr>
              <a:t>Data dictionary: </a:t>
            </a:r>
            <a:endParaRPr lang="en-US"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Orientation sessions: Days, 1; Who, EF; Timeline, 2</a:t>
            </a:r>
            <a:r>
              <a:rPr lang="en-US" baseline="30000" dirty="0">
                <a:effectLst/>
                <a:latin typeface="+mn-lt"/>
                <a:ea typeface="Calibri" panose="020F0502020204030204" pitchFamily="34" charset="0"/>
                <a:cs typeface="Calibri" panose="020F0502020204030204" pitchFamily="34" charset="0"/>
              </a:rPr>
              <a:t>nd</a:t>
            </a:r>
            <a:r>
              <a:rPr lang="en-US" dirty="0">
                <a:effectLst/>
                <a:latin typeface="+mn-lt"/>
                <a:ea typeface="Calibri" panose="020F0502020204030204" pitchFamily="34" charset="0"/>
                <a:cs typeface="Calibri" panose="020F0502020204030204" pitchFamily="34" charset="0"/>
              </a:rPr>
              <a:t> to 4</a:t>
            </a:r>
            <a:r>
              <a:rPr lang="en-US" baseline="30000" dirty="0">
                <a:effectLst/>
                <a:latin typeface="+mn-lt"/>
                <a:ea typeface="Calibri" panose="020F0502020204030204" pitchFamily="34" charset="0"/>
                <a:cs typeface="Calibri" panose="020F0502020204030204" pitchFamily="34" charset="0"/>
              </a:rPr>
              <a:t>th</a:t>
            </a:r>
            <a:r>
              <a:rPr lang="en-US" dirty="0">
                <a:effectLst/>
                <a:latin typeface="+mn-lt"/>
                <a:ea typeface="Calibri" panose="020F0502020204030204" pitchFamily="34" charset="0"/>
                <a:cs typeface="Calibri" panose="020F0502020204030204" pitchFamily="34" charset="0"/>
              </a:rPr>
              <a:t> week of December 2020.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Data dictionary design: Days, 30; Who, EF and WV; Timeline, October 2020 to 1</a:t>
            </a:r>
            <a:r>
              <a:rPr lang="en-US" baseline="30000" dirty="0">
                <a:effectLst/>
                <a:latin typeface="+mn-lt"/>
                <a:ea typeface="Calibri" panose="020F0502020204030204" pitchFamily="34" charset="0"/>
                <a:cs typeface="Calibri" panose="020F0502020204030204" pitchFamily="34" charset="0"/>
              </a:rPr>
              <a:t>st</a:t>
            </a:r>
            <a:r>
              <a:rPr lang="en-US" dirty="0">
                <a:effectLst/>
                <a:latin typeface="+mn-lt"/>
                <a:ea typeface="Calibri" panose="020F0502020204030204" pitchFamily="34" charset="0"/>
                <a:cs typeface="Calibri" panose="020F0502020204030204" pitchFamily="34" charset="0"/>
              </a:rPr>
              <a:t> week of April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DD production and coordination-query: Days, 20; Who, GL; Timeline, December 2020 to Mid-June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DD production and coordination-live: Days, 40; Who, EF and GL; Timeline, December 2021 to February 2022.</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Data dictionary cleanup: Days, 35; Who, EF and GL; Timeline, October 2020 to 3</a:t>
            </a:r>
            <a:r>
              <a:rPr lang="en-US" baseline="30000" dirty="0">
                <a:effectLst/>
                <a:latin typeface="+mn-lt"/>
                <a:ea typeface="Calibri" panose="020F0502020204030204" pitchFamily="34" charset="0"/>
                <a:cs typeface="Calibri" panose="020F0502020204030204" pitchFamily="34" charset="0"/>
              </a:rPr>
              <a:t>rd</a:t>
            </a:r>
            <a:r>
              <a:rPr lang="en-US" dirty="0">
                <a:effectLst/>
                <a:latin typeface="+mn-lt"/>
                <a:ea typeface="Calibri" panose="020F0502020204030204" pitchFamily="34" charset="0"/>
                <a:cs typeface="Calibri" panose="020F0502020204030204" pitchFamily="34" charset="0"/>
              </a:rPr>
              <a:t> week of February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Data dictionary maintenance: Days, 35; Who, EF and GL; Timeline, 2</a:t>
            </a:r>
            <a:r>
              <a:rPr lang="en-US" baseline="30000" dirty="0">
                <a:effectLst/>
                <a:latin typeface="+mn-lt"/>
                <a:ea typeface="Calibri" panose="020F0502020204030204" pitchFamily="34" charset="0"/>
                <a:cs typeface="Calibri" panose="020F0502020204030204" pitchFamily="34" charset="0"/>
              </a:rPr>
              <a:t>nd</a:t>
            </a:r>
            <a:r>
              <a:rPr lang="en-US" dirty="0">
                <a:effectLst/>
                <a:latin typeface="+mn-lt"/>
                <a:ea typeface="Calibri" panose="020F0502020204030204" pitchFamily="34" charset="0"/>
                <a:cs typeface="Calibri" panose="020F0502020204030204" pitchFamily="34" charset="0"/>
              </a:rPr>
              <a:t> week of April 2021 to March 2022.</a:t>
            </a:r>
            <a:endParaRPr lang="en-US" dirty="0">
              <a:effectLst/>
              <a:latin typeface="+mn-lt"/>
              <a:ea typeface="Calibri" panose="020F0502020204030204" pitchFamily="34" charset="0"/>
            </a:endParaRPr>
          </a:p>
          <a:p>
            <a:pPr marL="0" marR="0">
              <a:lnSpc>
                <a:spcPct val="115000"/>
              </a:lnSpc>
              <a:spcBef>
                <a:spcPts val="0"/>
              </a:spcBef>
              <a:spcAft>
                <a:spcPts val="0"/>
              </a:spcAft>
            </a:pPr>
            <a:endParaRPr lang="en-US"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dirty="0">
                <a:solidFill>
                  <a:srgbClr val="000000"/>
                </a:solidFill>
                <a:effectLst/>
                <a:latin typeface="+mn-lt"/>
                <a:ea typeface="Times New Roman" panose="02020603050405020304" pitchFamily="18" charset="0"/>
                <a:cs typeface="Calibri" panose="020F0502020204030204" pitchFamily="34" charset="0"/>
              </a:rPr>
              <a:t>Procedures revision and design preparation:</a:t>
            </a:r>
            <a:endParaRPr lang="en-US"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Work flows (old): Days, 10; Who, PK and JL; Timeline, October to December 2020.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Payroll data flows: Days, 31; Who, JL and PK; Timeline, October to December 2020.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HRIS P/R model: Days, 11; Who, PK and JL; Timeline, Mid-November 2020 to Mid-January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P/R interface orientation meeting: Days, 6; Who, PK and JL; Timeline, February to First week of March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P/R interface coordination 1: Days, 15; Who, PK; Timeline, December 2020 to First week of March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P/R interface coordination 2: Days, 8; Who, PK; Timeline, March to November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Benefits interfaces (old): Days, 5; Who, JL; Timeline, December 2020.</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Benefits interfaces (new flow): Days, 8; Who, JL; Timeline, January to Mid-February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Benefits communication strategy: Days, 3; Who, PK and JL; Timeline, February to Mid-March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New work flow model: Days, 15; Who, PK and JL; Timeline, November 2020 to 1</a:t>
            </a:r>
            <a:r>
              <a:rPr lang="en-US" baseline="30000" dirty="0">
                <a:effectLst/>
                <a:latin typeface="+mn-lt"/>
                <a:ea typeface="Calibri" panose="020F0502020204030204" pitchFamily="34" charset="0"/>
                <a:cs typeface="Calibri" panose="020F0502020204030204" pitchFamily="34" charset="0"/>
              </a:rPr>
              <a:t>st</a:t>
            </a:r>
            <a:r>
              <a:rPr lang="en-US" dirty="0">
                <a:effectLst/>
                <a:latin typeface="+mn-lt"/>
                <a:ea typeface="Calibri" panose="020F0502020204030204" pitchFamily="34" charset="0"/>
                <a:cs typeface="Calibri" panose="020F0502020204030204" pitchFamily="34" charset="0"/>
              </a:rPr>
              <a:t> Week of January 2021.</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Position data entry flows: Days, 14; Who, WV and JL; Timeline, 2</a:t>
            </a:r>
            <a:r>
              <a:rPr lang="en-US" baseline="30000" dirty="0">
                <a:effectLst/>
                <a:latin typeface="+mn-lt"/>
                <a:ea typeface="Calibri" panose="020F0502020204030204" pitchFamily="34" charset="0"/>
                <a:cs typeface="Calibri" panose="020F0502020204030204" pitchFamily="34" charset="0"/>
              </a:rPr>
              <a:t>nd</a:t>
            </a:r>
            <a:r>
              <a:rPr lang="en-US" dirty="0">
                <a:effectLst/>
                <a:latin typeface="+mn-lt"/>
                <a:ea typeface="Calibri" panose="020F0502020204030204" pitchFamily="34" charset="0"/>
                <a:cs typeface="Calibri" panose="020F0502020204030204" pitchFamily="34" charset="0"/>
              </a:rPr>
              <a:t> week of December 2020 to 2</a:t>
            </a:r>
            <a:r>
              <a:rPr lang="en-US" baseline="30000" dirty="0">
                <a:effectLst/>
                <a:latin typeface="+mn-lt"/>
                <a:ea typeface="Calibri" panose="020F0502020204030204" pitchFamily="34" charset="0"/>
                <a:cs typeface="Calibri" panose="020F0502020204030204" pitchFamily="34" charset="0"/>
              </a:rPr>
              <a:t>nd</a:t>
            </a:r>
            <a:r>
              <a:rPr lang="en-US" dirty="0">
                <a:effectLst/>
                <a:latin typeface="+mn-lt"/>
                <a:ea typeface="Calibri" panose="020F0502020204030204" pitchFamily="34" charset="0"/>
                <a:cs typeface="Calibri" panose="020F0502020204030204" pitchFamily="34" charset="0"/>
              </a:rPr>
              <a:t> week of January 2021.</a:t>
            </a:r>
            <a:endParaRPr lang="en-US" dirty="0">
              <a:effectLst/>
              <a:latin typeface="+mn-lt"/>
              <a:ea typeface="Calibri" panose="020F0502020204030204" pitchFamily="34" charset="0"/>
            </a:endParaRPr>
          </a:p>
          <a:p>
            <a:pPr marL="0" marR="0">
              <a:lnSpc>
                <a:spcPct val="115000"/>
              </a:lnSpc>
              <a:spcBef>
                <a:spcPts val="0"/>
              </a:spcBef>
              <a:spcAft>
                <a:spcPts val="0"/>
              </a:spcAft>
            </a:pPr>
            <a:endParaRPr lang="en-US"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dirty="0">
                <a:solidFill>
                  <a:srgbClr val="000000"/>
                </a:solidFill>
                <a:effectLst/>
                <a:latin typeface="+mn-lt"/>
                <a:ea typeface="Times New Roman" panose="02020603050405020304" pitchFamily="18" charset="0"/>
                <a:cs typeface="Calibri" panose="020F0502020204030204" pitchFamily="34" charset="0"/>
              </a:rPr>
              <a:t>The resource summary details are as below: </a:t>
            </a:r>
            <a:endParaRPr lang="en-US"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Edith Farrell (EF): Oct’20, 2; Nov’20, 21; Dec’20: 24; Jan’21:24; Feb’21: 23; Mar’21: 22; Apr’21: 22; May’21: 27; Jun’21: 34; July’21: 34; Aug’21: 29; Sep’21: 26; Oct’21, 28; Nov’21, 19; Dec’21,14;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Woody Vinton(WV): Oct’20, 5; Nov’20, 17; Dec’20: 20; Jan’21:19; Feb’21: 12; Mar’21: 10; Apr’21: 14; May’21: 2; Jun’21: NA; July’21: NA; Aug’21: NA; Sep’21: NA; Oct’21, NA Nov’21, NA; Dec’21, NA; Jan’22, 4; Feb’22, 3;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Charles Pierce (CP): Oct’20, NA; Nov’20, 5; Dec’20: 11; Jan’21:20; Feb’21: 13; Mar’21: 9; Apr’21: 10; May’21: 7; Jun’21: 6; July’21: 8; Aug’21: 4; Sep’21: 4; Oct’21, 4; Nov’21, 4; Dec’21,4;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Ted </a:t>
            </a:r>
            <a:r>
              <a:rPr lang="en-US" dirty="0" err="1">
                <a:effectLst/>
                <a:latin typeface="+mn-lt"/>
                <a:ea typeface="Calibri" panose="020F0502020204030204" pitchFamily="34" charset="0"/>
                <a:cs typeface="Calibri" panose="020F0502020204030204" pitchFamily="34" charset="0"/>
              </a:rPr>
              <a:t>Leurs</a:t>
            </a:r>
            <a:r>
              <a:rPr lang="en-US" dirty="0">
                <a:effectLst/>
                <a:latin typeface="+mn-lt"/>
                <a:ea typeface="Calibri" panose="020F0502020204030204" pitchFamily="34" charset="0"/>
                <a:cs typeface="Calibri" panose="020F0502020204030204" pitchFamily="34" charset="0"/>
              </a:rPr>
              <a:t> (TL): Oct’20, NA; Nov’20, 12; Dec’20: 17; Jan’21:17; Feb’21: 19; Mar’21: 17; Apr’21: 14; May’21: 12; Jun’21: 15; July’21: 16; Aug’21: 2; Sep’21: 1; Oct’21, 1; Nov’21, 1; Dec’21,1;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Toni Cox (TC): Oct’20, 1; Nov’20, 11; Dec’20: 10; Jan’21:11; Feb’21: 11; Mar’21: 12; Apr’21: 19; May’21: 19; Jun’21: 21; July’21: 21; Aug’21: 21; Sep’21: 17; Oct’21, 17; Nov’21, 12; Dec’21,19;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Patricia </a:t>
            </a:r>
            <a:r>
              <a:rPr lang="en-US" dirty="0" err="1">
                <a:effectLst/>
                <a:latin typeface="+mn-lt"/>
                <a:ea typeface="Calibri" panose="020F0502020204030204" pitchFamily="34" charset="0"/>
                <a:cs typeface="Calibri" panose="020F0502020204030204" pitchFamily="34" charset="0"/>
              </a:rPr>
              <a:t>Knopp</a:t>
            </a:r>
            <a:r>
              <a:rPr lang="en-US" dirty="0">
                <a:effectLst/>
                <a:latin typeface="+mn-lt"/>
                <a:ea typeface="Calibri" panose="020F0502020204030204" pitchFamily="34" charset="0"/>
                <a:cs typeface="Calibri" panose="020F0502020204030204" pitchFamily="34" charset="0"/>
              </a:rPr>
              <a:t> (PK): Oct’20, 7; Nov’20, 23; Dec’20: 30; Jan’21:34; Feb’21: 27; Mar’21: 25; Apr’21: 15; May’21: 24; Jun’21: 25; July’21: 16; Aug’21: 11; Sep’21: 13; Oct’21, 17; Nov’21, 10; Dec’21,3; Jan’22, 3; Feb’22, 2;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Jane Lawton(JL): Oct’20, 1; Nov’20, 9; Dec’20: 16; Jan’21:21; Feb’21: 19; Mar’21: 21; Apr’21: 21; May’21: 20; Jun’21: 17; July’21: 15; Aug’21: 14; Sep’21: 12; Oct’21, 14; Nov’21, 8; Dec’21,5;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David Holloway(DH): Oct’20, 4; Nov’20, 4; Dec’20: 5; Jan’21: 5; Feb’21: 5; Mar’21: 2; Apr’21: 7; May’21: 5; Jun’21: 4; July’21: 16; Aug’21: 2; Sep’21: NA; Oct’21, NA; Nov’21, NA;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Diane O'Neill(DN): Oct’20, 6; Nov’20, 14; Dec’20: 17; Jan’21:16; Feb’21: 13; Mar’21: 11; Apr’21: 9; May’21: 4; Jun’21: NA; July’21: NA; Aug’21: NA; Sep’21: NA; Oct’21, NA; Nov’21, NA;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Joan Albert(JA): Oct’20, 5; Nov’20, 6; Dec’20: NA; Jan’21:NA; Feb’21: 7; Mar’21: 6; Apr’21: 2; May’21: 1; Jun’21: NA; July’21: NA; Aug’21: NA; Sep’21: 5; Oct’21, 5; Nov’21, 1;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Marie Marcus(MM): Oct’20, 15; Nov’20, 7; Dec’20: 2; Jan’21:1; Feb’21: 1; Mar’21: NA; Apr’21: NA; May’21: NA; Jun’21: NA; July’21: NA; Aug’21: NA; Sep’21: NA; Oct’21, NA; Nov’21, NA;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Don Stevens(DS): Oct’20, 4; Nov’20, 4; Dec’20: 4; Jan’21:4; Feb’21: 5; Mar’21: 1; Apr’21: NA; May’21: NA; Jun’21: NA; July’21: NA; Aug’21: NA; Sep’21: NA; Oct’21, NA; Nov’21, NA;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Casual(CASL): Oct’20, NA; Nov’20, 3; Dec’20: 4; Jan’21:3; Feb’21: NA; Mar’21: NA; Apr’21: 4; May’21: 7; Jun’21: 9; July’21: 5; Aug’21: 3; Sep’21: 2; Oct’21, NA; Nov’21, NA;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Kathy Mendez(KM): Oct’20, NA; Nov’20, 1; Dec’20: 5; Jan’21:16; Feb’21: 20; Mar’21: 19; Apr’21: 22; May’21: 19; Jun’21: 20; July’21: 18; Aug’21: 20; Sep’21: 11; Oct’21, 2; Nov’21, NA;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Anna Borden(AB): Oct’20, NA; Nov’20, NA; Dec’20: NA; Jan’21:NA; Feb’21: 9; Mar’21: 10; Apr’21: 16; May’21: 15; Jun’21: 11; July’21: 12; Aug’21: 19; Sep’21: 10; Oct’21, 7; Nov’21, 1;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Gail Loring(GL): Oct’20, NA; Nov’20, 3; Dec’20: 6; Jan’21:5; Feb’21: 9; Mar’21: 10; Apr’21: 17; May’21: 18; Jun’21: 17; July’21: 10; Aug’21: 13; Sep’21: 10; Oct’21, 10; Nov’21, 7; Dec’21,17;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UNASSIGNED(X): Oct’20, NA; Nov’20, NA; Dec’20: NA; Jan’21:NA; Feb’21: NA; Mar’21: NA; Apr’21: NA; May’21: NA; Jun’21: NA; July’21: 9; Aug’21: NA; Sep’21: NA; Oct’21, 236; Nov’21, 225; Dec’21,230; Jan’22, 14; Feb’22, 13;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Co-op(CO): Oct’20, NA; Nov’20, 6; Dec’20: 4; Jan’21:NA; Feb’21: NA; Mar’21: NA; Apr’21: 2; May’21: 3; Jun’21: 4; July’21: 4; Aug’21: 2; Sep’21: 4; Oct’21, 16; Nov’21, NA; Dec’21, NA; Jan’22, 216; Feb’22, 178;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Casual(CAUL): Oct’20, NA; Nov’20, NA; Dec’20: NA; Jan’21:NA; Feb’21: NA; Mar’21: NA; Apr’21: NA; May’21: 3; Jun’21: 3; July’21: 3; Aug’21: NA; Sep’21: NA; Oct’21, NA; Nov’21, NA; Dec’21, NA Jan’22, NA; Feb’22, NA; Mar’22, NA. </a:t>
            </a:r>
            <a:endParaRPr lang="en-US"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latin typeface="+mn-lt"/>
                <a:ea typeface="Calibri" panose="020F0502020204030204" pitchFamily="34" charset="0"/>
                <a:cs typeface="Calibri" panose="020F0502020204030204" pitchFamily="34" charset="0"/>
              </a:rPr>
              <a:t>Total days: Oct’20, 49; Nov’20,147; Dec’20: 176; Jan’21:196; Feb’21: 194; Mar’21: 174; Apr’21: 193; May’21: 195; Jun’21: 190; July’21: 181; Aug’21: 140; Sep’21: 125; Oct’21, 358; Nov’21, 288; Dec’21, 284 Jan’22, 237; Feb’22, 196; Mar’22, 12. </a:t>
            </a:r>
            <a:endParaRPr lang="en-US" dirty="0">
              <a:effectLst/>
              <a:latin typeface="+mn-lt"/>
              <a:ea typeface="Calibri" panose="020F0502020204030204" pitchFamily="34" charset="0"/>
            </a:endParaRPr>
          </a:p>
          <a:p>
            <a:pPr marL="0" marR="0">
              <a:lnSpc>
                <a:spcPct val="115000"/>
              </a:lnSpc>
              <a:spcBef>
                <a:spcPts val="0"/>
              </a:spcBef>
              <a:spcAft>
                <a:spcPts val="0"/>
              </a:spcAft>
            </a:pPr>
            <a:r>
              <a:rPr lang="en-US" dirty="0">
                <a:solidFill>
                  <a:srgbClr val="000000"/>
                </a:solidFill>
                <a:effectLst/>
                <a:latin typeface="+mn-lt"/>
                <a:ea typeface="Times New Roman" panose="02020603050405020304" pitchFamily="18" charset="0"/>
                <a:cs typeface="Calibri" panose="020F0502020204030204" pitchFamily="34" charset="0"/>
              </a:rPr>
              <a:t>All resource names have 5.0 mentioned in front of them, except unassigned resource which has 0.0 in front of it. </a:t>
            </a:r>
            <a:endParaRPr lang="en-US" dirty="0">
              <a:solidFill>
                <a:srgbClr val="000000"/>
              </a:solidFill>
              <a:effectLst/>
              <a:latin typeface="+mn-lt"/>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41527762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14.6,</a:t>
            </a:r>
            <a:r>
              <a:rPr lang="en-US" altLang="en-US" baseline="0" dirty="0"/>
              <a:t> Page 544.</a:t>
            </a:r>
          </a:p>
          <a:p>
            <a:r>
              <a:rPr lang="en-US" sz="1200" b="0" i="1" u="none" strike="noStrike" kern="1200" cap="none" baseline="0" dirty="0">
                <a:solidFill>
                  <a:schemeClr val="tx1"/>
                </a:solidFill>
                <a:latin typeface="+mn-lt"/>
                <a:ea typeface="Arial"/>
                <a:cs typeface="Arial"/>
                <a:sym typeface="Arial"/>
              </a:rPr>
              <a:t>This is a simplified PERT chart for creating a small website. It shows the ordering of project tasks and the relationship of a task with preceding and succeeding tasks.</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is a simplified PERT chart, which shows the dependencies between project tasks. Ask students to define what </a:t>
            </a:r>
            <a:r>
              <a:rPr lang="ja-JP" altLang="en-US" dirty="0"/>
              <a:t>“</a:t>
            </a:r>
            <a:r>
              <a:rPr lang="en-US" altLang="ja-JP" dirty="0"/>
              <a:t>dependencies</a:t>
            </a:r>
            <a:r>
              <a:rPr lang="ja-JP" altLang="en-US" dirty="0"/>
              <a:t>”</a:t>
            </a:r>
            <a:r>
              <a:rPr lang="en-US" altLang="ja-JP" dirty="0"/>
              <a:t> means and to point out the dependencies in this chart. Why are dependencies important to consider when managing a project?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000" u="sng" dirty="0">
                <a:latin typeface="+mn-lt"/>
              </a:rPr>
              <a:t>Alt Text</a:t>
            </a:r>
          </a:p>
          <a:p>
            <a:pPr marL="0" marR="0">
              <a:lnSpc>
                <a:spcPct val="115000"/>
              </a:lnSpc>
              <a:spcBef>
                <a:spcPts val="0"/>
              </a:spcBef>
              <a:spcAft>
                <a:spcPts val="0"/>
              </a:spcAft>
            </a:pPr>
            <a:r>
              <a:rPr lang="en-US" sz="1000" dirty="0">
                <a:latin typeface="+mn-lt"/>
              </a:rPr>
              <a:t>Full</a:t>
            </a:r>
            <a:r>
              <a:rPr lang="en-US" sz="1000" baseline="0" dirty="0">
                <a:latin typeface="+mn-lt"/>
              </a:rPr>
              <a:t> description: A graphical representation illustrates a sample project’s timeline for creating a website. </a:t>
            </a:r>
            <a:r>
              <a:rPr lang="en-US" sz="1000" dirty="0">
                <a:solidFill>
                  <a:srgbClr val="000000"/>
                </a:solidFill>
                <a:effectLst/>
                <a:latin typeface="+mn-lt"/>
                <a:ea typeface="Times New Roman" panose="02020603050405020304" pitchFamily="18" charset="0"/>
              </a:rPr>
              <a:t>Tasks of the project are numbered from 1 to 6, labelled as follows, with date-wise timeline in terms of number of days:</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1: Design web site; 10 days from 8</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January, 2021 to 18</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January, 2021.</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2: Select hosting service; 1 day from 19</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January, 2021 to 20</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January, 2021.</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3: Write HTML; 20 days from 19</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January, 2021 to 7</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February, 2021.</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4: Create art work; 10 days from 19</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January, 2021 to 29</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January, 2021.</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5: Finalize code; 6 days from 8</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February, 2021 to 14</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February, 2021.</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6: Test; 10 days from 15</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February, 2021 to 25</a:t>
            </a:r>
            <a:r>
              <a:rPr lang="en-US" sz="1000" baseline="30000" dirty="0">
                <a:effectLst/>
                <a:latin typeface="+mn-lt"/>
                <a:ea typeface="Calibri" panose="020F0502020204030204" pitchFamily="34" charset="0"/>
              </a:rPr>
              <a:t>th</a:t>
            </a:r>
            <a:r>
              <a:rPr lang="en-US" sz="1000" dirty="0">
                <a:effectLst/>
                <a:latin typeface="+mn-lt"/>
                <a:ea typeface="Calibri" panose="020F0502020204030204" pitchFamily="34" charset="0"/>
              </a:rPr>
              <a:t> February, 2021.</a:t>
            </a:r>
          </a:p>
          <a:p>
            <a:pPr marL="0" marR="0">
              <a:lnSpc>
                <a:spcPct val="115000"/>
              </a:lnSpc>
              <a:spcBef>
                <a:spcPts val="0"/>
              </a:spcBef>
              <a:spcAft>
                <a:spcPts val="0"/>
              </a:spcAft>
            </a:pPr>
            <a:r>
              <a:rPr lang="en-US" sz="1000" dirty="0">
                <a:solidFill>
                  <a:srgbClr val="000000"/>
                </a:solidFill>
                <a:effectLst/>
                <a:latin typeface="+mn-lt"/>
                <a:ea typeface="Times New Roman" panose="02020603050405020304" pitchFamily="18" charset="0"/>
              </a:rPr>
              <a:t>Flow of three orders of the above mentioned tasks are displayed with unidirectional arrows as follows:</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Design web site, select hosting service, and test.</a:t>
            </a:r>
          </a:p>
          <a:p>
            <a:pPr marL="342900" marR="0" lvl="0" indent="-342900">
              <a:lnSpc>
                <a:spcPct val="115000"/>
              </a:lnSpc>
              <a:spcBef>
                <a:spcPts val="0"/>
              </a:spcBef>
              <a:spcAft>
                <a:spcPts val="0"/>
              </a:spcAft>
              <a:buFont typeface="Symbol" panose="05050102010706020507" pitchFamily="18" charset="2"/>
              <a:buChar char=""/>
            </a:pPr>
            <a:r>
              <a:rPr lang="en-US" sz="1000" dirty="0">
                <a:effectLst/>
                <a:latin typeface="+mn-lt"/>
                <a:ea typeface="Calibri" panose="020F0502020204030204" pitchFamily="34" charset="0"/>
              </a:rPr>
              <a:t>Design web site, write HTML, finalize code, and test.</a:t>
            </a:r>
          </a:p>
          <a:p>
            <a:pPr marL="342900" marR="0" lvl="0" indent="-342900">
              <a:lnSpc>
                <a:spcPct val="115000"/>
              </a:lnSpc>
              <a:spcBef>
                <a:spcPts val="0"/>
              </a:spcBef>
              <a:spcAft>
                <a:spcPts val="0"/>
              </a:spcAft>
              <a:buFont typeface="Symbol" panose="05050102010706020507" pitchFamily="18" charset="2"/>
              <a:buChar char=""/>
            </a:pPr>
            <a:r>
              <a:rPr lang="en-US" sz="1000" dirty="0">
                <a:solidFill>
                  <a:srgbClr val="000000"/>
                </a:solidFill>
                <a:effectLst/>
                <a:latin typeface="+mn-lt"/>
                <a:ea typeface="Times New Roman" panose="02020603050405020304" pitchFamily="18" charset="0"/>
              </a:rPr>
              <a:t>Design web site, create art work, finalize code, and test.</a:t>
            </a:r>
            <a:endParaRPr lang="en-US" sz="10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030753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discusses a third type of tool to meet implementation challenges—external integration tools—and discusses the forms that user resistance may take. Ask students if they have ever witnessed user resistance to an information system at their workplaces.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also discusses methods to counter user resistance. Ask students why simply declaring a system </a:t>
            </a:r>
            <a:r>
              <a:rPr lang="ja-JP" altLang="en-US" dirty="0"/>
              <a:t>“</a:t>
            </a:r>
            <a:r>
              <a:rPr lang="en-US" altLang="ja-JP" dirty="0"/>
              <a:t>mandatory</a:t>
            </a:r>
            <a:r>
              <a:rPr lang="ja-JP" altLang="en-US" dirty="0"/>
              <a:t>”</a:t>
            </a:r>
            <a:r>
              <a:rPr lang="en-US" altLang="ja-JP" dirty="0"/>
              <a:t> may not be the best approach to effect user participation.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discusses the ways in which a new information system can impact an organization. Table 14.5 in the text lists the organizational factors in systems planning and implementation. Ask students to identify some of these. (Employee participation and involvement, job design, standards and performance monitoring, ergonomics, employee grievance resolution procedures, health and safety, government regulatory compliance.)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also discusses the use of an organizational impact analysis to anticipate how an upcoming system will affect an organization. It further discusses the use of sociotechnical design, a method to address human and organizational practices into information systems projects.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commercial software that is available to assist in managing projects, the most popular of which is Microsoft Project. There are also numerous cloud-based project management tools. Ask students if they have ever used any project management software.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good opportunity for a class discussion of the</a:t>
            </a:r>
            <a:r>
              <a:rPr lang="en-US" baseline="0" dirty="0"/>
              <a:t> section on careers. Would any in the class be interested in a job like this? What do they think are the most important skills the employer is looking for? How would they answer the interviewer questions?</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482AC806-CA65-4169-A6A5-90BCDDC89F9D}"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2"/>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7"/>
            <a:ext cx="688622" cy="209973"/>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30"/>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2"/>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7"/>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D233DF4F-7EA1-456D-A716-A27708EAEC1C}"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30"/>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2"/>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08A9AF1D-67DE-4474-A2B6-0328831BC8A2}"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810284"/>
            <a:ext cx="8595360" cy="248411"/>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E8845844-4E02-4FAD-9EEA-F1B168F76B53}" type="datetime1">
              <a:rPr lang="en-US" smtClean="0"/>
              <a:t>5/28/2021</a:t>
            </a:fld>
            <a:endParaRPr lang="en-US" dirty="0"/>
          </a:p>
        </p:txBody>
      </p:sp>
      <p:sp>
        <p:nvSpPr>
          <p:cNvPr id="10" name="Slide Number Placeholder 5"/>
          <p:cNvSpPr>
            <a:spLocks noGrp="1"/>
          </p:cNvSpPr>
          <p:nvPr>
            <p:ph type="sldNum" sz="quarter" idx="12"/>
          </p:nvPr>
        </p:nvSpPr>
        <p:spPr>
          <a:xfrm>
            <a:off x="8469315"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810284"/>
            <a:ext cx="8595360" cy="248411"/>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CC9CD92F-641E-480D-9290-A69D7BBEAB40}"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BA3370E5-9F77-4D7E-8299-3D5DC2B0162C}"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7"/>
            <a:ext cx="918000" cy="209936"/>
          </a:xfrm>
          <a:prstGeom prst="rect">
            <a:avLst/>
          </a:prstGeom>
        </p:spPr>
      </p:pic>
      <p:sp>
        <p:nvSpPr>
          <p:cNvPr id="9" name="TextBox 8"/>
          <p:cNvSpPr txBox="1"/>
          <p:nvPr userDrawn="1"/>
        </p:nvSpPr>
        <p:spPr>
          <a:xfrm>
            <a:off x="2743200" y="4800602"/>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9A74F133-E389-4D7B-BDF2-E0DAECF2DAC5}"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924F03F2-E1C1-4B99-8FDD-F39D041594F7}"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90"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0A807A84-883E-4246-952E-897E22F3D8C5}"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A962B00A-2015-4CEF-B8C5-A82E966D9316}"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2"/>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819A57A7-70B6-4949-8E7D-F04AF4DF6563}"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7"/>
            <a:ext cx="918000" cy="209936"/>
          </a:xfrm>
          <a:prstGeom prst="rect">
            <a:avLst/>
          </a:prstGeom>
        </p:spPr>
      </p:pic>
      <p:sp>
        <p:nvSpPr>
          <p:cNvPr id="11" name="TextBox 10"/>
          <p:cNvSpPr txBox="1"/>
          <p:nvPr userDrawn="1"/>
        </p:nvSpPr>
        <p:spPr>
          <a:xfrm>
            <a:off x="95799" y="4828542"/>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30"/>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2"/>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4"/>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04CA23C5-2D10-4508-97EA-DCC9530B67FE}"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7"/>
            <a:ext cx="688622" cy="209973"/>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30"/>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2" y="4629151"/>
            <a:ext cx="8595359" cy="429544"/>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5" y="84805"/>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BB1FCBBF-11D0-4B23-A9E2-10F2E5E999D6}" type="datetime1">
              <a:rPr lang="en-US" smtClean="0"/>
              <a:t>5/28/2021</a:t>
            </a:fld>
            <a:endParaRPr dirty="0"/>
          </a:p>
        </p:txBody>
      </p:sp>
      <p:sp>
        <p:nvSpPr>
          <p:cNvPr id="36" name="Shape 36"/>
          <p:cNvSpPr txBox="1">
            <a:spLocks noGrp="1"/>
          </p:cNvSpPr>
          <p:nvPr>
            <p:ph type="sldNum" idx="12"/>
          </p:nvPr>
        </p:nvSpPr>
        <p:spPr>
          <a:xfrm>
            <a:off x="8469314" y="84805"/>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5"/>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2"/>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42BE226A-E389-4749-B2C5-B9AD3CB58A4C}" type="datetime1">
              <a:rPr lang="en-US" smtClean="0"/>
              <a:t>5/28/2021</a:t>
            </a:fld>
            <a:endParaRPr lang="en-US" dirty="0"/>
          </a:p>
        </p:txBody>
      </p:sp>
      <p:sp>
        <p:nvSpPr>
          <p:cNvPr id="6" name="Slide Number Placeholder 5"/>
          <p:cNvSpPr>
            <a:spLocks noGrp="1"/>
          </p:cNvSpPr>
          <p:nvPr>
            <p:ph type="sldNum" sz="quarter" idx="4"/>
          </p:nvPr>
        </p:nvSpPr>
        <p:spPr>
          <a:xfrm>
            <a:off x="8469315"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2"/>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7"/>
            <a:ext cx="688622" cy="209973"/>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414"/>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73373"/>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7" y="1935231"/>
            <a:ext cx="4117765" cy="492443"/>
          </a:xfrm>
        </p:spPr>
        <p:txBody>
          <a:bodyPr wrap="square">
            <a:spAutoFit/>
          </a:bodyPr>
          <a:lstStyle/>
          <a:p>
            <a:r>
              <a:rPr lang="en-IN" sz="3200" dirty="0"/>
              <a:t>Chapter 14</a:t>
            </a:r>
          </a:p>
        </p:txBody>
      </p:sp>
      <p:sp>
        <p:nvSpPr>
          <p:cNvPr id="5" name="Text Placeholder 4"/>
          <p:cNvSpPr>
            <a:spLocks noGrp="1"/>
          </p:cNvSpPr>
          <p:nvPr>
            <p:ph type="body" sz="quarter" idx="15"/>
          </p:nvPr>
        </p:nvSpPr>
        <p:spPr>
          <a:xfrm>
            <a:off x="4569037" y="2571753"/>
            <a:ext cx="4117765" cy="923330"/>
          </a:xfrm>
        </p:spPr>
        <p:txBody>
          <a:bodyPr wrap="square">
            <a:spAutoFit/>
          </a:bodyPr>
          <a:lstStyle/>
          <a:p>
            <a:r>
              <a:rPr lang="en-US" sz="2000" dirty="0"/>
              <a:t>Making the Business Case for Information Systems and Managing Projects</a:t>
            </a:r>
          </a:p>
        </p:txBody>
      </p:sp>
      <p:sp>
        <p:nvSpPr>
          <p:cNvPr id="11" name="Text Placeholder 3"/>
          <p:cNvSpPr>
            <a:spLocks noGrp="1"/>
          </p:cNvSpPr>
          <p:nvPr>
            <p:ph type="body" sz="quarter" idx="14"/>
          </p:nvPr>
        </p:nvSpPr>
        <p:spPr>
          <a:xfrm>
            <a:off x="2309414" y="4832350"/>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792C5E62-2FD0-4962-B2E0-E30122BEE60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7327" y="1657350"/>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8920"/>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1013124"/>
            <a:ext cx="8229600" cy="2923877"/>
          </a:xfrm>
        </p:spPr>
        <p:txBody>
          <a:bodyPr vert="horz" lIns="0" tIns="0" rIns="0" bIns="0" rtlCol="0" anchor="t">
            <a:spAutoFit/>
          </a:bodyPr>
          <a:lstStyle/>
          <a:p>
            <a:pPr marL="714375" indent="-714375">
              <a:buNone/>
              <a:tabLst>
                <a:tab pos="682625" algn="l"/>
              </a:tabLst>
            </a:pPr>
            <a:r>
              <a:rPr lang="en-US" altLang="en-US" sz="2000" b="1" dirty="0">
                <a:solidFill>
                  <a:schemeClr val="bg2"/>
                </a:solidFill>
              </a:rPr>
              <a:t>14.1 </a:t>
            </a:r>
            <a:r>
              <a:rPr lang="en-US" sz="2000" dirty="0"/>
              <a:t>How should managers build a business case for the acquisition and development of new information systems?</a:t>
            </a:r>
            <a:endParaRPr lang="en-IN" altLang="en-US" sz="2000" dirty="0"/>
          </a:p>
          <a:p>
            <a:pPr marL="714375" indent="-714375" defTabSz="534988">
              <a:buNone/>
              <a:tabLst>
                <a:tab pos="673100" algn="l"/>
              </a:tabLst>
            </a:pPr>
            <a:r>
              <a:rPr lang="en-US" altLang="en-US" sz="2000" b="1" dirty="0">
                <a:solidFill>
                  <a:schemeClr val="bg2"/>
                </a:solidFill>
              </a:rPr>
              <a:t>14.2</a:t>
            </a:r>
            <a:r>
              <a:rPr lang="en-US" altLang="en-US" sz="2000" b="1" dirty="0"/>
              <a:t> </a:t>
            </a:r>
            <a:r>
              <a:rPr lang="en-US" sz="2000" dirty="0"/>
              <a:t>What are the objectives of project management, and why is it so essential in developing information systems? </a:t>
            </a:r>
            <a:endParaRPr lang="en-IN" altLang="en-US" sz="2000" dirty="0"/>
          </a:p>
          <a:p>
            <a:pPr marL="714375" indent="-714375" defTabSz="534988">
              <a:buNone/>
              <a:tabLst>
                <a:tab pos="661988" algn="l"/>
              </a:tabLst>
            </a:pPr>
            <a:r>
              <a:rPr lang="en-US" altLang="en-US" sz="2000" b="1" dirty="0">
                <a:solidFill>
                  <a:schemeClr val="bg2"/>
                </a:solidFill>
              </a:rPr>
              <a:t>14.3</a:t>
            </a:r>
            <a:r>
              <a:rPr lang="en-US" altLang="en-US" sz="2000" dirty="0">
                <a:cs typeface="Arial"/>
              </a:rPr>
              <a:t> </a:t>
            </a:r>
            <a:r>
              <a:rPr lang="en-US" sz="2000" dirty="0"/>
              <a:t>What are the principal risk factors in information systems projects?</a:t>
            </a:r>
            <a:endParaRPr lang="en-IN" sz="2000" dirty="0"/>
          </a:p>
          <a:p>
            <a:pPr marL="0" indent="0">
              <a:buNone/>
            </a:pPr>
            <a:r>
              <a:rPr lang="en-US" altLang="en-US" sz="2000" b="1" dirty="0">
                <a:solidFill>
                  <a:schemeClr val="bg2"/>
                </a:solidFill>
              </a:rPr>
              <a:t>14.4</a:t>
            </a:r>
            <a:r>
              <a:rPr lang="en-US" altLang="en-US" sz="2000" dirty="0">
                <a:cs typeface="Arial"/>
              </a:rPr>
              <a:t> How </a:t>
            </a:r>
            <a:r>
              <a:rPr lang="en-US" sz="2000" dirty="0"/>
              <a:t>can project risk be managed?</a:t>
            </a:r>
            <a:endParaRPr lang="en-US" altLang="en-US" sz="2000" b="1" dirty="0">
              <a:solidFill>
                <a:schemeClr val="bg2"/>
              </a:solidFill>
            </a:endParaRPr>
          </a:p>
          <a:p>
            <a:pPr marL="0" indent="0">
              <a:buNone/>
            </a:pPr>
            <a:r>
              <a:rPr lang="en-US" altLang="en-US" sz="2000" b="1" dirty="0">
                <a:solidFill>
                  <a:schemeClr val="bg2"/>
                </a:solidFill>
              </a:rPr>
              <a:t>14.5</a:t>
            </a:r>
            <a:r>
              <a:rPr lang="en-US" altLang="en-US" sz="2000" dirty="0">
                <a:cs typeface="Arial"/>
              </a:rPr>
              <a:t> </a:t>
            </a:r>
            <a:r>
              <a:rPr lang="en-IN" sz="2000" dirty="0"/>
              <a:t>How will </a:t>
            </a:r>
            <a:r>
              <a:rPr lang="en-IN" sz="2000" spc="-300" dirty="0"/>
              <a:t>M I </a:t>
            </a:r>
            <a:r>
              <a:rPr lang="en-IN" sz="2000" dirty="0"/>
              <a:t>S help my career?</a:t>
            </a:r>
          </a:p>
        </p:txBody>
      </p:sp>
      <p:sp>
        <p:nvSpPr>
          <p:cNvPr id="2" name="Footer Placeholder 1">
            <a:extLst>
              <a:ext uri="{FF2B5EF4-FFF2-40B4-BE49-F238E27FC236}">
                <a16:creationId xmlns:a16="http://schemas.microsoft.com/office/drawing/2014/main" id="{25EAEA5E-ED84-4BA8-89BF-AA4B59BB652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5242"/>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971685"/>
            <a:ext cx="8229600" cy="369332"/>
          </a:xfrm>
        </p:spPr>
        <p:txBody>
          <a:bodyPr>
            <a:spAutoFit/>
          </a:bodyPr>
          <a:lstStyle/>
          <a:p>
            <a:r>
              <a:rPr lang="en-IN" dirty="0"/>
              <a:t>Case 1: NASA Project Management Challenges</a:t>
            </a:r>
          </a:p>
        </p:txBody>
      </p:sp>
      <p:sp>
        <p:nvSpPr>
          <p:cNvPr id="2" name="Footer Placeholder 1">
            <a:extLst>
              <a:ext uri="{FF2B5EF4-FFF2-40B4-BE49-F238E27FC236}">
                <a16:creationId xmlns:a16="http://schemas.microsoft.com/office/drawing/2014/main" id="{45FADBAE-847A-42B3-AC5C-8D18793AE18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008"/>
            <a:ext cx="8229600" cy="984885"/>
          </a:xfrm>
        </p:spPr>
        <p:txBody>
          <a:bodyPr anchor="ctr">
            <a:spAutoFit/>
          </a:bodyPr>
          <a:lstStyle/>
          <a:p>
            <a:r>
              <a:rPr lang="en-IN" altLang="en-US" sz="3200" dirty="0"/>
              <a:t>Al-</a:t>
            </a:r>
            <a:r>
              <a:rPr lang="en-IN" altLang="en-US" sz="3200" dirty="0" err="1"/>
              <a:t>Asasyah</a:t>
            </a:r>
            <a:r>
              <a:rPr lang="en-IN" altLang="en-US" sz="3200" dirty="0"/>
              <a:t> Implements a Modern ERP Solution</a:t>
            </a:r>
            <a:endParaRPr lang="en-US" sz="2800" dirty="0"/>
          </a:p>
        </p:txBody>
      </p:sp>
      <p:sp>
        <p:nvSpPr>
          <p:cNvPr id="5" name="Content Placeholder 4"/>
          <p:cNvSpPr>
            <a:spLocks noGrp="1"/>
          </p:cNvSpPr>
          <p:nvPr>
            <p:ph idx="1"/>
          </p:nvPr>
        </p:nvSpPr>
        <p:spPr>
          <a:xfrm>
            <a:off x="457200" y="1014964"/>
            <a:ext cx="8229600" cy="3616375"/>
          </a:xfrm>
        </p:spPr>
        <p:txBody>
          <a:bodyPr>
            <a:spAutoFit/>
          </a:bodyPr>
          <a:lstStyle/>
          <a:p>
            <a:r>
              <a:rPr lang="en-IN" altLang="en-US" sz="1800" dirty="0"/>
              <a:t>Problem</a:t>
            </a:r>
          </a:p>
          <a:p>
            <a:pPr lvl="1"/>
            <a:r>
              <a:rPr lang="en-US" altLang="en-US" sz="1800" dirty="0"/>
              <a:t>Diversified</a:t>
            </a:r>
          </a:p>
          <a:p>
            <a:pPr lvl="1"/>
            <a:r>
              <a:rPr lang="en-US" altLang="en-US" sz="1800" dirty="0"/>
              <a:t>Many facilities and centers across </a:t>
            </a:r>
            <a:r>
              <a:rPr lang="en-US" altLang="en-US" sz="1800" dirty="0" err="1"/>
              <a:t>Saudia</a:t>
            </a:r>
            <a:r>
              <a:rPr lang="en-US" altLang="en-US" sz="1800" dirty="0"/>
              <a:t> Arabia</a:t>
            </a:r>
          </a:p>
          <a:p>
            <a:pPr lvl="1"/>
            <a:r>
              <a:rPr lang="en-US" altLang="en-US" sz="1800" dirty="0"/>
              <a:t>Five main legacy systems</a:t>
            </a:r>
            <a:endParaRPr lang="en-IN" altLang="en-US" sz="1800" dirty="0"/>
          </a:p>
          <a:p>
            <a:r>
              <a:rPr lang="en-IN" altLang="en-US" sz="1800" dirty="0"/>
              <a:t>Solutions</a:t>
            </a:r>
          </a:p>
          <a:p>
            <a:pPr lvl="1"/>
            <a:r>
              <a:rPr lang="en-US" altLang="en-US" sz="1800" dirty="0"/>
              <a:t>Careful selection of the ERP company</a:t>
            </a:r>
          </a:p>
          <a:p>
            <a:pPr lvl="1"/>
            <a:r>
              <a:rPr lang="en-US" altLang="en-US" sz="1800" dirty="0"/>
              <a:t>Determining the scope, the plan, and cost estimate</a:t>
            </a:r>
          </a:p>
          <a:p>
            <a:pPr lvl="1"/>
            <a:r>
              <a:rPr lang="en-US" altLang="en-US" sz="1800" dirty="0"/>
              <a:t>Evaluation and testing followed by transfer of data</a:t>
            </a:r>
            <a:endParaRPr lang="en-IN" altLang="en-US" sz="1800" dirty="0"/>
          </a:p>
          <a:p>
            <a:r>
              <a:rPr lang="en-US" altLang="en-US" sz="1800" dirty="0"/>
              <a:t>Illustrates the influence of project management on implementing successful I  T projects</a:t>
            </a:r>
            <a:endParaRPr lang="en-IN" altLang="en-US" sz="1800" dirty="0"/>
          </a:p>
        </p:txBody>
      </p:sp>
      <p:sp>
        <p:nvSpPr>
          <p:cNvPr id="2" name="Footer Placeholder 1">
            <a:extLst>
              <a:ext uri="{FF2B5EF4-FFF2-40B4-BE49-F238E27FC236}">
                <a16:creationId xmlns:a16="http://schemas.microsoft.com/office/drawing/2014/main" id="{B059E871-C47A-477E-B964-D8F90D8C1E3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24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738664"/>
          </a:xfrm>
        </p:spPr>
        <p:txBody>
          <a:bodyPr anchor="ctr">
            <a:spAutoFit/>
          </a:bodyPr>
          <a:lstStyle/>
          <a:p>
            <a:r>
              <a:rPr lang="en-IN" altLang="en-US" sz="2400" dirty="0"/>
              <a:t>Building a Business Case for the Acquisition and Development of a New Information System</a:t>
            </a:r>
            <a:endParaRPr lang="en-US" sz="2400" dirty="0"/>
          </a:p>
        </p:txBody>
      </p:sp>
      <p:sp>
        <p:nvSpPr>
          <p:cNvPr id="5" name="Content Placeholder 4"/>
          <p:cNvSpPr>
            <a:spLocks noGrp="1"/>
          </p:cNvSpPr>
          <p:nvPr>
            <p:ph idx="1"/>
          </p:nvPr>
        </p:nvSpPr>
        <p:spPr>
          <a:xfrm>
            <a:off x="457200" y="895350"/>
            <a:ext cx="8229600" cy="4016484"/>
          </a:xfrm>
        </p:spPr>
        <p:txBody>
          <a:bodyPr>
            <a:spAutoFit/>
          </a:bodyPr>
          <a:lstStyle/>
          <a:p>
            <a:r>
              <a:rPr lang="en-IN" altLang="en-US" dirty="0"/>
              <a:t>Important elements of a business case</a:t>
            </a:r>
          </a:p>
          <a:p>
            <a:pPr lvl="1"/>
            <a:r>
              <a:rPr lang="en-IN" altLang="en-US" sz="2000" dirty="0"/>
              <a:t>Describes problem facing the organization</a:t>
            </a:r>
          </a:p>
          <a:p>
            <a:pPr lvl="1"/>
            <a:r>
              <a:rPr lang="en-IN" altLang="en-US" sz="2000" dirty="0"/>
              <a:t>Provides analysis of costs, benefits, and risks</a:t>
            </a:r>
          </a:p>
          <a:p>
            <a:pPr lvl="1"/>
            <a:r>
              <a:rPr lang="en-IN" altLang="en-US" sz="2000" dirty="0"/>
              <a:t>Describes rationale for proceeding with investment</a:t>
            </a:r>
          </a:p>
          <a:p>
            <a:pPr lvl="1"/>
            <a:r>
              <a:rPr lang="en-IN" altLang="en-US" sz="2000" dirty="0"/>
              <a:t>Shows how investment supports firm’s strategic goals</a:t>
            </a:r>
          </a:p>
          <a:p>
            <a:pPr lvl="1"/>
            <a:r>
              <a:rPr lang="en-IN" altLang="en-US" sz="2000" dirty="0"/>
              <a:t>Provides information necessary to make informed decision</a:t>
            </a:r>
          </a:p>
          <a:p>
            <a:pPr lvl="1"/>
            <a:r>
              <a:rPr lang="en-IN" altLang="en-US" sz="2000" dirty="0"/>
              <a:t>Explains how investment will provide value for business</a:t>
            </a:r>
          </a:p>
          <a:p>
            <a:pPr lvl="1"/>
            <a:r>
              <a:rPr lang="en-IN" altLang="en-US" sz="2000" dirty="0"/>
              <a:t>Identifies risks and alternative solutions</a:t>
            </a:r>
          </a:p>
          <a:p>
            <a:pPr lvl="1"/>
            <a:r>
              <a:rPr lang="en-IN" altLang="en-US" sz="2000" dirty="0"/>
              <a:t>Describes how solution may require changes in organizational culture, systems, processes, jobs</a:t>
            </a:r>
          </a:p>
          <a:p>
            <a:pPr lvl="1"/>
            <a:endParaRPr lang="en-IN" altLang="en-US" sz="1200" dirty="0"/>
          </a:p>
        </p:txBody>
      </p:sp>
      <p:sp>
        <p:nvSpPr>
          <p:cNvPr id="2" name="Footer Placeholder 1">
            <a:extLst>
              <a:ext uri="{FF2B5EF4-FFF2-40B4-BE49-F238E27FC236}">
                <a16:creationId xmlns:a16="http://schemas.microsoft.com/office/drawing/2014/main" id="{600B86E0-46DB-4E37-8FB4-208C27B5E32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22119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738664"/>
          </a:xfrm>
        </p:spPr>
        <p:txBody>
          <a:bodyPr>
            <a:spAutoFit/>
          </a:bodyPr>
          <a:lstStyle/>
          <a:p>
            <a:r>
              <a:rPr lang="en-US" sz="2400" dirty="0"/>
              <a:t>Figure 14.1 Factors to Consider in Making the Business Case</a:t>
            </a:r>
          </a:p>
        </p:txBody>
      </p:sp>
      <p:pic>
        <p:nvPicPr>
          <p:cNvPr id="3" name="Picture 2" descr="An illustration lists the seven factors to be considered when making the business case for a new information system. For a full description, see Notes. Press F6.">
            <a:extLst>
              <a:ext uri="{FF2B5EF4-FFF2-40B4-BE49-F238E27FC236}">
                <a16:creationId xmlns:a16="http://schemas.microsoft.com/office/drawing/2014/main" id="{851CE106-B34F-45B7-B1C4-9F0DDF533D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9400" y="819150"/>
            <a:ext cx="3886408" cy="3891725"/>
          </a:xfrm>
          <a:prstGeom prst="rect">
            <a:avLst/>
          </a:prstGeom>
        </p:spPr>
      </p:pic>
      <p:sp>
        <p:nvSpPr>
          <p:cNvPr id="2" name="Footer Placeholder 1">
            <a:extLst>
              <a:ext uri="{FF2B5EF4-FFF2-40B4-BE49-F238E27FC236}">
                <a16:creationId xmlns:a16="http://schemas.microsoft.com/office/drawing/2014/main" id="{BD3DB048-A501-4D2E-A924-79C14A0AAC6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698276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291"/>
            <a:ext cx="8229600" cy="492443"/>
          </a:xfrm>
        </p:spPr>
        <p:txBody>
          <a:bodyPr>
            <a:spAutoFit/>
          </a:bodyPr>
          <a:lstStyle/>
          <a:p>
            <a:r>
              <a:rPr lang="en-IN" sz="3200" dirty="0"/>
              <a:t>Information Systems Plan </a:t>
            </a:r>
            <a:r>
              <a:rPr lang="en-IN" sz="2400" dirty="0"/>
              <a:t>(1 of 2)</a:t>
            </a:r>
            <a:endParaRPr lang="en-US" sz="2400" dirty="0"/>
          </a:p>
        </p:txBody>
      </p:sp>
      <p:sp>
        <p:nvSpPr>
          <p:cNvPr id="5" name="Content Placeholder 4"/>
          <p:cNvSpPr>
            <a:spLocks noGrp="1"/>
          </p:cNvSpPr>
          <p:nvPr>
            <p:ph idx="1"/>
          </p:nvPr>
        </p:nvSpPr>
        <p:spPr>
          <a:xfrm>
            <a:off x="457200" y="859631"/>
            <a:ext cx="8229600" cy="3693319"/>
          </a:xfrm>
        </p:spPr>
        <p:txBody>
          <a:bodyPr>
            <a:spAutoFit/>
          </a:bodyPr>
          <a:lstStyle/>
          <a:p>
            <a:r>
              <a:rPr lang="en-IN" altLang="en-US" sz="1800" dirty="0"/>
              <a:t>Identifies systems projects that will deliver most business value</a:t>
            </a:r>
          </a:p>
          <a:p>
            <a:r>
              <a:rPr lang="en-IN" altLang="en-US" sz="1800" dirty="0"/>
              <a:t>Links development to business plan</a:t>
            </a:r>
          </a:p>
          <a:p>
            <a:r>
              <a:rPr lang="en-IN" altLang="en-US" sz="1800" dirty="0"/>
              <a:t>Road map indicating direction of systems development, includes:</a:t>
            </a:r>
          </a:p>
          <a:p>
            <a:pPr lvl="1"/>
            <a:r>
              <a:rPr lang="en-IN" altLang="en-US" sz="1800" dirty="0"/>
              <a:t>Purpose of plan</a:t>
            </a:r>
          </a:p>
          <a:p>
            <a:pPr lvl="1"/>
            <a:r>
              <a:rPr lang="en-IN" altLang="en-US" sz="1800" dirty="0"/>
              <a:t>Strategic business plan rationale</a:t>
            </a:r>
          </a:p>
          <a:p>
            <a:pPr lvl="1"/>
            <a:r>
              <a:rPr lang="en-IN" altLang="en-US" sz="1800" dirty="0"/>
              <a:t>Current systems/situation</a:t>
            </a:r>
          </a:p>
          <a:p>
            <a:pPr lvl="1"/>
            <a:r>
              <a:rPr lang="en-IN" altLang="en-US" sz="1800" dirty="0"/>
              <a:t>New developments</a:t>
            </a:r>
          </a:p>
          <a:p>
            <a:pPr lvl="1"/>
            <a:r>
              <a:rPr lang="en-IN" altLang="en-US" sz="1800" dirty="0"/>
              <a:t>Management strategy</a:t>
            </a:r>
          </a:p>
          <a:p>
            <a:pPr lvl="1"/>
            <a:r>
              <a:rPr lang="en-IN" altLang="en-US" sz="1800" dirty="0"/>
              <a:t>Implementation plan</a:t>
            </a:r>
          </a:p>
          <a:p>
            <a:pPr lvl="1"/>
            <a:r>
              <a:rPr lang="en-IN" altLang="en-US" sz="1800" dirty="0"/>
              <a:t>Budget</a:t>
            </a:r>
          </a:p>
        </p:txBody>
      </p:sp>
      <p:sp>
        <p:nvSpPr>
          <p:cNvPr id="2" name="Footer Placeholder 1">
            <a:extLst>
              <a:ext uri="{FF2B5EF4-FFF2-40B4-BE49-F238E27FC236}">
                <a16:creationId xmlns:a16="http://schemas.microsoft.com/office/drawing/2014/main" id="{07D39362-7B39-4508-AC53-D9B448F0E83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699676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291"/>
            <a:ext cx="8229600" cy="492443"/>
          </a:xfrm>
        </p:spPr>
        <p:txBody>
          <a:bodyPr>
            <a:spAutoFit/>
          </a:bodyPr>
          <a:lstStyle/>
          <a:p>
            <a:r>
              <a:rPr lang="en-IN" sz="3200" dirty="0"/>
              <a:t>Information Systems Plan </a:t>
            </a:r>
            <a:r>
              <a:rPr lang="en-IN" sz="2400" dirty="0"/>
              <a:t>(2 of 2)</a:t>
            </a:r>
            <a:endParaRPr lang="en-US" sz="2400" dirty="0"/>
          </a:p>
        </p:txBody>
      </p:sp>
      <p:sp>
        <p:nvSpPr>
          <p:cNvPr id="5" name="Content Placeholder 4"/>
          <p:cNvSpPr>
            <a:spLocks noGrp="1"/>
          </p:cNvSpPr>
          <p:nvPr>
            <p:ph idx="1"/>
          </p:nvPr>
        </p:nvSpPr>
        <p:spPr>
          <a:xfrm>
            <a:off x="457200" y="977280"/>
            <a:ext cx="8229600" cy="3339376"/>
          </a:xfrm>
        </p:spPr>
        <p:txBody>
          <a:bodyPr>
            <a:spAutoFit/>
          </a:bodyPr>
          <a:lstStyle/>
          <a:p>
            <a:r>
              <a:rPr lang="en-IN" altLang="en-US" dirty="0"/>
              <a:t>For effective plan</a:t>
            </a:r>
          </a:p>
          <a:p>
            <a:pPr lvl="1"/>
            <a:r>
              <a:rPr lang="en-IN" altLang="en-US" sz="2400" dirty="0"/>
              <a:t>Document existing systems and infrastructure components</a:t>
            </a:r>
          </a:p>
          <a:p>
            <a:pPr lvl="1"/>
            <a:r>
              <a:rPr lang="en-IN" altLang="en-US" sz="2400" dirty="0"/>
              <a:t>Identify decision-making improvements</a:t>
            </a:r>
          </a:p>
          <a:p>
            <a:pPr lvl="1"/>
            <a:r>
              <a:rPr lang="en-IN" altLang="en-US" sz="2400" dirty="0"/>
              <a:t>Develop metrics established for quantifying values</a:t>
            </a:r>
          </a:p>
          <a:p>
            <a:pPr lvl="1"/>
            <a:r>
              <a:rPr lang="en-IN" altLang="en-US" sz="2400" dirty="0"/>
              <a:t>Clear understanding of long-term and short-term information requirements</a:t>
            </a:r>
          </a:p>
          <a:p>
            <a:pPr lvl="1"/>
            <a:r>
              <a:rPr lang="en-IN" altLang="en-US" sz="2400" dirty="0"/>
              <a:t>Describe organizational changes required</a:t>
            </a:r>
          </a:p>
        </p:txBody>
      </p:sp>
      <p:sp>
        <p:nvSpPr>
          <p:cNvPr id="2" name="Footer Placeholder 1">
            <a:extLst>
              <a:ext uri="{FF2B5EF4-FFF2-40B4-BE49-F238E27FC236}">
                <a16:creationId xmlns:a16="http://schemas.microsoft.com/office/drawing/2014/main" id="{36E0A40F-EB06-4969-A1B7-FB98764BF00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857186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291"/>
            <a:ext cx="8229600" cy="492443"/>
          </a:xfrm>
        </p:spPr>
        <p:txBody>
          <a:bodyPr>
            <a:spAutoFit/>
          </a:bodyPr>
          <a:lstStyle/>
          <a:p>
            <a:r>
              <a:rPr lang="en-US" sz="3200" dirty="0"/>
              <a:t>Portfolio Analysis</a:t>
            </a:r>
          </a:p>
        </p:txBody>
      </p:sp>
      <p:sp>
        <p:nvSpPr>
          <p:cNvPr id="5" name="Content Placeholder 4"/>
          <p:cNvSpPr>
            <a:spLocks noGrp="1"/>
          </p:cNvSpPr>
          <p:nvPr>
            <p:ph idx="1"/>
          </p:nvPr>
        </p:nvSpPr>
        <p:spPr>
          <a:xfrm>
            <a:off x="457200" y="946502"/>
            <a:ext cx="8229600" cy="3377848"/>
          </a:xfrm>
        </p:spPr>
        <p:txBody>
          <a:bodyPr>
            <a:spAutoFit/>
          </a:bodyPr>
          <a:lstStyle/>
          <a:p>
            <a:r>
              <a:rPr lang="en-IN" altLang="en-US" sz="1800" dirty="0"/>
              <a:t>Used to evaluate alternative system projects</a:t>
            </a:r>
          </a:p>
          <a:p>
            <a:r>
              <a:rPr lang="en-IN" altLang="en-US" sz="1800" dirty="0"/>
              <a:t>Inventories all of the organization’s information systems projects and assets</a:t>
            </a:r>
          </a:p>
          <a:p>
            <a:r>
              <a:rPr lang="en-IN" altLang="en-US" sz="1800" dirty="0"/>
              <a:t>Each system has profile of risk and benefit</a:t>
            </a:r>
          </a:p>
          <a:p>
            <a:pPr lvl="1"/>
            <a:r>
              <a:rPr lang="en-IN" altLang="en-US" sz="1800" dirty="0"/>
              <a:t>High benefit, low risk</a:t>
            </a:r>
          </a:p>
          <a:p>
            <a:pPr lvl="1"/>
            <a:r>
              <a:rPr lang="en-IN" altLang="en-US" sz="1800" dirty="0"/>
              <a:t>High benefit, high risk</a:t>
            </a:r>
          </a:p>
          <a:p>
            <a:pPr lvl="1"/>
            <a:r>
              <a:rPr lang="en-IN" altLang="en-US" sz="1800" dirty="0"/>
              <a:t>Low benefit, low risk</a:t>
            </a:r>
          </a:p>
          <a:p>
            <a:pPr lvl="1"/>
            <a:r>
              <a:rPr lang="en-IN" altLang="en-US" sz="1800" dirty="0"/>
              <a:t>Low benefit, high risk</a:t>
            </a:r>
          </a:p>
          <a:p>
            <a:r>
              <a:rPr lang="en-IN" altLang="en-US" sz="1800" dirty="0"/>
              <a:t>To improve return on portfolio, balance risk and return from systems investments</a:t>
            </a:r>
          </a:p>
        </p:txBody>
      </p:sp>
      <p:sp>
        <p:nvSpPr>
          <p:cNvPr id="2" name="Footer Placeholder 1">
            <a:extLst>
              <a:ext uri="{FF2B5EF4-FFF2-40B4-BE49-F238E27FC236}">
                <a16:creationId xmlns:a16="http://schemas.microsoft.com/office/drawing/2014/main" id="{932B05AF-D9BA-4D0B-A75C-F81E5588B32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70802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8107"/>
            <a:ext cx="8229600" cy="492443"/>
          </a:xfrm>
        </p:spPr>
        <p:txBody>
          <a:bodyPr>
            <a:spAutoFit/>
          </a:bodyPr>
          <a:lstStyle/>
          <a:p>
            <a:r>
              <a:rPr lang="en-US" sz="3200" dirty="0"/>
              <a:t>Figure 14.2 A System Portfolio</a:t>
            </a:r>
          </a:p>
        </p:txBody>
      </p:sp>
      <p:pic>
        <p:nvPicPr>
          <p:cNvPr id="3074" name="Picture 2" descr="A two by two matrix explains the different levels of benefit and risk in a system portfolio.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32920" y="883117"/>
            <a:ext cx="6078160" cy="366983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11BCE453-2243-4DCF-9B45-8314CA10454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2762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6199"/>
            <a:ext cx="8229600" cy="492443"/>
          </a:xfrm>
        </p:spPr>
        <p:txBody>
          <a:bodyPr>
            <a:spAutoFit/>
          </a:bodyPr>
          <a:lstStyle/>
          <a:p>
            <a:r>
              <a:rPr lang="en-US" sz="3200" dirty="0"/>
              <a:t>Scoring Models</a:t>
            </a:r>
          </a:p>
        </p:txBody>
      </p:sp>
      <p:sp>
        <p:nvSpPr>
          <p:cNvPr id="5" name="Content Placeholder 4"/>
          <p:cNvSpPr>
            <a:spLocks noGrp="1"/>
          </p:cNvSpPr>
          <p:nvPr>
            <p:ph idx="1"/>
          </p:nvPr>
        </p:nvSpPr>
        <p:spPr>
          <a:xfrm>
            <a:off x="457200" y="983584"/>
            <a:ext cx="8229600" cy="2687443"/>
          </a:xfrm>
        </p:spPr>
        <p:txBody>
          <a:bodyPr>
            <a:spAutoFit/>
          </a:bodyPr>
          <a:lstStyle/>
          <a:p>
            <a:r>
              <a:rPr lang="en-IN" altLang="en-US" sz="2200" dirty="0"/>
              <a:t>Used to evaluate alternative system projects, especially when many criteria exist</a:t>
            </a:r>
          </a:p>
          <a:p>
            <a:r>
              <a:rPr lang="en-IN" altLang="en-US" sz="2200" dirty="0"/>
              <a:t>Assigns weights to various features of system and calculates weighted totals</a:t>
            </a:r>
          </a:p>
          <a:p>
            <a:r>
              <a:rPr lang="en-IN" altLang="en-US" sz="2200" dirty="0"/>
              <a:t>Many qualitative judgments involved</a:t>
            </a:r>
          </a:p>
          <a:p>
            <a:r>
              <a:rPr lang="en-IN" altLang="en-US" sz="2200" dirty="0"/>
              <a:t>Requires experts who understand the issues and the technology</a:t>
            </a:r>
          </a:p>
        </p:txBody>
      </p:sp>
      <p:sp>
        <p:nvSpPr>
          <p:cNvPr id="2" name="Footer Placeholder 1">
            <a:extLst>
              <a:ext uri="{FF2B5EF4-FFF2-40B4-BE49-F238E27FC236}">
                <a16:creationId xmlns:a16="http://schemas.microsoft.com/office/drawing/2014/main" id="{49AE695E-035A-4309-A7E4-91B9BAF6CD2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43115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3904"/>
            <a:ext cx="8229600" cy="338554"/>
          </a:xfrm>
        </p:spPr>
        <p:txBody>
          <a:bodyPr>
            <a:spAutoFit/>
          </a:bodyPr>
          <a:lstStyle/>
          <a:p>
            <a:r>
              <a:rPr lang="en-IN" sz="2200" dirty="0"/>
              <a:t>Table 14.2: Example of a Scoring Model for an </a:t>
            </a:r>
            <a:r>
              <a:rPr lang="en-IN" sz="2200" spc="-300" dirty="0"/>
              <a:t>E R </a:t>
            </a:r>
            <a:r>
              <a:rPr lang="en-IN" sz="2200" dirty="0"/>
              <a:t>P System</a:t>
            </a:r>
            <a:endParaRPr lang="en-US" sz="2200" dirty="0"/>
          </a:p>
        </p:txBody>
      </p:sp>
      <p:graphicFrame>
        <p:nvGraphicFramePr>
          <p:cNvPr id="5" name="Table 4"/>
          <p:cNvGraphicFramePr>
            <a:graphicFrameLocks noGrp="1"/>
          </p:cNvGraphicFramePr>
          <p:nvPr>
            <p:extLst>
              <p:ext uri="{D42A27DB-BD31-4B8C-83A1-F6EECF244321}">
                <p14:modId xmlns:p14="http://schemas.microsoft.com/office/powerpoint/2010/main" val="1956786733"/>
              </p:ext>
            </p:extLst>
          </p:nvPr>
        </p:nvGraphicFramePr>
        <p:xfrm>
          <a:off x="641606" y="742950"/>
          <a:ext cx="7892794" cy="4031640"/>
        </p:xfrm>
        <a:graphic>
          <a:graphicData uri="http://schemas.openxmlformats.org/drawingml/2006/table">
            <a:tbl>
              <a:tblPr firstRow="1" bandRow="1">
                <a:tableStyleId>{3B4B98B0-60AC-42C2-AFA5-B58CD77FA1E5}</a:tableStyleId>
              </a:tblPr>
              <a:tblGrid>
                <a:gridCol w="2759269">
                  <a:extLst>
                    <a:ext uri="{9D8B030D-6E8A-4147-A177-3AD203B41FA5}">
                      <a16:colId xmlns:a16="http://schemas.microsoft.com/office/drawing/2014/main" val="20000"/>
                    </a:ext>
                  </a:extLst>
                </a:gridCol>
                <a:gridCol w="953369">
                  <a:extLst>
                    <a:ext uri="{9D8B030D-6E8A-4147-A177-3AD203B41FA5}">
                      <a16:colId xmlns:a16="http://schemas.microsoft.com/office/drawing/2014/main" val="20001"/>
                    </a:ext>
                  </a:extLst>
                </a:gridCol>
                <a:gridCol w="1173377">
                  <a:extLst>
                    <a:ext uri="{9D8B030D-6E8A-4147-A177-3AD203B41FA5}">
                      <a16:colId xmlns:a16="http://schemas.microsoft.com/office/drawing/2014/main" val="20002"/>
                    </a:ext>
                  </a:extLst>
                </a:gridCol>
                <a:gridCol w="1026705">
                  <a:extLst>
                    <a:ext uri="{9D8B030D-6E8A-4147-A177-3AD203B41FA5}">
                      <a16:colId xmlns:a16="http://schemas.microsoft.com/office/drawing/2014/main" val="20003"/>
                    </a:ext>
                  </a:extLst>
                </a:gridCol>
                <a:gridCol w="1026705">
                  <a:extLst>
                    <a:ext uri="{9D8B030D-6E8A-4147-A177-3AD203B41FA5}">
                      <a16:colId xmlns:a16="http://schemas.microsoft.com/office/drawing/2014/main" val="20004"/>
                    </a:ext>
                  </a:extLst>
                </a:gridCol>
                <a:gridCol w="953369">
                  <a:extLst>
                    <a:ext uri="{9D8B030D-6E8A-4147-A177-3AD203B41FA5}">
                      <a16:colId xmlns:a16="http://schemas.microsoft.com/office/drawing/2014/main" val="20005"/>
                    </a:ext>
                  </a:extLst>
                </a:gridCol>
              </a:tblGrid>
              <a:tr h="8093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solidFill>
                            <a:schemeClr val="bg1"/>
                          </a:solidFill>
                          <a:latin typeface="+mn-lt"/>
                        </a:rPr>
                        <a:t>Criteria</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u="none" strike="noStrike" kern="1200" baseline="0" dirty="0">
                          <a:solidFill>
                            <a:schemeClr val="bg1"/>
                          </a:solidFill>
                          <a:latin typeface="+mn-lt"/>
                        </a:rPr>
                        <a:t>Weight</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pt-BR" sz="1600" u="none" strike="noStrike" kern="1200" baseline="0" dirty="0">
                          <a:solidFill>
                            <a:schemeClr val="bg1"/>
                          </a:solidFill>
                          <a:latin typeface="+mn-lt"/>
                        </a:rPr>
                        <a:t>E R P System</a:t>
                      </a:r>
                    </a:p>
                    <a:p>
                      <a:r>
                        <a:rPr lang="pt-BR" sz="1600" u="none" strike="noStrike" kern="1200" baseline="0" dirty="0">
                          <a:solidFill>
                            <a:schemeClr val="bg1"/>
                          </a:solidFill>
                          <a:latin typeface="+mn-lt"/>
                        </a:rPr>
                        <a:t>A %</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pt-BR" sz="1600" u="none" strike="noStrike" kern="1200" baseline="0" dirty="0">
                          <a:solidFill>
                            <a:schemeClr val="bg1"/>
                          </a:solidFill>
                          <a:latin typeface="+mn-lt"/>
                        </a:rPr>
                        <a:t>E R P System</a:t>
                      </a:r>
                    </a:p>
                    <a:p>
                      <a:r>
                        <a:rPr lang="pt-BR" sz="1600" u="none" strike="noStrike" kern="1200" baseline="0" dirty="0">
                          <a:solidFill>
                            <a:schemeClr val="bg1"/>
                          </a:solidFill>
                          <a:latin typeface="+mn-lt"/>
                        </a:rPr>
                        <a:t>A Score</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pt-BR" sz="1600" u="none" strike="noStrike" kern="1200" baseline="0" dirty="0">
                          <a:solidFill>
                            <a:schemeClr val="bg1"/>
                          </a:solidFill>
                          <a:latin typeface="+mn-lt"/>
                        </a:rPr>
                        <a:t>E R P System</a:t>
                      </a:r>
                    </a:p>
                    <a:p>
                      <a:r>
                        <a:rPr lang="pt-BR" sz="1600" u="none" strike="noStrike" kern="1200" baseline="0" dirty="0">
                          <a:solidFill>
                            <a:schemeClr val="bg1"/>
                          </a:solidFill>
                          <a:latin typeface="+mn-lt"/>
                        </a:rPr>
                        <a:t>B %</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pt-BR" sz="1600" u="none" strike="noStrike" kern="1200" baseline="0" dirty="0">
                          <a:solidFill>
                            <a:schemeClr val="bg1"/>
                          </a:solidFill>
                          <a:latin typeface="+mn-lt"/>
                        </a:rPr>
                        <a:t>E R P System</a:t>
                      </a:r>
                    </a:p>
                    <a:p>
                      <a:r>
                        <a:rPr lang="pt-BR" sz="1600" u="none" strike="noStrike" kern="1200" baseline="0" dirty="0">
                          <a:solidFill>
                            <a:schemeClr val="bg1"/>
                          </a:solidFill>
                          <a:latin typeface="+mn-lt"/>
                        </a:rPr>
                        <a:t>B Score</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56902">
                <a:tc>
                  <a:txBody>
                    <a:bodyPr/>
                    <a:lstStyle/>
                    <a:p>
                      <a:r>
                        <a:rPr lang="en-US" sz="1600" u="none" strike="noStrike" kern="1200" baseline="0" dirty="0"/>
                        <a:t>1.1 Online order entry</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4</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67</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268</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73</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292</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56902">
                <a:tc>
                  <a:txBody>
                    <a:bodyPr/>
                    <a:lstStyle/>
                    <a:p>
                      <a:r>
                        <a:rPr lang="en-US" sz="1600" u="none" strike="noStrike" kern="1200" baseline="0" dirty="0"/>
                        <a:t>1.2 Online pricing</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4</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81</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324</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87</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348</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56902">
                <a:tc>
                  <a:txBody>
                    <a:bodyPr/>
                    <a:lstStyle/>
                    <a:p>
                      <a:r>
                        <a:rPr lang="en-US" sz="1600" u="none" strike="noStrike" kern="1200" baseline="0" dirty="0"/>
                        <a:t>1.3 Inventory check</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4</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72</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288</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81</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324</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56902">
                <a:tc>
                  <a:txBody>
                    <a:bodyPr/>
                    <a:lstStyle/>
                    <a:p>
                      <a:r>
                        <a:rPr lang="en-US" sz="1600" u="none" strike="noStrike" kern="1200" baseline="0" dirty="0"/>
                        <a:t>1.4 Customer credit check</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cap="none" normalizeH="0" baseline="0" dirty="0">
                          <a:ln>
                            <a:noFill/>
                          </a:ln>
                          <a:solidFill>
                            <a:schemeClr val="tx1"/>
                          </a:solidFill>
                          <a:effectLst/>
                          <a:latin typeface="Arial" charset="0"/>
                        </a:rPr>
                        <a:t>3</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66</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198</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59</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177</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56902">
                <a:tc>
                  <a:txBody>
                    <a:bodyPr/>
                    <a:lstStyle/>
                    <a:p>
                      <a:r>
                        <a:rPr lang="en-US" sz="1600" u="none" strike="noStrike" kern="1200" baseline="0" dirty="0"/>
                        <a:t>1.5 Invoicing</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u="none" strike="noStrike" kern="1200" baseline="0" dirty="0"/>
                        <a:t>4</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73</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292</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82</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328</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r h="356902">
                <a:tc>
                  <a:txBody>
                    <a:bodyPr/>
                    <a:lstStyle/>
                    <a:p>
                      <a:r>
                        <a:rPr lang="en-US" sz="1600" u="none" strike="noStrike" kern="1200" baseline="0" dirty="0"/>
                        <a:t>2.1 Production forecasting</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latin typeface="+mn-lt"/>
                        </a:rPr>
                        <a:t>3</a:t>
                      </a:r>
                      <a:endParaRPr lang="en-IN" sz="1600" u="none" strike="noStrike" kern="1200" baseline="0" dirty="0">
                        <a:latin typeface="+mn-lt"/>
                      </a:endParaRP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72</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216</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76</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228</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6"/>
                  </a:ext>
                </a:extLst>
              </a:tr>
              <a:tr h="356902">
                <a:tc>
                  <a:txBody>
                    <a:bodyPr/>
                    <a:lstStyle/>
                    <a:p>
                      <a:r>
                        <a:rPr lang="en-US" sz="1600" u="none" strike="noStrike" kern="1200" baseline="0" dirty="0"/>
                        <a:t>2.2 Production planning</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dirty="0"/>
                        <a:t>4</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79</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316</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81</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324</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7"/>
                  </a:ext>
                </a:extLst>
              </a:tr>
              <a:tr h="3569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(etc.)</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(etc.)</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(etc.)</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(etc.)</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(etc.)</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t>(etc.)</a:t>
                      </a:r>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8"/>
                  </a:ext>
                </a:extLst>
              </a:tr>
              <a:tr h="35690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t>Grand</a:t>
                      </a:r>
                      <a:r>
                        <a:rPr lang="en-US" sz="1600" b="1" baseline="0" dirty="0"/>
                        <a:t> Totals</a:t>
                      </a:r>
                      <a:endParaRPr lang="en-US" sz="1600" b="1"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u="none" strike="noStrike" kern="1200" baseline="0" dirty="0"/>
                        <a:t>3,128</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u="none" strike="noStrike" kern="1200" baseline="0" dirty="0"/>
                        <a:t>3,300</a:t>
                      </a:r>
                      <a:endParaRPr lang="en-US" sz="1600" dirty="0"/>
                    </a:p>
                  </a:txBody>
                  <a:tcPr marL="88003" marR="88003" marT="44001" marB="44001">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9"/>
                  </a:ext>
                </a:extLst>
              </a:tr>
            </a:tbl>
          </a:graphicData>
        </a:graphic>
      </p:graphicFrame>
      <p:sp>
        <p:nvSpPr>
          <p:cNvPr id="2" name="Footer Placeholder 1">
            <a:extLst>
              <a:ext uri="{FF2B5EF4-FFF2-40B4-BE49-F238E27FC236}">
                <a16:creationId xmlns:a16="http://schemas.microsoft.com/office/drawing/2014/main" id="{44952629-9134-4225-866C-37F29B4185C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50542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6372"/>
            <a:ext cx="8229600" cy="461665"/>
          </a:xfrm>
        </p:spPr>
        <p:txBody>
          <a:bodyPr>
            <a:spAutoFit/>
          </a:bodyPr>
          <a:lstStyle/>
          <a:p>
            <a:r>
              <a:rPr lang="en-IN" sz="3000" dirty="0"/>
              <a:t>Determining Solution Costs and Benefits</a:t>
            </a:r>
            <a:endParaRPr lang="en-US" sz="3000" dirty="0"/>
          </a:p>
        </p:txBody>
      </p:sp>
      <p:sp>
        <p:nvSpPr>
          <p:cNvPr id="5" name="Content Placeholder 4"/>
          <p:cNvSpPr>
            <a:spLocks noGrp="1"/>
          </p:cNvSpPr>
          <p:nvPr>
            <p:ph idx="1"/>
          </p:nvPr>
        </p:nvSpPr>
        <p:spPr>
          <a:xfrm>
            <a:off x="609600" y="688866"/>
            <a:ext cx="8077200" cy="3985706"/>
          </a:xfrm>
        </p:spPr>
        <p:txBody>
          <a:bodyPr wrap="square">
            <a:spAutoFit/>
          </a:bodyPr>
          <a:lstStyle/>
          <a:p>
            <a:r>
              <a:rPr lang="en-IN" altLang="en-US" sz="1800" dirty="0"/>
              <a:t>Information system costs and benefits</a:t>
            </a:r>
          </a:p>
          <a:p>
            <a:pPr lvl="1"/>
            <a:r>
              <a:rPr lang="en-IN" altLang="en-US" sz="1800" dirty="0"/>
              <a:t>Tangible benefits </a:t>
            </a:r>
          </a:p>
          <a:p>
            <a:pPr lvl="2"/>
            <a:r>
              <a:rPr lang="en-IN" altLang="en-US" sz="1800" dirty="0"/>
              <a:t>Can be quantified and assigned monetary value</a:t>
            </a:r>
          </a:p>
          <a:p>
            <a:pPr lvl="2"/>
            <a:r>
              <a:rPr lang="en-IN" altLang="en-US" sz="1800" dirty="0"/>
              <a:t>Typically produced by systems that displace </a:t>
            </a:r>
            <a:r>
              <a:rPr lang="en-IN" altLang="en-US" sz="1800" dirty="0" err="1"/>
              <a:t>labor</a:t>
            </a:r>
            <a:r>
              <a:rPr lang="en-IN" altLang="en-US" sz="1800" dirty="0"/>
              <a:t>, save space</a:t>
            </a:r>
          </a:p>
          <a:p>
            <a:pPr lvl="3"/>
            <a:r>
              <a:rPr lang="en-IN" altLang="en-US" dirty="0"/>
              <a:t>E.g. transaction and clerical systems</a:t>
            </a:r>
          </a:p>
          <a:p>
            <a:pPr lvl="1"/>
            <a:r>
              <a:rPr lang="en-IN" altLang="en-US" sz="1800" dirty="0"/>
              <a:t>Intangible benefits</a:t>
            </a:r>
          </a:p>
          <a:p>
            <a:pPr lvl="2"/>
            <a:r>
              <a:rPr lang="en-IN" altLang="en-US" sz="1800" dirty="0"/>
              <a:t>Cannot be immediately quantified but may lead to quantifiable gains in the long run</a:t>
            </a:r>
          </a:p>
          <a:p>
            <a:pPr lvl="3"/>
            <a:r>
              <a:rPr lang="en-IN" altLang="en-US" dirty="0"/>
              <a:t>Example: more efficient customer service, enhanced decision making</a:t>
            </a:r>
          </a:p>
          <a:p>
            <a:pPr lvl="2"/>
            <a:r>
              <a:rPr lang="en-IN" altLang="en-US" sz="1800" dirty="0"/>
              <a:t>Typically produced by systems that influence decision making</a:t>
            </a:r>
          </a:p>
          <a:p>
            <a:pPr lvl="3"/>
            <a:r>
              <a:rPr lang="en-IN" altLang="en-US" dirty="0"/>
              <a:t>E.g. ESS, DSS, collaborative work systems</a:t>
            </a:r>
          </a:p>
        </p:txBody>
      </p:sp>
      <p:sp>
        <p:nvSpPr>
          <p:cNvPr id="2" name="Footer Placeholder 1">
            <a:extLst>
              <a:ext uri="{FF2B5EF4-FFF2-40B4-BE49-F238E27FC236}">
                <a16:creationId xmlns:a16="http://schemas.microsoft.com/office/drawing/2014/main" id="{FAADE29D-9F96-4B5D-B735-12D41246ACB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045593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49534"/>
            <a:ext cx="8229600" cy="461665"/>
          </a:xfrm>
        </p:spPr>
        <p:txBody>
          <a:bodyPr>
            <a:spAutoFit/>
          </a:bodyPr>
          <a:lstStyle/>
          <a:p>
            <a:r>
              <a:rPr lang="en-US" sz="3000" dirty="0"/>
              <a:t>Capital Budgeting for Information Systems</a:t>
            </a:r>
          </a:p>
        </p:txBody>
      </p:sp>
      <p:sp>
        <p:nvSpPr>
          <p:cNvPr id="5" name="Content Placeholder 4"/>
          <p:cNvSpPr>
            <a:spLocks noGrp="1"/>
          </p:cNvSpPr>
          <p:nvPr>
            <p:ph idx="1"/>
          </p:nvPr>
        </p:nvSpPr>
        <p:spPr>
          <a:xfrm>
            <a:off x="457200" y="895350"/>
            <a:ext cx="8229600" cy="3616375"/>
          </a:xfrm>
        </p:spPr>
        <p:txBody>
          <a:bodyPr>
            <a:spAutoFit/>
          </a:bodyPr>
          <a:lstStyle/>
          <a:p>
            <a:r>
              <a:rPr lang="en-IN" altLang="en-US" sz="2000" dirty="0"/>
              <a:t>Capital budgeting models</a:t>
            </a:r>
          </a:p>
          <a:p>
            <a:pPr lvl="1"/>
            <a:r>
              <a:rPr lang="en-IN" altLang="en-US" sz="2000" dirty="0"/>
              <a:t>Measure value of long-term capital investment projects</a:t>
            </a:r>
          </a:p>
          <a:p>
            <a:pPr lvl="1"/>
            <a:r>
              <a:rPr lang="en-IN" altLang="en-US" sz="2000" dirty="0"/>
              <a:t>Rely on measures of the firm’s cash outflows and inflows</a:t>
            </a:r>
          </a:p>
          <a:p>
            <a:r>
              <a:rPr lang="en-IN" altLang="en-US" sz="2000" dirty="0"/>
              <a:t>Principal capital budgeting models used to evaluate </a:t>
            </a:r>
            <a:r>
              <a:rPr lang="en-IN" altLang="en-US" sz="2000" spc="-300" dirty="0"/>
              <a:t>I </a:t>
            </a:r>
            <a:r>
              <a:rPr lang="en-IN" altLang="en-US" sz="2000" dirty="0"/>
              <a:t>T projects</a:t>
            </a:r>
          </a:p>
          <a:p>
            <a:pPr lvl="1"/>
            <a:r>
              <a:rPr lang="en-IN" altLang="en-US" sz="2000" dirty="0"/>
              <a:t>Payback method</a:t>
            </a:r>
          </a:p>
          <a:p>
            <a:pPr lvl="1"/>
            <a:r>
              <a:rPr lang="en-IN" altLang="en-US" sz="2000" dirty="0"/>
              <a:t>Accounting rate of return on investment (</a:t>
            </a:r>
            <a:r>
              <a:rPr lang="en-IN" altLang="en-US" sz="2000" spc="-300" dirty="0"/>
              <a:t>R O </a:t>
            </a:r>
            <a:r>
              <a:rPr lang="en-IN" altLang="en-US" sz="2000" dirty="0"/>
              <a:t>I)</a:t>
            </a:r>
          </a:p>
          <a:p>
            <a:pPr lvl="1"/>
            <a:r>
              <a:rPr lang="en-IN" altLang="en-US" sz="2000" dirty="0"/>
              <a:t>Net present value</a:t>
            </a:r>
          </a:p>
          <a:p>
            <a:pPr lvl="1"/>
            <a:r>
              <a:rPr lang="en-IN" altLang="en-US" sz="2000" dirty="0"/>
              <a:t>Internal rate of return (</a:t>
            </a:r>
            <a:r>
              <a:rPr lang="en-IN" altLang="en-US" sz="2000" spc="-300" dirty="0"/>
              <a:t>I R </a:t>
            </a:r>
            <a:r>
              <a:rPr lang="en-IN" altLang="en-US" sz="2000" dirty="0"/>
              <a:t>R)</a:t>
            </a:r>
          </a:p>
          <a:p>
            <a:r>
              <a:rPr lang="en-IN" altLang="en-US" sz="2000" dirty="0"/>
              <a:t>Limitations of financial models</a:t>
            </a:r>
          </a:p>
        </p:txBody>
      </p:sp>
      <p:sp>
        <p:nvSpPr>
          <p:cNvPr id="2" name="Footer Placeholder 1">
            <a:extLst>
              <a:ext uri="{FF2B5EF4-FFF2-40B4-BE49-F238E27FC236}">
                <a16:creationId xmlns:a16="http://schemas.microsoft.com/office/drawing/2014/main" id="{F61AFA8B-2BA7-484A-BEC2-49518256936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5012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9698"/>
            <a:ext cx="8229600" cy="523220"/>
          </a:xfrm>
        </p:spPr>
        <p:txBody>
          <a:bodyPr>
            <a:spAutoFit/>
          </a:bodyPr>
          <a:lstStyle/>
          <a:p>
            <a:r>
              <a:rPr lang="en-IN" altLang="en-US" sz="3400" dirty="0"/>
              <a:t>Runaway Projects and System Failure</a:t>
            </a:r>
            <a:endParaRPr lang="en-US" sz="3400" dirty="0"/>
          </a:p>
        </p:txBody>
      </p:sp>
      <p:sp>
        <p:nvSpPr>
          <p:cNvPr id="5" name="Content Placeholder 4"/>
          <p:cNvSpPr>
            <a:spLocks noGrp="1"/>
          </p:cNvSpPr>
          <p:nvPr>
            <p:ph idx="1"/>
          </p:nvPr>
        </p:nvSpPr>
        <p:spPr>
          <a:xfrm>
            <a:off x="457200" y="987734"/>
            <a:ext cx="8229600" cy="3716402"/>
          </a:xfrm>
        </p:spPr>
        <p:txBody>
          <a:bodyPr>
            <a:spAutoFit/>
          </a:bodyPr>
          <a:lstStyle/>
          <a:p>
            <a:r>
              <a:rPr lang="en-IN" altLang="en-US" sz="2200" dirty="0"/>
              <a:t>Runaway projects</a:t>
            </a:r>
          </a:p>
          <a:p>
            <a:pPr lvl="1"/>
            <a:r>
              <a:rPr lang="en-IN" altLang="en-US" dirty="0"/>
              <a:t>Exceed budget, schedule</a:t>
            </a:r>
          </a:p>
          <a:p>
            <a:pPr lvl="2"/>
            <a:r>
              <a:rPr lang="en-IN" altLang="en-US" dirty="0"/>
              <a:t>McKinsey/Oxford University study: ran 66 percent over budget; 33 percent over schedule </a:t>
            </a:r>
          </a:p>
          <a:p>
            <a:r>
              <a:rPr lang="en-IN" altLang="en-US" sz="2200" dirty="0"/>
              <a:t>Types of system failure</a:t>
            </a:r>
          </a:p>
          <a:p>
            <a:pPr lvl="1"/>
            <a:r>
              <a:rPr lang="en-IN" altLang="en-US" dirty="0"/>
              <a:t>Fail to capture essential business requirements</a:t>
            </a:r>
          </a:p>
          <a:p>
            <a:pPr lvl="1"/>
            <a:r>
              <a:rPr lang="en-IN" altLang="en-US" dirty="0"/>
              <a:t>Fail to provide organizational benefits</a:t>
            </a:r>
          </a:p>
          <a:p>
            <a:pPr lvl="1"/>
            <a:r>
              <a:rPr lang="en-IN" altLang="en-US" dirty="0"/>
              <a:t>Complicated, poorly organized user interface</a:t>
            </a:r>
          </a:p>
          <a:p>
            <a:pPr lvl="1"/>
            <a:r>
              <a:rPr lang="en-IN" altLang="en-US" dirty="0"/>
              <a:t>Inaccurate or inconsistent data</a:t>
            </a:r>
          </a:p>
        </p:txBody>
      </p:sp>
      <p:sp>
        <p:nvSpPr>
          <p:cNvPr id="2" name="Footer Placeholder 1">
            <a:extLst>
              <a:ext uri="{FF2B5EF4-FFF2-40B4-BE49-F238E27FC236}">
                <a16:creationId xmlns:a16="http://schemas.microsoft.com/office/drawing/2014/main" id="{B5892ACB-2405-451B-9D73-D67C0A44640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52422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789"/>
            <a:ext cx="8229600" cy="984885"/>
          </a:xfrm>
        </p:spPr>
        <p:txBody>
          <a:bodyPr>
            <a:spAutoFit/>
          </a:bodyPr>
          <a:lstStyle/>
          <a:p>
            <a:r>
              <a:rPr lang="en-IN" altLang="en-US" sz="3200" dirty="0"/>
              <a:t>Figure 14.4 Consequences of Poor Project Management</a:t>
            </a:r>
            <a:endParaRPr lang="en-US" sz="3200" dirty="0"/>
          </a:p>
        </p:txBody>
      </p:sp>
      <p:pic>
        <p:nvPicPr>
          <p:cNvPr id="1026" name="Picture 2" descr="An illustration lists the consequences of poor project management as: cost overruns, time slippage, technical shortfalls, impairing performance, and failure to obtain anticipated benefits."/>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4911" y="1916504"/>
            <a:ext cx="8154179" cy="131049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1A00449-CBFA-45CD-AAD3-35C981F4922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16227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7166"/>
            <a:ext cx="8229600" cy="492443"/>
          </a:xfrm>
        </p:spPr>
        <p:txBody>
          <a:bodyPr>
            <a:spAutoFit/>
          </a:bodyPr>
          <a:lstStyle/>
          <a:p>
            <a:r>
              <a:rPr lang="en-US" sz="3200" dirty="0"/>
              <a:t>Project Management Objectives</a:t>
            </a:r>
          </a:p>
        </p:txBody>
      </p:sp>
      <p:sp>
        <p:nvSpPr>
          <p:cNvPr id="5" name="Content Placeholder 4"/>
          <p:cNvSpPr>
            <a:spLocks noGrp="1"/>
          </p:cNvSpPr>
          <p:nvPr>
            <p:ph idx="1"/>
          </p:nvPr>
        </p:nvSpPr>
        <p:spPr>
          <a:xfrm>
            <a:off x="457200" y="666750"/>
            <a:ext cx="8229600" cy="4262705"/>
          </a:xfrm>
        </p:spPr>
        <p:txBody>
          <a:bodyPr>
            <a:spAutoFit/>
          </a:bodyPr>
          <a:lstStyle/>
          <a:p>
            <a:r>
              <a:rPr lang="en-IN" altLang="en-US" sz="2000" dirty="0"/>
              <a:t>Project: planned series of related activities for achieving a specified business objective</a:t>
            </a:r>
          </a:p>
          <a:p>
            <a:r>
              <a:rPr lang="en-IN" altLang="en-US" sz="2000" dirty="0"/>
              <a:t>Project management</a:t>
            </a:r>
          </a:p>
          <a:p>
            <a:pPr lvl="1"/>
            <a:r>
              <a:rPr lang="en-IN" altLang="en-US" sz="1800" dirty="0"/>
              <a:t>Activities include planning work, assessing risk, estimating resources required, organizing the work, assigning tasks, controlling project execution, reporting progress, </a:t>
            </a:r>
            <a:r>
              <a:rPr lang="en-IN" altLang="en-US" sz="1800" dirty="0" err="1"/>
              <a:t>analyzing</a:t>
            </a:r>
            <a:r>
              <a:rPr lang="en-IN" altLang="en-US" sz="1800" dirty="0"/>
              <a:t> results</a:t>
            </a:r>
          </a:p>
          <a:p>
            <a:r>
              <a:rPr lang="en-IN" altLang="en-US" sz="2000" dirty="0"/>
              <a:t>Five major variables</a:t>
            </a:r>
          </a:p>
          <a:p>
            <a:pPr lvl="1"/>
            <a:r>
              <a:rPr lang="en-IN" altLang="en-US" sz="1800" dirty="0"/>
              <a:t>Scope</a:t>
            </a:r>
          </a:p>
          <a:p>
            <a:pPr lvl="1"/>
            <a:r>
              <a:rPr lang="en-IN" altLang="en-US" sz="1800" dirty="0"/>
              <a:t>Time</a:t>
            </a:r>
          </a:p>
          <a:p>
            <a:pPr lvl="1"/>
            <a:r>
              <a:rPr lang="en-IN" altLang="en-US" sz="1800" dirty="0"/>
              <a:t>Cost</a:t>
            </a:r>
          </a:p>
          <a:p>
            <a:pPr lvl="1"/>
            <a:r>
              <a:rPr lang="en-IN" altLang="en-US" sz="1800" dirty="0"/>
              <a:t>Quality</a:t>
            </a:r>
          </a:p>
          <a:p>
            <a:pPr lvl="1"/>
            <a:r>
              <a:rPr lang="en-IN" altLang="en-US" sz="1800" dirty="0"/>
              <a:t>Risk</a:t>
            </a:r>
          </a:p>
        </p:txBody>
      </p:sp>
      <p:sp>
        <p:nvSpPr>
          <p:cNvPr id="2" name="Footer Placeholder 1">
            <a:extLst>
              <a:ext uri="{FF2B5EF4-FFF2-40B4-BE49-F238E27FC236}">
                <a16:creationId xmlns:a16="http://schemas.microsoft.com/office/drawing/2014/main" id="{7F32F705-E77A-46C0-A4F9-2481CCF7353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61503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2383"/>
            <a:ext cx="8229600" cy="492443"/>
          </a:xfrm>
        </p:spPr>
        <p:txBody>
          <a:bodyPr>
            <a:spAutoFit/>
          </a:bodyPr>
          <a:lstStyle/>
          <a:p>
            <a:r>
              <a:rPr lang="en-US" sz="3200" dirty="0"/>
              <a:t>Dimensions of Project Risk</a:t>
            </a:r>
          </a:p>
        </p:txBody>
      </p:sp>
      <p:sp>
        <p:nvSpPr>
          <p:cNvPr id="5" name="Content Placeholder 4"/>
          <p:cNvSpPr>
            <a:spLocks noGrp="1"/>
          </p:cNvSpPr>
          <p:nvPr>
            <p:ph idx="1"/>
          </p:nvPr>
        </p:nvSpPr>
        <p:spPr>
          <a:xfrm>
            <a:off x="457200" y="860375"/>
            <a:ext cx="8229600" cy="3616375"/>
          </a:xfrm>
        </p:spPr>
        <p:txBody>
          <a:bodyPr>
            <a:spAutoFit/>
          </a:bodyPr>
          <a:lstStyle/>
          <a:p>
            <a:r>
              <a:rPr lang="en-IN" altLang="en-US" sz="2000" dirty="0"/>
              <a:t>Project size</a:t>
            </a:r>
          </a:p>
          <a:p>
            <a:pPr lvl="1"/>
            <a:r>
              <a:rPr lang="en-IN" altLang="en-US" sz="2000" dirty="0"/>
              <a:t>Cost</a:t>
            </a:r>
          </a:p>
          <a:p>
            <a:pPr lvl="1"/>
            <a:r>
              <a:rPr lang="en-IN" altLang="en-US" sz="2000" dirty="0"/>
              <a:t>Time</a:t>
            </a:r>
          </a:p>
          <a:p>
            <a:pPr lvl="1"/>
            <a:r>
              <a:rPr lang="en-IN" altLang="en-US" sz="2000" dirty="0"/>
              <a:t>Number of organizational units affected</a:t>
            </a:r>
          </a:p>
          <a:p>
            <a:pPr lvl="1"/>
            <a:r>
              <a:rPr lang="en-IN" altLang="en-US" sz="2000" dirty="0"/>
              <a:t>Organizational complexity</a:t>
            </a:r>
          </a:p>
          <a:p>
            <a:r>
              <a:rPr lang="en-IN" altLang="en-US" sz="2000" dirty="0"/>
              <a:t>Project structure</a:t>
            </a:r>
          </a:p>
          <a:p>
            <a:pPr lvl="1"/>
            <a:r>
              <a:rPr lang="en-IN" altLang="en-US" sz="2000" dirty="0"/>
              <a:t>Structured, defined requirements run lower risk</a:t>
            </a:r>
          </a:p>
          <a:p>
            <a:r>
              <a:rPr lang="en-IN" altLang="en-US" sz="2000" dirty="0"/>
              <a:t>Experience with technology</a:t>
            </a:r>
          </a:p>
          <a:p>
            <a:pPr lvl="1"/>
            <a:r>
              <a:rPr lang="en-IN" altLang="en-US" sz="2000" dirty="0"/>
              <a:t>Team familiar with hardware and software</a:t>
            </a:r>
          </a:p>
        </p:txBody>
      </p:sp>
      <p:sp>
        <p:nvSpPr>
          <p:cNvPr id="2" name="Footer Placeholder 1">
            <a:extLst>
              <a:ext uri="{FF2B5EF4-FFF2-40B4-BE49-F238E27FC236}">
                <a16:creationId xmlns:a16="http://schemas.microsoft.com/office/drawing/2014/main" id="{904BE616-FDD0-4297-B133-374D6D955FA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87536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2881"/>
            <a:ext cx="8229600" cy="984885"/>
          </a:xfrm>
        </p:spPr>
        <p:txBody>
          <a:bodyPr>
            <a:spAutoFit/>
          </a:bodyPr>
          <a:lstStyle/>
          <a:p>
            <a:r>
              <a:rPr lang="en-IN" sz="3200" dirty="0"/>
              <a:t>Change Management and the Concept of Implementation </a:t>
            </a:r>
            <a:r>
              <a:rPr lang="en-IN" sz="2800" dirty="0"/>
              <a:t>(1 of 3)</a:t>
            </a:r>
            <a:endParaRPr lang="en-US" sz="2800" dirty="0"/>
          </a:p>
        </p:txBody>
      </p:sp>
      <p:sp>
        <p:nvSpPr>
          <p:cNvPr id="5" name="Content Placeholder 4"/>
          <p:cNvSpPr>
            <a:spLocks noGrp="1"/>
          </p:cNvSpPr>
          <p:nvPr>
            <p:ph idx="1"/>
          </p:nvPr>
        </p:nvSpPr>
        <p:spPr>
          <a:xfrm>
            <a:off x="457200" y="1321296"/>
            <a:ext cx="8229600" cy="3231654"/>
          </a:xfrm>
        </p:spPr>
        <p:txBody>
          <a:bodyPr>
            <a:spAutoFit/>
          </a:bodyPr>
          <a:lstStyle/>
          <a:p>
            <a:r>
              <a:rPr lang="en-IN" altLang="en-US" sz="1600" dirty="0"/>
              <a:t>Change management</a:t>
            </a:r>
          </a:p>
          <a:p>
            <a:pPr lvl="1"/>
            <a:r>
              <a:rPr lang="en-IN" altLang="en-US" sz="1600" dirty="0"/>
              <a:t>Required for successful system building</a:t>
            </a:r>
          </a:p>
          <a:p>
            <a:pPr lvl="1"/>
            <a:r>
              <a:rPr lang="en-IN" altLang="en-US" sz="1600" dirty="0"/>
              <a:t>New information systems have powerful </a:t>
            </a:r>
            <a:r>
              <a:rPr lang="en-IN" altLang="en-US" sz="1600" dirty="0" err="1"/>
              <a:t>behavioral</a:t>
            </a:r>
            <a:r>
              <a:rPr lang="en-IN" altLang="en-US" sz="1600" dirty="0"/>
              <a:t> and organizational impact</a:t>
            </a:r>
          </a:p>
          <a:p>
            <a:r>
              <a:rPr lang="en-IN" altLang="en-US" sz="1600" dirty="0"/>
              <a:t>Implementation</a:t>
            </a:r>
          </a:p>
          <a:p>
            <a:pPr lvl="1"/>
            <a:r>
              <a:rPr lang="en-IN" altLang="en-US" sz="1600" dirty="0"/>
              <a:t>All organizational activities working toward adoption, management, and </a:t>
            </a:r>
            <a:r>
              <a:rPr lang="en-IN" altLang="en-US" sz="1600" dirty="0" err="1"/>
              <a:t>routinization</a:t>
            </a:r>
            <a:r>
              <a:rPr lang="en-IN" altLang="en-US" sz="1600" dirty="0"/>
              <a:t> of an innovation</a:t>
            </a:r>
          </a:p>
          <a:p>
            <a:r>
              <a:rPr lang="en-IN" altLang="en-US" sz="1600" dirty="0"/>
              <a:t>Change agent</a:t>
            </a:r>
          </a:p>
          <a:p>
            <a:pPr lvl="1"/>
            <a:r>
              <a:rPr lang="en-IN" altLang="en-US" sz="1600" dirty="0"/>
              <a:t>One role of systems analyst</a:t>
            </a:r>
          </a:p>
          <a:p>
            <a:pPr lvl="1"/>
            <a:r>
              <a:rPr lang="en-IN" altLang="en-US" sz="1600" dirty="0"/>
              <a:t>Redefines the configurations, interactions, job activities, and power relationships of organizational groups</a:t>
            </a:r>
          </a:p>
        </p:txBody>
      </p:sp>
      <p:sp>
        <p:nvSpPr>
          <p:cNvPr id="2" name="Footer Placeholder 1">
            <a:extLst>
              <a:ext uri="{FF2B5EF4-FFF2-40B4-BE49-F238E27FC236}">
                <a16:creationId xmlns:a16="http://schemas.microsoft.com/office/drawing/2014/main" id="{89FF1166-6DD9-4813-9288-71FD7DE0AA3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993981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789"/>
            <a:ext cx="8229600" cy="984885"/>
          </a:xfrm>
        </p:spPr>
        <p:txBody>
          <a:bodyPr>
            <a:spAutoFit/>
          </a:bodyPr>
          <a:lstStyle/>
          <a:p>
            <a:r>
              <a:rPr lang="en-IN" sz="3200" dirty="0"/>
              <a:t>Change Management and the Concept of Implementation </a:t>
            </a:r>
            <a:r>
              <a:rPr lang="en-IN" sz="2800" dirty="0"/>
              <a:t>(2 of 3)</a:t>
            </a:r>
            <a:endParaRPr lang="en-US" sz="2800" dirty="0"/>
          </a:p>
        </p:txBody>
      </p:sp>
      <p:sp>
        <p:nvSpPr>
          <p:cNvPr id="5" name="Content Placeholder 4"/>
          <p:cNvSpPr>
            <a:spLocks noGrp="1"/>
          </p:cNvSpPr>
          <p:nvPr>
            <p:ph idx="1"/>
          </p:nvPr>
        </p:nvSpPr>
        <p:spPr>
          <a:xfrm>
            <a:off x="457200" y="1243608"/>
            <a:ext cx="8229600" cy="3385542"/>
          </a:xfrm>
        </p:spPr>
        <p:txBody>
          <a:bodyPr>
            <a:spAutoFit/>
          </a:bodyPr>
          <a:lstStyle/>
          <a:p>
            <a:r>
              <a:rPr lang="en-IN" altLang="en-US" sz="1600" dirty="0"/>
              <a:t>Role of end users</a:t>
            </a:r>
          </a:p>
          <a:p>
            <a:pPr lvl="1"/>
            <a:r>
              <a:rPr lang="en-IN" altLang="en-US" sz="1600" dirty="0"/>
              <a:t>With high levels of user involvement</a:t>
            </a:r>
          </a:p>
          <a:p>
            <a:pPr lvl="2"/>
            <a:r>
              <a:rPr lang="en-IN" altLang="en-US" sz="1600" dirty="0"/>
              <a:t>System more likely to conform to requirements</a:t>
            </a:r>
          </a:p>
          <a:p>
            <a:pPr lvl="2"/>
            <a:r>
              <a:rPr lang="en-IN" altLang="en-US" sz="1600" dirty="0"/>
              <a:t>Users more likely to accept system</a:t>
            </a:r>
          </a:p>
          <a:p>
            <a:r>
              <a:rPr lang="en-IN" altLang="en-US" sz="1600" dirty="0"/>
              <a:t>User–designer communication gap</a:t>
            </a:r>
          </a:p>
          <a:p>
            <a:pPr lvl="1"/>
            <a:r>
              <a:rPr lang="en-IN" altLang="en-US" sz="1600" dirty="0"/>
              <a:t>Users and information systems specialists</a:t>
            </a:r>
          </a:p>
          <a:p>
            <a:r>
              <a:rPr lang="en-IN" altLang="en-US" sz="1600" dirty="0"/>
              <a:t>Management support and commitment</a:t>
            </a:r>
          </a:p>
          <a:p>
            <a:pPr lvl="1"/>
            <a:r>
              <a:rPr lang="en-IN" altLang="en-US" sz="1600" dirty="0"/>
              <a:t>Affects positive perception by both users and technical staff</a:t>
            </a:r>
          </a:p>
          <a:p>
            <a:pPr lvl="1"/>
            <a:r>
              <a:rPr lang="en-IN" altLang="en-US" sz="1600" dirty="0"/>
              <a:t>Ensures sufficient funding and resources</a:t>
            </a:r>
          </a:p>
          <a:p>
            <a:pPr lvl="1"/>
            <a:r>
              <a:rPr lang="en-IN" altLang="en-US" sz="1600" dirty="0"/>
              <a:t>Helps enforce required organizational changes</a:t>
            </a:r>
          </a:p>
        </p:txBody>
      </p:sp>
      <p:sp>
        <p:nvSpPr>
          <p:cNvPr id="2" name="Footer Placeholder 1">
            <a:extLst>
              <a:ext uri="{FF2B5EF4-FFF2-40B4-BE49-F238E27FC236}">
                <a16:creationId xmlns:a16="http://schemas.microsoft.com/office/drawing/2014/main" id="{1C32675E-995A-47C0-95C5-F6EE5D87A6E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333651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IN" sz="3200" dirty="0"/>
              <a:t>Change Management and the Concept of Implementation </a:t>
            </a:r>
            <a:r>
              <a:rPr lang="en-IN" sz="2800" dirty="0"/>
              <a:t>(3 of 3)</a:t>
            </a:r>
            <a:endParaRPr lang="en-US" sz="2800" dirty="0"/>
          </a:p>
        </p:txBody>
      </p:sp>
      <p:sp>
        <p:nvSpPr>
          <p:cNvPr id="5" name="Content Placeholder 4"/>
          <p:cNvSpPr>
            <a:spLocks noGrp="1"/>
          </p:cNvSpPr>
          <p:nvPr>
            <p:ph idx="1"/>
          </p:nvPr>
        </p:nvSpPr>
        <p:spPr>
          <a:xfrm>
            <a:off x="457200" y="1123950"/>
            <a:ext cx="8229600" cy="3647152"/>
          </a:xfrm>
        </p:spPr>
        <p:txBody>
          <a:bodyPr>
            <a:spAutoFit/>
          </a:bodyPr>
          <a:lstStyle/>
          <a:p>
            <a:r>
              <a:rPr lang="en-IN" altLang="en-US" sz="1600" dirty="0"/>
              <a:t>Change management challenges for business process management (BPM), enterprise applications, and mergers and acquisitions</a:t>
            </a:r>
          </a:p>
          <a:p>
            <a:pPr lvl="1"/>
            <a:r>
              <a:rPr lang="en-IN" altLang="en-US" sz="1600" dirty="0"/>
              <a:t>Very high failure rate among enterprise application and </a:t>
            </a:r>
            <a:r>
              <a:rPr lang="en-IN" altLang="en-US" sz="1600" spc="-300" dirty="0"/>
              <a:t>B  P  M</a:t>
            </a:r>
            <a:r>
              <a:rPr lang="en-IN" altLang="en-US" sz="1600" dirty="0"/>
              <a:t>  projects (up to 70 percent for far-reaching BPM)</a:t>
            </a:r>
          </a:p>
          <a:p>
            <a:pPr lvl="2"/>
            <a:r>
              <a:rPr lang="en-IN" altLang="en-US" sz="1600" dirty="0"/>
              <a:t>Poor implementation and change management practices</a:t>
            </a:r>
          </a:p>
          <a:p>
            <a:pPr lvl="3"/>
            <a:r>
              <a:rPr lang="en-IN" altLang="en-US" sz="1400" dirty="0"/>
              <a:t>Employee concerns about change</a:t>
            </a:r>
          </a:p>
          <a:p>
            <a:pPr lvl="3"/>
            <a:r>
              <a:rPr lang="en-IN" altLang="en-US" sz="1400" dirty="0"/>
              <a:t>Resistance by key managers</a:t>
            </a:r>
          </a:p>
          <a:p>
            <a:pPr lvl="3"/>
            <a:r>
              <a:rPr lang="en-IN" altLang="en-US" sz="1400" dirty="0"/>
              <a:t>Changing job functions, career paths, recruitment practices</a:t>
            </a:r>
          </a:p>
          <a:p>
            <a:pPr lvl="1"/>
            <a:r>
              <a:rPr lang="en-IN" altLang="en-US" sz="1600" dirty="0"/>
              <a:t>Mergers and acquisitions</a:t>
            </a:r>
          </a:p>
          <a:p>
            <a:pPr lvl="2"/>
            <a:r>
              <a:rPr lang="en-IN" altLang="en-US" sz="1600" dirty="0"/>
              <a:t>Similarly high failure rate of integration projects</a:t>
            </a:r>
          </a:p>
          <a:p>
            <a:pPr lvl="2"/>
            <a:r>
              <a:rPr lang="en-IN" altLang="en-US" sz="1600" dirty="0"/>
              <a:t>Merging of systems of two companies requires:</a:t>
            </a:r>
          </a:p>
          <a:p>
            <a:pPr lvl="3"/>
            <a:r>
              <a:rPr lang="en-IN" altLang="en-US" sz="1400" dirty="0"/>
              <a:t>Considerable organizational change, complex systems projects</a:t>
            </a:r>
          </a:p>
        </p:txBody>
      </p:sp>
      <p:sp>
        <p:nvSpPr>
          <p:cNvPr id="2" name="Footer Placeholder 1">
            <a:extLst>
              <a:ext uri="{FF2B5EF4-FFF2-40B4-BE49-F238E27FC236}">
                <a16:creationId xmlns:a16="http://schemas.microsoft.com/office/drawing/2014/main" id="{6CA4A5B4-ADD4-45EA-B52B-74815B0CC64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695466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5258"/>
            <a:ext cx="8229600" cy="492443"/>
          </a:xfrm>
        </p:spPr>
        <p:txBody>
          <a:bodyPr>
            <a:spAutoFit/>
          </a:bodyPr>
          <a:lstStyle/>
          <a:p>
            <a:r>
              <a:rPr lang="en-IN" sz="3200" dirty="0"/>
              <a:t>Managing Project Risks</a:t>
            </a:r>
            <a:endParaRPr lang="en-US" sz="3200" dirty="0"/>
          </a:p>
        </p:txBody>
      </p:sp>
      <p:sp>
        <p:nvSpPr>
          <p:cNvPr id="5" name="Content Placeholder 4"/>
          <p:cNvSpPr>
            <a:spLocks noGrp="1"/>
          </p:cNvSpPr>
          <p:nvPr>
            <p:ph idx="1"/>
          </p:nvPr>
        </p:nvSpPr>
        <p:spPr>
          <a:xfrm>
            <a:off x="457200" y="862982"/>
            <a:ext cx="8229600" cy="3539430"/>
          </a:xfrm>
        </p:spPr>
        <p:txBody>
          <a:bodyPr>
            <a:spAutoFit/>
          </a:bodyPr>
          <a:lstStyle/>
          <a:p>
            <a:r>
              <a:rPr lang="en-IN" altLang="en-US" sz="2000" dirty="0"/>
              <a:t>First step involves identifying nature and level of risk of project</a:t>
            </a:r>
          </a:p>
          <a:p>
            <a:r>
              <a:rPr lang="en-IN" altLang="en-US" sz="2000" dirty="0"/>
              <a:t>Each project can then be managed with tools and risk-management approaches geared to level of risk</a:t>
            </a:r>
          </a:p>
          <a:p>
            <a:r>
              <a:rPr lang="en-IN" altLang="en-US" sz="2000" dirty="0"/>
              <a:t>Managing technical complexity</a:t>
            </a:r>
          </a:p>
          <a:p>
            <a:pPr lvl="1"/>
            <a:r>
              <a:rPr lang="en-IN" altLang="en-US" sz="2000" dirty="0"/>
              <a:t>Internal integration tools</a:t>
            </a:r>
          </a:p>
          <a:p>
            <a:pPr lvl="2"/>
            <a:r>
              <a:rPr lang="en-IN" altLang="en-US" dirty="0"/>
              <a:t>Project leaders with technical and administrative experience</a:t>
            </a:r>
          </a:p>
          <a:p>
            <a:pPr lvl="2"/>
            <a:r>
              <a:rPr lang="en-IN" altLang="en-US" dirty="0"/>
              <a:t>Highly experienced team members</a:t>
            </a:r>
          </a:p>
          <a:p>
            <a:pPr lvl="2"/>
            <a:r>
              <a:rPr lang="en-IN" altLang="en-US" dirty="0"/>
              <a:t>Frequent team meetings</a:t>
            </a:r>
          </a:p>
          <a:p>
            <a:pPr lvl="2"/>
            <a:r>
              <a:rPr lang="en-IN" altLang="en-US" dirty="0"/>
              <a:t>Securing of technical experience outside firm if necessary</a:t>
            </a:r>
          </a:p>
        </p:txBody>
      </p:sp>
      <p:sp>
        <p:nvSpPr>
          <p:cNvPr id="2" name="Footer Placeholder 1">
            <a:extLst>
              <a:ext uri="{FF2B5EF4-FFF2-40B4-BE49-F238E27FC236}">
                <a16:creationId xmlns:a16="http://schemas.microsoft.com/office/drawing/2014/main" id="{57F61D7F-3BCB-4220-AA46-4BDBAF73EBF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37708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291"/>
            <a:ext cx="8229600" cy="492443"/>
          </a:xfrm>
        </p:spPr>
        <p:txBody>
          <a:bodyPr>
            <a:spAutoFit/>
          </a:bodyPr>
          <a:lstStyle/>
          <a:p>
            <a:r>
              <a:rPr lang="en-US" sz="3200" dirty="0"/>
              <a:t>Formal Planning and Control Tools</a:t>
            </a:r>
          </a:p>
        </p:txBody>
      </p:sp>
      <p:sp>
        <p:nvSpPr>
          <p:cNvPr id="5" name="Content Placeholder 4"/>
          <p:cNvSpPr>
            <a:spLocks noGrp="1"/>
          </p:cNvSpPr>
          <p:nvPr>
            <p:ph idx="1"/>
          </p:nvPr>
        </p:nvSpPr>
        <p:spPr>
          <a:xfrm>
            <a:off x="457200" y="883459"/>
            <a:ext cx="8229600" cy="3593291"/>
          </a:xfrm>
        </p:spPr>
        <p:txBody>
          <a:bodyPr>
            <a:spAutoFit/>
          </a:bodyPr>
          <a:lstStyle/>
          <a:p>
            <a:r>
              <a:rPr lang="en-IN" altLang="en-US" sz="2200" dirty="0"/>
              <a:t>Used for documenting and monitoring project plans</a:t>
            </a:r>
          </a:p>
          <a:p>
            <a:r>
              <a:rPr lang="en-IN" altLang="en-US" sz="2200" dirty="0"/>
              <a:t>Help identify bottlenecks and impact of problems</a:t>
            </a:r>
          </a:p>
          <a:p>
            <a:r>
              <a:rPr lang="en-IN" altLang="en-US" sz="2200" dirty="0"/>
              <a:t>Gantt charts</a:t>
            </a:r>
          </a:p>
          <a:p>
            <a:pPr lvl="1"/>
            <a:r>
              <a:rPr lang="en-IN" altLang="en-US" dirty="0"/>
              <a:t>Visual representation of timing and duration of tasks</a:t>
            </a:r>
          </a:p>
          <a:p>
            <a:pPr lvl="1"/>
            <a:r>
              <a:rPr lang="en-IN" altLang="en-US" dirty="0"/>
              <a:t>Human resource requirements of tasks</a:t>
            </a:r>
          </a:p>
          <a:p>
            <a:r>
              <a:rPr lang="en-IN" altLang="en-US" sz="2200" spc="-300" dirty="0"/>
              <a:t>P E R </a:t>
            </a:r>
            <a:r>
              <a:rPr lang="en-IN" altLang="en-US" sz="2200" dirty="0"/>
              <a:t>T charts</a:t>
            </a:r>
          </a:p>
          <a:p>
            <a:pPr lvl="1"/>
            <a:r>
              <a:rPr lang="en-IN" altLang="en-US" dirty="0"/>
              <a:t>Graphically depict tasks and interrelationships</a:t>
            </a:r>
          </a:p>
          <a:p>
            <a:pPr lvl="1"/>
            <a:r>
              <a:rPr lang="en-IN" altLang="en-US" dirty="0"/>
              <a:t>Indicate sequence of tasks necessary</a:t>
            </a:r>
          </a:p>
        </p:txBody>
      </p:sp>
      <p:sp>
        <p:nvSpPr>
          <p:cNvPr id="2" name="Footer Placeholder 1">
            <a:extLst>
              <a:ext uri="{FF2B5EF4-FFF2-40B4-BE49-F238E27FC236}">
                <a16:creationId xmlns:a16="http://schemas.microsoft.com/office/drawing/2014/main" id="{66E57425-5D7D-41F3-B3A3-FD351E0037C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45784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2383"/>
            <a:ext cx="8229600" cy="492443"/>
          </a:xfrm>
        </p:spPr>
        <p:txBody>
          <a:bodyPr>
            <a:spAutoFit/>
          </a:bodyPr>
          <a:lstStyle/>
          <a:p>
            <a:r>
              <a:rPr lang="en-IN" sz="3200" dirty="0"/>
              <a:t>Figure 14.5 A Gantt Chart</a:t>
            </a:r>
            <a:endParaRPr lang="en-US" sz="3200" dirty="0"/>
          </a:p>
        </p:txBody>
      </p:sp>
      <p:pic>
        <p:nvPicPr>
          <p:cNvPr id="3" name="Picture 2" descr="A sample Gantt Chart with a resource summary for a data administration project. For a full description, see Notes. Press F6.">
            <a:extLst>
              <a:ext uri="{FF2B5EF4-FFF2-40B4-BE49-F238E27FC236}">
                <a16:creationId xmlns:a16="http://schemas.microsoft.com/office/drawing/2014/main" id="{0CC471A1-748D-48C7-8B95-B54D521C20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9400" y="778184"/>
            <a:ext cx="3276600" cy="3774766"/>
          </a:xfrm>
          <a:prstGeom prst="rect">
            <a:avLst/>
          </a:prstGeom>
        </p:spPr>
      </p:pic>
      <p:sp>
        <p:nvSpPr>
          <p:cNvPr id="2" name="Footer Placeholder 1">
            <a:extLst>
              <a:ext uri="{FF2B5EF4-FFF2-40B4-BE49-F238E27FC236}">
                <a16:creationId xmlns:a16="http://schemas.microsoft.com/office/drawing/2014/main" id="{C8CA81DD-13A3-4ACA-AB75-F35ED36FA86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235145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492443"/>
          </a:xfrm>
        </p:spPr>
        <p:txBody>
          <a:bodyPr>
            <a:spAutoFit/>
          </a:bodyPr>
          <a:lstStyle/>
          <a:p>
            <a:r>
              <a:rPr lang="en-IN" sz="3200" dirty="0"/>
              <a:t>Figure 14.6 </a:t>
            </a:r>
            <a:r>
              <a:rPr lang="en-IN" sz="3200" spc="-300" dirty="0"/>
              <a:t>A  PER</a:t>
            </a:r>
            <a:r>
              <a:rPr lang="en-IN" sz="3200" dirty="0"/>
              <a:t>T Chart</a:t>
            </a:r>
            <a:endParaRPr lang="en-US" sz="3200" dirty="0"/>
          </a:p>
        </p:txBody>
      </p:sp>
      <p:pic>
        <p:nvPicPr>
          <p:cNvPr id="3" name="Picture 2" descr="A graphical representation illustrates a sample project's timeline for creating a website. For a full description, see Notes. Press F6.">
            <a:extLst>
              <a:ext uri="{FF2B5EF4-FFF2-40B4-BE49-F238E27FC236}">
                <a16:creationId xmlns:a16="http://schemas.microsoft.com/office/drawing/2014/main" id="{F006DA54-0804-462C-B81A-CEA09873D7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819150"/>
            <a:ext cx="6000575" cy="3838691"/>
          </a:xfrm>
          <a:prstGeom prst="rect">
            <a:avLst/>
          </a:prstGeom>
        </p:spPr>
      </p:pic>
      <p:sp>
        <p:nvSpPr>
          <p:cNvPr id="2" name="Footer Placeholder 1">
            <a:extLst>
              <a:ext uri="{FF2B5EF4-FFF2-40B4-BE49-F238E27FC236}">
                <a16:creationId xmlns:a16="http://schemas.microsoft.com/office/drawing/2014/main" id="{34627437-089A-4EA8-B083-87AF23B2763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05720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41442"/>
            <a:ext cx="8229600" cy="861774"/>
          </a:xfrm>
        </p:spPr>
        <p:txBody>
          <a:bodyPr>
            <a:spAutoFit/>
          </a:bodyPr>
          <a:lstStyle/>
          <a:p>
            <a:r>
              <a:rPr lang="en-US" sz="2800" dirty="0"/>
              <a:t>Increasing User Involvement and Overcoming User Resistance</a:t>
            </a:r>
          </a:p>
        </p:txBody>
      </p:sp>
      <p:sp>
        <p:nvSpPr>
          <p:cNvPr id="5" name="Content Placeholder 4"/>
          <p:cNvSpPr>
            <a:spLocks noGrp="1"/>
          </p:cNvSpPr>
          <p:nvPr>
            <p:ph idx="1"/>
          </p:nvPr>
        </p:nvSpPr>
        <p:spPr>
          <a:xfrm>
            <a:off x="457200" y="1060583"/>
            <a:ext cx="8229600" cy="3693319"/>
          </a:xfrm>
        </p:spPr>
        <p:txBody>
          <a:bodyPr>
            <a:spAutoFit/>
          </a:bodyPr>
          <a:lstStyle/>
          <a:p>
            <a:r>
              <a:rPr lang="en-IN" altLang="en-US" sz="1800" dirty="0"/>
              <a:t>External integration tools</a:t>
            </a:r>
          </a:p>
          <a:p>
            <a:pPr lvl="1"/>
            <a:r>
              <a:rPr lang="en-IN" altLang="en-US" sz="1800" dirty="0"/>
              <a:t>Link work of implementation team to users at all levels</a:t>
            </a:r>
          </a:p>
          <a:p>
            <a:r>
              <a:rPr lang="en-IN" altLang="en-US" sz="1800" dirty="0"/>
              <a:t>User resistance to organizational change</a:t>
            </a:r>
          </a:p>
          <a:p>
            <a:pPr lvl="1"/>
            <a:r>
              <a:rPr lang="en-IN" altLang="en-US" sz="1800" dirty="0" err="1"/>
              <a:t>Counterimplementation</a:t>
            </a:r>
            <a:endParaRPr lang="en-IN" altLang="en-US" sz="1800" dirty="0"/>
          </a:p>
          <a:p>
            <a:r>
              <a:rPr lang="en-IN" altLang="en-US" sz="1800" dirty="0"/>
              <a:t>Strategies to overcome user resistance</a:t>
            </a:r>
          </a:p>
          <a:p>
            <a:pPr lvl="1"/>
            <a:r>
              <a:rPr lang="en-IN" altLang="en-US" sz="1800" dirty="0"/>
              <a:t>User participation, education and training</a:t>
            </a:r>
          </a:p>
          <a:p>
            <a:pPr lvl="1"/>
            <a:r>
              <a:rPr lang="en-IN" altLang="en-US" sz="1800" dirty="0"/>
              <a:t>Management edicts and policies</a:t>
            </a:r>
          </a:p>
          <a:p>
            <a:pPr lvl="1"/>
            <a:r>
              <a:rPr lang="en-IN" altLang="en-US" sz="1800" dirty="0"/>
              <a:t>Incentives for cooperation</a:t>
            </a:r>
          </a:p>
          <a:p>
            <a:pPr lvl="1"/>
            <a:r>
              <a:rPr lang="en-IN" altLang="en-US" sz="1800" dirty="0"/>
              <a:t>Improvement of end-user interface</a:t>
            </a:r>
          </a:p>
          <a:p>
            <a:pPr lvl="1"/>
            <a:r>
              <a:rPr lang="en-IN" altLang="en-US" sz="1800" dirty="0"/>
              <a:t>Resolution of organizational problems prior to introduction of new system</a:t>
            </a:r>
          </a:p>
        </p:txBody>
      </p:sp>
      <p:sp>
        <p:nvSpPr>
          <p:cNvPr id="2" name="Footer Placeholder 1">
            <a:extLst>
              <a:ext uri="{FF2B5EF4-FFF2-40B4-BE49-F238E27FC236}">
                <a16:creationId xmlns:a16="http://schemas.microsoft.com/office/drawing/2014/main" id="{D5E2827F-88FA-4BE2-858B-BD18164B6D6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108724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291"/>
            <a:ext cx="8229600" cy="492443"/>
          </a:xfrm>
        </p:spPr>
        <p:txBody>
          <a:bodyPr>
            <a:spAutoFit/>
          </a:bodyPr>
          <a:lstStyle/>
          <a:p>
            <a:r>
              <a:rPr lang="en-US" sz="3200" dirty="0"/>
              <a:t>Designing for the Organization</a:t>
            </a:r>
          </a:p>
        </p:txBody>
      </p:sp>
      <p:sp>
        <p:nvSpPr>
          <p:cNvPr id="5" name="Content Placeholder 4"/>
          <p:cNvSpPr>
            <a:spLocks noGrp="1"/>
          </p:cNvSpPr>
          <p:nvPr>
            <p:ph idx="1"/>
          </p:nvPr>
        </p:nvSpPr>
        <p:spPr>
          <a:xfrm>
            <a:off x="457200" y="978024"/>
            <a:ext cx="8229600" cy="3270126"/>
          </a:xfrm>
        </p:spPr>
        <p:txBody>
          <a:bodyPr>
            <a:spAutoFit/>
          </a:bodyPr>
          <a:lstStyle/>
          <a:p>
            <a:r>
              <a:rPr lang="en-IN" sz="2000" dirty="0"/>
              <a:t>Need to address ways in which organization changes with new system</a:t>
            </a:r>
          </a:p>
          <a:p>
            <a:r>
              <a:rPr lang="en-IN" sz="2000" dirty="0"/>
              <a:t>Ergonomics</a:t>
            </a:r>
          </a:p>
          <a:p>
            <a:pPr lvl="1"/>
            <a:r>
              <a:rPr lang="en-IN" sz="2000" dirty="0"/>
              <a:t>Interaction of people and machines in work environment</a:t>
            </a:r>
          </a:p>
          <a:p>
            <a:r>
              <a:rPr lang="en-IN" sz="2000" dirty="0"/>
              <a:t>Organizational impact analysis</a:t>
            </a:r>
          </a:p>
          <a:p>
            <a:pPr lvl="1"/>
            <a:r>
              <a:rPr lang="en-IN" sz="2000" dirty="0"/>
              <a:t>How system will affect organizational structure, attitudes, decision making, operations</a:t>
            </a:r>
          </a:p>
          <a:p>
            <a:r>
              <a:rPr lang="en-IN" sz="2000" dirty="0"/>
              <a:t>Sociotechnical design</a:t>
            </a:r>
          </a:p>
          <a:p>
            <a:pPr lvl="1"/>
            <a:r>
              <a:rPr lang="en-IN" sz="2000" dirty="0"/>
              <a:t>Addresses human and organizational issues</a:t>
            </a:r>
          </a:p>
        </p:txBody>
      </p:sp>
      <p:sp>
        <p:nvSpPr>
          <p:cNvPr id="2" name="Footer Placeholder 1">
            <a:extLst>
              <a:ext uri="{FF2B5EF4-FFF2-40B4-BE49-F238E27FC236}">
                <a16:creationId xmlns:a16="http://schemas.microsoft.com/office/drawing/2014/main" id="{8A9C9CB3-12CB-4646-AEE8-AACE60D2A94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74569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09550"/>
            <a:ext cx="8229600" cy="861774"/>
          </a:xfrm>
        </p:spPr>
        <p:txBody>
          <a:bodyPr>
            <a:spAutoFit/>
          </a:bodyPr>
          <a:lstStyle/>
          <a:p>
            <a:r>
              <a:rPr lang="en-US" sz="2800" dirty="0"/>
              <a:t>Interactive Session: Management: Sauder Woodworking Gets ERP Implementation Right</a:t>
            </a:r>
          </a:p>
        </p:txBody>
      </p:sp>
      <p:sp>
        <p:nvSpPr>
          <p:cNvPr id="5" name="Content Placeholder 4"/>
          <p:cNvSpPr>
            <a:spLocks noGrp="1"/>
          </p:cNvSpPr>
          <p:nvPr>
            <p:ph idx="1"/>
          </p:nvPr>
        </p:nvSpPr>
        <p:spPr>
          <a:xfrm>
            <a:off x="457200" y="1352550"/>
            <a:ext cx="8229600" cy="3185487"/>
          </a:xfrm>
        </p:spPr>
        <p:txBody>
          <a:bodyPr>
            <a:spAutoFit/>
          </a:bodyPr>
          <a:lstStyle/>
          <a:p>
            <a:r>
              <a:rPr lang="en-IN" altLang="en-US" dirty="0"/>
              <a:t>Class discussion</a:t>
            </a:r>
          </a:p>
          <a:p>
            <a:pPr lvl="1"/>
            <a:r>
              <a:rPr lang="en-IN" altLang="en-US" sz="2400" dirty="0"/>
              <a:t>Why is an ERP system so important for Sauder Woodworking. Why did Sauder want to switch to a newer ERP system?</a:t>
            </a:r>
          </a:p>
          <a:p>
            <a:pPr lvl="1"/>
            <a:r>
              <a:rPr lang="en-IN" altLang="en-US" sz="2400" dirty="0"/>
              <a:t>Was SAP S/4HANA a good choice for Sauder? Why or why not?</a:t>
            </a:r>
          </a:p>
          <a:p>
            <a:pPr lvl="1"/>
            <a:r>
              <a:rPr lang="en-IN" altLang="en-US" sz="2400" dirty="0"/>
              <a:t>Were there any risks in this project. How did Sauder deal with them?</a:t>
            </a:r>
          </a:p>
        </p:txBody>
      </p:sp>
      <p:sp>
        <p:nvSpPr>
          <p:cNvPr id="2" name="Footer Placeholder 1">
            <a:extLst>
              <a:ext uri="{FF2B5EF4-FFF2-40B4-BE49-F238E27FC236}">
                <a16:creationId xmlns:a16="http://schemas.microsoft.com/office/drawing/2014/main" id="{F416F782-F6E4-4B82-834D-94C8339AB6A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43107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291"/>
            <a:ext cx="8229600" cy="492443"/>
          </a:xfrm>
        </p:spPr>
        <p:txBody>
          <a:bodyPr>
            <a:spAutoFit/>
          </a:bodyPr>
          <a:lstStyle/>
          <a:p>
            <a:r>
              <a:rPr lang="en-US" sz="3200" dirty="0"/>
              <a:t>Project Management Software Tools</a:t>
            </a:r>
          </a:p>
        </p:txBody>
      </p:sp>
      <p:sp>
        <p:nvSpPr>
          <p:cNvPr id="5" name="Content Placeholder 4"/>
          <p:cNvSpPr>
            <a:spLocks noGrp="1"/>
          </p:cNvSpPr>
          <p:nvPr>
            <p:ph idx="1"/>
          </p:nvPr>
        </p:nvSpPr>
        <p:spPr>
          <a:xfrm>
            <a:off x="457200" y="954941"/>
            <a:ext cx="8229600" cy="3293209"/>
          </a:xfrm>
        </p:spPr>
        <p:txBody>
          <a:bodyPr>
            <a:spAutoFit/>
          </a:bodyPr>
          <a:lstStyle/>
          <a:p>
            <a:r>
              <a:rPr lang="en-IN" sz="2200" dirty="0"/>
              <a:t>Can automate many aspects of project management</a:t>
            </a:r>
          </a:p>
          <a:p>
            <a:r>
              <a:rPr lang="en-IN" sz="2200" dirty="0"/>
              <a:t>Capabilities for defining, ordering tasks</a:t>
            </a:r>
          </a:p>
          <a:p>
            <a:pPr lvl="1"/>
            <a:r>
              <a:rPr lang="en-IN" dirty="0"/>
              <a:t>Assigning resources to tasks, tracking progress</a:t>
            </a:r>
          </a:p>
          <a:p>
            <a:pPr lvl="1"/>
            <a:r>
              <a:rPr lang="en-IN" dirty="0"/>
              <a:t>Manage very large numbers of tasks and relationships</a:t>
            </a:r>
          </a:p>
          <a:p>
            <a:r>
              <a:rPr lang="en-IN" sz="2200" dirty="0"/>
              <a:t>Microsoft Project</a:t>
            </a:r>
          </a:p>
          <a:p>
            <a:r>
              <a:rPr lang="en-IN" sz="2200" dirty="0"/>
              <a:t>Cloud-based software</a:t>
            </a:r>
          </a:p>
          <a:p>
            <a:r>
              <a:rPr lang="en-IN" sz="2200" dirty="0"/>
              <a:t>Project portfolio management software</a:t>
            </a:r>
          </a:p>
        </p:txBody>
      </p:sp>
      <p:sp>
        <p:nvSpPr>
          <p:cNvPr id="2" name="Footer Placeholder 1">
            <a:extLst>
              <a:ext uri="{FF2B5EF4-FFF2-40B4-BE49-F238E27FC236}">
                <a16:creationId xmlns:a16="http://schemas.microsoft.com/office/drawing/2014/main" id="{72C28FCD-5011-4A2E-9690-BD776D8F48A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775310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6697"/>
            <a:ext cx="8229600" cy="984885"/>
          </a:xfrm>
        </p:spPr>
        <p:txBody>
          <a:bodyPr>
            <a:spAutoFit/>
          </a:bodyPr>
          <a:lstStyle/>
          <a:p>
            <a:r>
              <a:rPr lang="en-IN" sz="3200" dirty="0"/>
              <a:t>Interactive Session: Technology: Arup Moves Project Management to the Cloud</a:t>
            </a:r>
            <a:endParaRPr lang="en-US" sz="3200" dirty="0"/>
          </a:p>
        </p:txBody>
      </p:sp>
      <p:sp>
        <p:nvSpPr>
          <p:cNvPr id="5" name="Content Placeholder 4"/>
          <p:cNvSpPr>
            <a:spLocks noGrp="1"/>
          </p:cNvSpPr>
          <p:nvPr>
            <p:ph idx="1"/>
          </p:nvPr>
        </p:nvSpPr>
        <p:spPr>
          <a:xfrm>
            <a:off x="457200" y="1352550"/>
            <a:ext cx="8229600" cy="2719975"/>
          </a:xfrm>
        </p:spPr>
        <p:txBody>
          <a:bodyPr>
            <a:spAutoFit/>
          </a:bodyPr>
          <a:lstStyle/>
          <a:p>
            <a:r>
              <a:rPr lang="en-IN" sz="2000" dirty="0"/>
              <a:t>Class discussion</a:t>
            </a:r>
          </a:p>
          <a:p>
            <a:pPr lvl="1"/>
            <a:r>
              <a:rPr lang="en-IN" sz="2000" dirty="0"/>
              <a:t>What is the relationship between information technology, project management, and Arup’s business model and business strategy? </a:t>
            </a:r>
          </a:p>
          <a:p>
            <a:pPr lvl="1"/>
            <a:r>
              <a:rPr lang="en-IN" sz="2000" dirty="0"/>
              <a:t>How does Microsoft Project Online support Arup’s business strategy? How did it change the way the company works? </a:t>
            </a:r>
          </a:p>
          <a:p>
            <a:pPr lvl="1"/>
            <a:r>
              <a:rPr lang="en-IN" sz="2000" dirty="0"/>
              <a:t>What management, organization, and technology issues did Arup have to address when selecting Project Online as its global project portfolio management tool?</a:t>
            </a:r>
          </a:p>
        </p:txBody>
      </p:sp>
      <p:sp>
        <p:nvSpPr>
          <p:cNvPr id="2" name="Footer Placeholder 1">
            <a:extLst>
              <a:ext uri="{FF2B5EF4-FFF2-40B4-BE49-F238E27FC236}">
                <a16:creationId xmlns:a16="http://schemas.microsoft.com/office/drawing/2014/main" id="{63C52042-0A36-41D2-ACDE-91DDE112006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35215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492443"/>
          </a:xfrm>
        </p:spPr>
        <p:txBody>
          <a:bodyPr>
            <a:spAutoFit/>
          </a:bodyPr>
          <a:lstStyle/>
          <a:p>
            <a:r>
              <a:rPr lang="en-IN" sz="3200" dirty="0"/>
              <a:t>How Will </a:t>
            </a:r>
            <a:r>
              <a:rPr lang="en-IN" sz="3200" spc="-450" dirty="0"/>
              <a:t>M I </a:t>
            </a:r>
            <a:r>
              <a:rPr lang="en-IN" sz="3200" dirty="0"/>
              <a:t>S Help My Career?</a:t>
            </a:r>
            <a:endParaRPr lang="en-US" sz="3200" dirty="0"/>
          </a:p>
        </p:txBody>
      </p:sp>
      <p:sp>
        <p:nvSpPr>
          <p:cNvPr id="5" name="Content Placeholder 4"/>
          <p:cNvSpPr>
            <a:spLocks noGrp="1"/>
          </p:cNvSpPr>
          <p:nvPr>
            <p:ph idx="1"/>
          </p:nvPr>
        </p:nvSpPr>
        <p:spPr>
          <a:xfrm>
            <a:off x="457200" y="990183"/>
            <a:ext cx="8229600" cy="2800767"/>
          </a:xfrm>
        </p:spPr>
        <p:txBody>
          <a:bodyPr>
            <a:spAutoFit/>
          </a:bodyPr>
          <a:lstStyle/>
          <a:p>
            <a:r>
              <a:rPr lang="en-IN" sz="2200" dirty="0"/>
              <a:t>The Company: XYZ Multimedia Entertainment</a:t>
            </a:r>
          </a:p>
          <a:p>
            <a:r>
              <a:rPr lang="en-IN" sz="2200" dirty="0"/>
              <a:t>Position Description: Entry-level </a:t>
            </a:r>
            <a:r>
              <a:rPr lang="en-IN" sz="2200" spc="-300" dirty="0"/>
              <a:t>I </a:t>
            </a:r>
            <a:r>
              <a:rPr lang="en-IN" sz="2200" dirty="0"/>
              <a:t>T project management assistant</a:t>
            </a:r>
          </a:p>
          <a:p>
            <a:r>
              <a:rPr lang="en-IN" sz="2200" dirty="0"/>
              <a:t>Job Requirements</a:t>
            </a:r>
          </a:p>
          <a:p>
            <a:r>
              <a:rPr lang="en-IN" sz="2200" dirty="0"/>
              <a:t>Interview Questions</a:t>
            </a:r>
          </a:p>
          <a:p>
            <a:r>
              <a:rPr lang="en-IN" sz="2200" dirty="0"/>
              <a:t>Author Tips</a:t>
            </a:r>
          </a:p>
        </p:txBody>
      </p:sp>
      <p:sp>
        <p:nvSpPr>
          <p:cNvPr id="2" name="Footer Placeholder 1">
            <a:extLst>
              <a:ext uri="{FF2B5EF4-FFF2-40B4-BE49-F238E27FC236}">
                <a16:creationId xmlns:a16="http://schemas.microsoft.com/office/drawing/2014/main" id="{E0447FA8-EA38-42EB-9BE3-241F98F261C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424380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77012"/>
            <a:ext cx="8124825"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5"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2" y="1104900"/>
            <a:ext cx="6593985" cy="2744932"/>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sz="1400"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2" name="Footer Placeholder 1">
            <a:extLst>
              <a:ext uri="{FF2B5EF4-FFF2-40B4-BE49-F238E27FC236}">
                <a16:creationId xmlns:a16="http://schemas.microsoft.com/office/drawing/2014/main" id="{42C50A82-3FE7-4641-A7E1-C12003D73E84}"/>
              </a:ext>
            </a:extLst>
          </p:cNvPr>
          <p:cNvSpPr>
            <a:spLocks noGrp="1"/>
          </p:cNvSpPr>
          <p:nvPr>
            <p:ph type="ft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4689</TotalTime>
  <Words>7009</Words>
  <Application>Microsoft Office PowerPoint</Application>
  <PresentationFormat>On-screen Show (16:9)</PresentationFormat>
  <Paragraphs>484</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Symbol</vt:lpstr>
      <vt:lpstr>Times New Roman</vt:lpstr>
      <vt:lpstr>Verdana</vt:lpstr>
      <vt:lpstr>Wingdings</vt:lpstr>
      <vt:lpstr>508 Lecture</vt:lpstr>
      <vt:lpstr>Management Information Systems: Managing the Digital Firm</vt:lpstr>
      <vt:lpstr>Learning Objectives</vt:lpstr>
      <vt:lpstr>Video Cases</vt:lpstr>
      <vt:lpstr>Al-Asasyah Implements a Modern ERP Solution</vt:lpstr>
      <vt:lpstr>Building a Business Case for the Acquisition and Development of a New Information System</vt:lpstr>
      <vt:lpstr>Figure 14.1 Factors to Consider in Making the Business Case</vt:lpstr>
      <vt:lpstr>Information Systems Plan (1 of 2)</vt:lpstr>
      <vt:lpstr>Information Systems Plan (2 of 2)</vt:lpstr>
      <vt:lpstr>Portfolio Analysis</vt:lpstr>
      <vt:lpstr>Figure 14.2 A System Portfolio</vt:lpstr>
      <vt:lpstr>Scoring Models</vt:lpstr>
      <vt:lpstr>Table 14.2: Example of a Scoring Model for an E R P System</vt:lpstr>
      <vt:lpstr>Determining Solution Costs and Benefits</vt:lpstr>
      <vt:lpstr>Capital Budgeting for Information Systems</vt:lpstr>
      <vt:lpstr>Runaway Projects and System Failure</vt:lpstr>
      <vt:lpstr>Figure 14.4 Consequences of Poor Project Management</vt:lpstr>
      <vt:lpstr>Project Management Objectives</vt:lpstr>
      <vt:lpstr>Dimensions of Project Risk</vt:lpstr>
      <vt:lpstr>Change Management and the Concept of Implementation (1 of 3)</vt:lpstr>
      <vt:lpstr>Change Management and the Concept of Implementation (2 of 3)</vt:lpstr>
      <vt:lpstr>Change Management and the Concept of Implementation (3 of 3)</vt:lpstr>
      <vt:lpstr>Managing Project Risks</vt:lpstr>
      <vt:lpstr>Formal Planning and Control Tools</vt:lpstr>
      <vt:lpstr>Figure 14.5 A Gantt Chart</vt:lpstr>
      <vt:lpstr>Figure 14.6 A  PERT Chart</vt:lpstr>
      <vt:lpstr>Increasing User Involvement and Overcoming User Resistance</vt:lpstr>
      <vt:lpstr>Designing for the Organization</vt:lpstr>
      <vt:lpstr>Interactive Session: Management: Sauder Woodworking Gets ERP Implementation Right</vt:lpstr>
      <vt:lpstr>Project Management Software Tools</vt:lpstr>
      <vt:lpstr>Interactive Session: Technology: Arup Moves Project Management to the Cloud</vt:lpstr>
      <vt:lpstr>How Will M I 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1109</cp:revision>
  <cp:lastPrinted>2020-11-06T14:27:17Z</cp:lastPrinted>
  <dcterms:created xsi:type="dcterms:W3CDTF">2014-07-14T20:04:21Z</dcterms:created>
  <dcterms:modified xsi:type="dcterms:W3CDTF">2021-05-28T12:22:08Z</dcterms:modified>
</cp:coreProperties>
</file>