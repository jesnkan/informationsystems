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506" r:id="rId2"/>
    <p:sldId id="380" r:id="rId3"/>
    <p:sldId id="518" r:id="rId4"/>
    <p:sldId id="519" r:id="rId5"/>
    <p:sldId id="520" r:id="rId6"/>
    <p:sldId id="521" r:id="rId7"/>
    <p:sldId id="522" r:id="rId8"/>
    <p:sldId id="555" r:id="rId9"/>
    <p:sldId id="524" r:id="rId10"/>
    <p:sldId id="525" r:id="rId11"/>
    <p:sldId id="556" r:id="rId12"/>
    <p:sldId id="527" r:id="rId13"/>
    <p:sldId id="528" r:id="rId14"/>
    <p:sldId id="557" r:id="rId15"/>
    <p:sldId id="530" r:id="rId16"/>
    <p:sldId id="531" r:id="rId17"/>
    <p:sldId id="532" r:id="rId18"/>
    <p:sldId id="533" r:id="rId19"/>
    <p:sldId id="535" r:id="rId20"/>
    <p:sldId id="558" r:id="rId21"/>
    <p:sldId id="537" r:id="rId22"/>
    <p:sldId id="538" r:id="rId23"/>
    <p:sldId id="539" r:id="rId24"/>
    <p:sldId id="540" r:id="rId25"/>
    <p:sldId id="541" r:id="rId26"/>
    <p:sldId id="542" r:id="rId27"/>
    <p:sldId id="534" r:id="rId28"/>
    <p:sldId id="543" r:id="rId29"/>
    <p:sldId id="544" r:id="rId30"/>
    <p:sldId id="545" r:id="rId31"/>
    <p:sldId id="559" r:id="rId32"/>
    <p:sldId id="547" r:id="rId33"/>
    <p:sldId id="548" r:id="rId34"/>
    <p:sldId id="549" r:id="rId35"/>
    <p:sldId id="550" r:id="rId36"/>
    <p:sldId id="560" r:id="rId37"/>
    <p:sldId id="552" r:id="rId38"/>
    <p:sldId id="553" r:id="rId39"/>
    <p:sldId id="554" r:id="rId40"/>
    <p:sldId id="514" r:id="rId41"/>
  </p:sldIdLst>
  <p:sldSz cx="9144000" cy="5143500" type="screen16x9"/>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99" userDrawn="1">
          <p15:clr>
            <a:srgbClr val="A4A3A4"/>
          </p15:clr>
        </p15:guide>
        <p15:guide id="10" orient="horz" pos="900" userDrawn="1">
          <p15:clr>
            <a:srgbClr val="A4A3A4"/>
          </p15:clr>
        </p15:guide>
        <p15:guide id="11" orient="horz" pos="1152" userDrawn="1">
          <p15:clr>
            <a:srgbClr val="A4A3A4"/>
          </p15:clr>
        </p15:guide>
        <p15:guide id="13" orient="horz" pos="32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8" clrIdx="0">
    <p:extLst>
      <p:ext uri="{19B8F6BF-5375-455C-9EA6-DF929625EA0E}">
        <p15:presenceInfo xmlns:p15="http://schemas.microsoft.com/office/powerpoint/2012/main" userId="f80e80a411c6fffc" providerId="Windows Live"/>
      </p:ext>
    </p:extLst>
  </p:cmAuthor>
  <p:cmAuthor id="2" name="Carol Traver" initials="CT" lastIdx="8"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940"/>
    <a:srgbClr val="D4EAE4"/>
    <a:srgbClr val="007FA3"/>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38" autoAdjust="0"/>
    <p:restoredTop sz="93978" autoAdjust="0"/>
  </p:normalViewPr>
  <p:slideViewPr>
    <p:cSldViewPr>
      <p:cViewPr varScale="1">
        <p:scale>
          <a:sx n="89" d="100"/>
          <a:sy n="89" d="100"/>
        </p:scale>
        <p:origin x="522" y="102"/>
      </p:cViewPr>
      <p:guideLst>
        <p:guide orient="horz" pos="1620"/>
        <p:guide pos="2880"/>
        <p:guide orient="horz" pos="3024"/>
        <p:guide orient="horz" pos="792"/>
        <p:guide pos="288"/>
        <p:guide pos="5472"/>
        <p:guide orient="horz" pos="699"/>
        <p:guide orient="horz" pos="900"/>
        <p:guide orient="horz" pos="1152"/>
        <p:guide orient="horz" pos="324"/>
      </p:guideLst>
    </p:cSldViewPr>
  </p:slideViewPr>
  <p:outlineViewPr>
    <p:cViewPr>
      <p:scale>
        <a:sx n="33" d="100"/>
        <a:sy n="33" d="100"/>
      </p:scale>
      <p:origin x="0" y="-26814"/>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chapter </a:t>
            </a:r>
            <a:r>
              <a:rPr lang="en-US" sz="1200" dirty="0">
                <a:solidFill>
                  <a:srgbClr val="000000"/>
                </a:solidFill>
                <a:latin typeface="+mn-lt"/>
              </a:rPr>
              <a:t>builds on and extends some of the concepts, such as business processes and the different levels of management in a business, that were introduced in Chapter 1. It also provides students with a quick overview of the types of systems found in typical corporations, such as TPS, business intelligence systems, enterprise applications, and systems for collaboration and social business, among others.</a:t>
            </a:r>
            <a:endParaRPr lang="en-US" altLang="en-US" sz="1200" dirty="0">
              <a:latin typeface="+mn-lt"/>
            </a:endParaRPr>
          </a:p>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n-lt"/>
              </a:rPr>
              <a:t>Ask students if they have ever worked in an organization which they felt was very “top down,” hierarchical, and not very collaborative. Could they see that a system such as Sharp implemented would have helped? What benefits did Sharp receive from their investment in collaboration?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Business processes are at the heart of every business. Ask students if they can give any examples of business processes that they regularly come in contact with. This could include anything from ordering food at McDonalds to applying for a driver</a:t>
            </a:r>
            <a:r>
              <a:rPr lang="en-US" altLang="ja-JP" dirty="0"/>
              <a:t>'s license at the DMV. Emphasize that studying a firm's business processes is an excellent way to learn a great deal about how that business actually works. How could a business process be a liability? Ask students to describe a dysfunctional business process that they may have encountered.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Other examples include checking the product for quality (manufacturing and production), selling the product (sales and marketing), paying creditors (finance and accounting), and evaluating job performance (human resources). You could ask students to contribute other examples of business processes and describe which of the four types they are.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762000" y="4343400"/>
            <a:ext cx="5410200" cy="4114800"/>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2.1,</a:t>
            </a:r>
            <a:r>
              <a:rPr lang="en-US" altLang="en-US" baseline="0" dirty="0"/>
              <a:t> Page 43.</a:t>
            </a:r>
          </a:p>
          <a:p>
            <a:r>
              <a:rPr lang="en-US" b="0" i="1" u="none" strike="noStrike" kern="1200" cap="none" baseline="0" dirty="0">
                <a:solidFill>
                  <a:schemeClr val="tx1"/>
                </a:solidFill>
                <a:latin typeface="+mn-lt"/>
                <a:ea typeface="Arial"/>
                <a:cs typeface="Arial"/>
                <a:sym typeface="Arial"/>
              </a:rPr>
              <a:t>Fulfilling a customer order involves a complex set of steps that requires the close coordination of the sales, accounting, and manufacturing functions.</a:t>
            </a:r>
          </a:p>
          <a:p>
            <a:endParaRPr lang="en-US"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Emphasize that each rectangle represents one part of the larger business process of order fulfillment. Notice that this business process spans several different functional areas of the business from sales (orders), to accounting, to manufacturing. Important business processes typically span several different functional areas or divisions in a business.</a:t>
            </a:r>
          </a:p>
          <a:p>
            <a:pPr marL="0" marR="0">
              <a:lnSpc>
                <a:spcPct val="115000"/>
              </a:lnSpc>
              <a:spcBef>
                <a:spcPts val="0"/>
              </a:spcBef>
              <a:spcAft>
                <a:spcPts val="0"/>
              </a:spcAft>
            </a:pPr>
            <a:endParaRPr lang="en-US" altLang="en-US" dirty="0"/>
          </a:p>
          <a:p>
            <a:pPr marL="0" marR="0">
              <a:lnSpc>
                <a:spcPct val="115000"/>
              </a:lnSpc>
              <a:spcBef>
                <a:spcPts val="0"/>
              </a:spcBef>
              <a:spcAft>
                <a:spcPts val="0"/>
              </a:spcAft>
            </a:pPr>
            <a:r>
              <a:rPr lang="en-US" altLang="en-US" u="sng" dirty="0"/>
              <a:t>Alt Text</a:t>
            </a:r>
          </a:p>
          <a:p>
            <a:pPr marL="0" marR="0">
              <a:lnSpc>
                <a:spcPct val="115000"/>
              </a:lnSpc>
              <a:spcBef>
                <a:spcPts val="0"/>
              </a:spcBef>
              <a:spcAft>
                <a:spcPts val="0"/>
              </a:spcAft>
            </a:pPr>
            <a:r>
              <a:rPr lang="en-US" altLang="en-US" dirty="0"/>
              <a:t>Long description: </a:t>
            </a:r>
            <a:r>
              <a:rPr lang="en-US" dirty="0">
                <a:effectLst/>
                <a:latin typeface="+mn-lt"/>
                <a:ea typeface="Times New Roman" panose="02020603050405020304" pitchFamily="18" charset="0"/>
              </a:rPr>
              <a:t>An illustration explains the process followed to fulfil customer orders. </a:t>
            </a:r>
            <a:r>
              <a:rPr lang="en-US" dirty="0">
                <a:effectLst/>
                <a:latin typeface="+mn-lt"/>
                <a:ea typeface="Times New Roman" panose="02020603050405020304" pitchFamily="18" charset="0"/>
                <a:cs typeface="Calibri" panose="020F0502020204030204" pitchFamily="34" charset="0"/>
              </a:rPr>
              <a:t>There are three levels in the illustration and the flow is distributed among these levels. The levels are: Sales, accounting, and manufacturing and production. </a:t>
            </a:r>
            <a:r>
              <a:rPr lang="en-US" dirty="0">
                <a:effectLst/>
                <a:ea typeface="Times New Roman" panose="02020603050405020304" pitchFamily="18" charset="0"/>
                <a:cs typeface="Calibri" panose="020F0502020204030204" pitchFamily="34" charset="0"/>
              </a:rPr>
              <a:t>The sequence of the flow is as follows: </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Times New Roman" panose="02020603050405020304" pitchFamily="18" charset="0"/>
                <a:cs typeface="Calibri" panose="020F0502020204030204" pitchFamily="34" charset="0"/>
              </a:rPr>
              <a:t>Generate order followed by submit order in level 1. </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Times New Roman" panose="02020603050405020304" pitchFamily="18" charset="0"/>
                <a:cs typeface="Calibri" panose="020F0502020204030204" pitchFamily="34" charset="0"/>
              </a:rPr>
              <a:t>Check credit, approve credit, and generate invoice in level 2. </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Times New Roman" panose="02020603050405020304" pitchFamily="18" charset="0"/>
                <a:cs typeface="Calibri" panose="020F0502020204030204" pitchFamily="34" charset="0"/>
              </a:rPr>
              <a:t>Assemble product immediately after approving credit followed by ship product in level 3.  </a:t>
            </a:r>
            <a:endParaRPr lang="en-US" dirty="0">
              <a:effectLst/>
              <a:ea typeface="Calibri" panose="020F0502020204030204" pitchFamily="34" charset="0"/>
            </a:endParaRPr>
          </a:p>
          <a:p>
            <a:pPr marL="0" marR="0">
              <a:lnSpc>
                <a:spcPct val="115000"/>
              </a:lnSpc>
              <a:spcBef>
                <a:spcPts val="1500"/>
              </a:spcBef>
              <a:spcAft>
                <a:spcPts val="1000"/>
              </a:spcAft>
            </a:pP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Examples of entirely new business processes made possible by information technology are downloading a song from iTunes or buying a book or e-book from Amazon. You might also mention the Amazon Kindle e-book which is continuously connected to the Internet and allows customers to download books and pay for them using Amazon’</a:t>
            </a:r>
            <a:r>
              <a:rPr lang="en-US" altLang="ja-JP" dirty="0"/>
              <a:t>s one-click purchase method. Ask students if they can name any other business processes that have been transformed in the last few years.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purpose of these systems is to answer routine questions about the flow of transactions through the organization. These systems are a necessity for any business.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Figure 2.2,</a:t>
            </a:r>
            <a:r>
              <a:rPr lang="en-US" altLang="en-US" sz="1200" baseline="0" dirty="0"/>
              <a:t> Page 47.</a:t>
            </a:r>
          </a:p>
          <a:p>
            <a:r>
              <a:rPr lang="en-US" sz="1200" b="0" i="1" u="none" strike="noStrike" kern="1200" cap="none" baseline="0" dirty="0">
                <a:solidFill>
                  <a:schemeClr val="tx1"/>
                </a:solidFill>
                <a:latin typeface="+mn-lt"/>
                <a:ea typeface="Arial"/>
                <a:cs typeface="Arial"/>
                <a:sym typeface="Arial"/>
              </a:rPr>
              <a:t>A TPS for payroll processing captures employee payment transaction data (such as a time card). System outputs include online and hard-copy reports for management and employee paychecks.</a:t>
            </a:r>
          </a:p>
          <a:p>
            <a:endParaRPr lang="en-US" sz="1200" b="0" i="0" u="none" strike="noStrike" kern="1200" cap="none" baseline="0" dirty="0">
              <a:solidFill>
                <a:schemeClr val="tx1"/>
              </a:solidFill>
              <a:latin typeface="+mn-lt"/>
              <a:ea typeface="Arial"/>
              <a:cs typeface="Arial"/>
              <a:sym typeface="Arial"/>
            </a:endParaRPr>
          </a:p>
          <a:p>
            <a:pPr eaLnBrk="1" hangingPunct="1"/>
            <a:r>
              <a:rPr lang="en-US" altLang="en-US" sz="1200" dirty="0"/>
              <a:t>Note that the outputs of the payroll system are useful not only within the company to managers, but also to regulatory agencies and other entities relying on the accuracy of the reported data. </a:t>
            </a:r>
          </a:p>
          <a:p>
            <a:pPr eaLnBrk="1" hangingPunct="1"/>
            <a:endParaRPr lang="en-US" altLang="en-US" sz="1200" dirty="0"/>
          </a:p>
          <a:p>
            <a:pPr eaLnBrk="1" hangingPunct="1"/>
            <a:r>
              <a:rPr lang="en-US" altLang="en-US" sz="1200" u="sng" dirty="0"/>
              <a:t>Alt Text</a:t>
            </a:r>
          </a:p>
          <a:p>
            <a:pPr eaLnBrk="1" hangingPunct="1"/>
            <a:r>
              <a:rPr lang="en-US" altLang="en-US" sz="1200" dirty="0"/>
              <a:t>Long description: A figure illustrates a typical payroll TPS found in many firms. The details are as follows: Employee data is fed into the payroll system. The payroll system generates reports and are sent to management and government agencies. It also generates employee paychecks and goes into the general ledger. A two-way connection between the payroll system and online queries and employee or file data base is also illustrated in this figure. The employee or file data base consists of the following elements: Employee Number, Name, Address, Pay rate, Gross pay, Federal tax, FICA, Medicare, State tax, Net pay, and Earnings (YTD). These elements constitute the payroll data on master file.</a:t>
            </a:r>
          </a:p>
          <a:p>
            <a:pPr marL="0" marR="0">
              <a:lnSpc>
                <a:spcPct val="115000"/>
              </a:lnSpc>
              <a:spcBef>
                <a:spcPts val="1500"/>
              </a:spcBef>
              <a:spcAft>
                <a:spcPts val="1000"/>
              </a:spcAft>
            </a:pPr>
            <a:endParaRPr lang="en-US" altLang="en-US" sz="1200" dirty="0"/>
          </a:p>
          <a:p>
            <a:pPr marL="0" marR="0">
              <a:lnSpc>
                <a:spcPct val="115000"/>
              </a:lnSpc>
              <a:spcBef>
                <a:spcPts val="1500"/>
              </a:spcBef>
              <a:spcAft>
                <a:spcPts val="1000"/>
              </a:spcAft>
            </a:pPr>
            <a:endParaRPr lang="en-US" altLang="en-US" sz="1200" dirty="0"/>
          </a:p>
          <a:p>
            <a:pPr marL="0" marR="0">
              <a:lnSpc>
                <a:spcPct val="115000"/>
              </a:lnSpc>
              <a:spcBef>
                <a:spcPts val="1500"/>
              </a:spcBef>
              <a:spcAft>
                <a:spcPts val="1000"/>
              </a:spcAft>
            </a:pPr>
            <a:endParaRPr lang="en-US" altLang="en-US" sz="1200" dirty="0"/>
          </a:p>
          <a:p>
            <a:pPr marL="0" marR="0">
              <a:lnSpc>
                <a:spcPct val="115000"/>
              </a:lnSpc>
              <a:spcBef>
                <a:spcPts val="1500"/>
              </a:spcBef>
              <a:spcAft>
                <a:spcPts val="1000"/>
              </a:spcAft>
            </a:pPr>
            <a:endParaRPr lang="en-US" sz="1200" dirty="0">
              <a:effectLst/>
              <a:latin typeface="+mn-lt"/>
              <a:ea typeface="Calibri" panose="020F0502020204030204" pitchFamily="34" charset="0"/>
            </a:endParaRPr>
          </a:p>
          <a:p>
            <a:pPr eaLnBrk="1" hangingPunct="1"/>
            <a:endParaRPr lang="en-US" alt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This slide emphasizes the relationship between the class of software called </a:t>
            </a:r>
            <a:r>
              <a:rPr lang="ja-JP" altLang="en-US" dirty="0"/>
              <a:t>“</a:t>
            </a:r>
            <a:r>
              <a:rPr lang="en-US" altLang="ja-JP" dirty="0"/>
              <a:t>business intelligence</a:t>
            </a:r>
            <a:r>
              <a:rPr lang="ja-JP" altLang="en-US" dirty="0"/>
              <a:t>”</a:t>
            </a:r>
            <a:r>
              <a:rPr lang="en-US" altLang="ja-JP" dirty="0"/>
              <a:t> and the decision support systems used by middle and senior management: MIS, DSS and ESS. Business intelligence is a type of software used in analyzing data.</a:t>
            </a:r>
            <a:endParaRPr lang="en-US" alt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Emphasize to students that management information systems is a specific category of information systems for middle management. It has the same name, but a very different meaning from the term introduced in Chapter 1 (the study of information systems in business and management). In other words, the study of management information systems involves looking at all the systems used in business. An MIS system is a specific type of an information system.  It</a:t>
            </a:r>
            <a:r>
              <a:rPr lang="en-US" altLang="ja-JP" dirty="0"/>
              <a:t>’s easy to get the two confused.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572000"/>
          </a:xfrm>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500" dirty="0"/>
              <a:t>Figure 2.3,</a:t>
            </a:r>
            <a:r>
              <a:rPr lang="en-US" altLang="en-US" sz="1500" baseline="0" dirty="0"/>
              <a:t> Page 46. </a:t>
            </a:r>
          </a:p>
          <a:p>
            <a:r>
              <a:rPr lang="en-US" sz="1500" b="0" i="1" u="none" strike="noStrike" kern="1200" cap="none" baseline="0" dirty="0">
                <a:solidFill>
                  <a:schemeClr val="tx1"/>
                </a:solidFill>
                <a:ea typeface="Arial"/>
                <a:cs typeface="Arial"/>
                <a:sym typeface="Arial"/>
              </a:rPr>
              <a:t>In the system illustrated by this diagram, three TPS supply summarized transaction data to the MIS reporting system at the end of the time period. Managers gain access to the organizational data through the MIS, which provides them with the appropriate reports.</a:t>
            </a:r>
          </a:p>
          <a:p>
            <a:pPr eaLnBrk="1" hangingPunct="1"/>
            <a:endParaRPr lang="en-US" alt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500" dirty="0"/>
              <a:t>Emphasize the relationship between TPS and MIS here. MIS receive data from an organization</a:t>
            </a:r>
            <a:r>
              <a:rPr lang="en-US" altLang="ja-JP" sz="1500" dirty="0"/>
              <a:t>’s TPS systems and create outputs that management can use to make decisions.</a:t>
            </a:r>
          </a:p>
          <a:p>
            <a:pPr marL="0" marR="0">
              <a:lnSpc>
                <a:spcPct val="115000"/>
              </a:lnSpc>
              <a:spcBef>
                <a:spcPts val="0"/>
              </a:spcBef>
              <a:spcAft>
                <a:spcPts val="0"/>
              </a:spcAft>
            </a:pPr>
            <a:endParaRPr lang="en-US" sz="1500" b="0" i="0" u="none" strike="noStrike" kern="1200" cap="none" baseline="0" dirty="0">
              <a:solidFill>
                <a:schemeClr val="tx1"/>
              </a:solidFill>
              <a:ea typeface="Arial"/>
              <a:cs typeface="Arial"/>
              <a:sym typeface="Arial"/>
            </a:endParaRPr>
          </a:p>
          <a:p>
            <a:pPr marL="0" marR="0">
              <a:lnSpc>
                <a:spcPct val="115000"/>
              </a:lnSpc>
              <a:spcBef>
                <a:spcPts val="0"/>
              </a:spcBef>
              <a:spcAft>
                <a:spcPts val="0"/>
              </a:spcAft>
            </a:pPr>
            <a:r>
              <a:rPr lang="en-US" sz="1500" b="0" i="0" u="sng" strike="noStrike" kern="1200" cap="none" baseline="0" dirty="0">
                <a:solidFill>
                  <a:schemeClr val="tx1"/>
                </a:solidFill>
                <a:ea typeface="Arial"/>
                <a:cs typeface="Arial"/>
                <a:sym typeface="Arial"/>
              </a:rPr>
              <a:t>Alt Text</a:t>
            </a:r>
          </a:p>
          <a:p>
            <a:pPr marL="0" marR="0">
              <a:lnSpc>
                <a:spcPct val="115000"/>
              </a:lnSpc>
              <a:spcBef>
                <a:spcPts val="0"/>
              </a:spcBef>
              <a:spcAft>
                <a:spcPts val="0"/>
              </a:spcAft>
            </a:pPr>
            <a:r>
              <a:rPr lang="en-US" sz="1500" b="0" i="0" u="none" strike="noStrike" kern="1200" cap="none" baseline="0" dirty="0">
                <a:solidFill>
                  <a:schemeClr val="tx1"/>
                </a:solidFill>
                <a:ea typeface="Arial"/>
                <a:cs typeface="Arial"/>
                <a:sym typeface="Arial"/>
              </a:rPr>
              <a:t>Long description: A figure illustrates how the MIS transforms transaction level data from inventory, production, and accounting into MIS files and provide reports. </a:t>
            </a:r>
            <a:r>
              <a:rPr lang="en-US" sz="1500" dirty="0">
                <a:effectLst/>
                <a:ea typeface="Times New Roman" panose="02020603050405020304" pitchFamily="18" charset="0"/>
                <a:cs typeface="Calibri" panose="020F0502020204030204" pitchFamily="34" charset="0"/>
              </a:rPr>
              <a:t>The details of the figure are as follows: Under the transaction processing system are: Order, production master, and accounting files. A two-way connection is depicted between these files and order processing system, material resource planning system, and general ledger system. Under the management information systems, the following files are present: Sales data, unit product cost data, product change data, and expense data. All these files are connected to the MIS which generates reports, online displays and dashboards. These are later sent to the managers. The MIS files under the management information systems are connected to the various transaction processing systems as follows: </a:t>
            </a:r>
            <a:endParaRPr lang="en-US" sz="15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500" dirty="0">
                <a:effectLst/>
                <a:ea typeface="Times New Roman" panose="02020603050405020304" pitchFamily="18" charset="0"/>
                <a:cs typeface="Calibri" panose="020F0502020204030204" pitchFamily="34" charset="0"/>
              </a:rPr>
              <a:t>Order processing system: Sales data. </a:t>
            </a:r>
            <a:endParaRPr lang="en-US" sz="15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500" dirty="0">
                <a:effectLst/>
                <a:ea typeface="Times New Roman" panose="02020603050405020304" pitchFamily="18" charset="0"/>
                <a:cs typeface="Calibri" panose="020F0502020204030204" pitchFamily="34" charset="0"/>
              </a:rPr>
              <a:t>Material resource planning system: Unit product cost data and product change data.</a:t>
            </a:r>
            <a:endParaRPr lang="en-US" sz="15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500" dirty="0">
                <a:effectLst/>
                <a:ea typeface="Times New Roman" panose="02020603050405020304" pitchFamily="18" charset="0"/>
                <a:cs typeface="Calibri" panose="020F0502020204030204" pitchFamily="34" charset="0"/>
              </a:rPr>
              <a:t>General ledger system: Expense data. </a:t>
            </a:r>
            <a:endParaRPr lang="en-US" sz="1500" dirty="0">
              <a:effectLst/>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Figure 2.4,</a:t>
            </a:r>
            <a:r>
              <a:rPr lang="en-US" altLang="en-US" sz="1100" baseline="0" dirty="0"/>
              <a:t> Page 47.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1" u="none" strike="noStrike" kern="1200" cap="none" baseline="0" dirty="0">
                <a:solidFill>
                  <a:schemeClr val="tx1"/>
                </a:solidFill>
                <a:ea typeface="Arial"/>
                <a:cs typeface="Arial"/>
                <a:sym typeface="Arial"/>
              </a:rPr>
              <a:t>This report, showing summarized annual sales data, was produced by the MIS in Figure 2.3.</a:t>
            </a:r>
            <a:r>
              <a:rPr lang="en-US" altLang="en-US" sz="1100" i="1"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1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This graphic represents the </a:t>
            </a:r>
            <a:r>
              <a:rPr lang="ja-JP" altLang="en-US" sz="1100" dirty="0"/>
              <a:t>“</a:t>
            </a:r>
            <a:r>
              <a:rPr lang="en-US" altLang="ja-JP" sz="1100" dirty="0"/>
              <a:t>reports</a:t>
            </a:r>
            <a:r>
              <a:rPr lang="ja-JP" altLang="en-US" sz="1100" dirty="0"/>
              <a:t>”</a:t>
            </a:r>
            <a:r>
              <a:rPr lang="en-US" altLang="ja-JP" sz="1100" dirty="0"/>
              <a:t> portion of Figure 2-3. Emphasize this to students, perhaps referencing that slide again to drive home that point. Students may not understand the decimals in the </a:t>
            </a:r>
            <a:r>
              <a:rPr lang="ja-JP" altLang="en-US" sz="1100" dirty="0"/>
              <a:t>“</a:t>
            </a:r>
            <a:r>
              <a:rPr lang="en-US" altLang="ja-JP" sz="1100" dirty="0"/>
              <a:t>ACTUAL versus PLANNED</a:t>
            </a:r>
            <a:r>
              <a:rPr lang="ja-JP" altLang="en-US" sz="1100" dirty="0"/>
              <a:t>”</a:t>
            </a:r>
            <a:r>
              <a:rPr lang="en-US" altLang="ja-JP" sz="1100" dirty="0"/>
              <a:t> category, where anything above 1.00 represents more sales than planned and anything less represents a disappointing result of fewer sales than planned.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p>
          <a:p>
            <a:pPr marL="0" marR="0">
              <a:lnSpc>
                <a:spcPct val="115000"/>
              </a:lnSpc>
              <a:spcBef>
                <a:spcPts val="0"/>
              </a:spcBef>
              <a:spcAft>
                <a:spcPts val="0"/>
              </a:spcAft>
            </a:pPr>
            <a:r>
              <a:rPr lang="en-US" sz="900" u="sng" dirty="0"/>
              <a:t>Alt Text</a:t>
            </a:r>
          </a:p>
          <a:p>
            <a:pPr marL="0" marR="0">
              <a:lnSpc>
                <a:spcPct val="115000"/>
              </a:lnSpc>
              <a:spcBef>
                <a:spcPts val="0"/>
              </a:spcBef>
              <a:spcAft>
                <a:spcPts val="0"/>
              </a:spcAft>
            </a:pPr>
            <a:r>
              <a:rPr lang="en-US" sz="900" dirty="0"/>
              <a:t>Long description: A sample report showing summarized annual sales data generated by the MIS.  </a:t>
            </a:r>
            <a:r>
              <a:rPr lang="en-US" sz="900" dirty="0">
                <a:effectLst/>
                <a:ea typeface="Times New Roman" panose="02020603050405020304" pitchFamily="18" charset="0"/>
                <a:cs typeface="Calibri" panose="020F0502020204030204" pitchFamily="34" charset="0"/>
              </a:rPr>
              <a:t>The details of the report are as below: </a:t>
            </a:r>
          </a:p>
          <a:p>
            <a:pPr marL="0" marR="0">
              <a:lnSpc>
                <a:spcPct val="115000"/>
              </a:lnSpc>
              <a:spcBef>
                <a:spcPts val="0"/>
              </a:spcBef>
              <a:spcAft>
                <a:spcPts val="0"/>
              </a:spcAft>
            </a:pPr>
            <a:r>
              <a:rPr lang="en-US" sz="900" dirty="0">
                <a:effectLst/>
                <a:ea typeface="Times New Roman" panose="02020603050405020304" pitchFamily="18" charset="0"/>
                <a:cs typeface="Calibri" panose="020F0502020204030204" pitchFamily="34" charset="0"/>
              </a:rPr>
              <a:t>Consolidated Consumer Products Corporation Sales by Product and Sales Region: 2020. </a:t>
            </a:r>
          </a:p>
          <a:p>
            <a:pPr marL="0" marR="0">
              <a:lnSpc>
                <a:spcPct val="115000"/>
              </a:lnSpc>
              <a:spcBef>
                <a:spcPts val="0"/>
              </a:spcBef>
              <a:spcAft>
                <a:spcPts val="0"/>
              </a:spcAft>
            </a:pPr>
            <a:r>
              <a:rPr lang="en-US" sz="900" dirty="0">
                <a:effectLst/>
                <a:ea typeface="Times New Roman" panose="02020603050405020304" pitchFamily="18" charset="0"/>
                <a:cs typeface="Calibri" panose="020F0502020204030204" pitchFamily="34" charset="0"/>
              </a:rPr>
              <a:t>The report generated summarizes the details pertaining to the product code, product description, sales region, actual sales, planned sales, and actual versus planned percentage.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4469: Carpet cleaner; Northeast; 4,066,700; 4,800,000; 0.85.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4469: Carpet cleaner; South; 3,778,112; 3,750,000; 1.01.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4469: Carpet cleaner; Midwest; 4,867,001; 4,600,000; 1.06.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4469: Carpet cleaner; West; 4,003,440; 4,400,000; 0.91. </a:t>
            </a:r>
            <a:endParaRPr lang="en-US" sz="900" dirty="0">
              <a:effectLst/>
              <a:ea typeface="Calibri" panose="020F0502020204030204" pitchFamily="34" charset="0"/>
            </a:endParaRPr>
          </a:p>
          <a:p>
            <a:pPr marL="0" marR="0">
              <a:lnSpc>
                <a:spcPct val="115000"/>
              </a:lnSpc>
              <a:spcBef>
                <a:spcPts val="0"/>
              </a:spcBef>
              <a:spcAft>
                <a:spcPts val="0"/>
              </a:spcAft>
            </a:pPr>
            <a:r>
              <a:rPr lang="en-US" sz="900" dirty="0">
                <a:effectLst/>
                <a:ea typeface="Times New Roman" panose="02020603050405020304" pitchFamily="18" charset="0"/>
                <a:cs typeface="Calibri" panose="020F0502020204030204" pitchFamily="34" charset="0"/>
              </a:rPr>
              <a:t>Total: Actual sales, 16,715,253; Planned sales,</a:t>
            </a:r>
            <a:r>
              <a:rPr lang="en-US" sz="900" dirty="0">
                <a:effectLst/>
                <a:ea typeface="Calibri" panose="020F0502020204030204" pitchFamily="34" charset="0"/>
              </a:rPr>
              <a:t> </a:t>
            </a:r>
            <a:r>
              <a:rPr lang="en-US" sz="900" dirty="0">
                <a:effectLst/>
                <a:ea typeface="Times New Roman" panose="02020603050405020304" pitchFamily="18" charset="0"/>
                <a:cs typeface="Calibri" panose="020F0502020204030204" pitchFamily="34" charset="0"/>
              </a:rPr>
              <a:t>17,550,000; Actual versus planned percentage, 0.95.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5674: Room freshener; Northeast; 3,676,700; 3,900,000; 0.94.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5674: Room freshener; South; 5,608,112; 4,700,000; 1.19.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5674: Room freshener; Midwest; 4,711,001; 4,200,000; 1.12. </a:t>
            </a:r>
            <a:endParaRPr lang="en-US" sz="900" dirty="0">
              <a:effectLst/>
              <a:ea typeface="Calibri" panose="020F0502020204030204" pitchFamily="34" charset="0"/>
            </a:endParaRPr>
          </a:p>
          <a:p>
            <a:pPr marL="628650" marR="0" lvl="1"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5674: Room freshener; West; 4,563,440; 4,900,000; 0.93. </a:t>
            </a:r>
            <a:endParaRPr lang="en-US" sz="900" dirty="0">
              <a:effectLst/>
              <a:ea typeface="Calibri" panose="020F0502020204030204" pitchFamily="34" charset="0"/>
            </a:endParaRPr>
          </a:p>
          <a:p>
            <a:r>
              <a:rPr lang="en-US" sz="900" dirty="0">
                <a:effectLst/>
                <a:ea typeface="Times New Roman" panose="02020603050405020304" pitchFamily="18" charset="0"/>
              </a:rPr>
              <a:t>Total: Actual sales, 18,559,253; Planned sales, 17,700,000; Actual versus planned percentage, 1.05</a:t>
            </a:r>
            <a:endParaRPr lang="en-US" sz="9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You could ask whether or not students understand what is meant by </a:t>
            </a:r>
            <a:r>
              <a:rPr lang="en-US" altLang="en-US" dirty="0" err="1"/>
              <a:t>nonroutine</a:t>
            </a:r>
            <a:r>
              <a:rPr lang="en-US" altLang="en-US" dirty="0"/>
              <a:t> decision making, as opposed to routine decision making, and why DSS are specifically designed to assist managers in making that type of decision. Ask students for examples of </a:t>
            </a:r>
            <a:r>
              <a:rPr lang="en-US" altLang="en-US" dirty="0" err="1"/>
              <a:t>nonroutine</a:t>
            </a:r>
            <a:r>
              <a:rPr lang="en-US" altLang="en-US" dirty="0"/>
              <a:t> decisions they make or have made in the past as managers or employees.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300" dirty="0"/>
              <a:t>Figure 2.5,</a:t>
            </a:r>
            <a:r>
              <a:rPr lang="en-US" altLang="en-US" sz="1300" baseline="0" dirty="0"/>
              <a:t> Page 48.</a:t>
            </a:r>
          </a:p>
          <a:p>
            <a:r>
              <a:rPr lang="en-US" sz="1300" b="0" i="1" u="none" strike="noStrike" kern="1200" cap="none" baseline="0" dirty="0">
                <a:solidFill>
                  <a:schemeClr val="tx1"/>
                </a:solidFill>
                <a:ea typeface="Arial"/>
                <a:cs typeface="Arial"/>
                <a:sym typeface="Arial"/>
              </a:rPr>
              <a:t>This DSS operates on a powerful PC. It is used daily by managers who must develop bids on shipping contracts.</a:t>
            </a:r>
          </a:p>
          <a:p>
            <a:endParaRPr lang="en-US" altLang="en-US" sz="1300" baseline="0" dirty="0"/>
          </a:p>
          <a:p>
            <a:pPr eaLnBrk="1" hangingPunct="1"/>
            <a:r>
              <a:rPr lang="en-US" altLang="en-US" sz="1300" dirty="0"/>
              <a:t>DSS can rely on either analytical models or large databases to provide valuable information. You could ask which of these two types the above figure best resembles (analytical models). You could also ask them what types of decisions does this system help its users make? Examples include what vessels to send to particular destinations to maximize profit, the optimal loading pattern for cargo, and the optimal rate at which vessels should travel to maximize efficiency while still meeting their schedules, and so forth. </a:t>
            </a:r>
          </a:p>
          <a:p>
            <a:pPr eaLnBrk="1" hangingPunct="1"/>
            <a:endParaRPr lang="en-US" altLang="en-US" sz="1300" dirty="0"/>
          </a:p>
          <a:p>
            <a:pPr eaLnBrk="1" hangingPunct="1"/>
            <a:r>
              <a:rPr lang="en-US" altLang="en-US" sz="1300" u="sng" dirty="0"/>
              <a:t>Alt Text</a:t>
            </a:r>
          </a:p>
          <a:p>
            <a:pPr eaLnBrk="1" hangingPunct="1"/>
            <a:r>
              <a:rPr lang="en-US" altLang="en-US" sz="1300" b="0" i="0" u="none" strike="noStrike" kern="1200" cap="none" baseline="0" dirty="0">
                <a:solidFill>
                  <a:schemeClr val="tx1"/>
                </a:solidFill>
                <a:ea typeface="Arial"/>
                <a:cs typeface="Arial"/>
                <a:sym typeface="Arial"/>
              </a:rPr>
              <a:t>Long description: A figure illustrates how this voyage-estimating DSS operates on a powerful personal computer and enables users to enter data or obtain information. </a:t>
            </a:r>
            <a:r>
              <a:rPr lang="en-US" sz="1300" dirty="0">
                <a:effectLst/>
                <a:ea typeface="Times New Roman" panose="02020603050405020304" pitchFamily="18" charset="0"/>
                <a:cs typeface="Calibri" panose="020F0502020204030204" pitchFamily="34" charset="0"/>
              </a:rPr>
              <a:t>The details of the DSS are as below: </a:t>
            </a:r>
            <a:endParaRPr lang="en-US" sz="1300" dirty="0">
              <a:effectLst/>
              <a:ea typeface="Calibri" panose="020F0502020204030204" pitchFamily="34" charset="0"/>
            </a:endParaRPr>
          </a:p>
          <a:p>
            <a:pPr marL="0" marR="0">
              <a:lnSpc>
                <a:spcPct val="115000"/>
              </a:lnSpc>
              <a:spcBef>
                <a:spcPts val="0"/>
              </a:spcBef>
              <a:spcAft>
                <a:spcPts val="0"/>
              </a:spcAft>
            </a:pPr>
            <a:r>
              <a:rPr lang="en-US" sz="1300" dirty="0">
                <a:effectLst/>
                <a:ea typeface="Times New Roman" panose="02020603050405020304" pitchFamily="18" charset="0"/>
                <a:cs typeface="Calibri" panose="020F0502020204030204" pitchFamily="34" charset="0"/>
              </a:rPr>
              <a:t>The different types of files listed below are connected to the analytical models database in this illustration. The database in turn is connected to a personal computer through which online queries are generated. </a:t>
            </a:r>
            <a:endParaRPr lang="en-US" sz="13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300" dirty="0">
                <a:effectLst/>
                <a:ea typeface="Times New Roman" panose="02020603050405020304" pitchFamily="18" charset="0"/>
                <a:cs typeface="Calibri" panose="020F0502020204030204" pitchFamily="34" charset="0"/>
              </a:rPr>
              <a:t>Ship file; Example: Speed and capacity. </a:t>
            </a:r>
            <a:endParaRPr lang="en-US" sz="13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300" dirty="0">
                <a:effectLst/>
                <a:ea typeface="Times New Roman" panose="02020603050405020304" pitchFamily="18" charset="0"/>
                <a:cs typeface="Calibri" panose="020F0502020204030204" pitchFamily="34" charset="0"/>
              </a:rPr>
              <a:t>Port distance restrictions file. </a:t>
            </a:r>
            <a:endParaRPr lang="en-US" sz="13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300" dirty="0">
                <a:effectLst/>
                <a:ea typeface="Times New Roman" panose="02020603050405020304" pitchFamily="18" charset="0"/>
                <a:cs typeface="Calibri" panose="020F0502020204030204" pitchFamily="34" charset="0"/>
              </a:rPr>
              <a:t>Fuel consumption cost file. </a:t>
            </a:r>
            <a:endParaRPr lang="en-US" sz="13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300" dirty="0">
                <a:effectLst/>
                <a:ea typeface="Times New Roman" panose="02020603050405020304" pitchFamily="18" charset="0"/>
                <a:cs typeface="Calibri" panose="020F0502020204030204" pitchFamily="34" charset="0"/>
              </a:rPr>
              <a:t>Ship charter hire history cost file. </a:t>
            </a:r>
            <a:endParaRPr lang="en-US" sz="1300" dirty="0">
              <a:effectLs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300" dirty="0">
                <a:effectLst/>
                <a:ea typeface="Times New Roman" panose="02020603050405020304" pitchFamily="18" charset="0"/>
                <a:cs typeface="Calibri" panose="020F0502020204030204" pitchFamily="34" charset="0"/>
              </a:rPr>
              <a:t>Port expense file. </a:t>
            </a:r>
            <a:endParaRPr lang="en-US" sz="1300" dirty="0">
              <a:effectLst/>
              <a:ea typeface="Calibri" panose="020F0502020204030204" pitchFamily="34"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Emphasize the connection between ESS, MIS, and DSS. ESS rely on accurate inputs from a firm</a:t>
            </a:r>
            <a:r>
              <a:rPr lang="en-US" altLang="ja-JP" dirty="0"/>
              <a:t>’s MIS and DSS to provide useful information to executives. These systems should not exist in isolation from one another. If they are isolated from one another, it is a kind of organizational dysfunction, probably inherited from the past. Note that the digital dashboard is a common feature of modern-day ESS. Emphasize that a critical feature of ESS is ease of use and simplicity of display. Executives using an ESS want quick access to the most critical data affecting their firm.</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Enterprise applications are used to coordinate and integrate the information used in the systems discussed previously. In other words, enterprise applications are used to ensure that TPS, MIS, DSS, and ESS work together smoothly.</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2.6,</a:t>
            </a:r>
            <a:r>
              <a:rPr lang="en-US" altLang="en-US" baseline="0" dirty="0"/>
              <a:t> Page 50.</a:t>
            </a:r>
          </a:p>
          <a:p>
            <a:r>
              <a:rPr lang="en-US" b="0" i="1" u="none" strike="noStrike" kern="1200" cap="none" baseline="0" dirty="0">
                <a:solidFill>
                  <a:schemeClr val="tx1"/>
                </a:solidFill>
                <a:ea typeface="Arial"/>
                <a:cs typeface="Arial"/>
                <a:sym typeface="Arial"/>
              </a:rPr>
              <a:t>Enterprise applications automate processes that span multiple business functions and organizational levels and may extend outside the organization.</a:t>
            </a:r>
          </a:p>
          <a:p>
            <a:endParaRPr lang="en-US" b="0" i="0" u="none" strike="noStrike" kern="1200" cap="none" baseline="0" dirty="0">
              <a:solidFill>
                <a:schemeClr val="tx1"/>
              </a:solidFill>
              <a:ea typeface="Arial"/>
              <a:cs typeface="Arial"/>
              <a:sym typeface="Arial"/>
            </a:endParaRPr>
          </a:p>
          <a:p>
            <a:pPr eaLnBrk="1" hangingPunct="1"/>
            <a:r>
              <a:rPr lang="en-US" altLang="en-US" sz="900" dirty="0"/>
              <a:t>This graphic illustrates that enterprise systems are databases that pull information from many parts of the firm and enable processes across the firm at different organizational levels, as well as with suppliers and customers. The triangle represents the organization, with different colors for the four main business functions. The ovals show that an enterprise application architecture incorporates systems used in sales and marketing, enabling these to communicate with each other and with suppliers and customers. It also incorporates information supplied by KMS and other enterprise systems. The purpose of incorporating data from all of these sources is to enable and automate cross-functional business processes and supply accurate information to aid decision making.</a:t>
            </a:r>
          </a:p>
          <a:p>
            <a:pPr marL="0" marR="0">
              <a:lnSpc>
                <a:spcPct val="115000"/>
              </a:lnSpc>
              <a:spcBef>
                <a:spcPts val="0"/>
              </a:spcBef>
              <a:spcAft>
                <a:spcPts val="0"/>
              </a:spcAft>
            </a:pPr>
            <a:endParaRPr lang="en-US" altLang="en-US" sz="900" dirty="0"/>
          </a:p>
          <a:p>
            <a:pPr marL="0" marR="0">
              <a:lnSpc>
                <a:spcPct val="115000"/>
              </a:lnSpc>
              <a:spcBef>
                <a:spcPts val="0"/>
              </a:spcBef>
              <a:spcAft>
                <a:spcPts val="0"/>
              </a:spcAft>
            </a:pPr>
            <a:r>
              <a:rPr lang="en-US" altLang="en-US" sz="900" u="sng" dirty="0"/>
              <a:t>Alt Text</a:t>
            </a:r>
          </a:p>
          <a:p>
            <a:pPr marL="0" marR="0">
              <a:lnSpc>
                <a:spcPct val="115000"/>
              </a:lnSpc>
              <a:spcBef>
                <a:spcPts val="0"/>
              </a:spcBef>
              <a:spcAft>
                <a:spcPts val="0"/>
              </a:spcAft>
            </a:pPr>
            <a:r>
              <a:rPr lang="en-US" altLang="en-US" sz="900" dirty="0"/>
              <a:t>Long</a:t>
            </a:r>
            <a:r>
              <a:rPr lang="en-US" altLang="en-US" sz="900" baseline="0" dirty="0"/>
              <a:t> description: </a:t>
            </a:r>
            <a:r>
              <a:rPr lang="en-US" sz="900" dirty="0">
                <a:effectLst/>
                <a:ea typeface="Times New Roman" panose="02020603050405020304" pitchFamily="18" charset="0"/>
              </a:rPr>
              <a:t>A pyramid diagram shows the classification scheme of architectures and their important functional areas. </a:t>
            </a:r>
            <a:r>
              <a:rPr lang="en-US" sz="900" dirty="0">
                <a:effectLst/>
                <a:ea typeface="Times New Roman" panose="02020603050405020304" pitchFamily="18" charset="0"/>
                <a:cs typeface="Calibri" panose="020F0502020204030204" pitchFamily="34" charset="0"/>
              </a:rPr>
              <a:t>There are four primary functional areas of the enterprise architecture: Sales and marketing, manufacturing and production, finance and accounting, and human resources. The functional areas are depicted at the bottom of the pyramid. These areas are depicted as shaded regions in the pyramid and converging at the top. </a:t>
            </a:r>
            <a:endParaRPr lang="en-US" sz="9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Under sales and marketing is the supply chain management systems. This is interconnected, via a two-way arrow, and suppliers and business partners that lie on the left outside the pyramid. </a:t>
            </a:r>
            <a:endParaRPr lang="en-US" sz="9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Under manufacturing and production and finance and accounting areas are the knowledge management systems, processes, and enterprise systems. All these are enclosed in an ellipse in the diagram. </a:t>
            </a:r>
            <a:endParaRPr lang="en-US" sz="9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Times New Roman" panose="02020603050405020304" pitchFamily="18" charset="0"/>
                <a:cs typeface="Calibri" panose="020F0502020204030204" pitchFamily="34" charset="0"/>
              </a:rPr>
              <a:t>Under the human resources is the customer relationship management systems. This is interconnected, via a two-way arrow, to the customers and distributers that lie to the right outside the pyramid. </a:t>
            </a:r>
            <a:endParaRPr lang="en-US" sz="900" dirty="0">
              <a:effectLst/>
              <a:ea typeface="Calibri" panose="020F0502020204030204" pitchFamily="34" charset="0"/>
            </a:endParaRPr>
          </a:p>
          <a:p>
            <a:r>
              <a:rPr lang="en-US" sz="900" dirty="0">
                <a:effectLst/>
                <a:ea typeface="Times New Roman" panose="02020603050405020304" pitchFamily="18" charset="0"/>
              </a:rPr>
              <a:t>The supply chain management systems and customer relationship management systems are interconnected through processes at various levels. This schematic is also enclosed in an ellipse in the diagram. </a:t>
            </a:r>
            <a:endParaRPr lang="en-US" sz="9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emphasizes the singularity of enterprise systems (one system) that integrates information flows from a variety of sources and serves a wide variety of groups and purposes in the firm. Remind students of the difference between enterprise applications and enterprise systems: Enterprise applications are any applications that span the enterprise, and types of enterprise applications include CRM, SCM, KMS, and enterprise systems. The business processes supported by enterprise systems are primarily internal. Note that enterprise systems are sometimes also referred to as </a:t>
            </a:r>
            <a:r>
              <a:rPr lang="en-US" altLang="ja-JP" dirty="0"/>
              <a:t>enterprise resource planning  systems (ERP).</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Emphasize that SCM systems are interorganizational systems, automating the flow of information across organizational boundaries. This distinction is important because SCM systems must be designed with the business processes of potential partners and suppliers in mind.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CRM systems are extremely important for both marketing and customer service. You could ask students if they</a:t>
            </a:r>
            <a:r>
              <a:rPr lang="ja-JP" altLang="en-US" dirty="0"/>
              <a:t>’</a:t>
            </a:r>
            <a:r>
              <a:rPr lang="en-US" altLang="ja-JP" dirty="0" err="1"/>
              <a:t>ve</a:t>
            </a:r>
            <a:r>
              <a:rPr lang="en-US" altLang="ja-JP" dirty="0"/>
              <a:t> ever filled out a survey for a company. Then connect that to information systems, perhaps explaining that the information they entered was provided as input to a CRM system for analysis.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idea that business firms are repositories of knowledge may be new to many students. Ask students for examples of firm knowledge, for instance, the knowledge required to run a fast-food restaurant, or the knowledge required to operate a website such as Amazon.  Explain that knowledge management systems are useful for helping a firm</a:t>
            </a:r>
            <a:r>
              <a:rPr lang="en-US" altLang="ja-JP" dirty="0"/>
              <a:t>'s employees understand how to perform certain business processes or how to solve problems. What might the consequences be for a firm with poor knowledge management systems?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Intranets and extranets use Internet technology to communicate internally to employees, allow employees to communicate with one another and share documents, and to help communication with vendors. They are essentially password-protected websites. The simplest intranets and extranets may use static web pages to relay information, whereas more sophisticated versions may be database-driven and enable key business processes. </a:t>
            </a:r>
          </a:p>
          <a:p>
            <a:pPr eaLnBrk="1" hangingPunct="1"/>
            <a:endParaRPr lang="en-US" altLang="en-US" dirty="0"/>
          </a:p>
          <a:p>
            <a:pPr eaLnBrk="1" hangingPunct="1"/>
            <a:r>
              <a:rPr lang="en-US" altLang="en-US" dirty="0"/>
              <a:t>Ask students if they have used an intranet or extranet before and what services or information it provided. Does their school have an intranet/extranet? Generally universities have a website with different levels of access for the general public, registered students, faculty, and administrators. The public-facing part of the website can be thought of as the </a:t>
            </a:r>
            <a:r>
              <a:rPr lang="ja-JP" altLang="en-US" dirty="0"/>
              <a:t>“</a:t>
            </a:r>
            <a:r>
              <a:rPr lang="en-US" altLang="ja-JP" dirty="0"/>
              <a:t>extranet,</a:t>
            </a:r>
            <a:r>
              <a:rPr lang="ja-JP" altLang="en-US" dirty="0"/>
              <a:t>”</a:t>
            </a:r>
            <a:r>
              <a:rPr lang="en-US" altLang="ja-JP" dirty="0"/>
              <a:t> whereas the part of the website serving students and faculty can be thought of as the </a:t>
            </a:r>
            <a:r>
              <a:rPr lang="ja-JP" altLang="en-US" dirty="0"/>
              <a:t>“</a:t>
            </a:r>
            <a:r>
              <a:rPr lang="en-US" altLang="ja-JP" dirty="0"/>
              <a:t>intranet.</a:t>
            </a:r>
            <a:r>
              <a:rPr lang="ja-JP" altLang="en-US" dirty="0"/>
              <a:t>”</a:t>
            </a:r>
            <a:r>
              <a:rPr lang="en-US" altLang="ja-JP" dirty="0"/>
              <a:t>  These terms (intranet and extranet) are fading from use, but students will occasionally find firms still using them.</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The use of Internet technology has transformed and continues to transform businesses and business activity. This slide aims to distinguish different terminology used in the book.  </a:t>
            </a:r>
          </a:p>
          <a:p>
            <a:pPr eaLnBrk="1" hangingPunct="1"/>
            <a:endParaRPr lang="en-US" altLang="en-US" dirty="0"/>
          </a:p>
          <a:p>
            <a:pPr eaLnBrk="1" hangingPunct="1"/>
            <a:r>
              <a:rPr lang="en-US" altLang="en-US" dirty="0"/>
              <a:t>E-business refers to the use of the Internet and networking to enable all parts of the business, whereas e-commerce refers to just that part of the business that involves selling goods and services over the Internet. </a:t>
            </a:r>
          </a:p>
          <a:p>
            <a:pPr eaLnBrk="1" hangingPunct="1"/>
            <a:endParaRPr lang="en-US" altLang="en-US" dirty="0"/>
          </a:p>
          <a:p>
            <a:pPr eaLnBrk="1" hangingPunct="1"/>
            <a:r>
              <a:rPr lang="en-US" altLang="en-US" dirty="0"/>
              <a:t>Internet technology has also brought similar changes in the public sector—the use of Internet and networking technologies in government is referred to as e-government. Ask students what changes in businesses or government due to new Internet technologies they have noticed.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n-lt"/>
              </a:rPr>
              <a:t>Ask students if the governments in the places where they have lived have implemented digital technology in a manner similar to the City of Mississauga. </a:t>
            </a:r>
            <a:endParaRPr lang="en-US" alt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 number of factors are leading to a growing emphasis on collaboration in the firm. Work is changing, requiring more cooperation and coordination. Professions play a larger role in firms than before, and this often requires more consultation among experts. Organizations are flatter, with many more decisions made far down in the hierarchy. Organizations are more far flung around the globe, in multiple locations. There</a:t>
            </a:r>
            <a:r>
              <a:rPr lang="en-US" altLang="ja-JP" dirty="0"/>
              <a:t>’s an emphasis on finding and sharing ideas, which requires collaboration. Finally, what it means to be a </a:t>
            </a:r>
            <a:r>
              <a:rPr lang="ja-JP" altLang="en-US" dirty="0"/>
              <a:t>“</a:t>
            </a:r>
            <a:r>
              <a:rPr lang="en-US" altLang="ja-JP" dirty="0"/>
              <a:t>good</a:t>
            </a:r>
            <a:r>
              <a:rPr lang="ja-JP" altLang="en-US" dirty="0"/>
              <a:t>”</a:t>
            </a:r>
            <a:r>
              <a:rPr lang="en-US" altLang="ja-JP" dirty="0"/>
              <a:t> employee these days is in part an ability to work with others and collaborate effectively. The culture of work has changed.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how they use social sites such as Facebook, and if they have ever used these sites for business purposes. How about Twitter, Pinterest, or Instagram?</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Research regarding the business benefits of collaboration is anecdotal; however, business and academic communities generally regard collaboration as an essential driving factor in business success: Firms that collaborate more make more money.</a:t>
            </a:r>
          </a:p>
          <a:p>
            <a:pPr eaLnBrk="1" hangingPunct="1"/>
            <a:endParaRPr lang="en-US" altLang="en-US" dirty="0"/>
          </a:p>
          <a:p>
            <a:pPr eaLnBrk="1" hangingPunct="1"/>
            <a:r>
              <a:rPr lang="en-US" altLang="en-US" dirty="0"/>
              <a:t>Ask students to give examples of how collaboration can improve productivity, product quality, and customer service. Has anyone had a fruitful collaborative experience in which an aspect of a company they worked at or an organization they were in?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Figure 2.7,</a:t>
            </a:r>
            <a:r>
              <a:rPr lang="en-US" altLang="en-US" sz="1400" baseline="0" dirty="0"/>
              <a:t> Page 58.</a:t>
            </a:r>
          </a:p>
          <a:p>
            <a:r>
              <a:rPr lang="en-US" sz="1400" b="0" i="1" u="none" strike="noStrike" kern="1200" cap="none" baseline="0" dirty="0">
                <a:solidFill>
                  <a:schemeClr val="tx1"/>
                </a:solidFill>
                <a:ea typeface="Arial"/>
                <a:cs typeface="Arial"/>
                <a:sym typeface="Arial"/>
              </a:rPr>
              <a:t>Successful collaboration requires an appropriate organizational structure and culture along with appropriate collaboration technology.</a:t>
            </a:r>
          </a:p>
          <a:p>
            <a:endParaRPr lang="en-US" sz="1400" b="0" i="0" u="none" strike="noStrike" kern="1200" cap="none" baseline="0" dirty="0">
              <a:solidFill>
                <a:schemeClr val="tx1"/>
              </a:solidFill>
              <a:ea typeface="Arial"/>
              <a:cs typeface="Arial"/>
              <a:sym typeface="Arial"/>
            </a:endParaRPr>
          </a:p>
          <a:p>
            <a:pPr eaLnBrk="1" hangingPunct="1"/>
            <a:r>
              <a:rPr lang="en-US" altLang="en-US" sz="1400" dirty="0"/>
              <a:t>This slide graphically describes how collaboration is believed to impact business performance. Two primary ingredients are needed: collaboration capability  (including how much collaboration is possible) and collaboration technology or means. The quality of these two factors directly affects firm performance—the higher quality of collaboration means better firm performance. Ask students how collaboration can be high or low quality? An example of low-quality collaboration could be a team put together to solve a business problem, but which is unable to effectively work together because of internal politics. Do students have any experience with poor collaboration?</a:t>
            </a:r>
            <a:br>
              <a:rPr lang="en-US" altLang="en-US" sz="1400" dirty="0"/>
            </a:br>
            <a:endParaRPr lang="en-US" altLang="en-US" sz="1400" dirty="0"/>
          </a:p>
          <a:p>
            <a:pPr marL="0" marR="0">
              <a:lnSpc>
                <a:spcPct val="115000"/>
              </a:lnSpc>
              <a:spcBef>
                <a:spcPts val="0"/>
              </a:spcBef>
              <a:spcAft>
                <a:spcPts val="0"/>
              </a:spcAft>
            </a:pPr>
            <a:r>
              <a:rPr lang="en-US" altLang="en-US" sz="1400" u="sng" dirty="0"/>
              <a:t>Alt Text</a:t>
            </a:r>
          </a:p>
          <a:p>
            <a:pPr marL="0" marR="0">
              <a:lnSpc>
                <a:spcPct val="115000"/>
              </a:lnSpc>
              <a:spcBef>
                <a:spcPts val="0"/>
              </a:spcBef>
              <a:spcAft>
                <a:spcPts val="0"/>
              </a:spcAft>
            </a:pPr>
            <a:r>
              <a:rPr lang="en-US" altLang="en-US" sz="1400" dirty="0"/>
              <a:t>Long description:</a:t>
            </a:r>
            <a:r>
              <a:rPr lang="en-US" altLang="en-US" sz="1400" baseline="0" dirty="0"/>
              <a:t> </a:t>
            </a:r>
            <a:r>
              <a:rPr lang="en-US" sz="1400" dirty="0">
                <a:effectLst/>
                <a:ea typeface="Times New Roman" panose="02020603050405020304" pitchFamily="18" charset="0"/>
              </a:rPr>
              <a:t>A flow diagram explains how collaboration capability and technology affect the firm’s performance. </a:t>
            </a:r>
            <a:r>
              <a:rPr lang="en-US" sz="1400" dirty="0">
                <a:effectLst/>
                <a:ea typeface="Times New Roman" panose="02020603050405020304" pitchFamily="18" charset="0"/>
                <a:cs typeface="Calibri" panose="020F0502020204030204" pitchFamily="34" charset="0"/>
              </a:rPr>
              <a:t>In this diagram, collaboration capability and technology are connected to the collaboration quality and in turn the firm’s performance.</a:t>
            </a:r>
            <a:endParaRPr lang="en-US" sz="14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ea typeface="Times New Roman" panose="02020603050405020304" pitchFamily="18" charset="0"/>
                <a:cs typeface="Calibri" panose="020F0502020204030204" pitchFamily="34" charset="0"/>
              </a:rPr>
              <a:t>Collaboration capability includes: Open culture, decentralized structure, and breadth of collaboration. </a:t>
            </a:r>
            <a:endParaRPr lang="en-US" sz="1400" dirty="0">
              <a:effectLs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ea typeface="Times New Roman" panose="02020603050405020304" pitchFamily="18" charset="0"/>
                <a:cs typeface="Calibri" panose="020F0502020204030204" pitchFamily="34" charset="0"/>
              </a:rPr>
              <a:t>Collaboration technology includes: Use of collaboration and social technology for implementation and operations; Use of collaborative and social technology for strategic planning. </a:t>
            </a:r>
            <a:endParaRPr lang="en-US" sz="1400" dirty="0">
              <a:effectLst/>
              <a:ea typeface="Calibri" panose="020F0502020204030204" pitchFamily="34" charset="0"/>
            </a:endParaRPr>
          </a:p>
          <a:p>
            <a:pPr eaLnBrk="1" hangingPunct="1"/>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Collaboration is not something that spontaneously arises—it must be enabled and nurtured. Collaborative culture is an essential factor—simply having collaborative technology will not result in collaboration if it </a:t>
            </a:r>
            <a:r>
              <a:rPr lang="en-US" altLang="en-US" dirty="0" err="1"/>
              <a:t>isn</a:t>
            </a:r>
            <a:r>
              <a:rPr lang="ja-JP" altLang="en-US" dirty="0"/>
              <a:t>’</a:t>
            </a:r>
            <a:r>
              <a:rPr lang="en-US" altLang="ja-JP" dirty="0"/>
              <a:t>t seen as part of the business and rewarded. Have any students worked at </a:t>
            </a:r>
            <a:r>
              <a:rPr lang="ja-JP" altLang="en-US" dirty="0"/>
              <a:t>“</a:t>
            </a:r>
            <a:r>
              <a:rPr lang="en-US" altLang="ja-JP" dirty="0"/>
              <a:t>command and control</a:t>
            </a:r>
            <a:r>
              <a:rPr lang="ja-JP" altLang="en-US" dirty="0"/>
              <a:t>”</a:t>
            </a:r>
            <a:r>
              <a:rPr lang="en-US" altLang="ja-JP" dirty="0"/>
              <a:t> organizations? If so, were they able to see aspects of the business that could be improved but were unable to make contributions because of the firm's culture? Are there any businesses or business functions that benefit by less collaboration? Are there any disadvantages to collaboration?</a:t>
            </a: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text goes into more depth on each of these tools. Give an example for each type of tool. Business uses of social networking and collaboration include Facebook accounts for businesses; using wikis</a:t>
            </a:r>
            <a:r>
              <a:rPr lang="en-US" altLang="ja-JP" dirty="0"/>
              <a:t> as extended, more complete FAQs; and virtual worlds to conduct online meetings for employees around the world. Distinguish these individual tools from Internet-based collaboration environments, which are suites of collected collaboration tools, enabling communication and data-sharing between tools. How many of your students used Google Docs or a similar cloud collaboration service? </a:t>
            </a:r>
            <a:endParaRPr lang="en-US" alt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In the wake of the Covid-19 pandemic, students are likely to have extensive experience using videoconferencing tools such as Zoom, Skype, and others, for online learning, for remote work, and also for social interaction. Ask them to discuss their experiences.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When evaluating collaboration tools for your businesses, the first step is to identify the kind of problem you have. The key problems are time and location (space). Generally, no one has enough time and often key people are not in the right place. Some teams may need to work together in real-time, whereas others may simply need shared documentation. In analyzing collaboration tools by the space/time dimensions you can determine what types of tools will solve your problem. The six steps in evaluating software are applicable not only for collaboration tools but any software solution for your company. First determine the challenge or problem, look for solutions for this particular problem, and so forth.</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2.8,</a:t>
            </a:r>
            <a:r>
              <a:rPr lang="en-US" altLang="en-US" baseline="0" dirty="0"/>
              <a:t> Page 63.</a:t>
            </a:r>
          </a:p>
          <a:p>
            <a:r>
              <a:rPr lang="en-US" b="0" i="1" u="none" strike="noStrike" kern="1200" cap="none" baseline="0" dirty="0">
                <a:solidFill>
                  <a:schemeClr val="tx1"/>
                </a:solidFill>
                <a:ea typeface="Arial"/>
                <a:cs typeface="Arial"/>
                <a:sym typeface="Arial"/>
              </a:rPr>
              <a:t>Collaboration and social technologies can be classified in terms of whether they support interactions at the same or different time or place and whether these interactions are remote or </a:t>
            </a:r>
            <a:r>
              <a:rPr lang="en-US" b="0" i="1" u="none" strike="noStrike" kern="1200" cap="none" baseline="0" dirty="0" err="1">
                <a:solidFill>
                  <a:schemeClr val="tx1"/>
                </a:solidFill>
                <a:ea typeface="Arial"/>
                <a:cs typeface="Arial"/>
                <a:sym typeface="Arial"/>
              </a:rPr>
              <a:t>colocated</a:t>
            </a:r>
            <a:r>
              <a:rPr lang="en-US" b="0" i="1" u="none" strike="noStrike" kern="1200" cap="none" baseline="0" dirty="0">
                <a:solidFill>
                  <a:schemeClr val="tx1"/>
                </a:solidFill>
                <a:ea typeface="Arial"/>
                <a:cs typeface="Arial"/>
                <a:sym typeface="Arial"/>
              </a:rPr>
              <a:t>.</a:t>
            </a:r>
          </a:p>
          <a:p>
            <a:endParaRPr lang="en-US" b="0" i="0" u="none" strike="noStrike" kern="1200" cap="none" baseline="0" dirty="0">
              <a:solidFill>
                <a:schemeClr val="tx1"/>
              </a:solidFill>
              <a:ea typeface="Arial"/>
              <a:cs typeface="Arial"/>
              <a:sym typeface="Arial"/>
            </a:endParaRPr>
          </a:p>
          <a:p>
            <a:pPr eaLnBrk="1" hangingPunct="1"/>
            <a:r>
              <a:rPr lang="en-US" altLang="en-US" sz="1000" dirty="0"/>
              <a:t>You can use this matrix to identify solutions to the time/location issues that face a firm, and to choose specific collaboration technologies.</a:t>
            </a:r>
          </a:p>
          <a:p>
            <a:pPr eaLnBrk="1" hangingPunct="1"/>
            <a:endParaRPr lang="en-US" altLang="en-US" dirty="0"/>
          </a:p>
          <a:p>
            <a:pPr marL="0" marR="0">
              <a:lnSpc>
                <a:spcPct val="115000"/>
              </a:lnSpc>
              <a:spcBef>
                <a:spcPts val="0"/>
              </a:spcBef>
              <a:spcAft>
                <a:spcPts val="0"/>
              </a:spcAft>
            </a:pPr>
            <a:r>
              <a:rPr lang="en-US" altLang="en-US" sz="1000" u="sng" dirty="0"/>
              <a:t>Alt Text</a:t>
            </a:r>
          </a:p>
          <a:p>
            <a:pPr marL="0" marR="0">
              <a:lnSpc>
                <a:spcPct val="115000"/>
              </a:lnSpc>
              <a:spcBef>
                <a:spcPts val="0"/>
              </a:spcBef>
              <a:spcAft>
                <a:spcPts val="0"/>
              </a:spcAft>
            </a:pPr>
            <a:r>
              <a:rPr lang="en-US" altLang="en-US" sz="1000" dirty="0"/>
              <a:t>Long description:</a:t>
            </a:r>
            <a:r>
              <a:rPr lang="en-US" altLang="en-US" sz="1000" baseline="0" dirty="0"/>
              <a:t> </a:t>
            </a:r>
            <a:r>
              <a:rPr lang="en-US" sz="1000" dirty="0">
                <a:effectLst/>
                <a:ea typeface="Times New Roman" panose="02020603050405020304" pitchFamily="18" charset="0"/>
              </a:rPr>
              <a:t>A 2 by 2 matrix explains the time-space collaboration and social tool. </a:t>
            </a:r>
            <a:r>
              <a:rPr lang="en-US" sz="1000" dirty="0">
                <a:effectLst/>
                <a:ea typeface="Times New Roman" panose="02020603050405020304" pitchFamily="18" charset="0"/>
                <a:cs typeface="Calibri" panose="020F0502020204030204" pitchFamily="34" charset="0"/>
              </a:rPr>
              <a:t>The matrix focuses on two dimensions of the collaboration problem: time and space. The time dimension is divided into synchronous or same time and asynchronous or different time systems. The space dimension is divided into co-located or same place and remote or different place.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Times New Roman" panose="02020603050405020304" pitchFamily="18" charset="0"/>
                <a:cs typeface="Calibri" panose="020F0502020204030204" pitchFamily="34" charset="0"/>
              </a:rPr>
              <a:t>When the time and space are synchronous and co-located, it leads to face-to-face interactions. These interactions occur via: Decision rooms, single display, groupware, shared table, wall displays, and </a:t>
            </a:r>
            <a:r>
              <a:rPr lang="en-US" sz="1000" dirty="0" err="1">
                <a:effectLst/>
                <a:ea typeface="Times New Roman" panose="02020603050405020304" pitchFamily="18" charset="0"/>
                <a:cs typeface="Calibri" panose="020F0502020204030204" pitchFamily="34" charset="0"/>
              </a:rPr>
              <a:t>roomware</a:t>
            </a:r>
            <a:r>
              <a:rPr lang="en-US" sz="1000" dirty="0">
                <a:effectLst/>
                <a:ea typeface="Times New Roman" panose="02020603050405020304" pitchFamily="18" charset="0"/>
                <a:cs typeface="Calibri" panose="020F0502020204030204" pitchFamily="34" charset="0"/>
              </a:rPr>
              <a:t>, among others.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Times New Roman" panose="02020603050405020304" pitchFamily="18" charset="0"/>
                <a:cs typeface="Calibri" panose="020F0502020204030204" pitchFamily="34" charset="0"/>
              </a:rPr>
              <a:t>When the time and space are asynchronous and co-located, it leads to continuous tasks. These tasks occur via: Team rooms, large public display, shift work groupware, project management, among others.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Times New Roman" panose="02020603050405020304" pitchFamily="18" charset="0"/>
                <a:cs typeface="Calibri" panose="020F0502020204030204" pitchFamily="34" charset="0"/>
              </a:rPr>
              <a:t>When time and space are synchronous and remote, it leads to remote interactions. These interactions occur via: video conferencing, instant messaging, charts or MUDs or virtual words, shared screens, multi-user editors, among others.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Times New Roman" panose="02020603050405020304" pitchFamily="18" charset="0"/>
                <a:cs typeface="Calibri" panose="020F0502020204030204" pitchFamily="34" charset="0"/>
              </a:rPr>
              <a:t>When time and space are asynchronous and remote, it leads to communication and coordination. The communication and coordination occurs via: email, bulletin boards, blogs, </a:t>
            </a:r>
            <a:r>
              <a:rPr lang="en-US" sz="1000" dirty="0">
                <a:effectLst/>
                <a:ea typeface="Times New Roman" panose="02020603050405020304" pitchFamily="18" charset="0"/>
              </a:rPr>
              <a:t>asynchronous conferencing, group calendars, workflow, version control, wikis, among others. . </a:t>
            </a:r>
            <a:endParaRPr lang="en-US" altLang="en-US" sz="10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Defined simply, the information systems department of a firm is responsible for managing all of the systems previously mentioned in this chapter. How the department is organized depends on the nature and size of the business. Small companies may not have a formal department, whereas large companies may have several departments for different business functions, or they have an IT Department in each corporate division. Ask students what types of information systems departments they have had experience with.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 the development of business information systems matures, end users have been increasingly recognized as pivotal to developing a successful system.</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information systems department has also been recognized as a powerful resource for developing new products, services, and efficiencies. As such, IT governance is a central business concern—being able to use IT efficiently and effectively has become more and more essential to a business</a:t>
            </a:r>
            <a:r>
              <a:rPr lang="en-US" altLang="ja-JP" dirty="0"/>
              <a:t>’s success.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how MIS will help students with their current </a:t>
            </a:r>
            <a:r>
              <a:rPr lang="en-US"/>
              <a:t>or future </a:t>
            </a:r>
            <a:r>
              <a:rPr lang="en-US" dirty="0"/>
              <a:t>careers. Would any in the class be interested in a job like this? What do they think are the most important skills the employer is looking for? How would they answer the interviewer questions?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2"/>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8"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0"/>
          </p:nvPr>
        </p:nvSpPr>
        <p:spPr/>
        <p:txBody>
          <a:bodyPr/>
          <a:lstStyle/>
          <a:p>
            <a:fld id="{874DB2FE-131C-4911-883C-D7B23B0BDEC3}"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8"/>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3"/>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2"/>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8"/>
            <a:ext cx="918000" cy="209936"/>
          </a:xfrm>
          <a:prstGeom prst="rect">
            <a:avLst/>
          </a:prstGeom>
        </p:spPr>
      </p:pic>
      <p:sp>
        <p:nvSpPr>
          <p:cNvPr id="8" name="Text Placeholder 22"/>
          <p:cNvSpPr>
            <a:spLocks noGrp="1"/>
          </p:cNvSpPr>
          <p:nvPr>
            <p:ph type="body" sz="quarter" idx="16" hasCustomPrompt="1"/>
          </p:nvPr>
        </p:nvSpPr>
        <p:spPr>
          <a:xfrm>
            <a:off x="1447800" y="4796404"/>
            <a:ext cx="7315200" cy="347096"/>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 © 2022, 2020, 2018 Pearson Education, Ltd. All Rights Reserved</a:t>
            </a:r>
          </a:p>
          <a:p>
            <a:pPr lvl="0"/>
            <a:endParaRPr lang="en-US" dirty="0"/>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93969" y="4629152"/>
            <a:ext cx="8595360" cy="352819"/>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4704AAC2-6F94-4303-9AFB-A488DF99CF13}"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2"/>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2"/>
            <a:ext cx="8595360" cy="514348"/>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90B2036C-53CC-433B-8257-04267333454B}"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629152"/>
            <a:ext cx="8595360" cy="429544"/>
          </a:xfrm>
        </p:spPr>
        <p:txBody>
          <a:bodyPr/>
          <a:lstStyle/>
          <a:p>
            <a:r>
              <a:rPr lang="en-US"/>
              <a:t>Copyright © 2022, 2020, 2018 Pearson Education, Ltd. All Rights Reserved   </a:t>
            </a:r>
            <a:endParaRPr lang="en-US" dirty="0"/>
          </a:p>
        </p:txBody>
      </p:sp>
      <p:sp>
        <p:nvSpPr>
          <p:cNvPr id="9" name="Date Placeholder 3"/>
          <p:cNvSpPr>
            <a:spLocks noGrp="1"/>
          </p:cNvSpPr>
          <p:nvPr>
            <p:ph type="dt" sz="half" idx="10"/>
          </p:nvPr>
        </p:nvSpPr>
        <p:spPr>
          <a:xfrm>
            <a:off x="6335713" y="84804"/>
            <a:ext cx="2133600" cy="137160"/>
          </a:xfrm>
        </p:spPr>
        <p:txBody>
          <a:bodyPr/>
          <a:lstStyle/>
          <a:p>
            <a:fld id="{CAFC498E-DCA9-4838-ADF0-68FEFEEC085D}" type="datetime1">
              <a:rPr lang="en-US" smtClean="0"/>
              <a:t>5/28/2021</a:t>
            </a:fld>
            <a:endParaRPr lang="en-US" dirty="0"/>
          </a:p>
        </p:txBody>
      </p:sp>
      <p:sp>
        <p:nvSpPr>
          <p:cNvPr id="10" name="Slide Number Placeholder 5"/>
          <p:cNvSpPr>
            <a:spLocks noGrp="1"/>
          </p:cNvSpPr>
          <p:nvPr>
            <p:ph type="sldNum" sz="quarter" idx="12"/>
          </p:nvPr>
        </p:nvSpPr>
        <p:spPr>
          <a:xfrm>
            <a:off x="8469314"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2"/>
            <a:ext cx="8595360" cy="429544"/>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0"/>
          </p:nvPr>
        </p:nvSpPr>
        <p:spPr/>
        <p:txBody>
          <a:bodyPr/>
          <a:lstStyle/>
          <a:p>
            <a:fld id="{2777AE65-D828-4581-B6C7-8338666DDFB9}"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98C0EFC4-1090-46B7-A9C2-D0D25DEE16F7}"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8"/>
            <a:ext cx="918000" cy="209936"/>
          </a:xfrm>
          <a:prstGeom prst="rect">
            <a:avLst/>
          </a:prstGeom>
        </p:spPr>
      </p:pic>
      <p:sp>
        <p:nvSpPr>
          <p:cNvPr id="9" name="TextBox 8"/>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2022, 2014, 2011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2"/>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2"/>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0"/>
          </p:nvPr>
        </p:nvSpPr>
        <p:spPr/>
        <p:txBody>
          <a:bodyPr/>
          <a:lstStyle/>
          <a:p>
            <a:fld id="{72450E94-4CD0-4279-8EE0-16E18DC6156F}"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E05A3CD9-7241-416C-939E-D15B3260B4A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2"/>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5789512E-F9A0-4C37-8FC1-1A7BD62C1A86}"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3" name="Date Placeholder 2"/>
          <p:cNvSpPr>
            <a:spLocks noGrp="1"/>
          </p:cNvSpPr>
          <p:nvPr>
            <p:ph type="dt" sz="half" idx="10"/>
          </p:nvPr>
        </p:nvSpPr>
        <p:spPr/>
        <p:txBody>
          <a:bodyPr/>
          <a:lstStyle/>
          <a:p>
            <a:fld id="{C4D820B4-355D-4291-B859-22F52425E8CC}"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3174423A-0E47-450B-8ED3-0AD0718D93ED}"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8"/>
            <a:ext cx="918000" cy="209936"/>
          </a:xfrm>
          <a:prstGeom prst="rect">
            <a:avLst/>
          </a:prstGeom>
        </p:spPr>
      </p:pic>
      <p:sp>
        <p:nvSpPr>
          <p:cNvPr id="11" name="TextBox 10"/>
          <p:cNvSpPr txBox="1"/>
          <p:nvPr userDrawn="1"/>
        </p:nvSpPr>
        <p:spPr>
          <a:xfrm>
            <a:off x="95799" y="4828543"/>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3"/>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2"/>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5"/>
            <a:ext cx="8595360" cy="176597"/>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0D287BA2-950B-4045-B932-F899327CFBBA}"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8"/>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30"/>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1" y="4629150"/>
            <a:ext cx="8595359" cy="176597"/>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   </a:t>
            </a:r>
            <a:endParaRPr dirty="0"/>
          </a:p>
        </p:txBody>
      </p:sp>
      <p:sp>
        <p:nvSpPr>
          <p:cNvPr id="35" name="Shape 35"/>
          <p:cNvSpPr txBox="1">
            <a:spLocks noGrp="1"/>
          </p:cNvSpPr>
          <p:nvPr>
            <p:ph type="dt" idx="10"/>
          </p:nvPr>
        </p:nvSpPr>
        <p:spPr>
          <a:xfrm>
            <a:off x="6335714" y="84805"/>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7485B10B-07D9-42F7-931C-DDB98AE7F588}" type="datetime1">
              <a:rPr lang="en-US" smtClean="0"/>
              <a:t>5/28/2021</a:t>
            </a:fld>
            <a:endParaRPr dirty="0"/>
          </a:p>
        </p:txBody>
      </p:sp>
      <p:sp>
        <p:nvSpPr>
          <p:cNvPr id="36" name="Shape 36"/>
          <p:cNvSpPr txBox="1">
            <a:spLocks noGrp="1"/>
          </p:cNvSpPr>
          <p:nvPr>
            <p:ph type="sldNum" idx="12"/>
          </p:nvPr>
        </p:nvSpPr>
        <p:spPr>
          <a:xfrm>
            <a:off x="8469313" y="84805"/>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6"/>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2"/>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2"/>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   </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787DA167-B664-41B6-A866-378E507D2BDA}" type="datetime1">
              <a:rPr lang="en-US" smtClean="0"/>
              <a:t>5/28/2021</a:t>
            </a:fld>
            <a:endParaRPr lang="en-US" dirty="0"/>
          </a:p>
        </p:txBody>
      </p:sp>
      <p:sp>
        <p:nvSpPr>
          <p:cNvPr id="6" name="Slide Number Placeholder 5"/>
          <p:cNvSpPr>
            <a:spLocks noGrp="1"/>
          </p:cNvSpPr>
          <p:nvPr>
            <p:ph type="sldNum" sz="quarter" idx="4"/>
          </p:nvPr>
        </p:nvSpPr>
        <p:spPr>
          <a:xfrm>
            <a:off x="8469314"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2"/>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8"/>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4.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390"/>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88542"/>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7" y="1935231"/>
            <a:ext cx="4117765" cy="492443"/>
          </a:xfrm>
        </p:spPr>
        <p:txBody>
          <a:bodyPr wrap="square">
            <a:spAutoFit/>
          </a:bodyPr>
          <a:lstStyle/>
          <a:p>
            <a:r>
              <a:rPr lang="en-IN" sz="3200" dirty="0"/>
              <a:t>Chapter 2</a:t>
            </a:r>
          </a:p>
        </p:txBody>
      </p:sp>
      <p:sp>
        <p:nvSpPr>
          <p:cNvPr id="5" name="Text Placeholder 4"/>
          <p:cNvSpPr>
            <a:spLocks noGrp="1"/>
          </p:cNvSpPr>
          <p:nvPr>
            <p:ph type="body" sz="quarter" idx="15"/>
          </p:nvPr>
        </p:nvSpPr>
        <p:spPr>
          <a:xfrm>
            <a:off x="4569037" y="2571753"/>
            <a:ext cx="4117765" cy="615553"/>
          </a:xfrm>
        </p:spPr>
        <p:txBody>
          <a:bodyPr wrap="square">
            <a:spAutoFit/>
          </a:bodyPr>
          <a:lstStyle/>
          <a:p>
            <a:r>
              <a:rPr lang="en-IN" altLang="en-US" sz="2000" dirty="0"/>
              <a:t>Global E-Business and Collaboration</a:t>
            </a:r>
          </a:p>
        </p:txBody>
      </p:sp>
      <p:sp>
        <p:nvSpPr>
          <p:cNvPr id="11" name="Text Placeholder 3"/>
          <p:cNvSpPr>
            <a:spLocks noGrp="1"/>
          </p:cNvSpPr>
          <p:nvPr>
            <p:ph type="body" sz="quarter" idx="14"/>
          </p:nvPr>
        </p:nvSpPr>
        <p:spPr>
          <a:xfrm>
            <a:off x="2309414" y="4844687"/>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155DC8FB-34C4-40ED-A162-BC64BFCD7C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4" y="1596319"/>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84"/>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804839"/>
            <a:ext cx="8229600" cy="4001095"/>
          </a:xfrm>
        </p:spPr>
        <p:txBody>
          <a:bodyPr vert="horz" lIns="0" tIns="0" rIns="0" bIns="0" rtlCol="0" anchor="t">
            <a:spAutoFit/>
          </a:bodyPr>
          <a:lstStyle/>
          <a:p>
            <a:pPr marL="542925" indent="-542925">
              <a:spcBef>
                <a:spcPts val="600"/>
              </a:spcBef>
              <a:buNone/>
              <a:tabLst>
                <a:tab pos="508000" algn="l"/>
              </a:tabLst>
            </a:pPr>
            <a:r>
              <a:rPr lang="en-US" altLang="en-US" b="1" dirty="0">
                <a:solidFill>
                  <a:schemeClr val="bg2"/>
                </a:solidFill>
              </a:rPr>
              <a:t>2.1</a:t>
            </a:r>
            <a:r>
              <a:rPr lang="en-US" altLang="en-US" b="1" dirty="0"/>
              <a:t> </a:t>
            </a:r>
            <a:r>
              <a:rPr lang="en-IN" altLang="en-US" dirty="0"/>
              <a:t>What are business processes? How are they related to information systems?</a:t>
            </a:r>
          </a:p>
          <a:p>
            <a:pPr marL="542925" indent="-542925">
              <a:spcBef>
                <a:spcPts val="600"/>
              </a:spcBef>
              <a:buNone/>
              <a:tabLst>
                <a:tab pos="515938" algn="l"/>
              </a:tabLst>
            </a:pPr>
            <a:r>
              <a:rPr lang="en-US" altLang="en-US" b="1" dirty="0">
                <a:solidFill>
                  <a:schemeClr val="bg2"/>
                </a:solidFill>
              </a:rPr>
              <a:t>2.2</a:t>
            </a:r>
            <a:r>
              <a:rPr lang="en-US" altLang="en-US" b="1" dirty="0"/>
              <a:t> </a:t>
            </a:r>
            <a:r>
              <a:rPr lang="en-IN" altLang="en-US" dirty="0"/>
              <a:t>How do systems serve the different management groups in a business, and how do systems that link the enterprise improve organizational performance?</a:t>
            </a:r>
          </a:p>
          <a:p>
            <a:pPr marL="542925" indent="-542925">
              <a:spcBef>
                <a:spcPts val="600"/>
              </a:spcBef>
              <a:buNone/>
              <a:tabLst>
                <a:tab pos="525463" algn="l"/>
              </a:tabLst>
            </a:pPr>
            <a:r>
              <a:rPr lang="en-US" altLang="en-US" b="1" dirty="0">
                <a:solidFill>
                  <a:schemeClr val="bg2"/>
                </a:solidFill>
              </a:rPr>
              <a:t>2.3</a:t>
            </a:r>
            <a:r>
              <a:rPr lang="en-US" altLang="en-US" b="1" dirty="0"/>
              <a:t> </a:t>
            </a:r>
            <a:r>
              <a:rPr lang="en-IN" altLang="en-US" dirty="0"/>
              <a:t>Why are systems for collaboration and social business so important, and what technologies do they use?</a:t>
            </a:r>
          </a:p>
          <a:p>
            <a:pPr marL="542925" indent="-542925">
              <a:spcBef>
                <a:spcPts val="600"/>
              </a:spcBef>
              <a:buNone/>
              <a:tabLst>
                <a:tab pos="500063" algn="l"/>
              </a:tabLst>
            </a:pPr>
            <a:r>
              <a:rPr lang="en-US" altLang="en-US" b="1" dirty="0">
                <a:solidFill>
                  <a:schemeClr val="bg2"/>
                </a:solidFill>
              </a:rPr>
              <a:t>2.4</a:t>
            </a:r>
            <a:r>
              <a:rPr lang="en-US" altLang="en-US" dirty="0">
                <a:cs typeface="Arial"/>
              </a:rPr>
              <a:t> </a:t>
            </a:r>
            <a:r>
              <a:rPr lang="en-US" dirty="0"/>
              <a:t>What is the role of the information systems function in a business?</a:t>
            </a:r>
          </a:p>
          <a:p>
            <a:pPr marL="0" indent="0">
              <a:spcBef>
                <a:spcPts val="600"/>
              </a:spcBef>
              <a:buNone/>
            </a:pPr>
            <a:r>
              <a:rPr lang="en-US" altLang="en-US" b="1" dirty="0">
                <a:solidFill>
                  <a:schemeClr val="bg2"/>
                </a:solidFill>
              </a:rPr>
              <a:t>2.5</a:t>
            </a:r>
            <a:r>
              <a:rPr lang="en-US" altLang="en-US" dirty="0">
                <a:cs typeface="Arial"/>
              </a:rPr>
              <a:t> </a:t>
            </a:r>
            <a:r>
              <a:rPr lang="en-IN" dirty="0"/>
              <a:t>How will MIS help my career?</a:t>
            </a:r>
          </a:p>
        </p:txBody>
      </p:sp>
      <p:sp>
        <p:nvSpPr>
          <p:cNvPr id="2" name="Footer Placeholder 1">
            <a:extLst>
              <a:ext uri="{FF2B5EF4-FFF2-40B4-BE49-F238E27FC236}">
                <a16:creationId xmlns:a16="http://schemas.microsoft.com/office/drawing/2014/main" id="{184146E6-B52C-41FA-9E2A-A9244FC03C18}"/>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649"/>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13334"/>
            <a:ext cx="8229600" cy="1300356"/>
          </a:xfrm>
        </p:spPr>
        <p:txBody>
          <a:bodyPr>
            <a:spAutoFit/>
          </a:bodyPr>
          <a:lstStyle/>
          <a:p>
            <a:r>
              <a:rPr lang="en-US" dirty="0"/>
              <a:t>Case 1: IS in Action: </a:t>
            </a:r>
            <a:r>
              <a:rPr lang="en-US" dirty="0" err="1"/>
              <a:t>VisionX</a:t>
            </a:r>
            <a:r>
              <a:rPr lang="en-US" dirty="0"/>
              <a:t> Lighting Grows with Business One</a:t>
            </a:r>
          </a:p>
          <a:p>
            <a:r>
              <a:rPr lang="en-US" dirty="0"/>
              <a:t>Case 2: Cemex: Becoming a Social Business</a:t>
            </a:r>
          </a:p>
        </p:txBody>
      </p:sp>
      <p:sp>
        <p:nvSpPr>
          <p:cNvPr id="2" name="Footer Placeholder 1">
            <a:extLst>
              <a:ext uri="{FF2B5EF4-FFF2-40B4-BE49-F238E27FC236}">
                <a16:creationId xmlns:a16="http://schemas.microsoft.com/office/drawing/2014/main" id="{55863272-4998-4D9B-9297-6389C765767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2154"/>
            <a:ext cx="8229600" cy="1107996"/>
          </a:xfrm>
        </p:spPr>
        <p:txBody>
          <a:bodyPr>
            <a:spAutoFit/>
          </a:bodyPr>
          <a:lstStyle/>
          <a:p>
            <a:r>
              <a:rPr lang="en-IN" altLang="en-US" sz="2400" dirty="0"/>
              <a:t>Enterprise Social Networking Transforms Sharp Corporation into a More Innovative Connected Organization (1 of 2)</a:t>
            </a:r>
            <a:endParaRPr lang="en-US" sz="2400" dirty="0"/>
          </a:p>
        </p:txBody>
      </p:sp>
      <p:sp>
        <p:nvSpPr>
          <p:cNvPr id="5" name="Content Placeholder 4"/>
          <p:cNvSpPr>
            <a:spLocks noGrp="1"/>
          </p:cNvSpPr>
          <p:nvPr>
            <p:ph idx="1"/>
          </p:nvPr>
        </p:nvSpPr>
        <p:spPr>
          <a:xfrm>
            <a:off x="457200" y="1264158"/>
            <a:ext cx="8229600" cy="3385542"/>
          </a:xfrm>
        </p:spPr>
        <p:txBody>
          <a:bodyPr>
            <a:spAutoFit/>
          </a:bodyPr>
          <a:lstStyle/>
          <a:p>
            <a:r>
              <a:rPr lang="en-US" altLang="en-US" sz="2000" dirty="0"/>
              <a:t>Problem</a:t>
            </a:r>
          </a:p>
          <a:p>
            <a:pPr lvl="1"/>
            <a:r>
              <a:rPr lang="en-US" sz="2000" dirty="0"/>
              <a:t>Hierarchical top-down processes</a:t>
            </a:r>
          </a:p>
          <a:p>
            <a:pPr lvl="1"/>
            <a:r>
              <a:rPr lang="en-US" sz="2000" dirty="0"/>
              <a:t>New competitors</a:t>
            </a:r>
          </a:p>
          <a:p>
            <a:pPr lvl="1"/>
            <a:r>
              <a:rPr lang="en-US" sz="2000" dirty="0"/>
              <a:t>Lack of collaboration and idea sharing</a:t>
            </a:r>
          </a:p>
          <a:p>
            <a:pPr>
              <a:spcBef>
                <a:spcPts val="600"/>
              </a:spcBef>
            </a:pPr>
            <a:r>
              <a:rPr lang="en-US" altLang="en-US" sz="2000" dirty="0"/>
              <a:t>Solutions </a:t>
            </a:r>
          </a:p>
          <a:p>
            <a:pPr lvl="1"/>
            <a:r>
              <a:rPr lang="en-US" altLang="en-US" sz="2000" dirty="0"/>
              <a:t>Develop knowledge-sharing strategy and goals</a:t>
            </a:r>
          </a:p>
          <a:p>
            <a:pPr lvl="1"/>
            <a:r>
              <a:rPr lang="en-US" sz="2000" dirty="0"/>
              <a:t>Redesign </a:t>
            </a:r>
            <a:r>
              <a:rPr lang="en-US" altLang="en-US" sz="2000" dirty="0"/>
              <a:t>knowledge-sharing and collaboration processes</a:t>
            </a:r>
          </a:p>
          <a:p>
            <a:pPr lvl="1"/>
            <a:r>
              <a:rPr lang="en-US" altLang="en-US" sz="2000" dirty="0"/>
              <a:t>Change organizational culture</a:t>
            </a:r>
          </a:p>
          <a:p>
            <a:pPr lvl="1"/>
            <a:r>
              <a:rPr lang="fr-FR" sz="2000" dirty="0" err="1"/>
              <a:t>Implement</a:t>
            </a:r>
            <a:r>
              <a:rPr lang="fr-FR" sz="2000" dirty="0"/>
              <a:t> Microsoft </a:t>
            </a:r>
            <a:r>
              <a:rPr lang="fr-FR" sz="2000" dirty="0" err="1"/>
              <a:t>Yammer</a:t>
            </a:r>
            <a:r>
              <a:rPr lang="fr-FR" sz="2000" dirty="0"/>
              <a:t> collaboration software</a:t>
            </a:r>
            <a:endParaRPr lang="en-US" altLang="en-US" sz="2000" dirty="0"/>
          </a:p>
        </p:txBody>
      </p:sp>
      <p:sp>
        <p:nvSpPr>
          <p:cNvPr id="2" name="Footer Placeholder 1">
            <a:extLst>
              <a:ext uri="{FF2B5EF4-FFF2-40B4-BE49-F238E27FC236}">
                <a16:creationId xmlns:a16="http://schemas.microsoft.com/office/drawing/2014/main" id="{092BD7C8-3042-4044-9FD8-BE79187DB9E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79704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017"/>
            <a:ext cx="8229600" cy="1107996"/>
          </a:xfrm>
        </p:spPr>
        <p:txBody>
          <a:bodyPr>
            <a:spAutoFit/>
          </a:bodyPr>
          <a:lstStyle/>
          <a:p>
            <a:r>
              <a:rPr lang="en-IN" altLang="en-US" sz="2400" dirty="0"/>
              <a:t>Enterprise Social Networking Transforms Sharp Corporation into a More Innovative Connected Organization (2 of 2)</a:t>
            </a:r>
            <a:endParaRPr lang="en-US" sz="2400" dirty="0"/>
          </a:p>
        </p:txBody>
      </p:sp>
      <p:sp>
        <p:nvSpPr>
          <p:cNvPr id="5" name="Content Placeholder 4"/>
          <p:cNvSpPr>
            <a:spLocks noGrp="1"/>
          </p:cNvSpPr>
          <p:nvPr>
            <p:ph idx="1"/>
          </p:nvPr>
        </p:nvSpPr>
        <p:spPr>
          <a:xfrm>
            <a:off x="457200" y="1267206"/>
            <a:ext cx="8229600" cy="2600712"/>
          </a:xfrm>
        </p:spPr>
        <p:txBody>
          <a:bodyPr>
            <a:spAutoFit/>
          </a:bodyPr>
          <a:lstStyle/>
          <a:p>
            <a:r>
              <a:rPr lang="en-US" dirty="0"/>
              <a:t>Use of new information systems to improve performance and remain competitive</a:t>
            </a:r>
          </a:p>
          <a:p>
            <a:r>
              <a:rPr lang="en-US" dirty="0"/>
              <a:t>Demonstrates importance of teamwork and collaboration for innovation and profit growth</a:t>
            </a:r>
          </a:p>
          <a:p>
            <a:r>
              <a:rPr lang="en-US" dirty="0"/>
              <a:t>Illustrates importance of organizational culture and business processes for knowledge dissemination</a:t>
            </a:r>
            <a:endParaRPr lang="en-US" altLang="en-US" dirty="0"/>
          </a:p>
        </p:txBody>
      </p:sp>
      <p:sp>
        <p:nvSpPr>
          <p:cNvPr id="2" name="Footer Placeholder 1">
            <a:extLst>
              <a:ext uri="{FF2B5EF4-FFF2-40B4-BE49-F238E27FC236}">
                <a16:creationId xmlns:a16="http://schemas.microsoft.com/office/drawing/2014/main" id="{81CDCF0E-8A85-4740-9E6D-8BFADDD8F3D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586036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IN" altLang="en-US" dirty="0"/>
              <a:t>Business Processes </a:t>
            </a:r>
            <a:r>
              <a:rPr lang="en-IN" altLang="en-US" sz="2800" dirty="0"/>
              <a:t>(1 of 2)</a:t>
            </a:r>
            <a:endParaRPr lang="en-US" sz="2800" dirty="0"/>
          </a:p>
        </p:txBody>
      </p:sp>
      <p:sp>
        <p:nvSpPr>
          <p:cNvPr id="5" name="Content Placeholder 4"/>
          <p:cNvSpPr>
            <a:spLocks noGrp="1"/>
          </p:cNvSpPr>
          <p:nvPr>
            <p:ph idx="1"/>
          </p:nvPr>
        </p:nvSpPr>
        <p:spPr>
          <a:xfrm>
            <a:off x="457200" y="815102"/>
            <a:ext cx="8229600" cy="3570208"/>
          </a:xfrm>
        </p:spPr>
        <p:txBody>
          <a:bodyPr>
            <a:spAutoFit/>
          </a:bodyPr>
          <a:lstStyle/>
          <a:p>
            <a:pPr>
              <a:defRPr/>
            </a:pPr>
            <a:r>
              <a:rPr lang="en-US" dirty="0">
                <a:cs typeface="ＭＳ Ｐゴシック" charset="0"/>
              </a:rPr>
              <a:t>Business processes</a:t>
            </a:r>
          </a:p>
          <a:p>
            <a:pPr lvl="1">
              <a:defRPr/>
            </a:pPr>
            <a:r>
              <a:rPr lang="en-US" sz="2400" dirty="0"/>
              <a:t>Flows of material, information, knowledge</a:t>
            </a:r>
          </a:p>
          <a:p>
            <a:pPr lvl="1">
              <a:defRPr/>
            </a:pPr>
            <a:r>
              <a:rPr lang="en-US" sz="2400" dirty="0"/>
              <a:t>Logically related set of tasks that define how specific business tasks are performed</a:t>
            </a:r>
          </a:p>
          <a:p>
            <a:pPr lvl="1">
              <a:defRPr/>
            </a:pPr>
            <a:r>
              <a:rPr lang="en-US" sz="2400" dirty="0"/>
              <a:t>May be tied to functional area or be cross-functional</a:t>
            </a:r>
          </a:p>
          <a:p>
            <a:pPr>
              <a:defRPr/>
            </a:pPr>
            <a:r>
              <a:rPr lang="en-US" dirty="0">
                <a:cs typeface="ＭＳ Ｐゴシック" charset="0"/>
              </a:rPr>
              <a:t>Businesses: Can be seen as collection of business processes</a:t>
            </a:r>
          </a:p>
          <a:p>
            <a:pPr>
              <a:defRPr/>
            </a:pPr>
            <a:r>
              <a:rPr lang="en-US" dirty="0">
                <a:cs typeface="ＭＳ Ｐゴシック" charset="0"/>
              </a:rPr>
              <a:t>Business processes may be assets or liabilities</a:t>
            </a:r>
            <a:endParaRPr lang="en-US" altLang="en-US" dirty="0"/>
          </a:p>
        </p:txBody>
      </p:sp>
      <p:sp>
        <p:nvSpPr>
          <p:cNvPr id="2" name="Footer Placeholder 1">
            <a:extLst>
              <a:ext uri="{FF2B5EF4-FFF2-40B4-BE49-F238E27FC236}">
                <a16:creationId xmlns:a16="http://schemas.microsoft.com/office/drawing/2014/main" id="{8565ADA4-43BC-4147-81AA-954FDCE5A3A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323774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294"/>
            <a:ext cx="8229600" cy="553998"/>
          </a:xfrm>
        </p:spPr>
        <p:txBody>
          <a:bodyPr>
            <a:spAutoFit/>
          </a:bodyPr>
          <a:lstStyle/>
          <a:p>
            <a:r>
              <a:rPr lang="en-IN" altLang="en-US" dirty="0"/>
              <a:t>Business Processes </a:t>
            </a:r>
            <a:r>
              <a:rPr lang="en-IN" altLang="en-US" sz="2800" dirty="0"/>
              <a:t>(2 of 2)</a:t>
            </a:r>
            <a:endParaRPr lang="en-US" sz="2800" dirty="0"/>
          </a:p>
        </p:txBody>
      </p:sp>
      <p:sp>
        <p:nvSpPr>
          <p:cNvPr id="5" name="Content Placeholder 4"/>
          <p:cNvSpPr>
            <a:spLocks noGrp="1"/>
          </p:cNvSpPr>
          <p:nvPr>
            <p:ph idx="1"/>
          </p:nvPr>
        </p:nvSpPr>
        <p:spPr>
          <a:xfrm>
            <a:off x="457200" y="819150"/>
            <a:ext cx="8229600" cy="3939540"/>
          </a:xfrm>
        </p:spPr>
        <p:txBody>
          <a:bodyPr>
            <a:spAutoFit/>
          </a:bodyPr>
          <a:lstStyle/>
          <a:p>
            <a:pPr>
              <a:defRPr/>
            </a:pPr>
            <a:r>
              <a:rPr lang="en-US" dirty="0">
                <a:cs typeface="ＭＳ Ｐゴシック" charset="0"/>
              </a:rPr>
              <a:t>Examples of functional business processes</a:t>
            </a:r>
          </a:p>
          <a:p>
            <a:pPr lvl="1">
              <a:defRPr/>
            </a:pPr>
            <a:r>
              <a:rPr lang="en-US" sz="2400" dirty="0"/>
              <a:t>Manufacturing and production</a:t>
            </a:r>
          </a:p>
          <a:p>
            <a:pPr lvl="2">
              <a:defRPr/>
            </a:pPr>
            <a:r>
              <a:rPr lang="en-US" sz="2400" dirty="0"/>
              <a:t>Assembling the product</a:t>
            </a:r>
          </a:p>
          <a:p>
            <a:pPr lvl="1">
              <a:defRPr/>
            </a:pPr>
            <a:r>
              <a:rPr lang="en-US" sz="2400" dirty="0"/>
              <a:t>Sales and marketing</a:t>
            </a:r>
          </a:p>
          <a:p>
            <a:pPr lvl="2">
              <a:defRPr/>
            </a:pPr>
            <a:r>
              <a:rPr lang="en-US" sz="2400" dirty="0"/>
              <a:t>Identifying customers</a:t>
            </a:r>
          </a:p>
          <a:p>
            <a:pPr lvl="1">
              <a:defRPr/>
            </a:pPr>
            <a:r>
              <a:rPr lang="en-US" sz="2400" dirty="0"/>
              <a:t>Finance and accounting</a:t>
            </a:r>
          </a:p>
          <a:p>
            <a:pPr lvl="2">
              <a:defRPr/>
            </a:pPr>
            <a:r>
              <a:rPr lang="en-US" sz="2400" dirty="0"/>
              <a:t>Creating financial statements</a:t>
            </a:r>
          </a:p>
          <a:p>
            <a:pPr lvl="1">
              <a:defRPr/>
            </a:pPr>
            <a:r>
              <a:rPr lang="en-US" sz="2400" dirty="0"/>
              <a:t>Human resources</a:t>
            </a:r>
          </a:p>
          <a:p>
            <a:pPr lvl="2">
              <a:defRPr/>
            </a:pPr>
            <a:r>
              <a:rPr lang="en-US" sz="2400" dirty="0"/>
              <a:t>Hiring employees</a:t>
            </a:r>
          </a:p>
        </p:txBody>
      </p:sp>
      <p:sp>
        <p:nvSpPr>
          <p:cNvPr id="2" name="Footer Placeholder 1">
            <a:extLst>
              <a:ext uri="{FF2B5EF4-FFF2-40B4-BE49-F238E27FC236}">
                <a16:creationId xmlns:a16="http://schemas.microsoft.com/office/drawing/2014/main" id="{FE6320C2-537A-4EF2-862B-816374B9918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640835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1158"/>
            <a:ext cx="8229600" cy="492443"/>
          </a:xfrm>
        </p:spPr>
        <p:txBody>
          <a:bodyPr>
            <a:spAutoFit/>
          </a:bodyPr>
          <a:lstStyle/>
          <a:p>
            <a:r>
              <a:rPr lang="en-US" sz="3200" dirty="0"/>
              <a:t>Figure 2.1 The Order Fulfillment Process</a:t>
            </a:r>
            <a:endParaRPr lang="en-US" sz="2400" dirty="0"/>
          </a:p>
        </p:txBody>
      </p:sp>
      <p:pic>
        <p:nvPicPr>
          <p:cNvPr id="1026" name="Picture 2" descr="Short description: An illustration explains the process followed to fulfill customer order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70212" y="811174"/>
            <a:ext cx="6803576" cy="399476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60CC7FD-1716-4CA9-BE1A-77B5EEEF931B}"/>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900835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9702"/>
            <a:ext cx="8229600" cy="1046440"/>
          </a:xfrm>
        </p:spPr>
        <p:txBody>
          <a:bodyPr>
            <a:spAutoFit/>
          </a:bodyPr>
          <a:lstStyle/>
          <a:p>
            <a:r>
              <a:rPr lang="en-US" sz="3400" dirty="0"/>
              <a:t>How Information Technology Improves Business Processes</a:t>
            </a:r>
          </a:p>
        </p:txBody>
      </p:sp>
      <p:sp>
        <p:nvSpPr>
          <p:cNvPr id="5" name="Content Placeholder 4"/>
          <p:cNvSpPr>
            <a:spLocks noGrp="1"/>
          </p:cNvSpPr>
          <p:nvPr>
            <p:ph idx="1"/>
          </p:nvPr>
        </p:nvSpPr>
        <p:spPr>
          <a:xfrm>
            <a:off x="457200" y="1265578"/>
            <a:ext cx="8229600" cy="3162404"/>
          </a:xfrm>
        </p:spPr>
        <p:txBody>
          <a:bodyPr>
            <a:spAutoFit/>
          </a:bodyPr>
          <a:lstStyle/>
          <a:p>
            <a:pPr>
              <a:defRPr/>
            </a:pPr>
            <a:r>
              <a:rPr lang="en-US" dirty="0"/>
              <a:t>Increasing efficiency of existing processes</a:t>
            </a:r>
          </a:p>
          <a:p>
            <a:pPr lvl="1">
              <a:defRPr/>
            </a:pPr>
            <a:r>
              <a:rPr lang="en-US" sz="2400" dirty="0"/>
              <a:t>Automating steps that were manual</a:t>
            </a:r>
          </a:p>
          <a:p>
            <a:pPr>
              <a:defRPr/>
            </a:pPr>
            <a:r>
              <a:rPr lang="en-US" dirty="0"/>
              <a:t>Enabling entirely new processes</a:t>
            </a:r>
          </a:p>
          <a:p>
            <a:pPr lvl="1">
              <a:defRPr/>
            </a:pPr>
            <a:r>
              <a:rPr lang="en-US" sz="2400" dirty="0"/>
              <a:t>Changing flow of information</a:t>
            </a:r>
          </a:p>
          <a:p>
            <a:pPr lvl="1">
              <a:defRPr/>
            </a:pPr>
            <a:r>
              <a:rPr lang="en-US" sz="2400" dirty="0"/>
              <a:t>Replacing sequential steps with parallel steps</a:t>
            </a:r>
          </a:p>
          <a:p>
            <a:pPr lvl="1">
              <a:defRPr/>
            </a:pPr>
            <a:r>
              <a:rPr lang="en-US" sz="2400" dirty="0"/>
              <a:t>Eliminating delays in decision making</a:t>
            </a:r>
          </a:p>
          <a:p>
            <a:pPr lvl="1">
              <a:defRPr/>
            </a:pPr>
            <a:r>
              <a:rPr lang="en-US" sz="2400" dirty="0"/>
              <a:t>Supporting new business models</a:t>
            </a:r>
          </a:p>
        </p:txBody>
      </p:sp>
      <p:sp>
        <p:nvSpPr>
          <p:cNvPr id="2" name="Footer Placeholder 1">
            <a:extLst>
              <a:ext uri="{FF2B5EF4-FFF2-40B4-BE49-F238E27FC236}">
                <a16:creationId xmlns:a16="http://schemas.microsoft.com/office/drawing/2014/main" id="{8A39A55B-4EFB-4FFE-9F10-3D4B24BF013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300360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7770"/>
            <a:ext cx="8229600" cy="1107996"/>
          </a:xfrm>
        </p:spPr>
        <p:txBody>
          <a:bodyPr>
            <a:spAutoFit/>
          </a:bodyPr>
          <a:lstStyle/>
          <a:p>
            <a:r>
              <a:rPr lang="en-IN" dirty="0"/>
              <a:t>Systems for Different Management Groups </a:t>
            </a:r>
            <a:r>
              <a:rPr lang="en-IN" sz="2800" dirty="0"/>
              <a:t>(1 of 2)</a:t>
            </a:r>
            <a:endParaRPr lang="en-US" sz="2800" dirty="0"/>
          </a:p>
        </p:txBody>
      </p:sp>
      <p:sp>
        <p:nvSpPr>
          <p:cNvPr id="5" name="Content Placeholder 4"/>
          <p:cNvSpPr>
            <a:spLocks noGrp="1"/>
          </p:cNvSpPr>
          <p:nvPr>
            <p:ph idx="1"/>
          </p:nvPr>
        </p:nvSpPr>
        <p:spPr>
          <a:xfrm>
            <a:off x="457200" y="1435412"/>
            <a:ext cx="8229600" cy="3093154"/>
          </a:xfrm>
        </p:spPr>
        <p:txBody>
          <a:bodyPr>
            <a:spAutoFit/>
          </a:bodyPr>
          <a:lstStyle/>
          <a:p>
            <a:r>
              <a:rPr lang="en-US" sz="2200" dirty="0"/>
              <a:t>Transaction processing systems</a:t>
            </a:r>
          </a:p>
          <a:p>
            <a:pPr lvl="1"/>
            <a:r>
              <a:rPr lang="en-US" dirty="0"/>
              <a:t>Serve operational managers and staff</a:t>
            </a:r>
          </a:p>
          <a:p>
            <a:pPr lvl="1"/>
            <a:r>
              <a:rPr lang="en-US" dirty="0"/>
              <a:t>Perform and record daily routine transactions necessary to conduct business</a:t>
            </a:r>
          </a:p>
          <a:p>
            <a:pPr lvl="2"/>
            <a:r>
              <a:rPr lang="en-US" sz="2200" dirty="0"/>
              <a:t>Examples: sales order entry, payroll, shipping</a:t>
            </a:r>
          </a:p>
          <a:p>
            <a:pPr lvl="1"/>
            <a:r>
              <a:rPr lang="en-US" dirty="0"/>
              <a:t>Allow managers to monitor status of operations and relations with external environment</a:t>
            </a:r>
          </a:p>
          <a:p>
            <a:pPr lvl="1"/>
            <a:r>
              <a:rPr lang="en-US" dirty="0"/>
              <a:t>Serve predefined, structured goals and decision making</a:t>
            </a:r>
          </a:p>
        </p:txBody>
      </p:sp>
      <p:sp>
        <p:nvSpPr>
          <p:cNvPr id="2" name="Footer Placeholder 1">
            <a:extLst>
              <a:ext uri="{FF2B5EF4-FFF2-40B4-BE49-F238E27FC236}">
                <a16:creationId xmlns:a16="http://schemas.microsoft.com/office/drawing/2014/main" id="{80F27B4E-9C37-49F9-930D-3BECF72383F0}"/>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14923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84"/>
            <a:ext cx="8229600" cy="553998"/>
          </a:xfrm>
        </p:spPr>
        <p:txBody>
          <a:bodyPr>
            <a:spAutoFit/>
          </a:bodyPr>
          <a:lstStyle/>
          <a:p>
            <a:r>
              <a:rPr lang="en-US" dirty="0"/>
              <a:t>Figure 2.2 A Payroll </a:t>
            </a:r>
            <a:r>
              <a:rPr lang="en-US" spc="-450" dirty="0"/>
              <a:t>T P </a:t>
            </a:r>
            <a:r>
              <a:rPr lang="en-US" dirty="0"/>
              <a:t>S</a:t>
            </a:r>
          </a:p>
        </p:txBody>
      </p:sp>
      <p:pic>
        <p:nvPicPr>
          <p:cNvPr id="2050" name="Picture 2" descr="A figure illustrates a typical payroll TPS found in many fir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05258" y="781351"/>
            <a:ext cx="5133485" cy="402458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C0A5D0D-4F72-4E8C-9D55-BC5244C08C7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993437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22"/>
            <a:ext cx="8229600" cy="1107996"/>
          </a:xfrm>
        </p:spPr>
        <p:txBody>
          <a:bodyPr>
            <a:spAutoFit/>
          </a:bodyPr>
          <a:lstStyle/>
          <a:p>
            <a:r>
              <a:rPr lang="en-IN" dirty="0"/>
              <a:t>Systems for Different Management Groups </a:t>
            </a:r>
            <a:r>
              <a:rPr lang="en-IN" sz="2800" dirty="0"/>
              <a:t>(2 of 2)</a:t>
            </a:r>
            <a:endParaRPr lang="en-US" sz="2800" dirty="0"/>
          </a:p>
        </p:txBody>
      </p:sp>
      <p:sp>
        <p:nvSpPr>
          <p:cNvPr id="5" name="Content Placeholder 4"/>
          <p:cNvSpPr>
            <a:spLocks noGrp="1"/>
          </p:cNvSpPr>
          <p:nvPr>
            <p:ph idx="1"/>
          </p:nvPr>
        </p:nvSpPr>
        <p:spPr>
          <a:xfrm>
            <a:off x="457200" y="1442174"/>
            <a:ext cx="8229600" cy="3339376"/>
          </a:xfrm>
        </p:spPr>
        <p:txBody>
          <a:bodyPr>
            <a:spAutoFit/>
          </a:bodyPr>
          <a:lstStyle/>
          <a:p>
            <a:pPr>
              <a:defRPr/>
            </a:pPr>
            <a:r>
              <a:rPr lang="en-US" dirty="0">
                <a:cs typeface="ＭＳ Ｐゴシック" charset="0"/>
              </a:rPr>
              <a:t>Systems for business intelligence</a:t>
            </a:r>
          </a:p>
          <a:p>
            <a:pPr lvl="1">
              <a:defRPr/>
            </a:pPr>
            <a:r>
              <a:rPr lang="en-US" sz="2400" dirty="0"/>
              <a:t>Data and software tools for organizing and analyzing data</a:t>
            </a:r>
          </a:p>
          <a:p>
            <a:pPr lvl="1">
              <a:defRPr/>
            </a:pPr>
            <a:r>
              <a:rPr lang="en-US" sz="2400" dirty="0"/>
              <a:t>Used to help managers and users make improved decisions</a:t>
            </a:r>
          </a:p>
          <a:p>
            <a:pPr>
              <a:spcBef>
                <a:spcPts val="600"/>
              </a:spcBef>
              <a:defRPr/>
            </a:pPr>
            <a:r>
              <a:rPr lang="en-US" dirty="0"/>
              <a:t>Management information systems</a:t>
            </a:r>
          </a:p>
          <a:p>
            <a:pPr>
              <a:spcBef>
                <a:spcPts val="600"/>
              </a:spcBef>
              <a:defRPr/>
            </a:pPr>
            <a:r>
              <a:rPr lang="en-US" dirty="0"/>
              <a:t>Decision support systems</a:t>
            </a:r>
          </a:p>
          <a:p>
            <a:pPr>
              <a:spcBef>
                <a:spcPts val="600"/>
              </a:spcBef>
              <a:defRPr/>
            </a:pPr>
            <a:r>
              <a:rPr lang="en-US" dirty="0"/>
              <a:t>Executive support systems</a:t>
            </a:r>
          </a:p>
        </p:txBody>
      </p:sp>
      <p:sp>
        <p:nvSpPr>
          <p:cNvPr id="2" name="Footer Placeholder 1">
            <a:extLst>
              <a:ext uri="{FF2B5EF4-FFF2-40B4-BE49-F238E27FC236}">
                <a16:creationId xmlns:a16="http://schemas.microsoft.com/office/drawing/2014/main" id="{418D46B0-A74A-4880-B3A1-D513C82CA740}"/>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463159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dirty="0"/>
              <a:t>Management Information Systems</a:t>
            </a:r>
            <a:endParaRPr lang="en-US" sz="2800" dirty="0"/>
          </a:p>
        </p:txBody>
      </p:sp>
      <p:sp>
        <p:nvSpPr>
          <p:cNvPr id="5" name="Content Placeholder 4"/>
          <p:cNvSpPr>
            <a:spLocks noGrp="1"/>
          </p:cNvSpPr>
          <p:nvPr>
            <p:ph idx="1"/>
          </p:nvPr>
        </p:nvSpPr>
        <p:spPr>
          <a:xfrm>
            <a:off x="457200" y="818046"/>
            <a:ext cx="8229600" cy="2793072"/>
          </a:xfrm>
        </p:spPr>
        <p:txBody>
          <a:bodyPr>
            <a:spAutoFit/>
          </a:bodyPr>
          <a:lstStyle/>
          <a:p>
            <a:r>
              <a:rPr lang="en-US" altLang="en-US" dirty="0"/>
              <a:t>Serve middle management</a:t>
            </a:r>
          </a:p>
          <a:p>
            <a:r>
              <a:rPr lang="en-US" altLang="en-US" dirty="0"/>
              <a:t>Provide reports on firm</a:t>
            </a:r>
            <a:r>
              <a:rPr lang="en-US" altLang="ja-JP" dirty="0"/>
              <a:t>’s current performance, based on data from </a:t>
            </a:r>
            <a:r>
              <a:rPr lang="en-US" altLang="ja-JP" spc="-300" dirty="0"/>
              <a:t>T P </a:t>
            </a:r>
            <a:r>
              <a:rPr lang="en-US" altLang="ja-JP" dirty="0"/>
              <a:t>S</a:t>
            </a:r>
          </a:p>
          <a:p>
            <a:r>
              <a:rPr lang="en-US" altLang="en-US" dirty="0"/>
              <a:t>Provide answers to routine questions with predefined procedure for answering them</a:t>
            </a:r>
          </a:p>
          <a:p>
            <a:r>
              <a:rPr lang="en-US" altLang="en-US" dirty="0"/>
              <a:t>Typically have little analytic capability</a:t>
            </a:r>
            <a:endParaRPr lang="en-US" dirty="0"/>
          </a:p>
        </p:txBody>
      </p:sp>
      <p:sp>
        <p:nvSpPr>
          <p:cNvPr id="2" name="Footer Placeholder 1">
            <a:extLst>
              <a:ext uri="{FF2B5EF4-FFF2-40B4-BE49-F238E27FC236}">
                <a16:creationId xmlns:a16="http://schemas.microsoft.com/office/drawing/2014/main" id="{5DAB1F2E-596B-43C3-BB80-9103FB31E4D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487976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822"/>
            <a:ext cx="8229600" cy="1477328"/>
          </a:xfrm>
        </p:spPr>
        <p:txBody>
          <a:bodyPr>
            <a:spAutoFit/>
          </a:bodyPr>
          <a:lstStyle/>
          <a:p>
            <a:r>
              <a:rPr lang="en-US" sz="3200" dirty="0"/>
              <a:t>Figure 2.3 How Management Information Systems Obtain Their Data from the Organization’s </a:t>
            </a:r>
            <a:r>
              <a:rPr lang="en-US" sz="3200" spc="-450" dirty="0"/>
              <a:t>T P </a:t>
            </a:r>
            <a:r>
              <a:rPr lang="en-US" sz="3200" dirty="0"/>
              <a:t>S</a:t>
            </a:r>
          </a:p>
        </p:txBody>
      </p:sp>
      <p:pic>
        <p:nvPicPr>
          <p:cNvPr id="3074" name="Picture 2" descr="A figure illustrates how the MIS transforms transaction level data from inventory, production, and accounting into MIS files and provide report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10703" y="1809750"/>
            <a:ext cx="6136357" cy="289672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C75E6D4-453F-4E43-8878-9519E65E80E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390151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342"/>
            <a:ext cx="8229600" cy="553998"/>
          </a:xfrm>
        </p:spPr>
        <p:txBody>
          <a:bodyPr>
            <a:spAutoFit/>
          </a:bodyPr>
          <a:lstStyle/>
          <a:p>
            <a:r>
              <a:rPr lang="en-US" dirty="0"/>
              <a:t>Figure 2.4 Sample </a:t>
            </a:r>
            <a:r>
              <a:rPr lang="en-US" spc="-450" dirty="0"/>
              <a:t>M I </a:t>
            </a:r>
            <a:r>
              <a:rPr lang="en-US" dirty="0"/>
              <a:t>S Report</a:t>
            </a:r>
          </a:p>
        </p:txBody>
      </p:sp>
      <p:sp>
        <p:nvSpPr>
          <p:cNvPr id="5" name="Content Placeholder 4"/>
          <p:cNvSpPr>
            <a:spLocks noGrp="1"/>
          </p:cNvSpPr>
          <p:nvPr>
            <p:ph idx="1"/>
          </p:nvPr>
        </p:nvSpPr>
        <p:spPr>
          <a:xfrm>
            <a:off x="457200" y="854678"/>
            <a:ext cx="8229600" cy="246221"/>
          </a:xfrm>
        </p:spPr>
        <p:txBody>
          <a:bodyPr>
            <a:spAutoFit/>
          </a:bodyPr>
          <a:lstStyle/>
          <a:p>
            <a:pPr marL="0" indent="0">
              <a:buNone/>
            </a:pPr>
            <a:r>
              <a:rPr lang="en-IN" sz="1600" dirty="0"/>
              <a:t>Consolidated Consumer Products Corporation Sales by Product and Sales Region: 2020</a:t>
            </a:r>
          </a:p>
        </p:txBody>
      </p:sp>
      <p:pic>
        <p:nvPicPr>
          <p:cNvPr id="12" name="Picture 11" descr="A sample report showing summarized annual sales data generated by the MIS. For a full description, see Notes. Press F6.&#10;">
            <a:extLst>
              <a:ext uri="{FF2B5EF4-FFF2-40B4-BE49-F238E27FC236}">
                <a16:creationId xmlns:a16="http://schemas.microsoft.com/office/drawing/2014/main" id="{93D64DBA-B458-41DA-B252-F9EB0EC0C1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200150"/>
            <a:ext cx="6167664" cy="3547661"/>
          </a:xfrm>
          <a:prstGeom prst="rect">
            <a:avLst/>
          </a:prstGeom>
        </p:spPr>
      </p:pic>
      <p:sp>
        <p:nvSpPr>
          <p:cNvPr id="2" name="Footer Placeholder 1">
            <a:extLst>
              <a:ext uri="{FF2B5EF4-FFF2-40B4-BE49-F238E27FC236}">
                <a16:creationId xmlns:a16="http://schemas.microsoft.com/office/drawing/2014/main" id="{35B48967-FDB6-4B26-ABCF-887D0D80F20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350534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altLang="en-US" dirty="0"/>
              <a:t>Decision Support Systems</a:t>
            </a:r>
            <a:endParaRPr lang="en-US" sz="2800" dirty="0"/>
          </a:p>
        </p:txBody>
      </p:sp>
      <p:sp>
        <p:nvSpPr>
          <p:cNvPr id="5" name="Content Placeholder 4"/>
          <p:cNvSpPr>
            <a:spLocks noGrp="1"/>
          </p:cNvSpPr>
          <p:nvPr>
            <p:ph idx="1"/>
          </p:nvPr>
        </p:nvSpPr>
        <p:spPr>
          <a:xfrm>
            <a:off x="457200" y="816102"/>
            <a:ext cx="8229600" cy="3323987"/>
          </a:xfrm>
        </p:spPr>
        <p:txBody>
          <a:bodyPr>
            <a:spAutoFit/>
          </a:bodyPr>
          <a:lstStyle/>
          <a:p>
            <a:pPr>
              <a:spcBef>
                <a:spcPct val="0"/>
              </a:spcBef>
            </a:pPr>
            <a:r>
              <a:rPr lang="en-US" altLang="en-US" dirty="0"/>
              <a:t>Serve middle management</a:t>
            </a:r>
          </a:p>
          <a:p>
            <a:pPr>
              <a:spcBef>
                <a:spcPct val="0"/>
              </a:spcBef>
            </a:pPr>
            <a:r>
              <a:rPr lang="en-US" altLang="en-US" dirty="0"/>
              <a:t>Support nonroutine decision making</a:t>
            </a:r>
          </a:p>
          <a:p>
            <a:pPr lvl="1">
              <a:spcBef>
                <a:spcPct val="0"/>
              </a:spcBef>
            </a:pPr>
            <a:r>
              <a:rPr lang="en-US" altLang="en-US" sz="2400" dirty="0"/>
              <a:t>Example: What is the impact on production schedule if December sales doubled?</a:t>
            </a:r>
          </a:p>
          <a:p>
            <a:pPr>
              <a:spcBef>
                <a:spcPct val="0"/>
              </a:spcBef>
            </a:pPr>
            <a:r>
              <a:rPr lang="en-US" altLang="en-US" dirty="0"/>
              <a:t>May use external information as well as </a:t>
            </a:r>
            <a:r>
              <a:rPr lang="en-US" altLang="en-US" spc="-300" dirty="0"/>
              <a:t>T P </a:t>
            </a:r>
            <a:r>
              <a:rPr lang="en-US" altLang="en-US" dirty="0"/>
              <a:t>S / </a:t>
            </a:r>
            <a:r>
              <a:rPr lang="en-US" altLang="en-US" spc="-300" dirty="0"/>
              <a:t>M I </a:t>
            </a:r>
            <a:r>
              <a:rPr lang="en-US" altLang="en-US" dirty="0"/>
              <a:t>S data</a:t>
            </a:r>
          </a:p>
          <a:p>
            <a:pPr>
              <a:spcBef>
                <a:spcPct val="0"/>
              </a:spcBef>
            </a:pPr>
            <a:r>
              <a:rPr lang="en-US" altLang="en-US" dirty="0"/>
              <a:t>Model driven </a:t>
            </a:r>
            <a:r>
              <a:rPr lang="en-US" altLang="en-US" spc="-300" dirty="0"/>
              <a:t>D S </a:t>
            </a:r>
            <a:r>
              <a:rPr lang="en-US" altLang="en-US" dirty="0" err="1"/>
              <a:t>S</a:t>
            </a:r>
            <a:endParaRPr lang="en-US" altLang="en-US" dirty="0"/>
          </a:p>
          <a:p>
            <a:pPr lvl="1">
              <a:spcBef>
                <a:spcPct val="0"/>
              </a:spcBef>
            </a:pPr>
            <a:r>
              <a:rPr lang="en-US" altLang="en-US" sz="2400" dirty="0"/>
              <a:t>Voyage-estimating systems</a:t>
            </a:r>
          </a:p>
          <a:p>
            <a:pPr>
              <a:spcBef>
                <a:spcPct val="0"/>
              </a:spcBef>
            </a:pPr>
            <a:r>
              <a:rPr lang="en-US" altLang="en-US" dirty="0"/>
              <a:t>Data driven </a:t>
            </a:r>
            <a:r>
              <a:rPr lang="en-US" altLang="en-US" spc="-300" dirty="0"/>
              <a:t>D S </a:t>
            </a:r>
            <a:r>
              <a:rPr lang="en-US" altLang="en-US" dirty="0" err="1"/>
              <a:t>S</a:t>
            </a:r>
            <a:endParaRPr lang="en-US" altLang="en-US" dirty="0"/>
          </a:p>
          <a:p>
            <a:pPr lvl="1">
              <a:spcBef>
                <a:spcPct val="0"/>
              </a:spcBef>
            </a:pPr>
            <a:r>
              <a:rPr lang="en-US" altLang="en-US" sz="2400" dirty="0"/>
              <a:t>Intrawest</a:t>
            </a:r>
            <a:r>
              <a:rPr lang="en-US" altLang="ja-JP" sz="2400" dirty="0"/>
              <a:t>’s marketing analysis systems</a:t>
            </a:r>
            <a:endParaRPr lang="en-US" altLang="en-US" sz="2400" dirty="0"/>
          </a:p>
        </p:txBody>
      </p:sp>
      <p:sp>
        <p:nvSpPr>
          <p:cNvPr id="2" name="Footer Placeholder 1">
            <a:extLst>
              <a:ext uri="{FF2B5EF4-FFF2-40B4-BE49-F238E27FC236}">
                <a16:creationId xmlns:a16="http://schemas.microsoft.com/office/drawing/2014/main" id="{E620E871-B5BC-4728-9729-C2D2614045D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599425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681"/>
            <a:ext cx="8229600" cy="984885"/>
          </a:xfrm>
        </p:spPr>
        <p:txBody>
          <a:bodyPr>
            <a:spAutoFit/>
          </a:bodyPr>
          <a:lstStyle/>
          <a:p>
            <a:r>
              <a:rPr lang="en-US" sz="3200" dirty="0"/>
              <a:t>Figure 2.5 Voyage-Estimating Decision-Support System</a:t>
            </a:r>
          </a:p>
        </p:txBody>
      </p:sp>
      <p:pic>
        <p:nvPicPr>
          <p:cNvPr id="4098" name="Picture 2" descr="A figure illustrates how this voyage-estimating DSS operates on a powerful personal computer and enables users to enter data or obtain inform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290621"/>
            <a:ext cx="5500163" cy="349092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FE15F0E-2B9C-42F0-96DC-ACF9456DE8F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792346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84"/>
            <a:ext cx="8229600" cy="553998"/>
          </a:xfrm>
        </p:spPr>
        <p:txBody>
          <a:bodyPr>
            <a:spAutoFit/>
          </a:bodyPr>
          <a:lstStyle/>
          <a:p>
            <a:r>
              <a:rPr lang="en-US" altLang="en-US" dirty="0"/>
              <a:t>Executive Support Systems</a:t>
            </a:r>
            <a:endParaRPr lang="en-US" sz="2800" dirty="0"/>
          </a:p>
        </p:txBody>
      </p:sp>
      <p:sp>
        <p:nvSpPr>
          <p:cNvPr id="5" name="Content Placeholder 4"/>
          <p:cNvSpPr>
            <a:spLocks noGrp="1"/>
          </p:cNvSpPr>
          <p:nvPr>
            <p:ph idx="1"/>
          </p:nvPr>
        </p:nvSpPr>
        <p:spPr>
          <a:xfrm>
            <a:off x="457200" y="816254"/>
            <a:ext cx="8229600" cy="3608680"/>
          </a:xfrm>
        </p:spPr>
        <p:txBody>
          <a:bodyPr>
            <a:spAutoFit/>
          </a:bodyPr>
          <a:lstStyle/>
          <a:p>
            <a:r>
              <a:rPr lang="en-US" altLang="en-US" dirty="0"/>
              <a:t>Support senior management</a:t>
            </a:r>
          </a:p>
          <a:p>
            <a:r>
              <a:rPr lang="en-US" altLang="en-US" dirty="0"/>
              <a:t>Address </a:t>
            </a:r>
            <a:r>
              <a:rPr lang="en-US" altLang="en-US" dirty="0" err="1"/>
              <a:t>nonroutine</a:t>
            </a:r>
            <a:r>
              <a:rPr lang="en-US" altLang="en-US" dirty="0"/>
              <a:t> decisions</a:t>
            </a:r>
          </a:p>
          <a:p>
            <a:pPr lvl="1"/>
            <a:r>
              <a:rPr lang="en-US" altLang="en-US" sz="2400" dirty="0"/>
              <a:t>Requiring judgment, evaluation, and insight</a:t>
            </a:r>
          </a:p>
          <a:p>
            <a:r>
              <a:rPr lang="en-US" altLang="en-US" dirty="0"/>
              <a:t>Incorporate data about external events (e.g., new tax laws or competitors) as well as summarized information from internal </a:t>
            </a:r>
            <a:r>
              <a:rPr lang="en-US" altLang="en-US" spc="-300" dirty="0"/>
              <a:t>M I </a:t>
            </a:r>
            <a:r>
              <a:rPr lang="en-US" altLang="en-US" dirty="0"/>
              <a:t>S and </a:t>
            </a:r>
            <a:r>
              <a:rPr lang="en-US" altLang="en-US" spc="-300" dirty="0"/>
              <a:t>D S </a:t>
            </a:r>
            <a:r>
              <a:rPr lang="en-US" altLang="en-US" dirty="0" err="1"/>
              <a:t>S</a:t>
            </a:r>
            <a:endParaRPr lang="en-US" altLang="en-US" dirty="0"/>
          </a:p>
          <a:p>
            <a:r>
              <a:rPr lang="en-US" altLang="en-US" dirty="0"/>
              <a:t>Example: Digital dashboard with real-time view of firm</a:t>
            </a:r>
            <a:r>
              <a:rPr lang="en-US" altLang="ja-JP" dirty="0"/>
              <a:t>’s financial performance</a:t>
            </a:r>
            <a:endParaRPr lang="en-US" altLang="en-US" dirty="0"/>
          </a:p>
        </p:txBody>
      </p:sp>
      <p:sp>
        <p:nvSpPr>
          <p:cNvPr id="2" name="Footer Placeholder 1">
            <a:extLst>
              <a:ext uri="{FF2B5EF4-FFF2-40B4-BE49-F238E27FC236}">
                <a16:creationId xmlns:a16="http://schemas.microsoft.com/office/drawing/2014/main" id="{A6A1B716-047B-41E0-9097-2F20BCA8F98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548310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dirty="0"/>
              <a:t>Enterprise Applications</a:t>
            </a:r>
            <a:endParaRPr lang="en-US" sz="2800" dirty="0"/>
          </a:p>
        </p:txBody>
      </p:sp>
      <p:sp>
        <p:nvSpPr>
          <p:cNvPr id="5" name="Content Placeholder 4"/>
          <p:cNvSpPr>
            <a:spLocks noGrp="1"/>
          </p:cNvSpPr>
          <p:nvPr>
            <p:ph idx="1"/>
          </p:nvPr>
        </p:nvSpPr>
        <p:spPr>
          <a:xfrm>
            <a:off x="457200" y="842010"/>
            <a:ext cx="8229600" cy="3939540"/>
          </a:xfrm>
        </p:spPr>
        <p:txBody>
          <a:bodyPr>
            <a:spAutoFit/>
          </a:bodyPr>
          <a:lstStyle/>
          <a:p>
            <a:pPr>
              <a:spcBef>
                <a:spcPts val="600"/>
              </a:spcBef>
              <a:defRPr/>
            </a:pPr>
            <a:r>
              <a:rPr lang="en-US" dirty="0"/>
              <a:t>Systems for linking the enterprise</a:t>
            </a:r>
          </a:p>
          <a:p>
            <a:pPr>
              <a:spcBef>
                <a:spcPts val="600"/>
              </a:spcBef>
              <a:defRPr/>
            </a:pPr>
            <a:r>
              <a:rPr lang="en-US" dirty="0"/>
              <a:t>Span functional areas</a:t>
            </a:r>
          </a:p>
          <a:p>
            <a:pPr>
              <a:spcBef>
                <a:spcPts val="600"/>
              </a:spcBef>
              <a:defRPr/>
            </a:pPr>
            <a:r>
              <a:rPr lang="en-US" dirty="0"/>
              <a:t>Execute business processes across the firm</a:t>
            </a:r>
          </a:p>
          <a:p>
            <a:pPr>
              <a:spcBef>
                <a:spcPts val="600"/>
              </a:spcBef>
              <a:defRPr/>
            </a:pPr>
            <a:r>
              <a:rPr lang="en-US" dirty="0"/>
              <a:t>Include all levels of management</a:t>
            </a:r>
          </a:p>
          <a:p>
            <a:pPr>
              <a:spcBef>
                <a:spcPts val="600"/>
              </a:spcBef>
              <a:defRPr/>
            </a:pPr>
            <a:r>
              <a:rPr lang="en-US" dirty="0"/>
              <a:t>Four major applications</a:t>
            </a:r>
          </a:p>
          <a:p>
            <a:pPr lvl="1">
              <a:defRPr/>
            </a:pPr>
            <a:r>
              <a:rPr lang="en-US" sz="2400" dirty="0"/>
              <a:t>Enterprise systems</a:t>
            </a:r>
          </a:p>
          <a:p>
            <a:pPr lvl="1">
              <a:defRPr/>
            </a:pPr>
            <a:r>
              <a:rPr lang="en-US" sz="2400" dirty="0"/>
              <a:t>Supply chain management systems</a:t>
            </a:r>
          </a:p>
          <a:p>
            <a:pPr lvl="1">
              <a:defRPr/>
            </a:pPr>
            <a:r>
              <a:rPr lang="en-US" sz="2400" dirty="0"/>
              <a:t>Customer relationship management systems</a:t>
            </a:r>
          </a:p>
          <a:p>
            <a:pPr lvl="1">
              <a:defRPr/>
            </a:pPr>
            <a:r>
              <a:rPr lang="en-US" sz="2400" dirty="0"/>
              <a:t>Knowledge management systems</a:t>
            </a:r>
          </a:p>
        </p:txBody>
      </p:sp>
      <p:sp>
        <p:nvSpPr>
          <p:cNvPr id="2" name="Footer Placeholder 1">
            <a:extLst>
              <a:ext uri="{FF2B5EF4-FFF2-40B4-BE49-F238E27FC236}">
                <a16:creationId xmlns:a16="http://schemas.microsoft.com/office/drawing/2014/main" id="{2F76F335-2C5F-40B5-AE44-605F8554D5F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11200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1855"/>
            <a:ext cx="8229600" cy="430887"/>
          </a:xfrm>
        </p:spPr>
        <p:txBody>
          <a:bodyPr>
            <a:spAutoFit/>
          </a:bodyPr>
          <a:lstStyle/>
          <a:p>
            <a:r>
              <a:rPr lang="en-US" sz="2800" dirty="0"/>
              <a:t>Figure 2.6 Enterprise Application Architecture</a:t>
            </a:r>
          </a:p>
        </p:txBody>
      </p:sp>
      <p:pic>
        <p:nvPicPr>
          <p:cNvPr id="5122" name="Picture 2" descr="A pyramid diagram shows the classification scheme of architectures and their important functional area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74455" y="875613"/>
            <a:ext cx="4010299" cy="393336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817565B-4C60-491F-998E-DB5736CA1E5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301458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84"/>
            <a:ext cx="8229600" cy="553998"/>
          </a:xfrm>
        </p:spPr>
        <p:txBody>
          <a:bodyPr>
            <a:spAutoFit/>
          </a:bodyPr>
          <a:lstStyle/>
          <a:p>
            <a:r>
              <a:rPr lang="en-US" dirty="0"/>
              <a:t>Enterprise Systems</a:t>
            </a:r>
            <a:endParaRPr lang="en-US" sz="2800" dirty="0"/>
          </a:p>
        </p:txBody>
      </p:sp>
      <p:sp>
        <p:nvSpPr>
          <p:cNvPr id="5" name="Content Placeholder 4"/>
          <p:cNvSpPr>
            <a:spLocks noGrp="1"/>
          </p:cNvSpPr>
          <p:nvPr>
            <p:ph idx="1"/>
          </p:nvPr>
        </p:nvSpPr>
        <p:spPr>
          <a:xfrm>
            <a:off x="457200" y="817185"/>
            <a:ext cx="8229600" cy="3354765"/>
          </a:xfrm>
        </p:spPr>
        <p:txBody>
          <a:bodyPr>
            <a:spAutoFit/>
          </a:bodyPr>
          <a:lstStyle/>
          <a:p>
            <a:r>
              <a:rPr lang="en-US" dirty="0"/>
              <a:t>Also called enterprise resource planning (</a:t>
            </a:r>
            <a:r>
              <a:rPr lang="en-US" spc="-300" dirty="0"/>
              <a:t>E R </a:t>
            </a:r>
            <a:r>
              <a:rPr lang="en-US" dirty="0"/>
              <a:t>P) systems </a:t>
            </a:r>
          </a:p>
          <a:p>
            <a:r>
              <a:rPr lang="en-US" dirty="0"/>
              <a:t>Integrate data from key business processes into single system</a:t>
            </a:r>
          </a:p>
          <a:p>
            <a:r>
              <a:rPr lang="en-US" dirty="0"/>
              <a:t>Speed communication of information throughout firm</a:t>
            </a:r>
          </a:p>
          <a:p>
            <a:r>
              <a:rPr lang="en-US" dirty="0"/>
              <a:t>Enable greater flexibility in responding to customer requests, greater accuracy in order fulfillment</a:t>
            </a:r>
          </a:p>
          <a:p>
            <a:r>
              <a:rPr lang="en-US" dirty="0"/>
              <a:t>Enable managers to assemble overall view of operations </a:t>
            </a:r>
          </a:p>
        </p:txBody>
      </p:sp>
      <p:sp>
        <p:nvSpPr>
          <p:cNvPr id="2" name="Footer Placeholder 1">
            <a:extLst>
              <a:ext uri="{FF2B5EF4-FFF2-40B4-BE49-F238E27FC236}">
                <a16:creationId xmlns:a16="http://schemas.microsoft.com/office/drawing/2014/main" id="{D3EFE23D-31DC-4F23-A195-8C85F226A13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498089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1107996"/>
          </a:xfrm>
        </p:spPr>
        <p:txBody>
          <a:bodyPr>
            <a:spAutoFit/>
          </a:bodyPr>
          <a:lstStyle/>
          <a:p>
            <a:r>
              <a:rPr lang="en-US" dirty="0"/>
              <a:t>Supply Chain Management (</a:t>
            </a:r>
            <a:r>
              <a:rPr lang="en-US" spc="-450" dirty="0"/>
              <a:t>S C </a:t>
            </a:r>
            <a:r>
              <a:rPr lang="en-US" dirty="0"/>
              <a:t>M) Systems</a:t>
            </a:r>
          </a:p>
        </p:txBody>
      </p:sp>
      <p:sp>
        <p:nvSpPr>
          <p:cNvPr id="5" name="Content Placeholder 4"/>
          <p:cNvSpPr>
            <a:spLocks noGrp="1"/>
          </p:cNvSpPr>
          <p:nvPr>
            <p:ph idx="1"/>
          </p:nvPr>
        </p:nvSpPr>
        <p:spPr>
          <a:xfrm>
            <a:off x="457200" y="1433852"/>
            <a:ext cx="8229600" cy="2939266"/>
          </a:xfrm>
        </p:spPr>
        <p:txBody>
          <a:bodyPr>
            <a:spAutoFit/>
          </a:bodyPr>
          <a:lstStyle/>
          <a:p>
            <a:pPr>
              <a:spcBef>
                <a:spcPts val="600"/>
              </a:spcBef>
            </a:pPr>
            <a:r>
              <a:rPr lang="en-US" sz="2200" dirty="0"/>
              <a:t>Manage relationships with suppliers, purchasing firms, distributors, and logistics companies</a:t>
            </a:r>
          </a:p>
          <a:p>
            <a:pPr>
              <a:spcBef>
                <a:spcPts val="600"/>
              </a:spcBef>
            </a:pPr>
            <a:r>
              <a:rPr lang="en-US" sz="2200" dirty="0"/>
              <a:t>Manage shared information about orders, production, inventory levels, and so on</a:t>
            </a:r>
          </a:p>
          <a:p>
            <a:pPr>
              <a:spcBef>
                <a:spcPts val="600"/>
              </a:spcBef>
            </a:pPr>
            <a:r>
              <a:rPr lang="en-US" sz="2200" dirty="0"/>
              <a:t>Goal is to move correct amount of product from source to point of consumption as quickly as possible and at lowest cost</a:t>
            </a:r>
          </a:p>
          <a:p>
            <a:pPr>
              <a:spcBef>
                <a:spcPts val="600"/>
              </a:spcBef>
            </a:pPr>
            <a:r>
              <a:rPr lang="en-US" sz="2200" dirty="0"/>
              <a:t>Type of </a:t>
            </a:r>
            <a:r>
              <a:rPr lang="en-US" sz="2200" dirty="0" err="1"/>
              <a:t>interorganizational</a:t>
            </a:r>
            <a:r>
              <a:rPr lang="en-US" sz="2200" dirty="0"/>
              <a:t> system: Automating flow of information across organizational boundaries</a:t>
            </a:r>
          </a:p>
        </p:txBody>
      </p:sp>
      <p:sp>
        <p:nvSpPr>
          <p:cNvPr id="2" name="Footer Placeholder 1">
            <a:extLst>
              <a:ext uri="{FF2B5EF4-FFF2-40B4-BE49-F238E27FC236}">
                <a16:creationId xmlns:a16="http://schemas.microsoft.com/office/drawing/2014/main" id="{CC308539-A172-4B97-9F71-F3259F58332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8859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22"/>
            <a:ext cx="8229600" cy="1107996"/>
          </a:xfrm>
        </p:spPr>
        <p:txBody>
          <a:bodyPr>
            <a:spAutoFit/>
          </a:bodyPr>
          <a:lstStyle/>
          <a:p>
            <a:r>
              <a:rPr lang="en-US" dirty="0"/>
              <a:t>Customer Relationship Management (</a:t>
            </a:r>
            <a:r>
              <a:rPr lang="en-US" spc="-450" dirty="0"/>
              <a:t>C R </a:t>
            </a:r>
            <a:r>
              <a:rPr lang="en-US" dirty="0"/>
              <a:t>M) Systems</a:t>
            </a:r>
          </a:p>
        </p:txBody>
      </p:sp>
      <p:sp>
        <p:nvSpPr>
          <p:cNvPr id="5" name="Content Placeholder 4"/>
          <p:cNvSpPr>
            <a:spLocks noGrp="1"/>
          </p:cNvSpPr>
          <p:nvPr>
            <p:ph idx="1"/>
          </p:nvPr>
        </p:nvSpPr>
        <p:spPr>
          <a:xfrm>
            <a:off x="457200" y="1436376"/>
            <a:ext cx="8229600" cy="3308598"/>
          </a:xfrm>
        </p:spPr>
        <p:txBody>
          <a:bodyPr>
            <a:spAutoFit/>
          </a:bodyPr>
          <a:lstStyle/>
          <a:p>
            <a:pPr>
              <a:spcBef>
                <a:spcPts val="600"/>
              </a:spcBef>
            </a:pPr>
            <a:r>
              <a:rPr lang="en-US" sz="2000" dirty="0"/>
              <a:t>Help manage relationship with customers</a:t>
            </a:r>
          </a:p>
          <a:p>
            <a:pPr>
              <a:spcBef>
                <a:spcPts val="600"/>
              </a:spcBef>
            </a:pPr>
            <a:r>
              <a:rPr lang="en-US" sz="2000" dirty="0"/>
              <a:t>Coordinate business processes that deal with customers in sales, marketing, and customer service</a:t>
            </a:r>
          </a:p>
          <a:p>
            <a:pPr>
              <a:spcBef>
                <a:spcPts val="600"/>
              </a:spcBef>
            </a:pPr>
            <a:r>
              <a:rPr lang="en-US" sz="2000" dirty="0"/>
              <a:t>Goals:</a:t>
            </a:r>
          </a:p>
          <a:p>
            <a:pPr lvl="1"/>
            <a:r>
              <a:rPr lang="en-US" sz="2000" dirty="0"/>
              <a:t>Optimize revenue</a:t>
            </a:r>
          </a:p>
          <a:p>
            <a:pPr lvl="1"/>
            <a:r>
              <a:rPr lang="en-US" sz="2000" dirty="0"/>
              <a:t>Improve customer satisfaction</a:t>
            </a:r>
          </a:p>
          <a:p>
            <a:pPr lvl="1"/>
            <a:r>
              <a:rPr lang="en-US" sz="2000" dirty="0"/>
              <a:t>Increase customer retention</a:t>
            </a:r>
          </a:p>
          <a:p>
            <a:pPr lvl="1"/>
            <a:r>
              <a:rPr lang="en-US" sz="2000" dirty="0"/>
              <a:t>Identify and retain most profitable customers</a:t>
            </a:r>
          </a:p>
          <a:p>
            <a:pPr lvl="1"/>
            <a:r>
              <a:rPr lang="en-US" sz="2000" dirty="0"/>
              <a:t>Increase sales</a:t>
            </a:r>
          </a:p>
        </p:txBody>
      </p:sp>
      <p:sp>
        <p:nvSpPr>
          <p:cNvPr id="2" name="Footer Placeholder 1">
            <a:extLst>
              <a:ext uri="{FF2B5EF4-FFF2-40B4-BE49-F238E27FC236}">
                <a16:creationId xmlns:a16="http://schemas.microsoft.com/office/drawing/2014/main" id="{ADA9753E-4557-48D5-99D8-79630D05E36F}"/>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42742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22"/>
            <a:ext cx="8229600" cy="1107996"/>
          </a:xfrm>
        </p:spPr>
        <p:txBody>
          <a:bodyPr>
            <a:spAutoFit/>
          </a:bodyPr>
          <a:lstStyle/>
          <a:p>
            <a:r>
              <a:rPr lang="en-IN" dirty="0"/>
              <a:t>Knowledge Management Systems    (</a:t>
            </a:r>
            <a:r>
              <a:rPr lang="en-IN" spc="-450" dirty="0"/>
              <a:t>K M S</a:t>
            </a:r>
            <a:r>
              <a:rPr lang="en-IN" dirty="0"/>
              <a:t>)</a:t>
            </a:r>
            <a:endParaRPr lang="en-US" sz="2800" dirty="0"/>
          </a:p>
        </p:txBody>
      </p:sp>
      <p:sp>
        <p:nvSpPr>
          <p:cNvPr id="5" name="Content Placeholder 4"/>
          <p:cNvSpPr>
            <a:spLocks noGrp="1"/>
          </p:cNvSpPr>
          <p:nvPr>
            <p:ph idx="1"/>
          </p:nvPr>
        </p:nvSpPr>
        <p:spPr>
          <a:xfrm>
            <a:off x="457200" y="1443222"/>
            <a:ext cx="8229600" cy="2600712"/>
          </a:xfrm>
        </p:spPr>
        <p:txBody>
          <a:bodyPr>
            <a:spAutoFit/>
          </a:bodyPr>
          <a:lstStyle/>
          <a:p>
            <a:r>
              <a:rPr lang="en-US" dirty="0"/>
              <a:t>Manage processes for capturing and applying knowledge and expertise</a:t>
            </a:r>
          </a:p>
          <a:p>
            <a:r>
              <a:rPr lang="en-US" dirty="0"/>
              <a:t>Collect relevant knowledge and make it available wherever needed in the enterprise to improve business processes and management decisions</a:t>
            </a:r>
          </a:p>
          <a:p>
            <a:r>
              <a:rPr lang="en-US" dirty="0"/>
              <a:t>Link firm to external sources of knowledge</a:t>
            </a:r>
          </a:p>
        </p:txBody>
      </p:sp>
      <p:sp>
        <p:nvSpPr>
          <p:cNvPr id="2" name="Footer Placeholder 1">
            <a:extLst>
              <a:ext uri="{FF2B5EF4-FFF2-40B4-BE49-F238E27FC236}">
                <a16:creationId xmlns:a16="http://schemas.microsoft.com/office/drawing/2014/main" id="{9F15EF74-305C-485C-804B-B8E2BA14F2C3}"/>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567746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dirty="0"/>
              <a:t>Intranets and Extranets</a:t>
            </a:r>
            <a:endParaRPr lang="en-US" sz="2800" dirty="0"/>
          </a:p>
        </p:txBody>
      </p:sp>
      <p:sp>
        <p:nvSpPr>
          <p:cNvPr id="5" name="Content Placeholder 4"/>
          <p:cNvSpPr>
            <a:spLocks noGrp="1"/>
          </p:cNvSpPr>
          <p:nvPr>
            <p:ph idx="1"/>
          </p:nvPr>
        </p:nvSpPr>
        <p:spPr>
          <a:xfrm>
            <a:off x="457200" y="819114"/>
            <a:ext cx="8229600" cy="3785652"/>
          </a:xfrm>
        </p:spPr>
        <p:txBody>
          <a:bodyPr>
            <a:spAutoFit/>
          </a:bodyPr>
          <a:lstStyle/>
          <a:p>
            <a:r>
              <a:rPr lang="en-US" dirty="0"/>
              <a:t>Technology platforms that increase integration and expedite the flow of information</a:t>
            </a:r>
          </a:p>
          <a:p>
            <a:pPr>
              <a:spcBef>
                <a:spcPts val="600"/>
              </a:spcBef>
            </a:pPr>
            <a:r>
              <a:rPr lang="en-US" dirty="0"/>
              <a:t>Intranets: </a:t>
            </a:r>
          </a:p>
          <a:p>
            <a:pPr lvl="1"/>
            <a:r>
              <a:rPr lang="en-US" sz="2400" dirty="0"/>
              <a:t>Internal networks based on Internet standards</a:t>
            </a:r>
          </a:p>
          <a:p>
            <a:pPr lvl="1"/>
            <a:r>
              <a:rPr lang="en-US" sz="2400" dirty="0"/>
              <a:t>Often are private access area in company’s website</a:t>
            </a:r>
          </a:p>
          <a:p>
            <a:pPr>
              <a:spcBef>
                <a:spcPts val="600"/>
              </a:spcBef>
            </a:pPr>
            <a:r>
              <a:rPr lang="en-US" dirty="0"/>
              <a:t>Extranets: </a:t>
            </a:r>
          </a:p>
          <a:p>
            <a:pPr lvl="1"/>
            <a:r>
              <a:rPr lang="en-US" sz="2400" dirty="0"/>
              <a:t>Company websites accessible only to authorized vendors and suppliers</a:t>
            </a:r>
          </a:p>
          <a:p>
            <a:pPr lvl="1"/>
            <a:r>
              <a:rPr lang="en-US" sz="2400" dirty="0"/>
              <a:t>Facilitate collaboration</a:t>
            </a:r>
          </a:p>
        </p:txBody>
      </p:sp>
      <p:sp>
        <p:nvSpPr>
          <p:cNvPr id="2" name="Footer Placeholder 1">
            <a:extLst>
              <a:ext uri="{FF2B5EF4-FFF2-40B4-BE49-F238E27FC236}">
                <a16:creationId xmlns:a16="http://schemas.microsoft.com/office/drawing/2014/main" id="{2EEDE2C0-69E2-42FD-AA9D-29CDFC5F37C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858417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22"/>
            <a:ext cx="8229600" cy="1107996"/>
          </a:xfrm>
        </p:spPr>
        <p:txBody>
          <a:bodyPr>
            <a:spAutoFit/>
          </a:bodyPr>
          <a:lstStyle/>
          <a:p>
            <a:r>
              <a:rPr lang="en-US" dirty="0"/>
              <a:t>E-business, E-commerce, and</a:t>
            </a:r>
            <a:br>
              <a:rPr lang="en-US" dirty="0"/>
            </a:br>
            <a:r>
              <a:rPr lang="en-US" dirty="0"/>
              <a:t>E-government</a:t>
            </a:r>
            <a:endParaRPr lang="en-US" sz="2800" dirty="0"/>
          </a:p>
        </p:txBody>
      </p:sp>
      <p:sp>
        <p:nvSpPr>
          <p:cNvPr id="5" name="Content Placeholder 4"/>
          <p:cNvSpPr>
            <a:spLocks noGrp="1"/>
          </p:cNvSpPr>
          <p:nvPr>
            <p:ph idx="1"/>
          </p:nvPr>
        </p:nvSpPr>
        <p:spPr>
          <a:xfrm>
            <a:off x="457200" y="1297281"/>
            <a:ext cx="8229600" cy="3508653"/>
          </a:xfrm>
        </p:spPr>
        <p:txBody>
          <a:bodyPr>
            <a:spAutoFit/>
          </a:bodyPr>
          <a:lstStyle/>
          <a:p>
            <a:r>
              <a:rPr lang="en-US" sz="2200" dirty="0"/>
              <a:t>E-business</a:t>
            </a:r>
          </a:p>
          <a:p>
            <a:pPr lvl="1"/>
            <a:r>
              <a:rPr lang="en-US" dirty="0"/>
              <a:t>Use of digital technology and Internet to drive major business processes</a:t>
            </a:r>
          </a:p>
          <a:p>
            <a:pPr>
              <a:spcBef>
                <a:spcPts val="600"/>
              </a:spcBef>
            </a:pPr>
            <a:r>
              <a:rPr lang="en-US" sz="2200" dirty="0"/>
              <a:t>E-commerce</a:t>
            </a:r>
          </a:p>
          <a:p>
            <a:pPr lvl="1"/>
            <a:r>
              <a:rPr lang="en-US" dirty="0"/>
              <a:t>Subset of e-business</a:t>
            </a:r>
          </a:p>
          <a:p>
            <a:pPr lvl="1"/>
            <a:r>
              <a:rPr lang="en-US" dirty="0"/>
              <a:t>Buying and selling goods and services through Internet</a:t>
            </a:r>
          </a:p>
          <a:p>
            <a:pPr>
              <a:spcBef>
                <a:spcPts val="600"/>
              </a:spcBef>
            </a:pPr>
            <a:r>
              <a:rPr lang="en-US" sz="2200" dirty="0"/>
              <a:t>E-government</a:t>
            </a:r>
          </a:p>
          <a:p>
            <a:pPr lvl="1"/>
            <a:r>
              <a:rPr lang="en-US" dirty="0"/>
              <a:t>Using Internet technology to deliver information and services to citizens, employees, and businesses</a:t>
            </a:r>
          </a:p>
        </p:txBody>
      </p:sp>
      <p:sp>
        <p:nvSpPr>
          <p:cNvPr id="2" name="Footer Placeholder 1">
            <a:extLst>
              <a:ext uri="{FF2B5EF4-FFF2-40B4-BE49-F238E27FC236}">
                <a16:creationId xmlns:a16="http://schemas.microsoft.com/office/drawing/2014/main" id="{7083203B-AF1F-4291-BD46-73C2598B438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52817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5750"/>
            <a:ext cx="8229600" cy="984885"/>
          </a:xfrm>
        </p:spPr>
        <p:txBody>
          <a:bodyPr>
            <a:spAutoFit/>
          </a:bodyPr>
          <a:lstStyle/>
          <a:p>
            <a:r>
              <a:rPr lang="en-US" sz="3200" dirty="0"/>
              <a:t>Interactive Session: Organizations: The City of Mississauga Goes Digital</a:t>
            </a:r>
            <a:endParaRPr lang="en-US" sz="2400" dirty="0"/>
          </a:p>
        </p:txBody>
      </p:sp>
      <p:sp>
        <p:nvSpPr>
          <p:cNvPr id="5" name="Content Placeholder 4"/>
          <p:cNvSpPr>
            <a:spLocks noGrp="1"/>
          </p:cNvSpPr>
          <p:nvPr>
            <p:ph idx="1"/>
          </p:nvPr>
        </p:nvSpPr>
        <p:spPr>
          <a:xfrm>
            <a:off x="457200" y="1504950"/>
            <a:ext cx="8229600" cy="2800767"/>
          </a:xfrm>
        </p:spPr>
        <p:txBody>
          <a:bodyPr>
            <a:spAutoFit/>
          </a:bodyPr>
          <a:lstStyle/>
          <a:p>
            <a:r>
              <a:rPr lang="en-US" sz="1800" dirty="0"/>
              <a:t>Class discussion</a:t>
            </a:r>
          </a:p>
          <a:p>
            <a:pPr lvl="1"/>
            <a:r>
              <a:rPr lang="en-US" sz="1800" dirty="0"/>
              <a:t>Describe the problems the City of Mississauga hoped to address using digital technology.</a:t>
            </a:r>
          </a:p>
          <a:p>
            <a:pPr lvl="1"/>
            <a:r>
              <a:rPr lang="en-US" sz="1800" dirty="0"/>
              <a:t>What technologies did Mississauga employ for a solution? Describe each of these technologies and the role each played in a solution.</a:t>
            </a:r>
          </a:p>
          <a:p>
            <a:pPr lvl="1"/>
            <a:r>
              <a:rPr lang="en-US" sz="1800" dirty="0"/>
              <a:t>What management, organization, and technology issues did the City of Mississauga have to address in developing a solution?.</a:t>
            </a:r>
          </a:p>
          <a:p>
            <a:pPr lvl="1"/>
            <a:r>
              <a:rPr lang="en-US" sz="1800" dirty="0"/>
              <a:t>How did the technologies in this case improve operations and decision making at the City of Mississauga?</a:t>
            </a:r>
          </a:p>
        </p:txBody>
      </p:sp>
      <p:sp>
        <p:nvSpPr>
          <p:cNvPr id="2" name="Footer Placeholder 1">
            <a:extLst>
              <a:ext uri="{FF2B5EF4-FFF2-40B4-BE49-F238E27FC236}">
                <a16:creationId xmlns:a16="http://schemas.microsoft.com/office/drawing/2014/main" id="{FCAC4474-FAEF-42ED-BFEC-FE3E6106764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606667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dirty="0"/>
              <a:t>What is Collaboration?</a:t>
            </a:r>
            <a:endParaRPr lang="en-US" sz="2800" dirty="0"/>
          </a:p>
        </p:txBody>
      </p:sp>
      <p:sp>
        <p:nvSpPr>
          <p:cNvPr id="5" name="Content Placeholder 4"/>
          <p:cNvSpPr>
            <a:spLocks noGrp="1"/>
          </p:cNvSpPr>
          <p:nvPr>
            <p:ph idx="1"/>
          </p:nvPr>
        </p:nvSpPr>
        <p:spPr>
          <a:xfrm>
            <a:off x="457200" y="727895"/>
            <a:ext cx="8229600" cy="4078039"/>
          </a:xfrm>
        </p:spPr>
        <p:txBody>
          <a:bodyPr>
            <a:spAutoFit/>
          </a:bodyPr>
          <a:lstStyle/>
          <a:p>
            <a:r>
              <a:rPr lang="en-US" altLang="en-US" sz="2200" dirty="0"/>
              <a:t>Collaboration</a:t>
            </a:r>
          </a:p>
          <a:p>
            <a:pPr lvl="1"/>
            <a:r>
              <a:rPr lang="en-US" altLang="en-US" dirty="0"/>
              <a:t>Short lived or long term</a:t>
            </a:r>
          </a:p>
          <a:p>
            <a:pPr lvl="1"/>
            <a:r>
              <a:rPr lang="en-US" altLang="en-US" dirty="0"/>
              <a:t>Informal or formal (teams)</a:t>
            </a:r>
          </a:p>
          <a:p>
            <a:pPr>
              <a:spcBef>
                <a:spcPts val="600"/>
              </a:spcBef>
            </a:pPr>
            <a:r>
              <a:rPr lang="en-US" altLang="en-US" sz="2200" dirty="0"/>
              <a:t>Growing importance of collaboration</a:t>
            </a:r>
          </a:p>
          <a:p>
            <a:pPr lvl="1"/>
            <a:r>
              <a:rPr lang="en-US" altLang="en-US" dirty="0"/>
              <a:t>Changing nature of work</a:t>
            </a:r>
          </a:p>
          <a:p>
            <a:pPr lvl="1"/>
            <a:r>
              <a:rPr lang="en-US" altLang="en-US" dirty="0"/>
              <a:t>Growth of professional work—</a:t>
            </a:r>
            <a:r>
              <a:rPr lang="ja-JP" altLang="en-US" dirty="0"/>
              <a:t>“</a:t>
            </a:r>
            <a:r>
              <a:rPr lang="en-US" altLang="ja-JP" dirty="0"/>
              <a:t>interaction jobs</a:t>
            </a:r>
            <a:r>
              <a:rPr lang="ja-JP" altLang="en-US" dirty="0"/>
              <a:t>”</a:t>
            </a:r>
            <a:endParaRPr lang="en-US" altLang="ja-JP" dirty="0"/>
          </a:p>
          <a:p>
            <a:pPr lvl="1"/>
            <a:r>
              <a:rPr lang="en-US" altLang="en-US" dirty="0"/>
              <a:t>Changing organization of the firm</a:t>
            </a:r>
          </a:p>
          <a:p>
            <a:pPr lvl="1"/>
            <a:r>
              <a:rPr lang="en-US" altLang="en-US" dirty="0"/>
              <a:t>Changing scope of the firm</a:t>
            </a:r>
          </a:p>
          <a:p>
            <a:pPr lvl="1"/>
            <a:r>
              <a:rPr lang="en-US" altLang="en-US" dirty="0"/>
              <a:t>Emphasis on innovation</a:t>
            </a:r>
          </a:p>
          <a:p>
            <a:pPr lvl="1"/>
            <a:r>
              <a:rPr lang="en-US" altLang="en-US" dirty="0"/>
              <a:t>Changing culture of work</a:t>
            </a:r>
            <a:endParaRPr lang="en-US" dirty="0"/>
          </a:p>
        </p:txBody>
      </p:sp>
      <p:sp>
        <p:nvSpPr>
          <p:cNvPr id="2" name="Footer Placeholder 1">
            <a:extLst>
              <a:ext uri="{FF2B5EF4-FFF2-40B4-BE49-F238E27FC236}">
                <a16:creationId xmlns:a16="http://schemas.microsoft.com/office/drawing/2014/main" id="{1EFF1222-19D4-40E3-A3A7-0E19849FBF0F}"/>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421298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342"/>
            <a:ext cx="8229600" cy="553998"/>
          </a:xfrm>
        </p:spPr>
        <p:txBody>
          <a:bodyPr>
            <a:spAutoFit/>
          </a:bodyPr>
          <a:lstStyle/>
          <a:p>
            <a:r>
              <a:rPr lang="en-US" dirty="0"/>
              <a:t>What is Social Business?</a:t>
            </a:r>
            <a:endParaRPr lang="en-US" sz="2800" dirty="0"/>
          </a:p>
        </p:txBody>
      </p:sp>
      <p:sp>
        <p:nvSpPr>
          <p:cNvPr id="5" name="Content Placeholder 4"/>
          <p:cNvSpPr>
            <a:spLocks noGrp="1"/>
          </p:cNvSpPr>
          <p:nvPr>
            <p:ph idx="1"/>
          </p:nvPr>
        </p:nvSpPr>
        <p:spPr>
          <a:xfrm>
            <a:off x="457200" y="727895"/>
            <a:ext cx="8229600" cy="4078039"/>
          </a:xfrm>
        </p:spPr>
        <p:txBody>
          <a:bodyPr>
            <a:spAutoFit/>
          </a:bodyPr>
          <a:lstStyle/>
          <a:p>
            <a:r>
              <a:rPr lang="en-US" altLang="en-US" dirty="0">
                <a:solidFill>
                  <a:srgbClr val="0D0D0D"/>
                </a:solidFill>
                <a:latin typeface="+mj-lt"/>
              </a:rPr>
              <a:t>Social business</a:t>
            </a:r>
          </a:p>
          <a:p>
            <a:pPr lvl="1"/>
            <a:r>
              <a:rPr lang="en-US" altLang="en-US" sz="2400" dirty="0">
                <a:latin typeface="+mj-lt"/>
              </a:rPr>
              <a:t>Use of social networking platforms (internal and external) to engage employees, customers, and suppliers</a:t>
            </a:r>
          </a:p>
          <a:p>
            <a:pPr>
              <a:spcBef>
                <a:spcPts val="600"/>
              </a:spcBef>
            </a:pPr>
            <a:r>
              <a:rPr lang="en-US" altLang="en-US" dirty="0">
                <a:latin typeface="+mj-lt"/>
              </a:rPr>
              <a:t>Aims to deepen interactions and expedite information sharing</a:t>
            </a:r>
          </a:p>
          <a:p>
            <a:pPr>
              <a:spcBef>
                <a:spcPts val="600"/>
              </a:spcBef>
            </a:pPr>
            <a:r>
              <a:rPr lang="ja-JP" altLang="en-US" dirty="0">
                <a:latin typeface="+mj-lt"/>
              </a:rPr>
              <a:t>“</a:t>
            </a:r>
            <a:r>
              <a:rPr lang="en-US" altLang="ja-JP" dirty="0">
                <a:latin typeface="+mj-lt"/>
              </a:rPr>
              <a:t>Conversations</a:t>
            </a:r>
            <a:r>
              <a:rPr lang="ja-JP" altLang="en-US" dirty="0">
                <a:latin typeface="+mj-lt"/>
              </a:rPr>
              <a:t>”</a:t>
            </a:r>
            <a:r>
              <a:rPr lang="en-US" dirty="0">
                <a:latin typeface="+mj-lt"/>
              </a:rPr>
              <a:t> to strengthen bonds with customers </a:t>
            </a:r>
            <a:endParaRPr lang="en-US" altLang="ja-JP" dirty="0">
              <a:latin typeface="+mj-lt"/>
            </a:endParaRPr>
          </a:p>
          <a:p>
            <a:pPr>
              <a:spcBef>
                <a:spcPts val="600"/>
              </a:spcBef>
            </a:pPr>
            <a:r>
              <a:rPr lang="en-US" altLang="en-US" dirty="0">
                <a:latin typeface="+mj-lt"/>
              </a:rPr>
              <a:t>Requires information transparency</a:t>
            </a:r>
          </a:p>
          <a:p>
            <a:pPr>
              <a:spcBef>
                <a:spcPts val="600"/>
              </a:spcBef>
            </a:pPr>
            <a:r>
              <a:rPr lang="en-US" dirty="0">
                <a:latin typeface="+mj-lt"/>
              </a:rPr>
              <a:t>Seen as way to drive operational efficiency, spur innovation, accelerate decision making</a:t>
            </a:r>
            <a:endParaRPr lang="en-US" altLang="en-US" dirty="0">
              <a:latin typeface="+mj-lt"/>
            </a:endParaRPr>
          </a:p>
        </p:txBody>
      </p:sp>
      <p:sp>
        <p:nvSpPr>
          <p:cNvPr id="2" name="Footer Placeholder 1">
            <a:extLst>
              <a:ext uri="{FF2B5EF4-FFF2-40B4-BE49-F238E27FC236}">
                <a16:creationId xmlns:a16="http://schemas.microsoft.com/office/drawing/2014/main" id="{7BE47024-BE12-4469-9FFA-126B16CD8C1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686791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7770"/>
            <a:ext cx="8229600" cy="1107996"/>
          </a:xfrm>
        </p:spPr>
        <p:txBody>
          <a:bodyPr>
            <a:spAutoFit/>
          </a:bodyPr>
          <a:lstStyle/>
          <a:p>
            <a:r>
              <a:rPr lang="en-US" dirty="0">
                <a:cs typeface="ＭＳ Ｐゴシック" charset="0"/>
              </a:rPr>
              <a:t>Business Benefits of Collaboration and Teamwork</a:t>
            </a:r>
            <a:endParaRPr lang="en-US" sz="2800" dirty="0"/>
          </a:p>
        </p:txBody>
      </p:sp>
      <p:sp>
        <p:nvSpPr>
          <p:cNvPr id="5" name="Content Placeholder 4"/>
          <p:cNvSpPr>
            <a:spLocks noGrp="1"/>
          </p:cNvSpPr>
          <p:nvPr>
            <p:ph idx="1"/>
          </p:nvPr>
        </p:nvSpPr>
        <p:spPr>
          <a:xfrm>
            <a:off x="457200" y="1268587"/>
            <a:ext cx="8229600" cy="3323987"/>
          </a:xfrm>
        </p:spPr>
        <p:txBody>
          <a:bodyPr>
            <a:spAutoFit/>
          </a:bodyPr>
          <a:lstStyle/>
          <a:p>
            <a:pPr>
              <a:spcBef>
                <a:spcPts val="0"/>
              </a:spcBef>
            </a:pPr>
            <a:r>
              <a:rPr lang="en-US" dirty="0"/>
              <a:t>Investment in collaboration technology can return large rewards, especially in sales and marketing, research and development</a:t>
            </a:r>
          </a:p>
          <a:p>
            <a:pPr>
              <a:spcBef>
                <a:spcPts val="0"/>
              </a:spcBef>
            </a:pPr>
            <a:r>
              <a:rPr lang="en-US" dirty="0"/>
              <a:t>Productivity: Sharing knowledge and resolving problems</a:t>
            </a:r>
          </a:p>
          <a:p>
            <a:pPr>
              <a:spcBef>
                <a:spcPts val="0"/>
              </a:spcBef>
            </a:pPr>
            <a:r>
              <a:rPr lang="en-US" dirty="0"/>
              <a:t>Quality: Faster resolution of quality issues</a:t>
            </a:r>
          </a:p>
          <a:p>
            <a:pPr>
              <a:spcBef>
                <a:spcPts val="0"/>
              </a:spcBef>
            </a:pPr>
            <a:r>
              <a:rPr lang="en-US" dirty="0"/>
              <a:t>Innovation: More ideas for products and services</a:t>
            </a:r>
          </a:p>
          <a:p>
            <a:pPr>
              <a:spcBef>
                <a:spcPts val="0"/>
              </a:spcBef>
            </a:pPr>
            <a:r>
              <a:rPr lang="en-US" dirty="0"/>
              <a:t>Customer service: Complaints handled more rapidly</a:t>
            </a:r>
          </a:p>
          <a:p>
            <a:pPr>
              <a:spcBef>
                <a:spcPts val="0"/>
              </a:spcBef>
            </a:pPr>
            <a:r>
              <a:rPr lang="en-US" dirty="0"/>
              <a:t>Financial performance: Generated by improvements in factors above</a:t>
            </a:r>
          </a:p>
        </p:txBody>
      </p:sp>
      <p:sp>
        <p:nvSpPr>
          <p:cNvPr id="2" name="Footer Placeholder 1">
            <a:extLst>
              <a:ext uri="{FF2B5EF4-FFF2-40B4-BE49-F238E27FC236}">
                <a16:creationId xmlns:a16="http://schemas.microsoft.com/office/drawing/2014/main" id="{EBD32BD7-D49C-480A-AA8E-088E8DF9AEB0}"/>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84228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1158"/>
            <a:ext cx="8229600" cy="492443"/>
          </a:xfrm>
        </p:spPr>
        <p:txBody>
          <a:bodyPr>
            <a:spAutoFit/>
          </a:bodyPr>
          <a:lstStyle/>
          <a:p>
            <a:r>
              <a:rPr lang="en-US" sz="3200" dirty="0"/>
              <a:t>Figure 2.7 Requirements for Collaboration</a:t>
            </a:r>
          </a:p>
        </p:txBody>
      </p:sp>
      <p:pic>
        <p:nvPicPr>
          <p:cNvPr id="5" name="Picture 2" descr="A flow diagram explains how collaboration capability and technology affect the firm's performanc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916125"/>
            <a:ext cx="5500163" cy="382580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0444F7D-93CA-4C67-8CAB-0C0C8870534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160311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722"/>
            <a:ext cx="8229600" cy="1107996"/>
          </a:xfrm>
        </p:spPr>
        <p:txBody>
          <a:bodyPr>
            <a:spAutoFit/>
          </a:bodyPr>
          <a:lstStyle/>
          <a:p>
            <a:r>
              <a:rPr lang="en-US" altLang="en-US" dirty="0"/>
              <a:t>Building a Collaborative Culture and Business Processes</a:t>
            </a:r>
            <a:endParaRPr lang="en-US" sz="2800" dirty="0"/>
          </a:p>
        </p:txBody>
      </p:sp>
      <p:sp>
        <p:nvSpPr>
          <p:cNvPr id="5" name="Content Placeholder 4"/>
          <p:cNvSpPr>
            <a:spLocks noGrp="1"/>
          </p:cNvSpPr>
          <p:nvPr>
            <p:ph idx="1"/>
          </p:nvPr>
        </p:nvSpPr>
        <p:spPr>
          <a:xfrm>
            <a:off x="457200" y="1439534"/>
            <a:ext cx="8229600" cy="3454792"/>
          </a:xfrm>
        </p:spPr>
        <p:txBody>
          <a:bodyPr>
            <a:spAutoFit/>
          </a:bodyPr>
          <a:lstStyle/>
          <a:p>
            <a:r>
              <a:rPr lang="ja-JP" altLang="en-US" dirty="0"/>
              <a:t>“</a:t>
            </a:r>
            <a:r>
              <a:rPr lang="en-US" altLang="ja-JP" dirty="0"/>
              <a:t>Command and control</a:t>
            </a:r>
            <a:r>
              <a:rPr lang="ja-JP" altLang="en-US" dirty="0"/>
              <a:t>”</a:t>
            </a:r>
            <a:r>
              <a:rPr lang="en-US" altLang="ja-JP" dirty="0"/>
              <a:t> organizations</a:t>
            </a:r>
          </a:p>
          <a:p>
            <a:pPr lvl="1"/>
            <a:r>
              <a:rPr lang="en-US" altLang="en-US" sz="2400" dirty="0"/>
              <a:t>No value placed on teamwork or lower-level participation in decisions</a:t>
            </a:r>
          </a:p>
          <a:p>
            <a:pPr>
              <a:spcBef>
                <a:spcPts val="600"/>
              </a:spcBef>
            </a:pPr>
            <a:r>
              <a:rPr lang="en-US" altLang="en-US" dirty="0"/>
              <a:t>Collaborative business culture</a:t>
            </a:r>
          </a:p>
          <a:p>
            <a:pPr lvl="1"/>
            <a:r>
              <a:rPr lang="en-US" altLang="en-US" sz="2400" dirty="0"/>
              <a:t>Senior managers rely on teams of employees</a:t>
            </a:r>
          </a:p>
          <a:p>
            <a:pPr lvl="1"/>
            <a:r>
              <a:rPr lang="en-US" altLang="en-US" sz="2400" dirty="0"/>
              <a:t>Policies, products, designs, processes, and systems rely on teams</a:t>
            </a:r>
          </a:p>
          <a:p>
            <a:pPr lvl="1"/>
            <a:r>
              <a:rPr lang="en-US" altLang="en-US" sz="2400" dirty="0"/>
              <a:t>The managers purpose is to build teams</a:t>
            </a:r>
            <a:endParaRPr lang="en-US" sz="2400" dirty="0"/>
          </a:p>
        </p:txBody>
      </p:sp>
      <p:sp>
        <p:nvSpPr>
          <p:cNvPr id="2" name="Footer Placeholder 1">
            <a:extLst>
              <a:ext uri="{FF2B5EF4-FFF2-40B4-BE49-F238E27FC236}">
                <a16:creationId xmlns:a16="http://schemas.microsoft.com/office/drawing/2014/main" id="{48A2D76C-94AB-4720-875D-EB430FF8676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88511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7770"/>
            <a:ext cx="8229600" cy="1107996"/>
          </a:xfrm>
        </p:spPr>
        <p:txBody>
          <a:bodyPr>
            <a:spAutoFit/>
          </a:bodyPr>
          <a:lstStyle/>
          <a:p>
            <a:r>
              <a:rPr lang="en-US" dirty="0"/>
              <a:t>Tools and Technologies for Collaboration and Social Business</a:t>
            </a:r>
            <a:endParaRPr lang="en-US" sz="2800" dirty="0"/>
          </a:p>
        </p:txBody>
      </p:sp>
      <p:sp>
        <p:nvSpPr>
          <p:cNvPr id="5" name="Content Placeholder 4"/>
          <p:cNvSpPr>
            <a:spLocks noGrp="1"/>
          </p:cNvSpPr>
          <p:nvPr>
            <p:ph idx="1"/>
          </p:nvPr>
        </p:nvSpPr>
        <p:spPr>
          <a:xfrm>
            <a:off x="457200" y="1403217"/>
            <a:ext cx="8229600" cy="3406061"/>
          </a:xfrm>
        </p:spPr>
        <p:txBody>
          <a:bodyPr>
            <a:spAutoFit/>
          </a:bodyPr>
          <a:lstStyle/>
          <a:p>
            <a:pPr>
              <a:spcBef>
                <a:spcPts val="400"/>
              </a:spcBef>
              <a:defRPr/>
            </a:pPr>
            <a:r>
              <a:rPr lang="en-US" sz="2200" dirty="0"/>
              <a:t>E-mail and instant messaging (</a:t>
            </a:r>
            <a:r>
              <a:rPr lang="en-US" sz="2200" spc="-300" dirty="0"/>
              <a:t>I </a:t>
            </a:r>
            <a:r>
              <a:rPr lang="en-US" sz="2200" dirty="0"/>
              <a:t>M)</a:t>
            </a:r>
          </a:p>
          <a:p>
            <a:pPr>
              <a:spcBef>
                <a:spcPts val="400"/>
              </a:spcBef>
              <a:defRPr/>
            </a:pPr>
            <a:r>
              <a:rPr lang="en-US" sz="2200" dirty="0"/>
              <a:t>Wikis</a:t>
            </a:r>
          </a:p>
          <a:p>
            <a:pPr>
              <a:spcBef>
                <a:spcPts val="400"/>
              </a:spcBef>
              <a:defRPr/>
            </a:pPr>
            <a:r>
              <a:rPr lang="en-US" sz="2200" dirty="0"/>
              <a:t>Virtual worlds</a:t>
            </a:r>
          </a:p>
          <a:p>
            <a:pPr>
              <a:spcBef>
                <a:spcPts val="400"/>
              </a:spcBef>
              <a:defRPr/>
            </a:pPr>
            <a:r>
              <a:rPr lang="en-US" sz="2200" dirty="0"/>
              <a:t>Collaboration and social business platforms</a:t>
            </a:r>
          </a:p>
          <a:p>
            <a:pPr lvl="1">
              <a:spcBef>
                <a:spcPts val="400"/>
              </a:spcBef>
              <a:defRPr/>
            </a:pPr>
            <a:r>
              <a:rPr lang="en-US" dirty="0"/>
              <a:t>Virtual meeting systems: videoconferencing, telepresence)</a:t>
            </a:r>
          </a:p>
          <a:p>
            <a:pPr lvl="1">
              <a:spcBef>
                <a:spcPts val="400"/>
              </a:spcBef>
              <a:defRPr/>
            </a:pPr>
            <a:r>
              <a:rPr lang="en-US" dirty="0"/>
              <a:t>Cloud collaboration services (Google Drive, Google Docs, etc.)</a:t>
            </a:r>
          </a:p>
          <a:p>
            <a:pPr lvl="1">
              <a:spcBef>
                <a:spcPts val="400"/>
              </a:spcBef>
              <a:defRPr/>
            </a:pPr>
            <a:r>
              <a:rPr lang="en-US" dirty="0"/>
              <a:t>Microsoft SharePoint and </a:t>
            </a:r>
            <a:r>
              <a:rPr lang="en-US" spc="-300" dirty="0"/>
              <a:t>I B </a:t>
            </a:r>
            <a:r>
              <a:rPr lang="en-US" dirty="0"/>
              <a:t>M Notes</a:t>
            </a:r>
          </a:p>
          <a:p>
            <a:pPr lvl="1">
              <a:spcBef>
                <a:spcPts val="400"/>
              </a:spcBef>
              <a:defRPr/>
            </a:pPr>
            <a:r>
              <a:rPr lang="en-US" dirty="0"/>
              <a:t>Enterprise social networking tools</a:t>
            </a:r>
          </a:p>
        </p:txBody>
      </p:sp>
      <p:sp>
        <p:nvSpPr>
          <p:cNvPr id="2" name="Footer Placeholder 1">
            <a:extLst>
              <a:ext uri="{FF2B5EF4-FFF2-40B4-BE49-F238E27FC236}">
                <a16:creationId xmlns:a16="http://schemas.microsoft.com/office/drawing/2014/main" id="{A03E837B-7B78-4545-BC06-B506A1903E8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015651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4906"/>
            <a:ext cx="8229600" cy="861774"/>
          </a:xfrm>
        </p:spPr>
        <p:txBody>
          <a:bodyPr>
            <a:spAutoFit/>
          </a:bodyPr>
          <a:lstStyle/>
          <a:p>
            <a:r>
              <a:rPr lang="en-US" sz="2800" dirty="0"/>
              <a:t>Interactive Session: Technology: : Virtual Education at </a:t>
            </a:r>
            <a:r>
              <a:rPr lang="en-US" sz="2800" dirty="0" err="1"/>
              <a:t>Ahlia</a:t>
            </a:r>
            <a:r>
              <a:rPr lang="en-US" sz="2800" dirty="0"/>
              <a:t> University</a:t>
            </a:r>
          </a:p>
        </p:txBody>
      </p:sp>
      <p:sp>
        <p:nvSpPr>
          <p:cNvPr id="5" name="Content Placeholder 4"/>
          <p:cNvSpPr>
            <a:spLocks noGrp="1"/>
          </p:cNvSpPr>
          <p:nvPr>
            <p:ph idx="1"/>
          </p:nvPr>
        </p:nvSpPr>
        <p:spPr>
          <a:xfrm>
            <a:off x="457200" y="1218053"/>
            <a:ext cx="8229600" cy="3077766"/>
          </a:xfrm>
        </p:spPr>
        <p:txBody>
          <a:bodyPr>
            <a:spAutoFit/>
          </a:bodyPr>
          <a:lstStyle/>
          <a:p>
            <a:r>
              <a:rPr lang="en-US" sz="2000" dirty="0"/>
              <a:t>Class discussion</a:t>
            </a:r>
          </a:p>
          <a:p>
            <a:pPr lvl="1"/>
            <a:r>
              <a:rPr lang="en-US" sz="2000" dirty="0"/>
              <a:t>How does Microsoft Teams promote efficient collaboration in universities and colleges?</a:t>
            </a:r>
          </a:p>
          <a:p>
            <a:pPr lvl="1"/>
            <a:r>
              <a:rPr lang="en-US" sz="2000" dirty="0"/>
              <a:t>What management, organization, and technology based issues did </a:t>
            </a:r>
            <a:r>
              <a:rPr lang="en-US" sz="2000" dirty="0" err="1"/>
              <a:t>Ahlia</a:t>
            </a:r>
            <a:r>
              <a:rPr lang="en-US" sz="2000" dirty="0"/>
              <a:t> University address before pivoting its operations to deal with the pandemic?</a:t>
            </a:r>
          </a:p>
          <a:p>
            <a:pPr lvl="1"/>
            <a:r>
              <a:rPr lang="en-US" sz="2000" dirty="0"/>
              <a:t>What advantages has using collaboration tools provided for </a:t>
            </a:r>
            <a:r>
              <a:rPr lang="en-US" sz="2000" dirty="0" err="1"/>
              <a:t>Ahlia</a:t>
            </a:r>
            <a:r>
              <a:rPr lang="en-US" sz="2000" dirty="0"/>
              <a:t> University?</a:t>
            </a:r>
          </a:p>
          <a:p>
            <a:pPr lvl="1"/>
            <a:endParaRPr lang="en-US" sz="2000" dirty="0"/>
          </a:p>
        </p:txBody>
      </p:sp>
      <p:sp>
        <p:nvSpPr>
          <p:cNvPr id="2" name="Footer Placeholder 1">
            <a:extLst>
              <a:ext uri="{FF2B5EF4-FFF2-40B4-BE49-F238E27FC236}">
                <a16:creationId xmlns:a16="http://schemas.microsoft.com/office/drawing/2014/main" id="{44C05DC6-EEAE-4B48-82B3-738D72735ED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713689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2147"/>
            <a:ext cx="8229600" cy="1384995"/>
          </a:xfrm>
        </p:spPr>
        <p:txBody>
          <a:bodyPr>
            <a:spAutoFit/>
          </a:bodyPr>
          <a:lstStyle/>
          <a:p>
            <a:r>
              <a:rPr lang="en-US" sz="3000" dirty="0"/>
              <a:t>Checklist for Managers: Evaluating and Selecting Collaboration and Social Software Tools</a:t>
            </a:r>
          </a:p>
        </p:txBody>
      </p:sp>
      <p:sp>
        <p:nvSpPr>
          <p:cNvPr id="5" name="Content Placeholder 4"/>
          <p:cNvSpPr>
            <a:spLocks noGrp="1"/>
          </p:cNvSpPr>
          <p:nvPr>
            <p:ph idx="1"/>
          </p:nvPr>
        </p:nvSpPr>
        <p:spPr>
          <a:xfrm>
            <a:off x="457200" y="1772643"/>
            <a:ext cx="8229600" cy="3000821"/>
          </a:xfrm>
        </p:spPr>
        <p:txBody>
          <a:bodyPr>
            <a:spAutoFit/>
          </a:bodyPr>
          <a:lstStyle/>
          <a:p>
            <a:r>
              <a:rPr lang="en-US" altLang="en-US" sz="2000" dirty="0"/>
              <a:t>Time/space matrix</a:t>
            </a:r>
          </a:p>
          <a:p>
            <a:pPr>
              <a:spcBef>
                <a:spcPts val="600"/>
              </a:spcBef>
            </a:pPr>
            <a:r>
              <a:rPr lang="en-US" altLang="en-US" sz="2000" dirty="0"/>
              <a:t>Six steps in evaluating software tools</a:t>
            </a:r>
          </a:p>
          <a:p>
            <a:pPr lvl="1"/>
            <a:r>
              <a:rPr lang="en-US" altLang="en-US" sz="2000" dirty="0"/>
              <a:t>Identify your firm</a:t>
            </a:r>
            <a:r>
              <a:rPr lang="en-US" altLang="ja-JP" sz="2000" dirty="0"/>
              <a:t>’s collaboration challenges</a:t>
            </a:r>
          </a:p>
          <a:p>
            <a:pPr lvl="1"/>
            <a:r>
              <a:rPr lang="en-US" altLang="en-US" sz="2000" dirty="0"/>
              <a:t>Identify what kinds of solutions are available</a:t>
            </a:r>
          </a:p>
          <a:p>
            <a:pPr lvl="1"/>
            <a:r>
              <a:rPr lang="en-US" altLang="en-US" sz="2000" dirty="0"/>
              <a:t>Analyze available products’</a:t>
            </a:r>
            <a:r>
              <a:rPr lang="en-US" altLang="ja-JP" sz="2000" dirty="0"/>
              <a:t> cost and benefits</a:t>
            </a:r>
          </a:p>
          <a:p>
            <a:pPr lvl="1"/>
            <a:r>
              <a:rPr lang="en-US" altLang="en-US" sz="2000" dirty="0"/>
              <a:t>Evaluate security risks</a:t>
            </a:r>
          </a:p>
          <a:p>
            <a:pPr lvl="1"/>
            <a:r>
              <a:rPr lang="en-US" altLang="en-US" sz="2000" dirty="0"/>
              <a:t>Consult users for implementation and training issues</a:t>
            </a:r>
          </a:p>
          <a:p>
            <a:pPr lvl="1"/>
            <a:r>
              <a:rPr lang="en-US" altLang="en-US" sz="2000" dirty="0"/>
              <a:t>Evaluate product vendors</a:t>
            </a:r>
            <a:endParaRPr lang="en-US" sz="2000" dirty="0"/>
          </a:p>
        </p:txBody>
      </p:sp>
      <p:sp>
        <p:nvSpPr>
          <p:cNvPr id="2" name="Footer Placeholder 1">
            <a:extLst>
              <a:ext uri="{FF2B5EF4-FFF2-40B4-BE49-F238E27FC236}">
                <a16:creationId xmlns:a16="http://schemas.microsoft.com/office/drawing/2014/main" id="{3E2B270D-8665-48D4-9360-EF134B60D88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772514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7770"/>
            <a:ext cx="8229600" cy="1107996"/>
          </a:xfrm>
        </p:spPr>
        <p:txBody>
          <a:bodyPr>
            <a:spAutoFit/>
          </a:bodyPr>
          <a:lstStyle/>
          <a:p>
            <a:r>
              <a:rPr lang="en-US" dirty="0"/>
              <a:t>Figure 2.8 The Time/Space Collaboration and Social Tool Matrix</a:t>
            </a:r>
          </a:p>
        </p:txBody>
      </p:sp>
      <p:pic>
        <p:nvPicPr>
          <p:cNvPr id="7170" name="Picture 2" descr="A 2 by 2 matrix explains the time-space collaboration and social tool.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36990" y="1344368"/>
            <a:ext cx="4693750" cy="338231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5DA9DCA-4D0E-4D05-B8F8-E4F99559EB4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273154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128"/>
            <a:ext cx="8229600" cy="553998"/>
          </a:xfrm>
        </p:spPr>
        <p:txBody>
          <a:bodyPr>
            <a:spAutoFit/>
          </a:bodyPr>
          <a:lstStyle/>
          <a:p>
            <a:r>
              <a:rPr lang="en-US" dirty="0"/>
              <a:t>The Information Systems Department</a:t>
            </a:r>
            <a:endParaRPr lang="en-US" sz="2800" dirty="0"/>
          </a:p>
        </p:txBody>
      </p:sp>
      <p:sp>
        <p:nvSpPr>
          <p:cNvPr id="5" name="Content Placeholder 4"/>
          <p:cNvSpPr>
            <a:spLocks noGrp="1"/>
          </p:cNvSpPr>
          <p:nvPr>
            <p:ph idx="1"/>
          </p:nvPr>
        </p:nvSpPr>
        <p:spPr>
          <a:xfrm>
            <a:off x="457200" y="815917"/>
            <a:ext cx="8229600" cy="3801041"/>
          </a:xfrm>
        </p:spPr>
        <p:txBody>
          <a:bodyPr>
            <a:spAutoFit/>
          </a:bodyPr>
          <a:lstStyle/>
          <a:p>
            <a:r>
              <a:rPr lang="en-US" dirty="0"/>
              <a:t>Often headed by chief information officer (</a:t>
            </a:r>
            <a:r>
              <a:rPr lang="en-US" spc="-300" dirty="0"/>
              <a:t>C I </a:t>
            </a:r>
            <a:r>
              <a:rPr lang="en-US" dirty="0"/>
              <a:t>O)</a:t>
            </a:r>
          </a:p>
          <a:p>
            <a:pPr lvl="1"/>
            <a:r>
              <a:rPr lang="en-US" sz="2400" dirty="0"/>
              <a:t>Other senior positions include chief security officer      (</a:t>
            </a:r>
            <a:r>
              <a:rPr lang="en-US" sz="2400" spc="-300" dirty="0"/>
              <a:t>C S </a:t>
            </a:r>
            <a:r>
              <a:rPr lang="en-US" sz="2400" dirty="0"/>
              <a:t>O), chief knowledge officer (</a:t>
            </a:r>
            <a:r>
              <a:rPr lang="en-US" sz="2400" spc="-300" dirty="0"/>
              <a:t>C K </a:t>
            </a:r>
            <a:r>
              <a:rPr lang="en-US" sz="2400" dirty="0"/>
              <a:t>O), chief privacy officer (</a:t>
            </a:r>
            <a:r>
              <a:rPr lang="en-US" sz="2400" spc="-300" dirty="0"/>
              <a:t>C P </a:t>
            </a:r>
            <a:r>
              <a:rPr lang="en-US" sz="2400" dirty="0"/>
              <a:t>O), chief data officer (</a:t>
            </a:r>
            <a:r>
              <a:rPr lang="en-US" sz="2400" spc="-300" dirty="0"/>
              <a:t>C D </a:t>
            </a:r>
            <a:r>
              <a:rPr lang="en-US" sz="2400" dirty="0"/>
              <a:t>O)</a:t>
            </a:r>
          </a:p>
          <a:p>
            <a:r>
              <a:rPr lang="en-US" dirty="0"/>
              <a:t>Programmers</a:t>
            </a:r>
          </a:p>
          <a:p>
            <a:r>
              <a:rPr lang="en-US" dirty="0"/>
              <a:t>Systems analysts</a:t>
            </a:r>
          </a:p>
          <a:p>
            <a:r>
              <a:rPr lang="en-US" dirty="0"/>
              <a:t>Information systems managers</a:t>
            </a:r>
          </a:p>
          <a:p>
            <a:r>
              <a:rPr lang="en-US" dirty="0"/>
              <a:t>End users</a:t>
            </a:r>
          </a:p>
        </p:txBody>
      </p:sp>
      <p:sp>
        <p:nvSpPr>
          <p:cNvPr id="2" name="Footer Placeholder 1">
            <a:extLst>
              <a:ext uri="{FF2B5EF4-FFF2-40B4-BE49-F238E27FC236}">
                <a16:creationId xmlns:a16="http://schemas.microsoft.com/office/drawing/2014/main" id="{CC9E77D5-A70B-473B-873C-774180A6EA4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0751776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7770"/>
            <a:ext cx="8229600" cy="1107996"/>
          </a:xfrm>
        </p:spPr>
        <p:txBody>
          <a:bodyPr>
            <a:spAutoFit/>
          </a:bodyPr>
          <a:lstStyle/>
          <a:p>
            <a:r>
              <a:rPr lang="en-US" dirty="0"/>
              <a:t>Organizing the Information Systems Function</a:t>
            </a:r>
            <a:endParaRPr lang="en-US" sz="2800" dirty="0"/>
          </a:p>
        </p:txBody>
      </p:sp>
      <p:sp>
        <p:nvSpPr>
          <p:cNvPr id="5" name="Content Placeholder 4"/>
          <p:cNvSpPr>
            <a:spLocks noGrp="1"/>
          </p:cNvSpPr>
          <p:nvPr>
            <p:ph idx="1"/>
          </p:nvPr>
        </p:nvSpPr>
        <p:spPr>
          <a:xfrm>
            <a:off x="457200" y="1440942"/>
            <a:ext cx="8229600" cy="2600712"/>
          </a:xfrm>
        </p:spPr>
        <p:txBody>
          <a:bodyPr>
            <a:spAutoFit/>
          </a:bodyPr>
          <a:lstStyle/>
          <a:p>
            <a:r>
              <a:rPr lang="en-US" spc="-300" dirty="0"/>
              <a:t>I </a:t>
            </a:r>
            <a:r>
              <a:rPr lang="en-US" dirty="0"/>
              <a:t>T governance</a:t>
            </a:r>
          </a:p>
          <a:p>
            <a:pPr lvl="1"/>
            <a:r>
              <a:rPr lang="en-US" sz="2400" dirty="0"/>
              <a:t>Strategies and policies for using </a:t>
            </a:r>
            <a:r>
              <a:rPr lang="en-US" sz="2400" spc="-300" dirty="0"/>
              <a:t>I </a:t>
            </a:r>
            <a:r>
              <a:rPr lang="en-US" sz="2400" dirty="0"/>
              <a:t>T in the organization</a:t>
            </a:r>
          </a:p>
          <a:p>
            <a:pPr lvl="1"/>
            <a:r>
              <a:rPr lang="en-US" sz="2400" dirty="0"/>
              <a:t>Decision rights</a:t>
            </a:r>
          </a:p>
          <a:p>
            <a:pPr lvl="1"/>
            <a:r>
              <a:rPr lang="en-US" sz="2400" dirty="0"/>
              <a:t>Accountability</a:t>
            </a:r>
          </a:p>
          <a:p>
            <a:pPr lvl="1"/>
            <a:r>
              <a:rPr lang="en-US" sz="2400" dirty="0"/>
              <a:t>Organization of information systems function</a:t>
            </a:r>
          </a:p>
          <a:p>
            <a:pPr lvl="2"/>
            <a:r>
              <a:rPr lang="en-US" sz="2400" dirty="0"/>
              <a:t>Centralized, decentralized, and so on</a:t>
            </a:r>
          </a:p>
        </p:txBody>
      </p:sp>
      <p:sp>
        <p:nvSpPr>
          <p:cNvPr id="2" name="Footer Placeholder 1">
            <a:extLst>
              <a:ext uri="{FF2B5EF4-FFF2-40B4-BE49-F238E27FC236}">
                <a16:creationId xmlns:a16="http://schemas.microsoft.com/office/drawing/2014/main" id="{CCDE9875-02CB-431E-872B-5EFF4E4CDED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655828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342"/>
            <a:ext cx="8229600" cy="553998"/>
          </a:xfrm>
        </p:spPr>
        <p:txBody>
          <a:bodyPr>
            <a:spAutoFit/>
          </a:bodyPr>
          <a:lstStyle/>
          <a:p>
            <a:r>
              <a:rPr lang="en-US" dirty="0"/>
              <a:t>How Will MIS Help My Career?</a:t>
            </a:r>
            <a:endParaRPr lang="en-US" sz="2800" dirty="0"/>
          </a:p>
        </p:txBody>
      </p:sp>
      <p:sp>
        <p:nvSpPr>
          <p:cNvPr id="5" name="Content Placeholder 4"/>
          <p:cNvSpPr>
            <a:spLocks noGrp="1"/>
          </p:cNvSpPr>
          <p:nvPr>
            <p:ph idx="1"/>
          </p:nvPr>
        </p:nvSpPr>
        <p:spPr>
          <a:xfrm>
            <a:off x="457200" y="817709"/>
            <a:ext cx="8229600" cy="2985433"/>
          </a:xfrm>
        </p:spPr>
        <p:txBody>
          <a:bodyPr>
            <a:spAutoFit/>
          </a:bodyPr>
          <a:lstStyle/>
          <a:p>
            <a:r>
              <a:rPr lang="en-US" dirty="0"/>
              <a:t>The Company: Comprehensive Supplemental Insurance USA</a:t>
            </a:r>
          </a:p>
          <a:p>
            <a:r>
              <a:rPr lang="en-US" dirty="0"/>
              <a:t>Position: Sales support specialist</a:t>
            </a:r>
          </a:p>
          <a:p>
            <a:r>
              <a:rPr lang="en-US" dirty="0"/>
              <a:t>Job Requirements</a:t>
            </a:r>
          </a:p>
          <a:p>
            <a:r>
              <a:rPr lang="en-US" dirty="0"/>
              <a:t>Interview Questions</a:t>
            </a:r>
          </a:p>
          <a:p>
            <a:r>
              <a:rPr lang="en-US" dirty="0"/>
              <a:t>Author Tips</a:t>
            </a:r>
          </a:p>
        </p:txBody>
      </p:sp>
      <p:sp>
        <p:nvSpPr>
          <p:cNvPr id="2" name="Footer Placeholder 1">
            <a:extLst>
              <a:ext uri="{FF2B5EF4-FFF2-40B4-BE49-F238E27FC236}">
                <a16:creationId xmlns:a16="http://schemas.microsoft.com/office/drawing/2014/main" id="{68D1268F-07CC-4B8B-8D11-E863B6DE408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979309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4" y="69342"/>
            <a:ext cx="8214779"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5"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2"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4627</TotalTime>
  <Words>6526</Words>
  <Application>Microsoft Office PowerPoint</Application>
  <PresentationFormat>On-screen Show (16:9)</PresentationFormat>
  <Paragraphs>443</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Enterprise Social Networking Transforms Sharp Corporation into a More Innovative Connected Organization (1 of 2)</vt:lpstr>
      <vt:lpstr>Enterprise Social Networking Transforms Sharp Corporation into a More Innovative Connected Organization (2 of 2)</vt:lpstr>
      <vt:lpstr>Business Processes (1 of 2)</vt:lpstr>
      <vt:lpstr>Business Processes (2 of 2)</vt:lpstr>
      <vt:lpstr>Figure 2.1 The Order Fulfillment Process</vt:lpstr>
      <vt:lpstr>How Information Technology Improves Business Processes</vt:lpstr>
      <vt:lpstr>Systems for Different Management Groups (1 of 2)</vt:lpstr>
      <vt:lpstr>Figure 2.2 A Payroll T P S</vt:lpstr>
      <vt:lpstr>Systems for Different Management Groups (2 of 2)</vt:lpstr>
      <vt:lpstr>Management Information Systems</vt:lpstr>
      <vt:lpstr>Figure 2.3 How Management Information Systems Obtain Their Data from the Organization’s T P S</vt:lpstr>
      <vt:lpstr>Figure 2.4 Sample M I S Report</vt:lpstr>
      <vt:lpstr>Decision Support Systems</vt:lpstr>
      <vt:lpstr>Figure 2.5 Voyage-Estimating Decision-Support System</vt:lpstr>
      <vt:lpstr>Executive Support Systems</vt:lpstr>
      <vt:lpstr>Enterprise Applications</vt:lpstr>
      <vt:lpstr>Figure 2.6 Enterprise Application Architecture</vt:lpstr>
      <vt:lpstr>Enterprise Systems</vt:lpstr>
      <vt:lpstr>Supply Chain Management (S C M) Systems</vt:lpstr>
      <vt:lpstr>Customer Relationship Management (C R M) Systems</vt:lpstr>
      <vt:lpstr>Knowledge Management Systems    (K M S)</vt:lpstr>
      <vt:lpstr>Intranets and Extranets</vt:lpstr>
      <vt:lpstr>E-business, E-commerce, and E-government</vt:lpstr>
      <vt:lpstr>Interactive Session: Organizations: The City of Mississauga Goes Digital</vt:lpstr>
      <vt:lpstr>What is Collaboration?</vt:lpstr>
      <vt:lpstr>What is Social Business?</vt:lpstr>
      <vt:lpstr>Business Benefits of Collaboration and Teamwork</vt:lpstr>
      <vt:lpstr>Figure 2.7 Requirements for Collaboration</vt:lpstr>
      <vt:lpstr>Building a Collaborative Culture and Business Processes</vt:lpstr>
      <vt:lpstr>Tools and Technologies for Collaboration and Social Business</vt:lpstr>
      <vt:lpstr>Interactive Session: Technology: : Virtual Education at Ahlia University</vt:lpstr>
      <vt:lpstr>Checklist for Managers: Evaluating and Selecting Collaboration and Social Software Tools</vt:lpstr>
      <vt:lpstr>Figure 2.8 The Time/Space Collaboration and Social Tool Matrix</vt:lpstr>
      <vt:lpstr>The Information Systems Department</vt:lpstr>
      <vt:lpstr>Organizing the Information Systems Function</vt:lpstr>
      <vt:lpstr>How Will MIS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1071</cp:revision>
  <cp:lastPrinted>2020-10-19T18:55:08Z</cp:lastPrinted>
  <dcterms:created xsi:type="dcterms:W3CDTF">2014-07-14T20:04:21Z</dcterms:created>
  <dcterms:modified xsi:type="dcterms:W3CDTF">2021-05-28T11:20:13Z</dcterms:modified>
</cp:coreProperties>
</file>