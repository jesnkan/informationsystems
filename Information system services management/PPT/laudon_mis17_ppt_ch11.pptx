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handoutMasterIdLst>
    <p:handoutMasterId r:id="rId49"/>
  </p:handoutMasterIdLst>
  <p:sldIdLst>
    <p:sldId id="506" r:id="rId2"/>
    <p:sldId id="380" r:id="rId3"/>
    <p:sldId id="518" r:id="rId4"/>
    <p:sldId id="519" r:id="rId5"/>
    <p:sldId id="520" r:id="rId6"/>
    <p:sldId id="521" r:id="rId7"/>
    <p:sldId id="522" r:id="rId8"/>
    <p:sldId id="570" r:id="rId9"/>
    <p:sldId id="524" r:id="rId10"/>
    <p:sldId id="525" r:id="rId11"/>
    <p:sldId id="526" r:id="rId12"/>
    <p:sldId id="560" r:id="rId13"/>
    <p:sldId id="528" r:id="rId14"/>
    <p:sldId id="529" r:id="rId15"/>
    <p:sldId id="561" r:id="rId16"/>
    <p:sldId id="532" r:id="rId17"/>
    <p:sldId id="534" r:id="rId18"/>
    <p:sldId id="535" r:id="rId19"/>
    <p:sldId id="562" r:id="rId20"/>
    <p:sldId id="537" r:id="rId21"/>
    <p:sldId id="571" r:id="rId22"/>
    <p:sldId id="538" r:id="rId23"/>
    <p:sldId id="563" r:id="rId24"/>
    <p:sldId id="553" r:id="rId25"/>
    <p:sldId id="572" r:id="rId26"/>
    <p:sldId id="564" r:id="rId27"/>
    <p:sldId id="573" r:id="rId28"/>
    <p:sldId id="541" r:id="rId29"/>
    <p:sldId id="565" r:id="rId30"/>
    <p:sldId id="543" r:id="rId31"/>
    <p:sldId id="544" r:id="rId32"/>
    <p:sldId id="545" r:id="rId33"/>
    <p:sldId id="558" r:id="rId34"/>
    <p:sldId id="546" r:id="rId35"/>
    <p:sldId id="566" r:id="rId36"/>
    <p:sldId id="531" r:id="rId37"/>
    <p:sldId id="548" r:id="rId38"/>
    <p:sldId id="567" r:id="rId39"/>
    <p:sldId id="550" r:id="rId40"/>
    <p:sldId id="551" r:id="rId41"/>
    <p:sldId id="552" r:id="rId42"/>
    <p:sldId id="554" r:id="rId43"/>
    <p:sldId id="568" r:id="rId44"/>
    <p:sldId id="556" r:id="rId45"/>
    <p:sldId id="559" r:id="rId46"/>
    <p:sldId id="569" r:id="rId47"/>
  </p:sldIdLst>
  <p:sldSz cx="9144000" cy="5143500" type="screen16x9"/>
  <p:notesSz cx="6858000" cy="9144000"/>
  <p:custDataLst>
    <p:tags r:id="rId5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3" orient="horz" pos="324" userDrawn="1">
          <p15:clr>
            <a:srgbClr val="A4A3A4"/>
          </p15:clr>
        </p15:guide>
        <p15:guide id="4" orient="horz" pos="432" userDrawn="1">
          <p15:clr>
            <a:srgbClr val="A4A3A4"/>
          </p15:clr>
        </p15:guide>
        <p15:guide id="5" orient="horz" pos="3024" userDrawn="1">
          <p15:clr>
            <a:srgbClr val="A4A3A4"/>
          </p15:clr>
        </p15:guide>
        <p15:guide id="6" orient="horz" pos="792" userDrawn="1">
          <p15:clr>
            <a:srgbClr val="A4A3A4"/>
          </p15:clr>
        </p15:guide>
        <p15:guide id="7" pos="288" userDrawn="1">
          <p15:clr>
            <a:srgbClr val="A4A3A4"/>
          </p15:clr>
        </p15:guide>
        <p15:guide id="8" pos="5472" userDrawn="1">
          <p15:clr>
            <a:srgbClr val="A4A3A4"/>
          </p15:clr>
        </p15:guide>
        <p15:guide id="9" orient="horz" pos="648" userDrawn="1">
          <p15:clr>
            <a:srgbClr val="A4A3A4"/>
          </p15:clr>
        </p15:guide>
        <p15:guide id="10" orient="horz" pos="900" userDrawn="1">
          <p15:clr>
            <a:srgbClr val="A4A3A4"/>
          </p15:clr>
        </p15:guide>
        <p15:guide id="11" orient="horz" pos="115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ane Kosharek" initials="DK" lastIdx="8" clrIdx="0">
    <p:extLst>
      <p:ext uri="{19B8F6BF-5375-455C-9EA6-DF929625EA0E}">
        <p15:presenceInfo xmlns:p15="http://schemas.microsoft.com/office/powerpoint/2012/main" userId="f80e80a411c6fffc" providerId="Windows Live"/>
      </p:ext>
    </p:extLst>
  </p:cmAuthor>
  <p:cmAuthor id="2" name="Carol Traver" initials="CT" lastIdx="6" clrIdx="1">
    <p:extLst>
      <p:ext uri="{19B8F6BF-5375-455C-9EA6-DF929625EA0E}">
        <p15:presenceInfo xmlns:p15="http://schemas.microsoft.com/office/powerpoint/2012/main" userId="017e1d6f1d8651f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a:srgbClr val="FDB940"/>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5721E-C80B-4E26-9CED-0EBFDBA28B49}" v="48" dt="2019-01-02T20:47:52.858"/>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82" autoAdjust="0"/>
    <p:restoredTop sz="89372" autoAdjust="0"/>
  </p:normalViewPr>
  <p:slideViewPr>
    <p:cSldViewPr>
      <p:cViewPr varScale="1">
        <p:scale>
          <a:sx n="85" d="100"/>
          <a:sy n="85" d="100"/>
        </p:scale>
        <p:origin x="852" y="102"/>
      </p:cViewPr>
      <p:guideLst>
        <p:guide orient="horz" pos="1620"/>
        <p:guide pos="2880"/>
        <p:guide orient="horz" pos="324"/>
        <p:guide orient="horz" pos="432"/>
        <p:guide orient="horz" pos="3024"/>
        <p:guide orient="horz" pos="792"/>
        <p:guide pos="288"/>
        <p:guide pos="5472"/>
        <p:guide orient="horz" pos="648"/>
        <p:guide orient="horz" pos="900"/>
        <p:guide orient="horz" pos="1152"/>
      </p:guideLst>
    </p:cSldViewPr>
  </p:slideViewPr>
  <p:outlineViewPr>
    <p:cViewPr>
      <p:scale>
        <a:sx n="33" d="100"/>
        <a:sy n="33" d="100"/>
      </p:scale>
      <p:origin x="0" y="-26814"/>
    </p:cViewPr>
  </p:outlineViewPr>
  <p:notesTextViewPr>
    <p:cViewPr>
      <p:scale>
        <a:sx n="1" d="1"/>
        <a:sy n="1" d="1"/>
      </p:scale>
      <p:origin x="0" y="0"/>
    </p:cViewPr>
  </p:notesTextViewPr>
  <p:notesViewPr>
    <p:cSldViewPr>
      <p:cViewPr varScale="1">
        <p:scale>
          <a:sx n="51" d="100"/>
          <a:sy n="51" d="100"/>
        </p:scale>
        <p:origin x="2692" y="2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ags" Target="tags/tag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5/28/2021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5/28/2021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MathType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3168426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en-US" dirty="0"/>
              <a:t>The purpose of this chapter is to discuss the business value of knowledge and describe how knowledge is created and managed in the firm. For most students, the idea of business being dependent on knowledge will be a new idea. You might ask students to come up with definitions of knowledge and to distinguish knowledge from data, information, and wisdom. Give examples of types of organizations (hospital, law firm, car dealership, diner, school, etc.) and ask students to come up with specific examples of knowledge that would be important to that organization.</a:t>
            </a:r>
          </a:p>
          <a:p>
            <a:endParaRPr lang="en-US" altLang="en-US" sz="1200" dirty="0">
              <a:solidFill>
                <a:schemeClr val="tx1">
                  <a:lumMod val="75000"/>
                  <a:lumOff val="25000"/>
                </a:schemeClr>
              </a:solidFill>
              <a:ea typeface="ＭＳ Ｐゴシック" pitchFamily="34" charset="-128"/>
              <a:cs typeface="Lucida Sans Unicode" pitchFamily="34" charset="0"/>
            </a:endParaRPr>
          </a:p>
          <a:p>
            <a:r>
              <a:rPr lang="en-US" sz="1200" dirty="0">
                <a:solidFill>
                  <a:srgbClr val="000000"/>
                </a:solidFill>
                <a:latin typeface="+mn-lt"/>
              </a:rPr>
              <a:t>This chapter is also about artificial intelligence and how it used in firms and organizations to improve decision making. The Grand Vision of AI where machines are as smart as humans is contrasted with a more realistic view of AI where machine learning and other AI techniques are useful in discovering patterns in large data sets and can assist managers in understanding their business and environment. </a:t>
            </a:r>
          </a:p>
          <a:p>
            <a:endParaRPr lang="en-US" sz="1800" dirty="0">
              <a:solidFill>
                <a:prstClr val="black"/>
              </a:solidFill>
              <a:latin typeface="Segoe UI" panose="020B0502040204020203" pitchFamily="34" charset="0"/>
            </a:endParaRPr>
          </a:p>
          <a:p>
            <a:endParaRPr lang="en-US" altLang="en-US" sz="1200" dirty="0">
              <a:solidFill>
                <a:schemeClr val="tx1">
                  <a:lumMod val="75000"/>
                  <a:lumOff val="25000"/>
                </a:schemeClr>
              </a:solidFill>
              <a:ea typeface="ＭＳ Ｐゴシック" pitchFamily="34" charset="-128"/>
              <a:cs typeface="Lucida Sans Unicode"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emphasizes the role of knowledge today in the U.S. economy. Ask students to give examples of knowledge and information sectors (finance, publishing, etc.).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and the next begin to answer the question </a:t>
            </a:r>
            <a:r>
              <a:rPr lang="ja-JP" altLang="en-US" dirty="0"/>
              <a:t>“</a:t>
            </a:r>
            <a:r>
              <a:rPr lang="en-US" altLang="ja-JP" dirty="0"/>
              <a:t>What is knowledge</a:t>
            </a:r>
            <a:r>
              <a:rPr lang="ja-JP" altLang="en-US" dirty="0"/>
              <a:t>”</a:t>
            </a:r>
            <a:r>
              <a:rPr lang="en-US" altLang="ja-JP" dirty="0"/>
              <a:t> as it pertains to the organization.  Ask students to distinguish among data, information, knowledge and wisdom.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Ask students why it is important to define and describe knowledge. Ask students to provide examples of knowledge, given an example industry, that illustrate that it is a </a:t>
            </a:r>
            <a:r>
              <a:rPr lang="ja-JP" altLang="en-US" dirty="0"/>
              <a:t>“</a:t>
            </a:r>
            <a:r>
              <a:rPr lang="en-US" altLang="ja-JP" dirty="0"/>
              <a:t>firm asset</a:t>
            </a:r>
            <a:r>
              <a:rPr lang="ja-JP" altLang="en-US" dirty="0"/>
              <a:t>”</a:t>
            </a:r>
            <a:r>
              <a:rPr lang="en-US" altLang="ja-JP" dirty="0"/>
              <a:t>. (E.g., For an electrical appliances firm, knowing how to make the most efficient and cheapest air conditioner). Ask students to explain each element of the dimensions, providing examples. For example, what is meant by </a:t>
            </a:r>
            <a:r>
              <a:rPr lang="ja-JP" altLang="en-US" dirty="0"/>
              <a:t>“</a:t>
            </a:r>
            <a:r>
              <a:rPr lang="en-US" altLang="ja-JP" dirty="0"/>
              <a:t>knowledge is intangible”, </a:t>
            </a:r>
            <a:r>
              <a:rPr lang="ja-JP" altLang="en-US" dirty="0"/>
              <a:t>“</a:t>
            </a:r>
            <a:r>
              <a:rPr lang="en-US" altLang="ja-JP" dirty="0"/>
              <a:t>Give me an example of explicit knowledge,</a:t>
            </a:r>
            <a:r>
              <a:rPr lang="ja-JP" altLang="en-US" dirty="0"/>
              <a:t>”</a:t>
            </a:r>
            <a:r>
              <a:rPr lang="en-US" altLang="ja-JP" dirty="0"/>
              <a:t> and so 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Ask students to further explain or give examples for each characteristic. For example, </a:t>
            </a:r>
            <a:r>
              <a:rPr lang="ja-JP" altLang="en-US" dirty="0"/>
              <a:t>“</a:t>
            </a:r>
            <a:r>
              <a:rPr lang="en-US" altLang="ja-JP" dirty="0"/>
              <a:t>What is an example of knowledge with a social basis?</a:t>
            </a:r>
            <a:r>
              <a:rPr lang="ja-JP" altLang="en-US" dirty="0"/>
              <a:t>”</a:t>
            </a:r>
            <a:r>
              <a:rPr lang="en-US" altLang="ja-JP" dirty="0"/>
              <a:t> </a:t>
            </a:r>
            <a:r>
              <a:rPr lang="ja-JP" altLang="en-US" dirty="0"/>
              <a:t>“</a:t>
            </a:r>
            <a:r>
              <a:rPr lang="en-US" altLang="ja-JP" dirty="0"/>
              <a:t>What is an example of knowledge that is sticky; what is sticky about it?</a:t>
            </a:r>
            <a:r>
              <a:rPr lang="ja-JP" altLang="en-US" dirty="0"/>
              <a: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emphasizes the value of knowledge to the organization. Give examples of well-known companies and ask students to describe knowledge the company has that gives it competitive advantage, such as Apple, eBay, Burger King, and so on. It might also be a good time to point out what is the value of a </a:t>
            </a:r>
            <a:r>
              <a:rPr lang="ja-JP" altLang="en-US" dirty="0"/>
              <a:t>“</a:t>
            </a:r>
            <a:r>
              <a:rPr lang="en-US" altLang="ja-JP" dirty="0"/>
              <a:t>skilled labor force.</a:t>
            </a:r>
            <a:r>
              <a:rPr lang="ja-JP" altLang="en-US" dirty="0"/>
              <a:t>”</a:t>
            </a:r>
            <a:r>
              <a:rPr lang="en-US" altLang="ja-JP" dirty="0"/>
              <a:t> That value results from the knowledge employees have to do their jobs efficiently and effectively. This knowledge in the heads of employees is hard to replace.</a:t>
            </a:r>
          </a:p>
          <a:p>
            <a:pPr eaLnBrk="1" hangingPunct="1"/>
            <a:endParaRPr lang="en-US" altLang="en-US" dirty="0"/>
          </a:p>
          <a:p>
            <a:pPr eaLnBrk="1" hangingPunct="1"/>
            <a:r>
              <a:rPr lang="en-US" altLang="en-US" dirty="0"/>
              <a:t>This slide also introduces the concept of organizational learning, which describes the process of gathering, creating, and applying knowledge. Most students will be surprised that organizations learn, and others will provide many examples of organizations which refused to learn anything. In organizational learning, knowledge becomes the driver of new behavior—decision making, new products and services, new business processes. This might be seen also as organizations sensing and responding to their environment. Give the students examples of organizations, such as a school, hospital, bank, clothing manufacturer, and ask them to provide examples of how that business might demonstrate organizational learning.</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5115705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defines the term knowledge management and describes the process from acquiring knowledge to applying it as a value chain and is followed by slides detailing each stage. Each stage of the chain adds more value to the raw data and information. Ask the students to differentiate between the stages, and how each stage could incorporate more value? For example, how does knowledge once it is stored incorporate more value than the previous stage, knowledge that is being acquired?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the first and second stages of the knowledge value chain: knowledge acquisition and knowledge storage. It describes the different ways in which knowledge can be acquired as well as describing the ways in which knowledge is stored. It also notes the importance of management in creating and maintaining repositories of knowledge. Give the students an example company, such as a medical practice, and ask what type of knowledge they would need and how it should be stored (e.g., medical records of patients).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discusses the third stage of the knowledge value chain and describes various ways that knowledge can be disseminated within the organization. Ask the students for examples of how they received knowledge from a job they have had or a university or college they have attended. What type of knowledge was transferred and what means were used? Were these methods of dissemination adequate or do they see more effective ways to disseminate the same information? How can a company or its employees have </a:t>
            </a:r>
            <a:r>
              <a:rPr lang="ja-JP" altLang="en-US" dirty="0"/>
              <a:t>“</a:t>
            </a:r>
            <a:r>
              <a:rPr lang="en-US" altLang="ja-JP" dirty="0"/>
              <a:t>too much information”?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also discusses the last stage of the knowledge value chain, knowledge application, and emphasizes the need to see and evaluate knowledge in terms of organizational capital and return on investment. Ask the students if they have any examples from their own experience in education or work of how new knowledge can result in a new business practice, new product, or new market.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486400" cy="4495800"/>
          </a:xfrm>
        </p:spPr>
        <p:txBody>
          <a:bodyPr>
            <a:normAutofit fontScale="6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600" dirty="0"/>
              <a:t>Figure 11.1,</a:t>
            </a:r>
            <a:r>
              <a:rPr lang="en-US" altLang="en-US" sz="1600" baseline="0" dirty="0"/>
              <a:t> Page 421.</a:t>
            </a:r>
          </a:p>
          <a:p>
            <a:r>
              <a:rPr lang="en-US" sz="1600" b="0" i="1" u="none" strike="noStrike" kern="1200" cap="none" baseline="0" dirty="0">
                <a:solidFill>
                  <a:schemeClr val="tx1"/>
                </a:solidFill>
                <a:latin typeface="+mn-lt"/>
                <a:ea typeface="Arial"/>
                <a:cs typeface="Arial"/>
                <a:sym typeface="Arial"/>
              </a:rPr>
              <a:t>Knowledge management today involves both information systems activities and a host of enabling management and organizational activities.</a:t>
            </a:r>
          </a:p>
          <a:p>
            <a:endParaRPr lang="en-US" altLang="en-US" sz="16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600" dirty="0"/>
              <a:t>This graphic details the stages of the knowledge management value chain, separating the information system activities from the management/organizational activities involved at each stage. It also describes two other very important requirements for the value chain, the initial data and information acquisition that forms the basis for creating knowledge, and feedback from the knowledge application stage that can result in new opportunities for data and knowledge creation.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a:lnSpc>
                <a:spcPct val="115000"/>
              </a:lnSpc>
              <a:spcBef>
                <a:spcPts val="0"/>
              </a:spcBef>
              <a:spcAft>
                <a:spcPts val="0"/>
              </a:spcAft>
            </a:pPr>
            <a:r>
              <a:rPr lang="en-US" altLang="en-US" sz="1400" u="sng" dirty="0"/>
              <a:t>Alt Text</a:t>
            </a:r>
            <a:endParaRPr lang="en-US" altLang="en-US" sz="1400" u="sng" dirty="0">
              <a:latin typeface="+mn-lt"/>
            </a:endParaRPr>
          </a:p>
          <a:p>
            <a:pPr marL="0" marR="0">
              <a:lnSpc>
                <a:spcPct val="115000"/>
              </a:lnSpc>
              <a:spcBef>
                <a:spcPts val="0"/>
              </a:spcBef>
              <a:spcAft>
                <a:spcPts val="0"/>
              </a:spcAft>
            </a:pPr>
            <a:r>
              <a:rPr lang="en-US" altLang="en-US" sz="1400" dirty="0">
                <a:latin typeface="+mn-lt"/>
              </a:rPr>
              <a:t>Long description: An illustration explains the role of knowledge management systems in knowledge business value chains. </a:t>
            </a:r>
            <a:r>
              <a:rPr lang="en-US" sz="1400" dirty="0">
                <a:solidFill>
                  <a:srgbClr val="000000"/>
                </a:solidFill>
                <a:effectLst/>
                <a:latin typeface="+mn-lt"/>
                <a:ea typeface="Times New Roman" panose="02020603050405020304" pitchFamily="18" charset="0"/>
                <a:cs typeface="Calibri" panose="020F0502020204030204" pitchFamily="34" charset="0"/>
              </a:rPr>
              <a:t>The details are as below:</a:t>
            </a:r>
            <a:endParaRPr lang="en-US" sz="14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400" dirty="0">
                <a:solidFill>
                  <a:srgbClr val="000000"/>
                </a:solidFill>
                <a:effectLst/>
                <a:latin typeface="+mn-lt"/>
                <a:ea typeface="Times New Roman" panose="02020603050405020304" pitchFamily="18" charset="0"/>
                <a:cs typeface="Calibri" panose="020F0502020204030204" pitchFamily="34" charset="0"/>
              </a:rPr>
              <a:t>A knowledge business value chain is connected to data and information acquisition through feedback. The data and information acquisition includes: </a:t>
            </a:r>
            <a:endParaRPr lang="en-US" sz="1400" dirty="0">
              <a:solidFill>
                <a:srgbClr val="000000"/>
              </a:solidFill>
              <a:effectLst/>
              <a:latin typeface="+mn-lt"/>
              <a:ea typeface="Times New Roman" panose="02020603050405020304" pitchFamily="18" charset="0"/>
            </a:endParaRPr>
          </a:p>
          <a:p>
            <a:pPr marL="285750" marR="0" lvl="0" indent="-285750">
              <a:lnSpc>
                <a:spcPct val="115000"/>
              </a:lnSpc>
              <a:spcBef>
                <a:spcPts val="0"/>
              </a:spcBef>
              <a:spcAft>
                <a:spcPts val="0"/>
              </a:spcAft>
              <a:buFont typeface="Arial" panose="020B0604020202020204" pitchFamily="34" charset="0"/>
              <a:buChar char="•"/>
            </a:pPr>
            <a:r>
              <a:rPr lang="en-US" sz="1400" dirty="0">
                <a:effectLst/>
                <a:latin typeface="+mn-lt"/>
                <a:ea typeface="Calibri" panose="020F0502020204030204" pitchFamily="34" charset="0"/>
                <a:cs typeface="Calibri" panose="020F0502020204030204" pitchFamily="34" charset="0"/>
              </a:rPr>
              <a:t>Collecting </a:t>
            </a:r>
            <a:endParaRPr lang="en-US" sz="1400" dirty="0">
              <a:effectLst/>
              <a:latin typeface="+mn-lt"/>
              <a:ea typeface="Calibri" panose="020F0502020204030204" pitchFamily="34" charset="0"/>
            </a:endParaRPr>
          </a:p>
          <a:p>
            <a:pPr marL="285750" marR="0" lvl="0" indent="-285750">
              <a:lnSpc>
                <a:spcPct val="115000"/>
              </a:lnSpc>
              <a:spcBef>
                <a:spcPts val="0"/>
              </a:spcBef>
              <a:spcAft>
                <a:spcPts val="0"/>
              </a:spcAft>
              <a:buFont typeface="Arial" panose="020B0604020202020204" pitchFamily="34" charset="0"/>
              <a:buChar char="•"/>
            </a:pPr>
            <a:r>
              <a:rPr lang="en-US" sz="1400" dirty="0">
                <a:effectLst/>
                <a:latin typeface="+mn-lt"/>
                <a:ea typeface="Calibri" panose="020F0502020204030204" pitchFamily="34" charset="0"/>
                <a:cs typeface="Calibri" panose="020F0502020204030204" pitchFamily="34" charset="0"/>
              </a:rPr>
              <a:t>Storing </a:t>
            </a:r>
            <a:endParaRPr lang="en-US" sz="1400" dirty="0">
              <a:effectLst/>
              <a:latin typeface="+mn-lt"/>
              <a:ea typeface="Calibri" panose="020F0502020204030204" pitchFamily="34" charset="0"/>
            </a:endParaRPr>
          </a:p>
          <a:p>
            <a:pPr marL="285750" marR="0" lvl="0" indent="-285750">
              <a:lnSpc>
                <a:spcPct val="115000"/>
              </a:lnSpc>
              <a:spcBef>
                <a:spcPts val="0"/>
              </a:spcBef>
              <a:spcAft>
                <a:spcPts val="0"/>
              </a:spcAft>
              <a:buFont typeface="Arial" panose="020B0604020202020204" pitchFamily="34" charset="0"/>
              <a:buChar char="•"/>
            </a:pPr>
            <a:r>
              <a:rPr lang="en-US" sz="1400" dirty="0">
                <a:effectLst/>
                <a:latin typeface="+mn-lt"/>
                <a:ea typeface="Calibri" panose="020F0502020204030204" pitchFamily="34" charset="0"/>
                <a:cs typeface="Calibri" panose="020F0502020204030204" pitchFamily="34" charset="0"/>
              </a:rPr>
              <a:t>Disseminating.</a:t>
            </a:r>
            <a:endParaRPr lang="en-US" sz="1400" dirty="0">
              <a:effectLst/>
              <a:latin typeface="+mn-lt"/>
              <a:ea typeface="Calibri" panose="020F0502020204030204" pitchFamily="34" charset="0"/>
            </a:endParaRPr>
          </a:p>
          <a:p>
            <a:pPr marL="0" marR="0">
              <a:lnSpc>
                <a:spcPct val="115000"/>
              </a:lnSpc>
              <a:spcBef>
                <a:spcPts val="0"/>
              </a:spcBef>
              <a:spcAft>
                <a:spcPts val="0"/>
              </a:spcAft>
            </a:pPr>
            <a:endParaRPr lang="en-US" sz="1400" dirty="0">
              <a:solidFill>
                <a:srgbClr val="000000"/>
              </a:solidFill>
              <a:effectLst/>
              <a:latin typeface="+mn-lt"/>
              <a:ea typeface="Times New Roman" panose="02020603050405020304" pitchFamily="18" charset="0"/>
              <a:cs typeface="Calibri" panose="020F0502020204030204" pitchFamily="34" charset="0"/>
            </a:endParaRPr>
          </a:p>
          <a:p>
            <a:pPr marL="0" marR="0">
              <a:lnSpc>
                <a:spcPct val="115000"/>
              </a:lnSpc>
              <a:spcBef>
                <a:spcPts val="0"/>
              </a:spcBef>
              <a:spcAft>
                <a:spcPts val="0"/>
              </a:spcAft>
            </a:pPr>
            <a:r>
              <a:rPr lang="en-US" sz="1400" dirty="0">
                <a:solidFill>
                  <a:srgbClr val="000000"/>
                </a:solidFill>
                <a:effectLst/>
                <a:latin typeface="+mn-lt"/>
                <a:ea typeface="Times New Roman" panose="02020603050405020304" pitchFamily="18" charset="0"/>
                <a:cs typeface="Calibri" panose="020F0502020204030204" pitchFamily="34" charset="0"/>
              </a:rPr>
              <a:t>The Knowledge management systems is divided into: Information system activities and management and organizational activities. </a:t>
            </a:r>
            <a:endParaRPr lang="en-US" sz="14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400" dirty="0">
                <a:solidFill>
                  <a:srgbClr val="000000"/>
                </a:solidFill>
                <a:effectLst/>
                <a:latin typeface="+mn-lt"/>
                <a:ea typeface="Times New Roman" panose="02020603050405020304" pitchFamily="18" charset="0"/>
                <a:cs typeface="Calibri" panose="020F0502020204030204" pitchFamily="34" charset="0"/>
              </a:rPr>
              <a:t>Information system activities includes the following:</a:t>
            </a:r>
            <a:endParaRPr lang="en-US" sz="1400" dirty="0">
              <a:solidFill>
                <a:srgbClr val="000000"/>
              </a:solidFill>
              <a:effectLst/>
              <a:latin typeface="+mn-lt"/>
              <a:ea typeface="Times New Roman" panose="02020603050405020304" pitchFamily="18" charset="0"/>
            </a:endParaRPr>
          </a:p>
          <a:p>
            <a:pPr marL="285750" marR="0" lvl="0" indent="-285750">
              <a:lnSpc>
                <a:spcPct val="115000"/>
              </a:lnSpc>
              <a:spcBef>
                <a:spcPts val="0"/>
              </a:spcBef>
              <a:spcAft>
                <a:spcPts val="0"/>
              </a:spcAft>
              <a:buFont typeface="Arial" panose="020B0604020202020204" pitchFamily="34" charset="0"/>
              <a:buChar char="•"/>
            </a:pPr>
            <a:r>
              <a:rPr lang="en-US" sz="1400" dirty="0">
                <a:effectLst/>
                <a:latin typeface="+mn-lt"/>
                <a:ea typeface="Calibri" panose="020F0502020204030204" pitchFamily="34" charset="0"/>
                <a:cs typeface="Calibri" panose="020F0502020204030204" pitchFamily="34" charset="0"/>
              </a:rPr>
              <a:t>Acquire: Business analytics; Data mining; Neural networks; Machine learning; Knowledge workstations; Expert knowledge networks. </a:t>
            </a:r>
            <a:endParaRPr lang="en-US" sz="1400" dirty="0">
              <a:effectLst/>
              <a:latin typeface="+mn-lt"/>
              <a:ea typeface="Calibri" panose="020F0502020204030204" pitchFamily="34" charset="0"/>
            </a:endParaRPr>
          </a:p>
          <a:p>
            <a:pPr marL="285750" marR="0" lvl="0" indent="-285750">
              <a:lnSpc>
                <a:spcPct val="115000"/>
              </a:lnSpc>
              <a:spcBef>
                <a:spcPts val="0"/>
              </a:spcBef>
              <a:spcAft>
                <a:spcPts val="0"/>
              </a:spcAft>
              <a:buFont typeface="Arial" panose="020B0604020202020204" pitchFamily="34" charset="0"/>
              <a:buChar char="•"/>
            </a:pPr>
            <a:r>
              <a:rPr lang="en-US" sz="1400" dirty="0">
                <a:effectLst/>
                <a:latin typeface="+mn-lt"/>
                <a:ea typeface="Calibri" panose="020F0502020204030204" pitchFamily="34" charset="0"/>
                <a:cs typeface="Calibri" panose="020F0502020204030204" pitchFamily="34" charset="0"/>
              </a:rPr>
              <a:t>Store: Content management systems; Knowledge databases; Expert systems.</a:t>
            </a:r>
            <a:endParaRPr lang="en-US" sz="1400" dirty="0">
              <a:effectLst/>
              <a:latin typeface="+mn-lt"/>
              <a:ea typeface="Calibri" panose="020F0502020204030204" pitchFamily="34" charset="0"/>
            </a:endParaRPr>
          </a:p>
          <a:p>
            <a:pPr marL="285750" marR="0" lvl="0" indent="-285750">
              <a:lnSpc>
                <a:spcPct val="115000"/>
              </a:lnSpc>
              <a:spcBef>
                <a:spcPts val="0"/>
              </a:spcBef>
              <a:spcAft>
                <a:spcPts val="0"/>
              </a:spcAft>
              <a:buFont typeface="Arial" panose="020B0604020202020204" pitchFamily="34" charset="0"/>
              <a:buChar char="•"/>
            </a:pPr>
            <a:r>
              <a:rPr lang="en-US" sz="1400" dirty="0">
                <a:effectLst/>
                <a:latin typeface="+mn-lt"/>
                <a:ea typeface="Calibri" panose="020F0502020204030204" pitchFamily="34" charset="0"/>
                <a:cs typeface="Calibri" panose="020F0502020204030204" pitchFamily="34" charset="0"/>
              </a:rPr>
              <a:t>Disseminate: Portals; Search engines; Collaboration and social business tools. </a:t>
            </a:r>
            <a:endParaRPr lang="en-US" sz="1400" dirty="0">
              <a:effectLst/>
              <a:latin typeface="+mn-lt"/>
              <a:ea typeface="Calibri" panose="020F0502020204030204" pitchFamily="34" charset="0"/>
            </a:endParaRPr>
          </a:p>
          <a:p>
            <a:pPr marL="285750" marR="0" lvl="0" indent="-285750">
              <a:lnSpc>
                <a:spcPct val="115000"/>
              </a:lnSpc>
              <a:spcBef>
                <a:spcPts val="0"/>
              </a:spcBef>
              <a:spcAft>
                <a:spcPts val="0"/>
              </a:spcAft>
              <a:buFont typeface="Arial" panose="020B0604020202020204" pitchFamily="34" charset="0"/>
              <a:buChar char="•"/>
            </a:pPr>
            <a:r>
              <a:rPr lang="en-US" sz="1400" dirty="0">
                <a:effectLst/>
                <a:latin typeface="+mn-lt"/>
                <a:ea typeface="Calibri" panose="020F0502020204030204" pitchFamily="34" charset="0"/>
                <a:cs typeface="Calibri" panose="020F0502020204030204" pitchFamily="34" charset="0"/>
              </a:rPr>
              <a:t>Apply: Decision support systems; Enterprise applications; Robotics. </a:t>
            </a:r>
            <a:endParaRPr lang="en-US" sz="1400" dirty="0">
              <a:effectLst/>
              <a:latin typeface="+mn-lt"/>
              <a:ea typeface="Calibri" panose="020F0502020204030204" pitchFamily="34" charset="0"/>
            </a:endParaRPr>
          </a:p>
          <a:p>
            <a:pPr marL="0" marR="0">
              <a:lnSpc>
                <a:spcPct val="115000"/>
              </a:lnSpc>
              <a:spcBef>
                <a:spcPts val="0"/>
              </a:spcBef>
              <a:spcAft>
                <a:spcPts val="0"/>
              </a:spcAft>
            </a:pPr>
            <a:endParaRPr lang="en-US" sz="1400" dirty="0">
              <a:solidFill>
                <a:srgbClr val="000000"/>
              </a:solidFill>
              <a:effectLst/>
              <a:latin typeface="+mn-lt"/>
              <a:ea typeface="Times New Roman" panose="02020603050405020304" pitchFamily="18" charset="0"/>
              <a:cs typeface="Calibri" panose="020F0502020204030204" pitchFamily="34" charset="0"/>
            </a:endParaRPr>
          </a:p>
          <a:p>
            <a:pPr marL="0" marR="0">
              <a:lnSpc>
                <a:spcPct val="115000"/>
              </a:lnSpc>
              <a:spcBef>
                <a:spcPts val="0"/>
              </a:spcBef>
              <a:spcAft>
                <a:spcPts val="0"/>
              </a:spcAft>
            </a:pPr>
            <a:r>
              <a:rPr lang="en-US" sz="1400" dirty="0">
                <a:solidFill>
                  <a:srgbClr val="000000"/>
                </a:solidFill>
                <a:effectLst/>
                <a:latin typeface="+mn-lt"/>
                <a:ea typeface="Times New Roman" panose="02020603050405020304" pitchFamily="18" charset="0"/>
                <a:cs typeface="Calibri" panose="020F0502020204030204" pitchFamily="34" charset="0"/>
              </a:rPr>
              <a:t>Management and organizational activities includes the following:</a:t>
            </a:r>
            <a:endParaRPr lang="en-US" sz="1400" dirty="0">
              <a:solidFill>
                <a:srgbClr val="000000"/>
              </a:solidFill>
              <a:effectLst/>
              <a:latin typeface="+mn-lt"/>
              <a:ea typeface="Times New Roman" panose="02020603050405020304" pitchFamily="18" charset="0"/>
            </a:endParaRPr>
          </a:p>
          <a:p>
            <a:pPr marL="285750" marR="0" lvl="0" indent="-285750">
              <a:lnSpc>
                <a:spcPct val="115000"/>
              </a:lnSpc>
              <a:spcBef>
                <a:spcPts val="0"/>
              </a:spcBef>
              <a:spcAft>
                <a:spcPts val="0"/>
              </a:spcAft>
              <a:buFont typeface="Arial" panose="020B0604020202020204" pitchFamily="34" charset="0"/>
              <a:buChar char="•"/>
            </a:pPr>
            <a:r>
              <a:rPr lang="en-US" sz="1400" dirty="0">
                <a:effectLst/>
                <a:latin typeface="+mn-lt"/>
                <a:ea typeface="Calibri" panose="020F0502020204030204" pitchFamily="34" charset="0"/>
                <a:cs typeface="Calibri" panose="020F0502020204030204" pitchFamily="34" charset="0"/>
              </a:rPr>
              <a:t>Acquire: Knowledge culture; Communities of practice; Social networks.</a:t>
            </a:r>
            <a:endParaRPr lang="en-US" sz="1400" dirty="0">
              <a:effectLst/>
              <a:latin typeface="+mn-lt"/>
              <a:ea typeface="Calibri" panose="020F0502020204030204" pitchFamily="34" charset="0"/>
            </a:endParaRPr>
          </a:p>
          <a:p>
            <a:pPr marL="285750" marR="0" lvl="0" indent="-285750">
              <a:lnSpc>
                <a:spcPct val="115000"/>
              </a:lnSpc>
              <a:spcBef>
                <a:spcPts val="0"/>
              </a:spcBef>
              <a:spcAft>
                <a:spcPts val="0"/>
              </a:spcAft>
              <a:buFont typeface="Arial" panose="020B0604020202020204" pitchFamily="34" charset="0"/>
              <a:buChar char="•"/>
            </a:pPr>
            <a:r>
              <a:rPr lang="en-US" sz="1400" dirty="0">
                <a:effectLst/>
                <a:latin typeface="+mn-lt"/>
                <a:ea typeface="Calibri" panose="020F0502020204030204" pitchFamily="34" charset="0"/>
                <a:cs typeface="Calibri" panose="020F0502020204030204" pitchFamily="34" charset="0"/>
              </a:rPr>
              <a:t>Store: Organizational routines; Organizational culture.</a:t>
            </a:r>
            <a:endParaRPr lang="en-US" sz="1400" dirty="0">
              <a:effectLst/>
              <a:latin typeface="+mn-lt"/>
              <a:ea typeface="Calibri" panose="020F0502020204030204" pitchFamily="34" charset="0"/>
            </a:endParaRPr>
          </a:p>
          <a:p>
            <a:pPr marL="285750" marR="0" lvl="0" indent="-285750">
              <a:lnSpc>
                <a:spcPct val="115000"/>
              </a:lnSpc>
              <a:spcBef>
                <a:spcPts val="0"/>
              </a:spcBef>
              <a:spcAft>
                <a:spcPts val="0"/>
              </a:spcAft>
              <a:buFont typeface="Arial" panose="020B0604020202020204" pitchFamily="34" charset="0"/>
              <a:buChar char="•"/>
            </a:pPr>
            <a:r>
              <a:rPr lang="en-US" sz="1400" dirty="0">
                <a:effectLst/>
                <a:latin typeface="+mn-lt"/>
                <a:ea typeface="Calibri" panose="020F0502020204030204" pitchFamily="34" charset="0"/>
                <a:cs typeface="Calibri" panose="020F0502020204030204" pitchFamily="34" charset="0"/>
              </a:rPr>
              <a:t>Disseminate: Training; Collaboration.</a:t>
            </a:r>
          </a:p>
          <a:p>
            <a:pPr marL="285750" marR="0" lvl="0" indent="-285750">
              <a:lnSpc>
                <a:spcPct val="115000"/>
              </a:lnSpc>
              <a:spcBef>
                <a:spcPts val="0"/>
              </a:spcBef>
              <a:spcAft>
                <a:spcPts val="0"/>
              </a:spcAft>
              <a:buFont typeface="Arial" panose="020B0604020202020204" pitchFamily="34" charset="0"/>
              <a:buChar char="•"/>
            </a:pPr>
            <a:r>
              <a:rPr lang="en-US" sz="1400" dirty="0">
                <a:solidFill>
                  <a:srgbClr val="000000"/>
                </a:solidFill>
                <a:effectLst/>
                <a:latin typeface="+mn-lt"/>
                <a:ea typeface="Times New Roman" panose="02020603050405020304" pitchFamily="18" charset="0"/>
              </a:rPr>
              <a:t>Apply: New IT-based business processes; New products and services; New markets.</a:t>
            </a:r>
            <a:endParaRPr lang="en-US" sz="14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25957425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the new types of organizational roles that managers can develop in order to facilitate the knowledge value chain. Why might a chief knowledge officer, a senior executive position, be valuable to a company? Ask students why a CKO and COP may or may not be important to the various stages of the value chain—data acquisition, knowledge creation, storage, dissemination, and application, as well as feedback.</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introduces the three main categories of information system used to manage knowledge. These categories are different in terms of the constituencies they serve, the purpose for which they are used, and what they emphasize.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486400" cy="4419600"/>
          </a:xfrm>
        </p:spPr>
        <p:txBody>
          <a:bodyPr>
            <a:normAutofit fontScale="8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11.2,</a:t>
            </a:r>
            <a:r>
              <a:rPr lang="en-US" altLang="en-US" baseline="0" dirty="0"/>
              <a:t> Page 424.</a:t>
            </a:r>
          </a:p>
          <a:p>
            <a:r>
              <a:rPr lang="en-US" sz="1200" b="0" i="1" u="none" strike="noStrike" kern="1200" cap="none" baseline="0" dirty="0">
                <a:solidFill>
                  <a:schemeClr val="tx1"/>
                </a:solidFill>
                <a:latin typeface="+mn-lt"/>
                <a:ea typeface="Arial"/>
                <a:cs typeface="Arial"/>
                <a:sym typeface="Arial"/>
              </a:rPr>
              <a:t>There are three major categories of knowledge management systems, and each can be broken down further into more specialized types of knowledge management systems.</a:t>
            </a:r>
          </a:p>
          <a:p>
            <a:endParaRPr lang="en-US" altLang="en-US" sz="1200" b="0" i="0" u="none" strike="noStrike" kern="1200" cap="none" baseline="0" dirty="0">
              <a:solidFill>
                <a:schemeClr val="tx1"/>
              </a:solidFill>
              <a:latin typeface="+mn-lt"/>
              <a:ea typeface="Arial"/>
              <a:cs typeface="Arial"/>
              <a:sym typeface="Arial"/>
            </a:endParaRPr>
          </a:p>
          <a:p>
            <a:pPr eaLnBrk="1" hangingPunct="1"/>
            <a:r>
              <a:rPr lang="en-US" altLang="en-US" dirty="0"/>
              <a:t>This graphic illustrates the three major types of knowledge management systems, giving the purpose of the system and examples of the type of system. Ask the students how they would categorize a system that catalogs and stores past advertising campaigns? What about software that helps a research biologist input and analyze lab findings? </a:t>
            </a:r>
          </a:p>
          <a:p>
            <a:pPr eaLnBrk="1" hangingPunct="1"/>
            <a:endParaRPr lang="en-US" altLang="en-US" dirty="0"/>
          </a:p>
          <a:p>
            <a:pPr marL="0" marR="0">
              <a:lnSpc>
                <a:spcPct val="115000"/>
              </a:lnSpc>
              <a:spcBef>
                <a:spcPts val="0"/>
              </a:spcBef>
              <a:spcAft>
                <a:spcPts val="0"/>
              </a:spcAft>
            </a:pPr>
            <a:r>
              <a:rPr lang="en-US" altLang="en-US" u="sng" dirty="0">
                <a:latin typeface="+mn-lt"/>
              </a:rPr>
              <a:t>Alt Text</a:t>
            </a:r>
          </a:p>
          <a:p>
            <a:pPr marL="0" marR="0">
              <a:lnSpc>
                <a:spcPct val="115000"/>
              </a:lnSpc>
              <a:spcBef>
                <a:spcPts val="0"/>
              </a:spcBef>
              <a:spcAft>
                <a:spcPts val="0"/>
              </a:spcAft>
            </a:pPr>
            <a:r>
              <a:rPr lang="en-US" altLang="en-US" dirty="0">
                <a:latin typeface="+mn-lt"/>
              </a:rPr>
              <a:t>Long description: An illustration explains three major types of knowledge management systems. </a:t>
            </a:r>
            <a:r>
              <a:rPr lang="en-US" sz="1100" dirty="0">
                <a:solidFill>
                  <a:srgbClr val="000000"/>
                </a:solidFill>
                <a:effectLst/>
                <a:latin typeface="+mn-lt"/>
                <a:ea typeface="Times New Roman" panose="02020603050405020304" pitchFamily="18" charset="0"/>
                <a:cs typeface="Calibri" panose="020F0502020204030204" pitchFamily="34" charset="0"/>
              </a:rPr>
              <a:t>The details are as below:</a:t>
            </a:r>
            <a:endParaRPr lang="en-US" sz="11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100" dirty="0">
                <a:effectLst/>
                <a:latin typeface="+mn-lt"/>
                <a:ea typeface="Calibri" panose="020F0502020204030204" pitchFamily="34" charset="0"/>
                <a:cs typeface="Calibri" panose="020F0502020204030204" pitchFamily="34" charset="0"/>
              </a:rPr>
              <a:t>Enterprise-wide knowledge management systems: General-purpose, integrated, firm wide efforts to collect, store, disseminate, and use digital content and knowledge. </a:t>
            </a:r>
            <a:endParaRPr lang="en-US" sz="1100" dirty="0">
              <a:effectLst/>
              <a:latin typeface="+mn-lt"/>
              <a:ea typeface="Calibri" panose="020F0502020204030204" pitchFamily="34" charset="0"/>
            </a:endParaRPr>
          </a:p>
          <a:p>
            <a:pPr marL="628650" marR="0" lvl="1" indent="-171450">
              <a:lnSpc>
                <a:spcPct val="115000"/>
              </a:lnSpc>
              <a:spcBef>
                <a:spcPts val="0"/>
              </a:spcBef>
              <a:spcAft>
                <a:spcPts val="0"/>
              </a:spcAft>
              <a:buFont typeface="Courier New" panose="02070309020205020404" pitchFamily="49" charset="0"/>
              <a:buChar char="o"/>
            </a:pPr>
            <a:r>
              <a:rPr lang="en-US" sz="1100" dirty="0">
                <a:effectLst/>
                <a:latin typeface="+mn-lt"/>
                <a:ea typeface="Calibri" panose="020F0502020204030204" pitchFamily="34" charset="0"/>
                <a:cs typeface="Calibri" panose="020F0502020204030204" pitchFamily="34" charset="0"/>
              </a:rPr>
              <a:t>Enterprise content management systems</a:t>
            </a:r>
            <a:endParaRPr lang="en-US" sz="1100" dirty="0">
              <a:effectLst/>
              <a:latin typeface="+mn-lt"/>
              <a:ea typeface="Calibri" panose="020F0502020204030204" pitchFamily="34" charset="0"/>
            </a:endParaRPr>
          </a:p>
          <a:p>
            <a:pPr marL="628650" marR="0" lvl="1" indent="-171450">
              <a:lnSpc>
                <a:spcPct val="115000"/>
              </a:lnSpc>
              <a:spcBef>
                <a:spcPts val="0"/>
              </a:spcBef>
              <a:spcAft>
                <a:spcPts val="0"/>
              </a:spcAft>
              <a:buFont typeface="Courier New" panose="02070309020205020404" pitchFamily="49" charset="0"/>
              <a:buChar char="o"/>
            </a:pPr>
            <a:r>
              <a:rPr lang="en-US" sz="1100" dirty="0">
                <a:effectLst/>
                <a:latin typeface="+mn-lt"/>
                <a:ea typeface="Calibri" panose="020F0502020204030204" pitchFamily="34" charset="0"/>
                <a:cs typeface="Calibri" panose="020F0502020204030204" pitchFamily="34" charset="0"/>
              </a:rPr>
              <a:t>Collaboration and social tools</a:t>
            </a:r>
            <a:endParaRPr lang="en-US" sz="1100" dirty="0">
              <a:effectLst/>
              <a:latin typeface="+mn-lt"/>
              <a:ea typeface="Calibri" panose="020F0502020204030204" pitchFamily="34" charset="0"/>
            </a:endParaRPr>
          </a:p>
          <a:p>
            <a:pPr marL="628650" marR="0" lvl="1" indent="-171450">
              <a:lnSpc>
                <a:spcPct val="115000"/>
              </a:lnSpc>
              <a:spcBef>
                <a:spcPts val="0"/>
              </a:spcBef>
              <a:spcAft>
                <a:spcPts val="0"/>
              </a:spcAft>
              <a:buFont typeface="Courier New" panose="02070309020205020404" pitchFamily="49" charset="0"/>
              <a:buChar char="o"/>
            </a:pPr>
            <a:r>
              <a:rPr lang="en-US" sz="1100" dirty="0">
                <a:effectLst/>
                <a:latin typeface="+mn-lt"/>
                <a:ea typeface="Calibri" panose="020F0502020204030204" pitchFamily="34" charset="0"/>
                <a:cs typeface="Calibri" panose="020F0502020204030204" pitchFamily="34" charset="0"/>
              </a:rPr>
              <a:t>Learning management systems.</a:t>
            </a:r>
            <a:endParaRPr lang="en-US" sz="11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100" dirty="0">
                <a:effectLst/>
                <a:latin typeface="+mn-lt"/>
                <a:ea typeface="Calibri" panose="020F0502020204030204" pitchFamily="34" charset="0"/>
                <a:cs typeface="Calibri" panose="020F0502020204030204" pitchFamily="34" charset="0"/>
              </a:rPr>
              <a:t>Knowledge works systems: Specialized workstations and systems that enable scientists, engineers, and other knowledge workers to create and discover new knowledge.</a:t>
            </a:r>
            <a:endParaRPr lang="en-US" sz="1100" dirty="0">
              <a:effectLst/>
              <a:latin typeface="+mn-lt"/>
              <a:ea typeface="Calibri" panose="020F0502020204030204" pitchFamily="34" charset="0"/>
            </a:endParaRPr>
          </a:p>
          <a:p>
            <a:pPr marL="628650" marR="0" lvl="1" indent="-171450">
              <a:lnSpc>
                <a:spcPct val="115000"/>
              </a:lnSpc>
              <a:spcBef>
                <a:spcPts val="0"/>
              </a:spcBef>
              <a:spcAft>
                <a:spcPts val="0"/>
              </a:spcAft>
              <a:buFont typeface="Courier New" panose="02070309020205020404" pitchFamily="49" charset="0"/>
              <a:buChar char="o"/>
            </a:pPr>
            <a:r>
              <a:rPr lang="en-US" sz="1100" dirty="0">
                <a:effectLst/>
                <a:latin typeface="+mn-lt"/>
                <a:ea typeface="Calibri" panose="020F0502020204030204" pitchFamily="34" charset="0"/>
                <a:cs typeface="Calibri" panose="020F0502020204030204" pitchFamily="34" charset="0"/>
              </a:rPr>
              <a:t>Computer-aided design (CAD)</a:t>
            </a:r>
            <a:endParaRPr lang="en-US" sz="1100" dirty="0">
              <a:effectLst/>
              <a:latin typeface="+mn-lt"/>
              <a:ea typeface="Calibri" panose="020F0502020204030204" pitchFamily="34" charset="0"/>
            </a:endParaRPr>
          </a:p>
          <a:p>
            <a:pPr marL="628650" marR="0" lvl="1" indent="-171450">
              <a:lnSpc>
                <a:spcPct val="115000"/>
              </a:lnSpc>
              <a:spcBef>
                <a:spcPts val="0"/>
              </a:spcBef>
              <a:spcAft>
                <a:spcPts val="0"/>
              </a:spcAft>
              <a:buFont typeface="Courier New" panose="02070309020205020404" pitchFamily="49" charset="0"/>
              <a:buChar char="o"/>
            </a:pPr>
            <a:r>
              <a:rPr lang="en-US" sz="1100" dirty="0">
                <a:effectLst/>
                <a:latin typeface="+mn-lt"/>
                <a:ea typeface="Calibri" panose="020F0502020204030204" pitchFamily="34" charset="0"/>
                <a:cs typeface="Calibri" panose="020F0502020204030204" pitchFamily="34" charset="0"/>
              </a:rPr>
              <a:t>Virtual reality. </a:t>
            </a:r>
            <a:endParaRPr lang="en-US" sz="11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100" dirty="0">
                <a:effectLst/>
                <a:latin typeface="+mn-lt"/>
                <a:ea typeface="Calibri" panose="020F0502020204030204" pitchFamily="34" charset="0"/>
                <a:cs typeface="Calibri" panose="020F0502020204030204" pitchFamily="34" charset="0"/>
              </a:rPr>
              <a:t>Intelligent techniques: Tools for discovering patterns and applying knowledge to discrete decisions and knowledge domains. </a:t>
            </a:r>
            <a:endParaRPr lang="en-US" sz="1100" dirty="0">
              <a:effectLst/>
              <a:latin typeface="+mn-lt"/>
              <a:ea typeface="Calibri" panose="020F0502020204030204" pitchFamily="34" charset="0"/>
            </a:endParaRPr>
          </a:p>
          <a:p>
            <a:pPr marL="628650" marR="0" lvl="1" indent="-171450">
              <a:lnSpc>
                <a:spcPct val="115000"/>
              </a:lnSpc>
              <a:spcBef>
                <a:spcPts val="0"/>
              </a:spcBef>
              <a:spcAft>
                <a:spcPts val="0"/>
              </a:spcAft>
              <a:buFont typeface="Courier New" panose="02070309020205020404" pitchFamily="49" charset="0"/>
              <a:buChar char="o"/>
            </a:pPr>
            <a:r>
              <a:rPr lang="en-US" sz="1100" dirty="0">
                <a:effectLst/>
                <a:latin typeface="+mn-lt"/>
                <a:ea typeface="Calibri" panose="020F0502020204030204" pitchFamily="34" charset="0"/>
                <a:cs typeface="Calibri" panose="020F0502020204030204" pitchFamily="34" charset="0"/>
              </a:rPr>
              <a:t>Data mining</a:t>
            </a:r>
            <a:endParaRPr lang="en-US" sz="1100" dirty="0">
              <a:effectLst/>
              <a:latin typeface="+mn-lt"/>
              <a:ea typeface="Calibri" panose="020F0502020204030204" pitchFamily="34" charset="0"/>
            </a:endParaRPr>
          </a:p>
          <a:p>
            <a:pPr marL="628650" marR="0" lvl="1" indent="-171450">
              <a:lnSpc>
                <a:spcPct val="115000"/>
              </a:lnSpc>
              <a:spcBef>
                <a:spcPts val="0"/>
              </a:spcBef>
              <a:spcAft>
                <a:spcPts val="0"/>
              </a:spcAft>
              <a:buFont typeface="Courier New" panose="02070309020205020404" pitchFamily="49" charset="0"/>
              <a:buChar char="o"/>
            </a:pPr>
            <a:r>
              <a:rPr lang="en-US" sz="1100" dirty="0">
                <a:effectLst/>
                <a:latin typeface="+mn-lt"/>
                <a:ea typeface="Calibri" panose="020F0502020204030204" pitchFamily="34" charset="0"/>
                <a:cs typeface="Calibri" panose="020F0502020204030204" pitchFamily="34" charset="0"/>
              </a:rPr>
              <a:t>Neural networks</a:t>
            </a:r>
            <a:endParaRPr lang="en-US" sz="1100" dirty="0">
              <a:effectLst/>
              <a:latin typeface="+mn-lt"/>
              <a:ea typeface="Calibri" panose="020F0502020204030204" pitchFamily="34" charset="0"/>
            </a:endParaRPr>
          </a:p>
          <a:p>
            <a:pPr marL="628650" marR="0" lvl="1" indent="-171450">
              <a:lnSpc>
                <a:spcPct val="115000"/>
              </a:lnSpc>
              <a:spcBef>
                <a:spcPts val="0"/>
              </a:spcBef>
              <a:spcAft>
                <a:spcPts val="0"/>
              </a:spcAft>
              <a:buFont typeface="Courier New" panose="02070309020205020404" pitchFamily="49" charset="0"/>
              <a:buChar char="o"/>
            </a:pPr>
            <a:r>
              <a:rPr lang="en-US" sz="1100" dirty="0">
                <a:effectLst/>
                <a:latin typeface="+mn-lt"/>
                <a:ea typeface="Calibri" panose="020F0502020204030204" pitchFamily="34" charset="0"/>
                <a:cs typeface="Calibri" panose="020F0502020204030204" pitchFamily="34" charset="0"/>
              </a:rPr>
              <a:t>Expert systems</a:t>
            </a:r>
            <a:endParaRPr lang="en-US" sz="1100" dirty="0">
              <a:effectLst/>
              <a:latin typeface="+mn-lt"/>
              <a:ea typeface="Calibri" panose="020F0502020204030204" pitchFamily="34" charset="0"/>
            </a:endParaRPr>
          </a:p>
          <a:p>
            <a:pPr marL="628650" marR="0" lvl="1" indent="-171450">
              <a:lnSpc>
                <a:spcPct val="115000"/>
              </a:lnSpc>
              <a:spcBef>
                <a:spcPts val="0"/>
              </a:spcBef>
              <a:spcAft>
                <a:spcPts val="0"/>
              </a:spcAft>
              <a:buFont typeface="Courier New" panose="02070309020205020404" pitchFamily="49" charset="0"/>
              <a:buChar char="o"/>
            </a:pPr>
            <a:r>
              <a:rPr lang="en-US" sz="1100" dirty="0">
                <a:effectLst/>
                <a:latin typeface="+mn-lt"/>
                <a:ea typeface="Calibri" panose="020F0502020204030204" pitchFamily="34" charset="0"/>
                <a:cs typeface="Calibri" panose="020F0502020204030204" pitchFamily="34" charset="0"/>
              </a:rPr>
              <a:t>Machine learning</a:t>
            </a:r>
            <a:endParaRPr lang="en-US" sz="1100" dirty="0">
              <a:effectLst/>
              <a:latin typeface="+mn-lt"/>
              <a:ea typeface="Calibri" panose="020F0502020204030204" pitchFamily="34" charset="0"/>
            </a:endParaRPr>
          </a:p>
          <a:p>
            <a:pPr marL="628650" marR="0" lvl="1" indent="-171450">
              <a:lnSpc>
                <a:spcPct val="115000"/>
              </a:lnSpc>
              <a:spcBef>
                <a:spcPts val="0"/>
              </a:spcBef>
              <a:spcAft>
                <a:spcPts val="0"/>
              </a:spcAft>
              <a:buFont typeface="Courier New" panose="02070309020205020404" pitchFamily="49" charset="0"/>
              <a:buChar char="o"/>
            </a:pPr>
            <a:r>
              <a:rPr lang="en-US" sz="1100" dirty="0">
                <a:effectLst/>
                <a:latin typeface="+mn-lt"/>
                <a:ea typeface="Calibri" panose="020F0502020204030204" pitchFamily="34" charset="0"/>
                <a:cs typeface="Calibri" panose="020F0502020204030204" pitchFamily="34" charset="0"/>
              </a:rPr>
              <a:t>Natural language processing</a:t>
            </a:r>
            <a:endParaRPr lang="en-US" sz="1100" dirty="0">
              <a:effectLst/>
              <a:latin typeface="+mn-lt"/>
              <a:ea typeface="Calibri" panose="020F0502020204030204" pitchFamily="34" charset="0"/>
            </a:endParaRPr>
          </a:p>
          <a:p>
            <a:pPr marL="628650" marR="0" lvl="1" indent="-171450">
              <a:lnSpc>
                <a:spcPct val="115000"/>
              </a:lnSpc>
              <a:spcBef>
                <a:spcPts val="0"/>
              </a:spcBef>
              <a:spcAft>
                <a:spcPts val="0"/>
              </a:spcAft>
              <a:buFont typeface="Courier New" panose="02070309020205020404" pitchFamily="49" charset="0"/>
              <a:buChar char="o"/>
            </a:pPr>
            <a:r>
              <a:rPr lang="en-US" sz="1100" dirty="0">
                <a:effectLst/>
                <a:latin typeface="+mn-lt"/>
                <a:ea typeface="Calibri" panose="020F0502020204030204" pitchFamily="34" charset="0"/>
                <a:cs typeface="Calibri" panose="020F0502020204030204" pitchFamily="34" charset="0"/>
              </a:rPr>
              <a:t>Computer vision systems</a:t>
            </a:r>
            <a:endParaRPr lang="en-US" sz="1100" dirty="0">
              <a:effectLst/>
              <a:latin typeface="+mn-lt"/>
              <a:ea typeface="Calibri" panose="020F0502020204030204" pitchFamily="34" charset="0"/>
            </a:endParaRPr>
          </a:p>
          <a:p>
            <a:pPr marL="628650" marR="0" lvl="1" indent="-171450">
              <a:lnSpc>
                <a:spcPct val="115000"/>
              </a:lnSpc>
              <a:spcBef>
                <a:spcPts val="0"/>
              </a:spcBef>
              <a:spcAft>
                <a:spcPts val="0"/>
              </a:spcAft>
              <a:buFont typeface="Courier New" panose="02070309020205020404" pitchFamily="49" charset="0"/>
              <a:buChar char="o"/>
            </a:pPr>
            <a:r>
              <a:rPr lang="en-US" sz="1100" dirty="0">
                <a:effectLst/>
                <a:latin typeface="+mn-lt"/>
                <a:ea typeface="Calibri" panose="020F0502020204030204" pitchFamily="34" charset="0"/>
                <a:cs typeface="Calibri" panose="020F0502020204030204" pitchFamily="34" charset="0"/>
              </a:rPr>
              <a:t>Robotics</a:t>
            </a:r>
            <a:endParaRPr lang="en-US" sz="1100" dirty="0">
              <a:effectLst/>
              <a:latin typeface="+mn-lt"/>
              <a:ea typeface="Calibri" panose="020F0502020204030204" pitchFamily="34" charset="0"/>
            </a:endParaRPr>
          </a:p>
          <a:p>
            <a:pPr marL="628650" marR="0" lvl="1" indent="-171450">
              <a:lnSpc>
                <a:spcPct val="115000"/>
              </a:lnSpc>
              <a:spcBef>
                <a:spcPts val="0"/>
              </a:spcBef>
              <a:spcAft>
                <a:spcPts val="0"/>
              </a:spcAft>
              <a:buFont typeface="Courier New" panose="02070309020205020404" pitchFamily="49" charset="0"/>
              <a:buChar char="o"/>
            </a:pPr>
            <a:r>
              <a:rPr lang="en-US" sz="1100" dirty="0">
                <a:effectLst/>
                <a:latin typeface="+mn-lt"/>
                <a:ea typeface="Calibri" panose="020F0502020204030204" pitchFamily="34" charset="0"/>
                <a:cs typeface="Calibri" panose="020F0502020204030204" pitchFamily="34" charset="0"/>
              </a:rPr>
              <a:t>Genetic algorithms</a:t>
            </a:r>
          </a:p>
          <a:p>
            <a:pPr marL="628650" marR="0" lvl="1" indent="-171450">
              <a:lnSpc>
                <a:spcPct val="115000"/>
              </a:lnSpc>
              <a:spcBef>
                <a:spcPts val="0"/>
              </a:spcBef>
              <a:spcAft>
                <a:spcPts val="0"/>
              </a:spcAft>
              <a:buFont typeface="Courier New" panose="02070309020205020404" pitchFamily="49" charset="0"/>
              <a:buChar char="o"/>
            </a:pPr>
            <a:r>
              <a:rPr lang="en-US" sz="1100" dirty="0">
                <a:solidFill>
                  <a:srgbClr val="000000"/>
                </a:solidFill>
                <a:effectLst/>
                <a:latin typeface="+mn-lt"/>
                <a:ea typeface="Times New Roman" panose="02020603050405020304" pitchFamily="18" charset="0"/>
              </a:rPr>
              <a:t>Intelligent agents.</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17689554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dirty="0">
                <a:latin typeface="+mn-lt"/>
              </a:rPr>
              <a:t>The grand</a:t>
            </a:r>
            <a:r>
              <a:rPr lang="en-US" sz="1200" baseline="0" dirty="0">
                <a:latin typeface="+mn-lt"/>
              </a:rPr>
              <a:t> vision of AI is very different from the reality of AI. </a:t>
            </a:r>
            <a:r>
              <a:rPr lang="en-US" sz="1200" dirty="0">
                <a:solidFill>
                  <a:srgbClr val="000000"/>
                </a:solidFill>
                <a:latin typeface="+mn-lt"/>
              </a:rPr>
              <a:t>You should point out to students that artificial intelligence is not the same as human intelligence. While there are many tasks currently performed by humans that can be performed by machines, and sometimes much better (faster, more comprehensive, etc.) than humans, human intelligence is much more generalized, and powerful in many respects. Google’s search engine does something humans cannot do: search several billion websites in response to a query in just milliseconds. Humans, however, know what to search for. There are self-driving cars, but they don’t know where to drive unless directed by a human being. The human brain contains an estimated 100 billion neural cells, each with over 10,000 synapse connections to other cells. It operates on 7 watts of energy (the entire body uses 25 watts). Currently, scientists do not understand how the brain works at the microbiological or neural level. There are no computing systems in the foreseeable future that will come close to this level of computing power. IBM’s Watson AI system used 200,000 watts of electricity when playing Jeopardy.  </a:t>
            </a:r>
          </a:p>
          <a:p>
            <a:endParaRPr lang="en-US" sz="1200" dirty="0">
              <a:solidFill>
                <a:srgbClr val="000000"/>
              </a:solidFill>
              <a:latin typeface="+mn-lt"/>
            </a:endParaRPr>
          </a:p>
          <a:p>
            <a:r>
              <a:rPr lang="en-US" sz="1200" dirty="0">
                <a:solidFill>
                  <a:srgbClr val="000000"/>
                </a:solidFill>
                <a:latin typeface="+mn-lt"/>
              </a:rPr>
              <a:t>So try to dispel the popular ideas about AI or robots taking over the world! All of these techniques are useful tools, but not replacements for human intelligence. They generally amplify human intelligence.</a:t>
            </a:r>
          </a:p>
          <a:p>
            <a:endParaRPr lang="en-US" sz="1200" dirty="0">
              <a:solidFill>
                <a:prstClr val="black"/>
              </a:solidFill>
              <a:latin typeface="+mn-lt"/>
            </a:endParaRPr>
          </a:p>
          <a:p>
            <a:r>
              <a:rPr lang="en-US" sz="1200" baseline="0" dirty="0">
                <a:latin typeface="+mn-lt"/>
              </a:rPr>
              <a:t>.</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dirty="0">
                <a:latin typeface="+mn-lt"/>
              </a:rPr>
              <a:t>This slide lists the major types of AI. Each type is discussed in more detail in the following slides.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describes expert systems, one type of intelligent technique. Ask students why expert systems are best used in highly structured decision-making situations. Ask students to provide an example of a decision that could not be solved by an expert system. Choice of music, potential spouses or mates, new product decisions, or designing a new marketing campaign might be good examples of poorly structured decision situations.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also describes how expert systems work. Their key elements are their knowledge base and their inference engine. Ask students to demonstrate an understanding of the difference between forward chaining and backward chaining. For example, given a hypothesized expert system to determine what to make for dinner, what would an inference engine with forward chaining begin with? (Example, is there chicken? Is there beef? Is there broccoli, etc.? What are all the ingredients available and what could be made from them?) What would an inference with backward chaining begin with? (We are making chicken with broccoli. Do we have the ingredients?)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495801"/>
          </a:xfrm>
        </p:spPr>
        <p:txBody>
          <a:bodyPr>
            <a:normAutofit fontScale="850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11.3,</a:t>
            </a:r>
            <a:r>
              <a:rPr lang="en-US" altLang="en-US" baseline="0" dirty="0"/>
              <a:t> Page 427.</a:t>
            </a:r>
          </a:p>
          <a:p>
            <a:r>
              <a:rPr lang="en-US" sz="1200" b="0" i="1" u="none" strike="noStrike" kern="1200" cap="none" baseline="0" dirty="0">
                <a:solidFill>
                  <a:schemeClr val="tx1"/>
                </a:solidFill>
                <a:latin typeface="+mn-lt"/>
                <a:ea typeface="Arial"/>
                <a:cs typeface="Arial"/>
                <a:sym typeface="Arial"/>
              </a:rPr>
              <a:t>An expert system contains a number of rules to be followed. The rules are interconnected, the number of outcomes is known in advance and is limited, there are multiple paths to the same outcome, and the system can consider multiple rules at a single time. The rules illustrated are for simple credit-granting expert systems.</a:t>
            </a:r>
          </a:p>
          <a:p>
            <a:endParaRPr lang="en-US" altLang="en-US" sz="1200" b="0" i="0" u="none" strike="noStrike" kern="1200" cap="none" baseline="0" dirty="0">
              <a:solidFill>
                <a:schemeClr val="tx1"/>
              </a:solidFill>
              <a:latin typeface="+mn-lt"/>
              <a:ea typeface="Arial"/>
              <a:cs typeface="Arial"/>
              <a:sym typeface="Arial"/>
            </a:endParaRPr>
          </a:p>
          <a:p>
            <a:pPr eaLnBrk="1" hangingPunct="1"/>
            <a:r>
              <a:rPr lang="en-US" altLang="en-US" dirty="0"/>
              <a:t>This graphic illustrates the use of if/then rules in an expert system. Ask students to demonstrate an understanding of if/then rules, by analyzing a common decision as a series of if/then statements; for example, the decision to accept an invitation to socialize on a weeknight, or the decision of what to make for dinner.</a:t>
            </a:r>
          </a:p>
          <a:p>
            <a:pPr eaLnBrk="1" hangingPunct="1"/>
            <a:endParaRPr lang="en-US" altLang="en-US" dirty="0"/>
          </a:p>
          <a:p>
            <a:pPr eaLnBrk="1" hangingPunct="1"/>
            <a:r>
              <a:rPr lang="en-US" altLang="en-US" u="sng" dirty="0"/>
              <a:t>Alt Text</a:t>
            </a:r>
          </a:p>
          <a:p>
            <a:pPr marL="0" marR="0">
              <a:lnSpc>
                <a:spcPct val="115000"/>
              </a:lnSpc>
              <a:spcBef>
                <a:spcPts val="0"/>
              </a:spcBef>
              <a:spcAft>
                <a:spcPts val="0"/>
              </a:spcAft>
            </a:pPr>
            <a:r>
              <a:rPr lang="en-US" altLang="en-US" sz="1200" dirty="0">
                <a:latin typeface="+mn-lt"/>
              </a:rPr>
              <a:t>Long description: A flowchart explains the rules in an expert system. </a:t>
            </a:r>
            <a:r>
              <a:rPr lang="en-US" sz="1200" dirty="0">
                <a:solidFill>
                  <a:srgbClr val="000000"/>
                </a:solidFill>
                <a:effectLst/>
                <a:latin typeface="+mn-lt"/>
                <a:ea typeface="Times New Roman" panose="02020603050405020304" pitchFamily="18" charset="0"/>
                <a:cs typeface="Calibri" panose="020F0502020204030204" pitchFamily="34" charset="0"/>
              </a:rPr>
              <a:t>The details of the expert system are as follows:</a:t>
            </a:r>
            <a:endParaRPr lang="en-US" sz="1200" dirty="0">
              <a:solidFill>
                <a:srgbClr val="000000"/>
              </a:solidFill>
              <a:effectLst/>
              <a:latin typeface="+mn-lt"/>
              <a:ea typeface="Times New Roman" panose="02020603050405020304" pitchFamily="18" charset="0"/>
            </a:endParaRPr>
          </a:p>
          <a:p>
            <a:pPr marL="342900" marR="0" lvl="0" indent="-34290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Process movement from stage A to stage B. If INC is greater than 50,000. Ask about car payments, else exit. </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Process movement from stage B to stage C. If car payment is greater than 10% of income. Ask about mortgage payment, else exit. </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Process movement from stage C to stage D. If mortgage payment is greater than 20% of income. Grant credit, else exit.</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Stage D. Grant credit line, move to Stage E from stage D. If stage D, ask about years employed. Process moves from stage E to stage F or stage G to stage H. </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Process movement from stage E to stage F. If years greater than or equal to 4 grant 10,000 line, else do G. </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Stage F. Limit 10,000. </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Process movement from stage G to stage H. If years less than 4. Ask about other debt. </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Process movement from stage H to F. If other debt is greater than 5% of the income do F, else do I. </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Stage I, limit 3000. </a:t>
            </a:r>
            <a:endParaRPr lang="en-US" sz="1200" dirty="0">
              <a:effectLst/>
              <a:latin typeface="+mn-lt"/>
              <a:ea typeface="Calibri" panose="020F0502020204030204" pitchFamily="34" charset="0"/>
            </a:endParaRPr>
          </a:p>
          <a:p>
            <a:pPr eaLnBrk="1" hangingPunct="1"/>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39210098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Ask students if they have used Netflix’s or Amazon’s recommender systems. How well did the recommender systems help them find other products to buy or movies to watch?</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18941288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neural networks. Ask students whether neural networks could be used in medical diagnosis? How would this work? To some extent, data mining techniques have replaced neural networks in situations requiring pattern recognition. For instance, credit card companies sift through mountains of transaction data to identify which charging patterns are unlikely for each and every charge card customer.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11.4,</a:t>
            </a:r>
            <a:r>
              <a:rPr lang="en-US" altLang="en-US" baseline="0" dirty="0"/>
              <a:t> Page 430.</a:t>
            </a:r>
          </a:p>
          <a:p>
            <a:r>
              <a:rPr lang="en-US" sz="1200" b="0" i="1" u="none" strike="noStrike" kern="1200" cap="none" baseline="0" dirty="0">
                <a:solidFill>
                  <a:schemeClr val="tx1"/>
                </a:solidFill>
                <a:latin typeface="+mn-lt"/>
                <a:ea typeface="Arial"/>
                <a:cs typeface="Arial"/>
                <a:sym typeface="Arial"/>
              </a:rPr>
              <a:t>A neural network uses rules it “learns” from patterns in data to construct a hidden layer of logic. The hidden layer then processes inputs, classifying them based on the experience of the model. In this example, the neural network has been trained to distinguish between valid and fraudulent credit card purchases.</a:t>
            </a:r>
          </a:p>
          <a:p>
            <a:endParaRPr lang="en-US" altLang="en-US" sz="1200" b="0" i="0" u="none" strike="noStrike" kern="1200" cap="none" baseline="0" dirty="0">
              <a:solidFill>
                <a:schemeClr val="tx1"/>
              </a:solidFill>
              <a:latin typeface="+mn-lt"/>
              <a:ea typeface="Arial"/>
              <a:cs typeface="Arial"/>
              <a:sym typeface="Arial"/>
            </a:endParaRPr>
          </a:p>
          <a:p>
            <a:pPr eaLnBrk="1" hangingPunct="1"/>
            <a:r>
              <a:rPr lang="en-US" altLang="en-US" dirty="0"/>
              <a:t>This graphic illustrates how a neural network works—by using an internal, hidden layer of logic that examines existing data and assigning a classification to that set of data. For example, given one or more specific combinations of age, income, purchase history, frequency of purchases, and average purchase size, a neural network might determine that a new credit card purchase was likely to be fraudulent. What are the benefits and drawbacks of using this type of technique?</a:t>
            </a:r>
          </a:p>
          <a:p>
            <a:pPr eaLnBrk="1" hangingPunct="1"/>
            <a:endParaRPr lang="en-US" altLang="en-US" sz="1200" dirty="0">
              <a:latin typeface="+mn-lt"/>
            </a:endParaRPr>
          </a:p>
          <a:p>
            <a:pPr marL="0" marR="0">
              <a:lnSpc>
                <a:spcPct val="115000"/>
              </a:lnSpc>
              <a:spcBef>
                <a:spcPts val="0"/>
              </a:spcBef>
              <a:spcAft>
                <a:spcPts val="0"/>
              </a:spcAft>
            </a:pPr>
            <a:r>
              <a:rPr lang="en-US" altLang="en-US" sz="1200" u="sng" dirty="0">
                <a:latin typeface="+mn-lt"/>
              </a:rPr>
              <a:t>Alt Text</a:t>
            </a:r>
          </a:p>
          <a:p>
            <a:pPr marL="0" marR="0">
              <a:lnSpc>
                <a:spcPct val="115000"/>
              </a:lnSpc>
              <a:spcBef>
                <a:spcPts val="0"/>
              </a:spcBef>
              <a:spcAft>
                <a:spcPts val="0"/>
              </a:spcAft>
            </a:pPr>
            <a:r>
              <a:rPr lang="en-US" altLang="en-US" sz="1200" dirty="0">
                <a:latin typeface="+mn-lt"/>
              </a:rPr>
              <a:t>Long description: A neural network diagram explains how data from various layers gives results. </a:t>
            </a:r>
            <a:r>
              <a:rPr lang="en-US" sz="1200" dirty="0">
                <a:solidFill>
                  <a:srgbClr val="000000"/>
                </a:solidFill>
                <a:effectLst/>
                <a:latin typeface="+mn-lt"/>
                <a:ea typeface="Times New Roman" panose="02020603050405020304" pitchFamily="18" charset="0"/>
                <a:cs typeface="Calibri" panose="020F0502020204030204" pitchFamily="34" charset="0"/>
              </a:rPr>
              <a:t>The details are as below:</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Data like age, income, purchase history, frequency of purchases, and average purchase size passes through the nodes of input layers.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These nodes are interconnected to various nodes in the hidden layer. These nodes are interconnected to the nodes in the output layer to give results. There are four nodes in the output layer, three in the hidden layer, and two in output layer.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The results include valid and fraudulent purchases.  </a:t>
            </a:r>
            <a:endParaRPr lang="en-US" sz="1200" dirty="0">
              <a:solidFill>
                <a:srgbClr val="000000"/>
              </a:solidFill>
              <a:effectLst/>
              <a:latin typeface="+mn-lt"/>
              <a:ea typeface="Times New Roman" panose="02020603050405020304" pitchFamily="18" charset="0"/>
            </a:endParaRPr>
          </a:p>
          <a:p>
            <a:pPr eaLnBrk="1" hangingPunct="1"/>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27225189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29072163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11.5,</a:t>
            </a:r>
            <a:r>
              <a:rPr lang="en-US" altLang="en-US" baseline="0" dirty="0"/>
              <a:t> Page 433.</a:t>
            </a:r>
          </a:p>
          <a:p>
            <a:r>
              <a:rPr lang="en-US" sz="1200" b="0" i="1" u="none" strike="noStrike" kern="1200" cap="none" baseline="0" dirty="0">
                <a:solidFill>
                  <a:schemeClr val="dk1"/>
                </a:solidFill>
                <a:latin typeface="+mn-lt"/>
                <a:ea typeface="Arial"/>
                <a:cs typeface="Arial"/>
                <a:sym typeface="Arial"/>
              </a:rPr>
              <a:t>Deep learning networks consist of many layers of neural networks working in a hierarchical fashion to detect patterns. Shown here is an expanded look at layer 1. Other layers have the same structure.</a:t>
            </a:r>
          </a:p>
          <a:p>
            <a:endParaRPr lang="en-US" altLang="en-US" sz="1200" b="0" i="0" u="none" strike="noStrike" kern="1200" cap="none" baseline="0" dirty="0">
              <a:solidFill>
                <a:schemeClr val="dk1"/>
              </a:solidFill>
              <a:latin typeface="+mn-lt"/>
              <a:cs typeface="Arial"/>
              <a:sym typeface="Arial"/>
            </a:endParaRPr>
          </a:p>
          <a:p>
            <a:pPr marL="0" marR="0">
              <a:lnSpc>
                <a:spcPct val="115000"/>
              </a:lnSpc>
              <a:spcBef>
                <a:spcPts val="0"/>
              </a:spcBef>
              <a:spcAft>
                <a:spcPts val="0"/>
              </a:spcAft>
            </a:pPr>
            <a:r>
              <a:rPr lang="en-US" altLang="en-US" sz="1200" b="0" i="0" u="sng" strike="noStrike" kern="1200" cap="none" baseline="0" dirty="0">
                <a:solidFill>
                  <a:schemeClr val="dk1"/>
                </a:solidFill>
                <a:latin typeface="+mn-lt"/>
                <a:cs typeface="Arial"/>
                <a:sym typeface="Arial"/>
              </a:rPr>
              <a:t>Alt Text</a:t>
            </a:r>
          </a:p>
          <a:p>
            <a:pPr marL="0" marR="0">
              <a:lnSpc>
                <a:spcPct val="115000"/>
              </a:lnSpc>
              <a:spcBef>
                <a:spcPts val="0"/>
              </a:spcBef>
              <a:spcAft>
                <a:spcPts val="0"/>
              </a:spcAft>
            </a:pPr>
            <a:r>
              <a:rPr lang="en-US" altLang="en-US" sz="1200" b="0" i="0" u="none" strike="noStrike" kern="1200" cap="none" baseline="0" dirty="0">
                <a:solidFill>
                  <a:schemeClr val="dk1"/>
                </a:solidFill>
                <a:latin typeface="+mn-lt"/>
                <a:cs typeface="Arial"/>
                <a:sym typeface="Arial"/>
              </a:rPr>
              <a:t>Long description: An illustration explains an exploded view of a 3-layered neural network diagram. </a:t>
            </a:r>
            <a:r>
              <a:rPr lang="en-US" sz="1200" dirty="0">
                <a:solidFill>
                  <a:srgbClr val="000000"/>
                </a:solidFill>
                <a:effectLst/>
                <a:latin typeface="+mn-lt"/>
                <a:ea typeface="Times New Roman" panose="02020603050405020304" pitchFamily="18" charset="0"/>
                <a:cs typeface="Calibri" panose="020F0502020204030204" pitchFamily="34" charset="0"/>
              </a:rPr>
              <a:t>The details from top-down are as follows:</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Layer 3 and layer 2 resemble two equilateral triangles.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Layer 1 consists of several nodes and connectors. The nodes are depicted by circles and the connectors are depicted by lines.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endParaRPr lang="en-US" sz="1200" dirty="0">
              <a:solidFill>
                <a:srgbClr val="000000"/>
              </a:solidFill>
              <a:effectLst/>
              <a:latin typeface="+mn-lt"/>
              <a:ea typeface="Times New Roman" panose="02020603050405020304" pitchFamily="18" charset="0"/>
              <a:cs typeface="Calibri" panose="020F0502020204030204" pitchFamily="34"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At the input level several nodes are connected to the nodes in level 1. The feature here is lines. Similarly, the nodes in level 1 are connected to the nodes in level 2. The feature here is circles. At the output level the nodes from the level 2 connect to the nodes in the output level. Medium level feature pattern is facial shape at this level. </a:t>
            </a:r>
            <a:endParaRPr lang="en-US" sz="1200" dirty="0">
              <a:solidFill>
                <a:srgbClr val="000000"/>
              </a:solidFill>
              <a:effectLst/>
              <a:latin typeface="+mn-lt"/>
              <a:ea typeface="Times New Roman" panose="02020603050405020304" pitchFamily="18" charset="0"/>
            </a:endParaRPr>
          </a:p>
          <a:p>
            <a:r>
              <a:rPr lang="en-US" sz="1200" dirty="0">
                <a:solidFill>
                  <a:srgbClr val="000000"/>
                </a:solidFill>
                <a:effectLst/>
                <a:latin typeface="+mn-lt"/>
                <a:ea typeface="Times New Roman" panose="02020603050405020304" pitchFamily="18" charset="0"/>
              </a:rPr>
              <a:t>The nodes appear to be declining at each level, while appearing to take the shape of a triangle. </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40065799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41555438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another type of intelligent technique—genetic algorithms. Ask students whether genetic algorithms might be useful in medical diagnosis. Why or why not? Ask students to differentiate between the various intelligent techniques discussed this far—expert systems, neural networks, and genetic algorithms.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11.6,</a:t>
            </a:r>
            <a:r>
              <a:rPr lang="en-US" altLang="en-US" baseline="0" dirty="0"/>
              <a:t> Page 434.</a:t>
            </a:r>
          </a:p>
          <a:p>
            <a:r>
              <a:rPr lang="en-US" sz="1200" b="0" i="1" u="none" strike="noStrike" kern="1200" cap="none" baseline="0" dirty="0">
                <a:solidFill>
                  <a:schemeClr val="tx1"/>
                </a:solidFill>
                <a:latin typeface="+mn-lt"/>
                <a:ea typeface="Arial"/>
                <a:cs typeface="Arial"/>
                <a:sym typeface="Arial"/>
              </a:rPr>
              <a:t>This example illustrates an initial population of “chromosomes,” each representing a different solution. The genetic algorithm uses an iterative process to refine the initial solutions so that the better ones, those with the higher fitness, are more likely to emerge as the best solution.</a:t>
            </a:r>
          </a:p>
          <a:p>
            <a:endParaRPr lang="en-US" altLang="en-US" sz="1200" b="0" i="0" u="none" strike="noStrike" kern="1200" cap="none" baseline="0" dirty="0">
              <a:solidFill>
                <a:schemeClr val="tx1"/>
              </a:solidFill>
              <a:latin typeface="+mn-lt"/>
              <a:ea typeface="Arial"/>
              <a:cs typeface="Arial"/>
              <a:sym typeface="Arial"/>
            </a:endParaRPr>
          </a:p>
          <a:p>
            <a:pPr eaLnBrk="1" hangingPunct="1"/>
            <a:r>
              <a:rPr lang="en-US" altLang="en-US" dirty="0"/>
              <a:t>This graphic illustrates the components of a genetic algorithm—</a:t>
            </a:r>
            <a:r>
              <a:rPr lang="ja-JP" altLang="en-US" dirty="0"/>
              <a:t>“</a:t>
            </a:r>
            <a:r>
              <a:rPr lang="en-US" altLang="ja-JP" dirty="0"/>
              <a:t>chromosomes</a:t>
            </a:r>
            <a:r>
              <a:rPr lang="ja-JP" altLang="en-US" dirty="0"/>
              <a:t>”</a:t>
            </a:r>
            <a:r>
              <a:rPr lang="en-US" altLang="ja-JP" dirty="0"/>
              <a:t>, each with a variety of characteristics that can be compared for overall fitness in a given situation. Ask students what types of problems genetic algorithms are suited for.</a:t>
            </a:r>
          </a:p>
          <a:p>
            <a:pPr eaLnBrk="1" hangingPunct="1"/>
            <a:endParaRPr lang="en-US" altLang="en-US" dirty="0"/>
          </a:p>
          <a:p>
            <a:pPr marL="0" marR="0">
              <a:lnSpc>
                <a:spcPct val="115000"/>
              </a:lnSpc>
              <a:spcBef>
                <a:spcPts val="0"/>
              </a:spcBef>
              <a:spcAft>
                <a:spcPts val="0"/>
              </a:spcAft>
            </a:pPr>
            <a:r>
              <a:rPr lang="en-US" altLang="en-US" sz="1200" u="sng" dirty="0">
                <a:latin typeface="+mn-lt"/>
              </a:rPr>
              <a:t>Alt Text</a:t>
            </a:r>
          </a:p>
          <a:p>
            <a:pPr marL="0" marR="0">
              <a:lnSpc>
                <a:spcPct val="115000"/>
              </a:lnSpc>
              <a:spcBef>
                <a:spcPts val="0"/>
              </a:spcBef>
              <a:spcAft>
                <a:spcPts val="0"/>
              </a:spcAft>
            </a:pPr>
            <a:r>
              <a:rPr lang="en-US" altLang="en-US" sz="1200" dirty="0">
                <a:latin typeface="+mn-lt"/>
              </a:rPr>
              <a:t>Long description: An illustration explains the concept of a genetic algorithm. </a:t>
            </a:r>
            <a:r>
              <a:rPr lang="en-US" sz="1200" dirty="0">
                <a:solidFill>
                  <a:srgbClr val="000000"/>
                </a:solidFill>
                <a:effectLst/>
                <a:latin typeface="+mn-lt"/>
                <a:ea typeface="Times New Roman" panose="02020603050405020304" pitchFamily="18" charset="0"/>
                <a:cs typeface="Calibri" panose="020F0502020204030204" pitchFamily="34" charset="0"/>
              </a:rPr>
              <a:t>The details pertaining to the population, decoding, and evaluation of chromosomes is given below:</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110110: Length, long; Width, wide; Weight, light; Fitness, 55.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101000: Length, short; Width, narrow; Weight, heavy; Fitness, 49.</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000101: Length, long; Width, narrow; Weight, heavy; Fitness, 36.</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101101: Length, short; Width, medium; Weight, light; Fitness, 61.</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010101: Length, long; Width, medium; Weight, very light; Fitness, 74.</a:t>
            </a:r>
            <a:endParaRPr lang="en-US" sz="1200" dirty="0">
              <a:effectLst/>
              <a:latin typeface="+mn-lt"/>
              <a:ea typeface="Calibri" panose="020F0502020204030204" pitchFamily="34" charset="0"/>
            </a:endParaRPr>
          </a:p>
          <a:p>
            <a:pPr eaLnBrk="1" hangingPunct="1"/>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9074231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Ask</a:t>
            </a:r>
            <a:r>
              <a:rPr lang="en-US" baseline="0" dirty="0"/>
              <a:t> students to describe their experiences using digital assistants like </a:t>
            </a:r>
            <a:r>
              <a:rPr lang="en-US" baseline="0" dirty="0" err="1"/>
              <a:t>Siri</a:t>
            </a:r>
            <a:r>
              <a:rPr lang="en-US" baseline="0" dirty="0"/>
              <a:t>, </a:t>
            </a:r>
            <a:r>
              <a:rPr lang="en-US" baseline="0" dirty="0" err="1"/>
              <a:t>Alexa</a:t>
            </a:r>
            <a:r>
              <a:rPr lang="en-US" baseline="0" dirty="0"/>
              <a:t>, or </a:t>
            </a:r>
            <a:r>
              <a:rPr lang="en-US" baseline="0" dirty="0" err="1"/>
              <a:t>Cortana</a:t>
            </a:r>
            <a:r>
              <a:rPr lang="en-US" baseline="0" dirty="0"/>
              <a: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Can computer vision systems detect</a:t>
            </a:r>
            <a:r>
              <a:rPr lang="en-US" baseline="0" dirty="0"/>
              <a:t> an imposter using makeup, or a recently grown beard? Or when people age and their faces change, can  they be recognized by a computer vision system?</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Ask students</a:t>
            </a:r>
            <a:r>
              <a:rPr lang="en-US" baseline="0" dirty="0"/>
              <a:t> to  recount any experiences they have had with robots in industry or in their homes.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sz="1200" dirty="0"/>
              <a:t>This slide discusses the use of intelligent agents to carry out repetitive tasks for a user or system. Shopping bots are an example of an intelligent agent. As an example of agent-based modeling, Procter &amp; Gamble used agent-based modeling to improve coordination among supply-chain members. </a:t>
            </a:r>
            <a:r>
              <a:rPr lang="en-US" altLang="en-US" sz="1200" dirty="0" err="1"/>
              <a:t>Siri</a:t>
            </a:r>
            <a:r>
              <a:rPr lang="en-US" altLang="en-US" sz="1200" dirty="0"/>
              <a:t>, Apple’s “intelligent assistant,” is an example of a software program that can assist users in searching for content and answers to questions with a natural language interface. How many students have used </a:t>
            </a:r>
            <a:r>
              <a:rPr lang="en-US" altLang="en-US" sz="1200" dirty="0" err="1"/>
              <a:t>Siri</a:t>
            </a:r>
            <a:r>
              <a:rPr lang="en-US" altLang="en-US" sz="1200" dirty="0"/>
              <a:t>? What for?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11.7,</a:t>
            </a:r>
            <a:r>
              <a:rPr lang="en-US" altLang="en-US" baseline="0" dirty="0"/>
              <a:t> Page 439.</a:t>
            </a:r>
          </a:p>
          <a:p>
            <a:r>
              <a:rPr lang="en-US" sz="1200" b="0" i="1" u="none" strike="noStrike" kern="1200" cap="none" baseline="0" dirty="0">
                <a:solidFill>
                  <a:schemeClr val="tx1"/>
                </a:solidFill>
                <a:latin typeface="+mn-lt"/>
                <a:ea typeface="Arial"/>
                <a:cs typeface="Arial"/>
                <a:sym typeface="Arial"/>
              </a:rPr>
              <a:t>Intelligent agents are helping P&amp;G shorten the replenishment cycles for products such as a box of Tide.</a:t>
            </a:r>
          </a:p>
          <a:p>
            <a:endParaRPr lang="en-US" altLang="en-US" sz="1200" b="0" i="0" u="none" strike="noStrike" kern="1200" cap="none" baseline="0" dirty="0">
              <a:solidFill>
                <a:schemeClr val="tx1"/>
              </a:solidFill>
              <a:latin typeface="+mn-lt"/>
              <a:ea typeface="Arial"/>
              <a:cs typeface="Arial"/>
              <a:sym typeface="Arial"/>
            </a:endParaRPr>
          </a:p>
          <a:p>
            <a:pPr eaLnBrk="1" hangingPunct="1"/>
            <a:r>
              <a:rPr lang="en-US" altLang="en-US" dirty="0"/>
              <a:t>This graphic illustrates Procter &amp; Gamble</a:t>
            </a:r>
            <a:r>
              <a:rPr lang="en-US" altLang="ja-JP" dirty="0"/>
              <a:t>’s use of intelligent agents in its supply chain network. Given that intelligent-agent modeling mimics the behavior of a number of </a:t>
            </a:r>
            <a:r>
              <a:rPr lang="ja-JP" altLang="en-US" dirty="0"/>
              <a:t>“</a:t>
            </a:r>
            <a:r>
              <a:rPr lang="en-US" altLang="ja-JP" dirty="0"/>
              <a:t>actors</a:t>
            </a:r>
            <a:r>
              <a:rPr lang="ja-JP" altLang="en-US" dirty="0"/>
              <a:t>”</a:t>
            </a:r>
            <a:r>
              <a:rPr lang="en-US" altLang="ja-JP" dirty="0"/>
              <a:t> in a given situation, what other types of situations might benefit from this type of analysis?</a:t>
            </a:r>
          </a:p>
          <a:p>
            <a:pPr eaLnBrk="1" hangingPunct="1"/>
            <a:endParaRPr lang="en-US" altLang="en-US" dirty="0"/>
          </a:p>
          <a:p>
            <a:pPr marL="0" marR="0">
              <a:lnSpc>
                <a:spcPct val="115000"/>
              </a:lnSpc>
              <a:spcBef>
                <a:spcPts val="0"/>
              </a:spcBef>
              <a:spcAft>
                <a:spcPts val="0"/>
              </a:spcAft>
            </a:pPr>
            <a:r>
              <a:rPr lang="en-US" altLang="en-US" sz="1200" u="sng" dirty="0">
                <a:latin typeface="+mn-lt"/>
              </a:rPr>
              <a:t>Alt Text</a:t>
            </a:r>
          </a:p>
          <a:p>
            <a:pPr marL="0" marR="0">
              <a:lnSpc>
                <a:spcPct val="115000"/>
              </a:lnSpc>
              <a:spcBef>
                <a:spcPts val="0"/>
              </a:spcBef>
              <a:spcAft>
                <a:spcPts val="0"/>
              </a:spcAft>
            </a:pPr>
            <a:r>
              <a:rPr lang="en-US" altLang="en-US" sz="1200" dirty="0">
                <a:latin typeface="+mn-lt"/>
              </a:rPr>
              <a:t>Long description: An illustration explains how software agents support in shortening the replenishment cycle. </a:t>
            </a:r>
            <a:r>
              <a:rPr lang="en-US" sz="1200" dirty="0">
                <a:solidFill>
                  <a:srgbClr val="000000"/>
                </a:solidFill>
                <a:effectLst/>
                <a:latin typeface="+mn-lt"/>
                <a:ea typeface="Times New Roman" panose="02020603050405020304" pitchFamily="18" charset="0"/>
                <a:cs typeface="Calibri" panose="020F0502020204030204" pitchFamily="34" charset="0"/>
              </a:rPr>
              <a:t>The supply chain of Proctor &amp; Gamble is as follows:</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The production facility is connected to various suppliers. Software agents schedule deliveries from suppliers. If a supplier can’t deliver on time, agents negotiate with other suppliers to create an alternative delivery schedule.</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The production facility is also connected to various retail stores. Software agents collect real-time sales data on each P&amp;G product from multiple retail stores. They relay the data to P&amp;G production for replenishing orders and to sales and marketing for trend analysis.</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The retail store is connected to the distributor. Software agents schedule shipments from distributors to retailers, giving priority to retailers whose inventories are low. If a shipment to a retailer is delayed, agents find an alternative trucker.</a:t>
            </a:r>
            <a:endParaRPr lang="en-US" sz="1200" dirty="0">
              <a:effectLst/>
              <a:latin typeface="+mn-lt"/>
              <a:ea typeface="Calibri" panose="020F0502020204030204" pitchFamily="34" charset="0"/>
            </a:endParaRPr>
          </a:p>
          <a:p>
            <a:pPr eaLnBrk="1" hangingPunct="1"/>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40759890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describes the three major kinds of knowledge that can be found in an enterprise and indicates that less formal knowledge may be just as critical as formal knowledge for organizations to store and share. Ask the students for other examples of </a:t>
            </a:r>
            <a:r>
              <a:rPr lang="en-US" altLang="en-US" dirty="0" err="1"/>
              <a:t>semistructured</a:t>
            </a:r>
            <a:r>
              <a:rPr lang="en-US" altLang="en-US" dirty="0"/>
              <a:t> and unstructured knowledge. Ask students for an example of tacit knowledge that is more important than structured knowledge such as a report.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the purpose and features of enterprise-wide content management systems. A first step in building such systems is describing a knowledge object (document) so that it can be found later by users. Companies must decide and implement classification schemes, or taxonomies, to define categories meaningful to users, and then knowledge objects must be assigned a classification (</a:t>
            </a:r>
            <a:r>
              <a:rPr lang="ja-JP" altLang="en-US" dirty="0"/>
              <a:t>“</a:t>
            </a:r>
            <a:r>
              <a:rPr lang="en-US" altLang="ja-JP" dirty="0"/>
              <a:t>tagged</a:t>
            </a:r>
            <a:r>
              <a:rPr lang="ja-JP" altLang="en-US" dirty="0"/>
              <a:t>”</a:t>
            </a:r>
            <a:r>
              <a:rPr lang="en-US" altLang="ja-JP" dirty="0"/>
              <a:t>) so that it can be retrieved. Ask students why different companies might need different taxonomies? Why is it a critical task and a difficult task in preparing for a successful content management system? Some content management systems specialize in managing digital media storage and classification. What types of firms may need these digital asset management systems? (publishers, advertisers, law firms, broadcasters, entertainment producers, etc.)</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486400" cy="4572000"/>
          </a:xfrm>
        </p:spPr>
        <p:txBody>
          <a:bodyPr>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11.8,</a:t>
            </a:r>
            <a:r>
              <a:rPr lang="en-US" altLang="en-US" baseline="0" dirty="0"/>
              <a:t> Page 440.</a:t>
            </a:r>
          </a:p>
          <a:p>
            <a:r>
              <a:rPr lang="en-US" sz="1200" b="0" i="1" u="none" strike="noStrike" kern="1200" cap="none" baseline="0" dirty="0">
                <a:solidFill>
                  <a:schemeClr val="tx1"/>
                </a:solidFill>
                <a:latin typeface="+mn-lt"/>
                <a:ea typeface="Arial"/>
                <a:cs typeface="Arial"/>
                <a:sym typeface="Arial"/>
              </a:rPr>
              <a:t>An enterprise content management system has capabilities for classifying, organizing, and managing structured and </a:t>
            </a:r>
            <a:r>
              <a:rPr lang="en-US" sz="1200" b="0" i="1" u="none" strike="noStrike" kern="1200" cap="none" baseline="0" dirty="0" err="1">
                <a:solidFill>
                  <a:schemeClr val="tx1"/>
                </a:solidFill>
                <a:latin typeface="+mn-lt"/>
                <a:ea typeface="Arial"/>
                <a:cs typeface="Arial"/>
                <a:sym typeface="Arial"/>
              </a:rPr>
              <a:t>semistructured</a:t>
            </a:r>
            <a:r>
              <a:rPr lang="en-US" sz="1200" b="0" i="1" u="none" strike="noStrike" kern="1200" cap="none" baseline="0" dirty="0">
                <a:solidFill>
                  <a:schemeClr val="tx1"/>
                </a:solidFill>
                <a:latin typeface="+mn-lt"/>
                <a:ea typeface="Arial"/>
                <a:cs typeface="Arial"/>
                <a:sym typeface="Arial"/>
              </a:rPr>
              <a:t> knowledge and making it available throughout the enterprise.</a:t>
            </a:r>
          </a:p>
          <a:p>
            <a:endParaRPr lang="en-US" altLang="en-US" sz="1200" b="0" i="0" u="none" strike="noStrike" kern="1200" cap="none" baseline="0" dirty="0">
              <a:solidFill>
                <a:schemeClr val="tx1"/>
              </a:solidFill>
              <a:latin typeface="+mn-lt"/>
              <a:ea typeface="Arial"/>
              <a:cs typeface="Arial"/>
              <a:sym typeface="Arial"/>
            </a:endParaRPr>
          </a:p>
          <a:p>
            <a:r>
              <a:rPr lang="en-US" altLang="en-US" dirty="0"/>
              <a:t>This graphic illustrates the functions of an enterprise content management system. Users interact with the system to both input knowledge, manage it, and distribute it. These management systems can house a wide variety of information types, from formal reports to graphics, as well as bring in external content resources such as news feeds. Ask students what types of documents would need to be stored by a hospital, bank, law firm, and so on.</a:t>
            </a:r>
          </a:p>
          <a:p>
            <a:endParaRPr lang="en-US" altLang="en-US" dirty="0"/>
          </a:p>
          <a:p>
            <a:pPr marL="0" marR="0">
              <a:lnSpc>
                <a:spcPct val="115000"/>
              </a:lnSpc>
              <a:spcBef>
                <a:spcPts val="0"/>
              </a:spcBef>
              <a:spcAft>
                <a:spcPts val="0"/>
              </a:spcAft>
            </a:pPr>
            <a:r>
              <a:rPr lang="en-US" altLang="en-US" sz="1200" u="sng" dirty="0">
                <a:latin typeface="+mn-lt"/>
              </a:rPr>
              <a:t>Alt Text</a:t>
            </a:r>
          </a:p>
          <a:p>
            <a:pPr marL="0" marR="0">
              <a:lnSpc>
                <a:spcPct val="115000"/>
              </a:lnSpc>
              <a:spcBef>
                <a:spcPts val="0"/>
              </a:spcBef>
              <a:spcAft>
                <a:spcPts val="0"/>
              </a:spcAft>
            </a:pPr>
            <a:r>
              <a:rPr lang="en-US" altLang="en-US" sz="1200" dirty="0">
                <a:latin typeface="+mn-lt"/>
              </a:rPr>
              <a:t>Long description: A linear flow diagram explains the concept of an enterprise content management system. </a:t>
            </a:r>
            <a:r>
              <a:rPr lang="en-US" sz="1200" dirty="0">
                <a:solidFill>
                  <a:srgbClr val="000000"/>
                </a:solidFill>
                <a:effectLst/>
                <a:latin typeface="+mn-lt"/>
                <a:ea typeface="Times New Roman" panose="02020603050405020304" pitchFamily="18" charset="0"/>
              </a:rPr>
              <a:t>The linear flow is as follows:</a:t>
            </a: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rPr>
              <a:t>The users are connected to the various processes, and these processes are in turn connected to a unified repository. </a:t>
            </a: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rPr>
              <a:t>The processes outlined in this flow diagram are: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Create or Capture</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Tag</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Store or Retrieve</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Manage or Review</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Distribute or Publish. </a:t>
            </a:r>
          </a:p>
          <a:p>
            <a:pPr marL="0" marR="0">
              <a:lnSpc>
                <a:spcPct val="115000"/>
              </a:lnSpc>
              <a:spcBef>
                <a:spcPts val="0"/>
              </a:spcBef>
              <a:spcAft>
                <a:spcPts val="0"/>
              </a:spcAft>
            </a:pP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rPr>
              <a:t>The repository includes the following: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Reports/presentations</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Best practices</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Memos</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Digital slides</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Email</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Graphics</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Video</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News feeds</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Wikis, blogs</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Employee profiles. </a:t>
            </a:r>
          </a:p>
          <a:p>
            <a:r>
              <a:rPr lang="en-US" sz="1200" dirty="0">
                <a:solidFill>
                  <a:srgbClr val="000000"/>
                </a:solidFill>
                <a:effectLst/>
                <a:latin typeface="+mn-lt"/>
                <a:ea typeface="Times New Roman" panose="02020603050405020304" pitchFamily="18" charset="0"/>
              </a:rPr>
              <a:t>The connection in the diagram is depicted by bidirectional arrows.</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val="7939717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Enterprise content management systems can include or consist of capabilities for the creation and management of unstructured knowledge. Ask the students to give examples of unstructured knowledge, given a type of industry or company: a law firm, an advertising firm, a school. What might be the difficulties in locating expertise in these firms? Contrast this network (crowd-centered) approach to a top-down structured knowledge management system.</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learning management systems, which enable companies to track and manage employee learning. Ask students what are the benefits and drawbacks of using an LMS with centralized reporting.</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knowledge work systems and identifies the importance of knowledge workers to an organization and its knowledge creation. Ask the students how knowledge workers can benefit an organization. Can all companies benefit from knowledge workers, or only design, science, and engineering firms?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sz="1200" dirty="0"/>
              <a:t>This slide continues the discussion of knowledge work systems, emphasizing the need of knowledge workers to have highly specialized knowledge work systems. Ask students to describe the reasons that these characteristics are important for a knowledge work system. What other types of information systems would a knowledge worker rely on, if any? (office systems, productivity systems, scheduling systems)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11.9,</a:t>
            </a:r>
            <a:r>
              <a:rPr lang="en-US" altLang="en-US" baseline="0" dirty="0"/>
              <a:t> Page 443.</a:t>
            </a:r>
          </a:p>
          <a:p>
            <a:r>
              <a:rPr lang="en-US" sz="1200" b="0" i="1" u="none" strike="noStrike" kern="1200" cap="none" baseline="0" dirty="0">
                <a:solidFill>
                  <a:schemeClr val="tx1"/>
                </a:solidFill>
                <a:latin typeface="+mn-lt"/>
                <a:ea typeface="Arial"/>
                <a:cs typeface="Arial"/>
                <a:sym typeface="Arial"/>
              </a:rPr>
              <a:t>Knowledge work systems require strong links to external knowledge bases in addition to specialized hardware and software.</a:t>
            </a:r>
          </a:p>
          <a:p>
            <a:endParaRPr lang="en-US" altLang="en-US" sz="1200" b="0" i="0" u="none" strike="noStrike" kern="1200" cap="none" baseline="0" dirty="0">
              <a:solidFill>
                <a:schemeClr val="tx1"/>
              </a:solidFill>
              <a:latin typeface="+mn-lt"/>
              <a:ea typeface="Arial"/>
              <a:cs typeface="Arial"/>
              <a:sym typeface="Arial"/>
            </a:endParaRPr>
          </a:p>
          <a:p>
            <a:pPr eaLnBrk="1" hangingPunct="1"/>
            <a:r>
              <a:rPr lang="en-US" altLang="en-US" dirty="0"/>
              <a:t>This graphic illustrates the main components of a knowledge workstation: having the need for both specialized software and hardware, access to external information, and an easy-to-use interface. What types of external knowledge might be valuable to an engineer, a financial analyst, a medical researcher?</a:t>
            </a:r>
          </a:p>
          <a:p>
            <a:pPr eaLnBrk="1" hangingPunct="1"/>
            <a:endParaRPr lang="en-US" altLang="en-US" dirty="0"/>
          </a:p>
          <a:p>
            <a:pPr marL="0" marR="0">
              <a:lnSpc>
                <a:spcPct val="115000"/>
              </a:lnSpc>
              <a:spcBef>
                <a:spcPts val="0"/>
              </a:spcBef>
              <a:spcAft>
                <a:spcPts val="0"/>
              </a:spcAft>
            </a:pPr>
            <a:r>
              <a:rPr lang="en-US" altLang="en-US" sz="1200" u="sng" dirty="0">
                <a:latin typeface="+mn-lt"/>
              </a:rPr>
              <a:t>Alt Text</a:t>
            </a:r>
          </a:p>
          <a:p>
            <a:pPr marL="0" marR="0">
              <a:lnSpc>
                <a:spcPct val="115000"/>
              </a:lnSpc>
              <a:spcBef>
                <a:spcPts val="0"/>
              </a:spcBef>
              <a:spcAft>
                <a:spcPts val="0"/>
              </a:spcAft>
            </a:pPr>
            <a:r>
              <a:rPr lang="en-US" altLang="en-US" sz="1200" dirty="0">
                <a:latin typeface="+mn-lt"/>
              </a:rPr>
              <a:t>Long description: An illustration explains the requirements of knowledge work systems. </a:t>
            </a:r>
            <a:r>
              <a:rPr lang="en-US" sz="1200" dirty="0">
                <a:solidFill>
                  <a:srgbClr val="000000"/>
                </a:solidFill>
                <a:effectLst/>
                <a:latin typeface="+mn-lt"/>
                <a:ea typeface="Times New Roman" panose="02020603050405020304" pitchFamily="18" charset="0"/>
                <a:cs typeface="Calibri" panose="020F0502020204030204" pitchFamily="34" charset="0"/>
              </a:rPr>
              <a:t>The external knowledge base and hardware platform are connected to the software. The software includes processes like: </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Graphics to Visualization</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Modeling to Simulation</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Document management</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Communications</a:t>
            </a:r>
            <a:endParaRPr lang="en-US" sz="1200" dirty="0">
              <a:effectLst/>
              <a:latin typeface="+mn-lt"/>
              <a:ea typeface="Calibri" panose="020F0502020204030204" pitchFamily="34" charset="0"/>
            </a:endParaRPr>
          </a:p>
          <a:p>
            <a:r>
              <a:rPr lang="en-US" sz="1200" dirty="0">
                <a:solidFill>
                  <a:srgbClr val="000000"/>
                </a:solidFill>
                <a:effectLst/>
                <a:latin typeface="+mn-lt"/>
                <a:ea typeface="Times New Roman" panose="02020603050405020304" pitchFamily="18" charset="0"/>
              </a:rPr>
              <a:t>All these processes are interconnected to user interface. The hardware platform includes the knowledge workstation. </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43</a:t>
            </a:fld>
            <a:endParaRPr lang="en-US" dirty="0"/>
          </a:p>
        </p:txBody>
      </p:sp>
    </p:spTree>
    <p:extLst>
      <p:ext uri="{BB962C8B-B14F-4D97-AF65-F5344CB8AC3E}">
        <p14:creationId xmlns:p14="http://schemas.microsoft.com/office/powerpoint/2010/main" val="386559881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describes types of knowledge work systems: CAD systems, virtual reality systems, and augmented reality (AR) systems. Ask students what the business value of providing a financial analyst, engineer, or researcher with an improved, specialized workstation would be. Can the value of implementing or upgrading work systems be quantified into a monetary value?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Note that augmented reality (AR) is a related technology for enhancing visualization. AR provides a live direct or indirect view of a physical real-world environment whose elements are augmented by virtual computer-generated imagery. The user is grounded in the real physical world, and the virtual images are merged with the real view to create the augmented display. What other industries might benefit from the use of virtual reality systems by their knowledge workers?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good opportunity for a class discussion of the</a:t>
            </a:r>
            <a:r>
              <a:rPr lang="en-US" baseline="0" dirty="0"/>
              <a:t> section on careers. Would any in the class be interested in a job like this? What do they think are the most important skills the employer is looking for? How would they answer the interviewer questions?</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46</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291465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ctrTitle"/>
          </p:nvPr>
        </p:nvSpPr>
        <p:spPr>
          <a:xfrm>
            <a:off x="685800" y="571501"/>
            <a:ext cx="7772400" cy="2128838"/>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2971800"/>
            <a:ext cx="7794626" cy="131445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8059F59F-FB98-4FED-99B2-A70EC4A8F04E}"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1" name="TextBox 10"/>
          <p:cNvSpPr txBox="1"/>
          <p:nvPr userDrawn="1"/>
        </p:nvSpPr>
        <p:spPr>
          <a:xfrm>
            <a:off x="2743200" y="4800601"/>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6"/>
            <a:ext cx="918000" cy="209936"/>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1"/>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1"/>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3600" y="4825796"/>
            <a:ext cx="918000" cy="209936"/>
          </a:xfrm>
          <a:prstGeom prst="rect">
            <a:avLst/>
          </a:prstGeom>
        </p:spPr>
      </p:pic>
      <p:sp>
        <p:nvSpPr>
          <p:cNvPr id="8" name="Text Placeholder 22"/>
          <p:cNvSpPr>
            <a:spLocks noGrp="1"/>
          </p:cNvSpPr>
          <p:nvPr>
            <p:ph type="body" sz="quarter" idx="16" hasCustomPrompt="1"/>
          </p:nvPr>
        </p:nvSpPr>
        <p:spPr>
          <a:xfrm>
            <a:off x="2834640" y="4800600"/>
            <a:ext cx="5928360" cy="205740"/>
          </a:xfrm>
        </p:spPr>
        <p:txBody>
          <a:bodyPr anchor="ctr"/>
          <a:lstStyle>
            <a:lvl1pPr marL="0" indent="0">
              <a:spcBef>
                <a:spcPts val="0"/>
              </a:spcBef>
              <a:buFontTx/>
              <a:buNone/>
              <a:defRPr sz="1200">
                <a:latin typeface="Verdana" pitchFamily="34" charset="0"/>
                <a:ea typeface="Verdana" pitchFamily="34" charset="0"/>
                <a:cs typeface="Verdana" pitchFamily="34" charset="0"/>
              </a:defRPr>
            </a:lvl1pPr>
          </a:lstStyle>
          <a:p>
            <a:pPr lvl="0"/>
            <a:r>
              <a:rPr lang="en-US" dirty="0"/>
              <a:t>Copyright</a:t>
            </a: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54A48385-1D0B-42FB-B607-FC57D5AC30A5}"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612322"/>
            <a:ext cx="8229600" cy="302078"/>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200151"/>
            <a:ext cx="8229600" cy="3394472"/>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4629151"/>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677DE938-FE75-4FCA-ADC8-9C18A622FD82}"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4810285"/>
            <a:ext cx="8595360" cy="248411"/>
          </a:xfrm>
        </p:spPr>
        <p:txBody>
          <a:bodyPr/>
          <a:lstStyle/>
          <a:p>
            <a:r>
              <a:rPr lang="en-US"/>
              <a:t>Copyright © 2022, 2020, 2018 Pearson Education, Ltd. All Rights Reserved</a:t>
            </a:r>
            <a:endParaRPr lang="en-US" dirty="0"/>
          </a:p>
        </p:txBody>
      </p:sp>
      <p:sp>
        <p:nvSpPr>
          <p:cNvPr id="9" name="Date Placeholder 3"/>
          <p:cNvSpPr>
            <a:spLocks noGrp="1"/>
          </p:cNvSpPr>
          <p:nvPr>
            <p:ph type="dt" sz="half" idx="10"/>
          </p:nvPr>
        </p:nvSpPr>
        <p:spPr>
          <a:xfrm>
            <a:off x="6335713" y="84804"/>
            <a:ext cx="2133600" cy="137160"/>
          </a:xfrm>
        </p:spPr>
        <p:txBody>
          <a:bodyPr/>
          <a:lstStyle/>
          <a:p>
            <a:fld id="{401BB476-6CB5-4B73-873B-CC7A6FF6D60A}" type="datetime1">
              <a:rPr lang="en-US" smtClean="0"/>
              <a:t>5/28/2021</a:t>
            </a:fld>
            <a:endParaRPr lang="en-US" dirty="0"/>
          </a:p>
        </p:txBody>
      </p:sp>
      <p:sp>
        <p:nvSpPr>
          <p:cNvPr id="10" name="Slide Number Placeholder 5"/>
          <p:cNvSpPr>
            <a:spLocks noGrp="1"/>
          </p:cNvSpPr>
          <p:nvPr>
            <p:ph type="sldNum" sz="quarter" idx="12"/>
          </p:nvPr>
        </p:nvSpPr>
        <p:spPr>
          <a:xfrm>
            <a:off x="8469313" y="84804"/>
            <a:ext cx="551783" cy="13716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256032" indent="-256032">
              <a:buClr>
                <a:srgbClr val="007FA3"/>
              </a:buClr>
              <a:buSzPct val="100000"/>
              <a:defRPr sz="2400"/>
            </a:lvl1pPr>
            <a:lvl2pPr marL="740664" indent="-283464">
              <a:buClr>
                <a:srgbClr val="007FA3"/>
              </a:buClr>
              <a:defRPr sz="2200"/>
            </a:lvl2pPr>
            <a:lvl3pPr>
              <a:buClr>
                <a:srgbClr val="007FA3"/>
              </a:buClr>
              <a:defRPr sz="2000"/>
            </a:lvl3pPr>
            <a:lvl4pPr>
              <a:buClr>
                <a:srgbClr val="007FA3"/>
              </a:buClr>
              <a:defRPr sz="18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4857750"/>
            <a:ext cx="8595360" cy="200946"/>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C672E5A8-36F2-4068-9113-CAE253142AC7}"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171450"/>
            <a:ext cx="8229600" cy="800100"/>
          </a:xfrm>
        </p:spPr>
        <p:txBody>
          <a:bodyPr anchor="t"/>
          <a:lstStyle>
            <a:lvl1pPr>
              <a:defRPr sz="36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4026120"/>
            <a:ext cx="8229600" cy="687642"/>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2EF304D2-50FF-4AE2-A61B-E7960F6955F3}" type="datetime1">
              <a:rPr lang="en-US" smtClean="0"/>
              <a:t>5/28/2021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800" y="4825796"/>
            <a:ext cx="918000" cy="209936"/>
          </a:xfrm>
          <a:prstGeom prst="rect">
            <a:avLst/>
          </a:prstGeom>
        </p:spPr>
      </p:pic>
      <p:sp>
        <p:nvSpPr>
          <p:cNvPr id="9" name="TextBox 8"/>
          <p:cNvSpPr txBox="1"/>
          <p:nvPr userDrawn="1"/>
        </p:nvSpPr>
        <p:spPr>
          <a:xfrm>
            <a:off x="2743200" y="4800601"/>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Ltd.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200151"/>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971801"/>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4857750"/>
            <a:ext cx="8595360" cy="200946"/>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5C6866A5-9EB7-40B3-8791-2FD08F6A743E}"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93969" y="4857750"/>
            <a:ext cx="8595360" cy="200946"/>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91BF69F1-9621-4247-993E-80CD3B036642}"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6" name="Title 7"/>
          <p:cNvSpPr>
            <a:spLocks noGrp="1"/>
          </p:cNvSpPr>
          <p:nvPr>
            <p:ph type="title"/>
          </p:nvPr>
        </p:nvSpPr>
        <p:spPr>
          <a:xfrm>
            <a:off x="457200" y="161529"/>
            <a:ext cx="8229600" cy="822960"/>
          </a:xfrm>
        </p:spPr>
        <p:txBody>
          <a:bodyPr/>
          <a:lstStyle/>
          <a:p>
            <a:r>
              <a:rPr lang="en-US" dirty="0"/>
              <a:t>Click to edit Master title style</a:t>
            </a:r>
          </a:p>
        </p:txBody>
      </p:sp>
      <p:sp>
        <p:nvSpPr>
          <p:cNvPr id="7" name="Content Placeholder 2"/>
          <p:cNvSpPr>
            <a:spLocks noGrp="1"/>
          </p:cNvSpPr>
          <p:nvPr>
            <p:ph idx="1"/>
          </p:nvPr>
        </p:nvSpPr>
        <p:spPr>
          <a:xfrm>
            <a:off x="457200" y="1200151"/>
            <a:ext cx="8229600" cy="685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idx="13"/>
          </p:nvPr>
        </p:nvSpPr>
        <p:spPr>
          <a:xfrm>
            <a:off x="457200" y="2000250"/>
            <a:ext cx="3886200" cy="1828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419600" y="2000250"/>
            <a:ext cx="4267200" cy="1828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085851"/>
            <a:ext cx="7772400" cy="1614488"/>
          </a:xfrm>
        </p:spPr>
        <p:txBody>
          <a:bodyPr anchor="b">
            <a:noAutofit/>
          </a:bodyPr>
          <a:lstStyle>
            <a:lvl1pPr algn="l">
              <a:defRPr sz="36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8" y="2971800"/>
            <a:ext cx="7794627" cy="131445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14" name="Date Placeholder 13"/>
          <p:cNvSpPr>
            <a:spLocks noGrp="1"/>
          </p:cNvSpPr>
          <p:nvPr>
            <p:ph type="dt" sz="half" idx="10"/>
          </p:nvPr>
        </p:nvSpPr>
        <p:spPr/>
        <p:txBody>
          <a:bodyPr/>
          <a:lstStyle/>
          <a:p>
            <a:fld id="{D9196C6A-943D-4E5A-91CB-85D46CC390E5}" type="datetime1">
              <a:rPr lang="en-US" smtClean="0"/>
              <a:t>5/28/2021</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a:xfrm>
            <a:off x="93969" y="4857750"/>
            <a:ext cx="8595360" cy="200946"/>
          </a:xfrm>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1440" y="4857750"/>
            <a:ext cx="8595360" cy="278558"/>
          </a:xfrm>
        </p:spPr>
        <p:txBody>
          <a:bodyPr/>
          <a:lstStyle/>
          <a:p>
            <a:r>
              <a:rPr lang="en-US"/>
              <a:t>Copyright © 2022, 2020, 2018 Pearson Education, Ltd. All Rights Reserved</a:t>
            </a:r>
            <a:endParaRPr lang="en-US" dirty="0"/>
          </a:p>
        </p:txBody>
      </p:sp>
      <p:sp>
        <p:nvSpPr>
          <p:cNvPr id="3" name="Date Placeholder 2"/>
          <p:cNvSpPr>
            <a:spLocks noGrp="1"/>
          </p:cNvSpPr>
          <p:nvPr>
            <p:ph type="dt" sz="half" idx="10"/>
          </p:nvPr>
        </p:nvSpPr>
        <p:spPr/>
        <p:txBody>
          <a:bodyPr/>
          <a:lstStyle/>
          <a:p>
            <a:fld id="{0B510270-D6BF-432C-A155-B62DE80E3A5E}"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0D80C3D9-5BCD-423F-906C-787793DC7A45}" type="datetime1">
              <a:rPr lang="en-US" smtClean="0"/>
              <a:t>5/28/2021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4825796"/>
            <a:ext cx="918000" cy="209936"/>
          </a:xfrm>
          <a:prstGeom prst="rect">
            <a:avLst/>
          </a:prstGeom>
        </p:spPr>
      </p:pic>
      <p:sp>
        <p:nvSpPr>
          <p:cNvPr id="11" name="TextBox 10"/>
          <p:cNvSpPr txBox="1"/>
          <p:nvPr userDrawn="1"/>
        </p:nvSpPr>
        <p:spPr>
          <a:xfrm>
            <a:off x="95799" y="4828541"/>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2017,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1"/>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1"/>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4624003"/>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323D9BE9-7F2E-4725-9306-115BD02DE41E}"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6"/>
            <a:ext cx="918000" cy="209936"/>
          </a:xfrm>
          <a:prstGeom prst="rect">
            <a:avLst/>
          </a:prstGeom>
        </p:spPr>
      </p:pic>
    </p:spTree>
    <p:extLst>
      <p:ext uri="{BB962C8B-B14F-4D97-AF65-F5344CB8AC3E}">
        <p14:creationId xmlns:p14="http://schemas.microsoft.com/office/powerpoint/2010/main" val="132180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6_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161529"/>
            <a:ext cx="8229600" cy="82295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70" y="4629150"/>
            <a:ext cx="8595359" cy="429546"/>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r>
              <a:rPr lang="en-US"/>
              <a:t>Copyright © 2022, 2020, 2018 Pearson Education, Ltd. All Rights Reserved</a:t>
            </a:r>
            <a:endParaRPr dirty="0"/>
          </a:p>
        </p:txBody>
      </p:sp>
      <p:sp>
        <p:nvSpPr>
          <p:cNvPr id="35" name="Shape 35"/>
          <p:cNvSpPr txBox="1">
            <a:spLocks noGrp="1"/>
          </p:cNvSpPr>
          <p:nvPr>
            <p:ph type="dt" idx="10"/>
          </p:nvPr>
        </p:nvSpPr>
        <p:spPr>
          <a:xfrm>
            <a:off x="6335713" y="84804"/>
            <a:ext cx="2133599" cy="13715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fld id="{1648D844-6983-4ABB-A176-7ACCEF4FA184}" type="datetime1">
              <a:rPr lang="en-US" smtClean="0"/>
              <a:t>5/28/2021</a:t>
            </a:fld>
            <a:endParaRPr dirty="0"/>
          </a:p>
        </p:txBody>
      </p:sp>
      <p:sp>
        <p:nvSpPr>
          <p:cNvPr id="36" name="Shape 36"/>
          <p:cNvSpPr txBox="1">
            <a:spLocks noGrp="1"/>
          </p:cNvSpPr>
          <p:nvPr>
            <p:ph type="sldNum" idx="12"/>
          </p:nvPr>
        </p:nvSpPr>
        <p:spPr>
          <a:xfrm>
            <a:off x="8469312" y="84804"/>
            <a:ext cx="551783" cy="137159"/>
          </a:xfrm>
          <a:prstGeom prst="rect">
            <a:avLst/>
          </a:prstGeom>
          <a:noFill/>
          <a:ln>
            <a:noFill/>
          </a:ln>
        </p:spPr>
        <p:txBody>
          <a:bodyPr lIns="91425" tIns="45700" rIns="91425" bIns="45700" anchor="ctr" anchorCtr="0">
            <a:noAutofit/>
          </a:bodyPr>
          <a:lstStyle/>
          <a:p>
            <a:pPr>
              <a:buSzPct val="25000"/>
            </a:pPr>
            <a:fld id="{00000000-1234-1234-1234-123412341234}" type="slidenum">
              <a:rPr lang="en-US" smtClean="0">
                <a:solidFill>
                  <a:schemeClr val="lt1"/>
                </a:solidFill>
                <a:ea typeface="Arial"/>
                <a:cs typeface="Arial"/>
                <a:sym typeface="Arial"/>
              </a:rPr>
              <a:pPr>
                <a:buSzPct val="25000"/>
              </a:pPr>
              <a:t>‹#›</a:t>
            </a:fld>
            <a:endParaRPr lang="en-US" dirty="0">
              <a:solidFill>
                <a:schemeClr val="lt1"/>
              </a:solidFil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167245"/>
            <a:ext cx="8229600" cy="1700646"/>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978944"/>
            <a:ext cx="8229600" cy="1578769"/>
          </a:xfrm>
        </p:spPr>
        <p:txBody>
          <a:bodyPr/>
          <a:lstStyle/>
          <a:p>
            <a:pPr lvl="0"/>
            <a:r>
              <a:rPr lang="en-US" dirty="0"/>
              <a:t>Edit Master text styles</a:t>
            </a:r>
          </a:p>
        </p:txBody>
      </p:sp>
    </p:spTree>
    <p:extLst>
      <p:ext uri="{BB962C8B-B14F-4D97-AF65-F5344CB8AC3E}">
        <p14:creationId xmlns:p14="http://schemas.microsoft.com/office/powerpoint/2010/main" val="1142722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61529"/>
            <a:ext cx="8229600" cy="82296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4629151"/>
            <a:ext cx="8595360" cy="176597"/>
          </a:xfrm>
          <a:prstGeom prst="rect">
            <a:avLst/>
          </a:prstGeom>
        </p:spPr>
        <p:txBody>
          <a:bodyPr vert="horz" lIns="0" tIns="0" rIns="0" bIns="0" rtlCol="0" anchor="b"/>
          <a:lstStyle>
            <a:lvl1pPr algn="l">
              <a:defRPr sz="1100">
                <a:solidFill>
                  <a:schemeClr val="tx1"/>
                </a:solidFill>
              </a:defRPr>
            </a:lvl1pPr>
          </a:lstStyle>
          <a:p>
            <a:r>
              <a:rPr lang="en-US"/>
              <a:t>Copyright © 2022, 2020, 2018 Pearson Education, Ltd. All Rights Reserved</a:t>
            </a:r>
            <a:endParaRPr lang="en-US" dirty="0"/>
          </a:p>
        </p:txBody>
      </p:sp>
      <p:sp>
        <p:nvSpPr>
          <p:cNvPr id="4" name="Date Placeholder 3"/>
          <p:cNvSpPr>
            <a:spLocks noGrp="1"/>
          </p:cNvSpPr>
          <p:nvPr>
            <p:ph type="dt" sz="half" idx="2"/>
          </p:nvPr>
        </p:nvSpPr>
        <p:spPr>
          <a:xfrm>
            <a:off x="6335713" y="84804"/>
            <a:ext cx="2133600" cy="137160"/>
          </a:xfrm>
          <a:prstGeom prst="rect">
            <a:avLst/>
          </a:prstGeom>
        </p:spPr>
        <p:txBody>
          <a:bodyPr vert="horz" lIns="91440" tIns="45720" rIns="91440" bIns="45720" rtlCol="0" anchor="ctr"/>
          <a:lstStyle>
            <a:lvl1pPr algn="r">
              <a:defRPr sz="900">
                <a:solidFill>
                  <a:schemeClr val="bg1"/>
                </a:solidFill>
              </a:defRPr>
            </a:lvl1pPr>
          </a:lstStyle>
          <a:p>
            <a:fld id="{46B3BFB1-4009-49D9-87D8-E8A9CD45E343}" type="datetime1">
              <a:rPr lang="en-US" smtClean="0"/>
              <a:t>5/28/2021</a:t>
            </a:fld>
            <a:endParaRPr lang="en-US" dirty="0"/>
          </a:p>
        </p:txBody>
      </p:sp>
      <p:sp>
        <p:nvSpPr>
          <p:cNvPr id="6" name="Slide Number Placeholder 5"/>
          <p:cNvSpPr>
            <a:spLocks noGrp="1"/>
          </p:cNvSpPr>
          <p:nvPr>
            <p:ph type="sldNum" sz="quarter" idx="4"/>
          </p:nvPr>
        </p:nvSpPr>
        <p:spPr>
          <a:xfrm>
            <a:off x="8469313" y="84804"/>
            <a:ext cx="551783" cy="13716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8" name="TextBox 7"/>
          <p:cNvSpPr txBox="1"/>
          <p:nvPr userDrawn="1"/>
        </p:nvSpPr>
        <p:spPr>
          <a:xfrm>
            <a:off x="2226578" y="4800601"/>
            <a:ext cx="6553200" cy="276999"/>
          </a:xfrm>
          <a:prstGeom prst="rect">
            <a:avLst/>
          </a:prstGeom>
          <a:noFill/>
        </p:spPr>
        <p:txBody>
          <a:bodyPr wrap="square" rtlCol="0">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Inc.</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9" name="Picture 8" descr="Pearson Logo"/>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457200" y="4825796"/>
            <a:ext cx="918000" cy="209936"/>
          </a:xfrm>
          <a:prstGeom prst="rect">
            <a:avLst/>
          </a:prstGeom>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1" r:id="rId3"/>
    <p:sldLayoutId id="2147483656" r:id="rId4"/>
    <p:sldLayoutId id="2147483650" r:id="rId5"/>
    <p:sldLayoutId id="2147483659" r:id="rId6"/>
    <p:sldLayoutId id="2147483658" r:id="rId7"/>
    <p:sldLayoutId id="2147483660" r:id="rId8"/>
    <p:sldLayoutId id="2147483662" r:id="rId9"/>
    <p:sldLayoutId id="2147483651" r:id="rId10"/>
    <p:sldLayoutId id="2147483654" r:id="rId11"/>
    <p:sldLayoutId id="2147483655" r:id="rId12"/>
    <p:sldLayoutId id="2147483663" r:id="rId13"/>
    <p:sldLayoutId id="2147483664" r:id="rId14"/>
  </p:sldLayoutIdLst>
  <p:hf sldNum="0" hdr="0" dt="0"/>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6.xml"/><Relationship Id="rId1" Type="http://schemas.openxmlformats.org/officeDocument/2006/relationships/slideLayout" Target="../slideLayouts/slideLayout14.xml"/><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954"/>
            <a:ext cx="8229600" cy="1107996"/>
          </a:xfrm>
        </p:spPr>
        <p:txBody>
          <a:bodyPr wrap="square" anchor="b">
            <a:spAutoFit/>
          </a:bodyPr>
          <a:lstStyle/>
          <a:p>
            <a:r>
              <a:rPr lang="en-IN" dirty="0"/>
              <a:t>Management Information Systems: Managing the Digital Firm</a:t>
            </a:r>
          </a:p>
        </p:txBody>
      </p:sp>
      <p:sp>
        <p:nvSpPr>
          <p:cNvPr id="3" name="Text Placeholder 2"/>
          <p:cNvSpPr>
            <a:spLocks noGrp="1"/>
          </p:cNvSpPr>
          <p:nvPr>
            <p:ph type="body" sz="quarter" idx="13"/>
          </p:nvPr>
        </p:nvSpPr>
        <p:spPr>
          <a:xfrm>
            <a:off x="457200" y="1120973"/>
            <a:ext cx="8229600" cy="307777"/>
          </a:xfrm>
        </p:spPr>
        <p:txBody>
          <a:bodyPr vert="horz" lIns="0" tIns="0" rIns="0" bIns="0" rtlCol="0" anchor="t">
            <a:spAutoFit/>
          </a:bodyPr>
          <a:lstStyle/>
          <a:p>
            <a:r>
              <a:rPr lang="en-IN" dirty="0"/>
              <a:t>Seventeenth Edition, Global Edition</a:t>
            </a:r>
          </a:p>
        </p:txBody>
      </p:sp>
      <p:sp>
        <p:nvSpPr>
          <p:cNvPr id="4" name="Text Placeholder 3"/>
          <p:cNvSpPr>
            <a:spLocks noGrp="1"/>
          </p:cNvSpPr>
          <p:nvPr>
            <p:ph type="body" sz="quarter" idx="14"/>
          </p:nvPr>
        </p:nvSpPr>
        <p:spPr>
          <a:xfrm>
            <a:off x="4569035" y="1935229"/>
            <a:ext cx="4117765" cy="492443"/>
          </a:xfrm>
        </p:spPr>
        <p:txBody>
          <a:bodyPr wrap="square">
            <a:spAutoFit/>
          </a:bodyPr>
          <a:lstStyle/>
          <a:p>
            <a:r>
              <a:rPr lang="en-IN" sz="3200" dirty="0"/>
              <a:t>Chapter 11</a:t>
            </a:r>
          </a:p>
        </p:txBody>
      </p:sp>
      <p:sp>
        <p:nvSpPr>
          <p:cNvPr id="5" name="Text Placeholder 4"/>
          <p:cNvSpPr>
            <a:spLocks noGrp="1"/>
          </p:cNvSpPr>
          <p:nvPr>
            <p:ph type="body" sz="quarter" idx="15"/>
          </p:nvPr>
        </p:nvSpPr>
        <p:spPr>
          <a:xfrm>
            <a:off x="4569035" y="2571751"/>
            <a:ext cx="4117765" cy="615553"/>
          </a:xfrm>
        </p:spPr>
        <p:txBody>
          <a:bodyPr wrap="square">
            <a:spAutoFit/>
          </a:bodyPr>
          <a:lstStyle/>
          <a:p>
            <a:r>
              <a:rPr lang="en-US" sz="2000" dirty="0"/>
              <a:t>Managing Knowledge and Artificial Intelligence</a:t>
            </a:r>
          </a:p>
        </p:txBody>
      </p:sp>
      <p:sp>
        <p:nvSpPr>
          <p:cNvPr id="11" name="Text Placeholder 3"/>
          <p:cNvSpPr>
            <a:spLocks noGrp="1"/>
          </p:cNvSpPr>
          <p:nvPr>
            <p:ph type="body" sz="quarter" idx="14"/>
          </p:nvPr>
        </p:nvSpPr>
        <p:spPr>
          <a:xfrm>
            <a:off x="2309414" y="4843236"/>
            <a:ext cx="6385810" cy="184666"/>
          </a:xfrm>
        </p:spPr>
        <p:txBody>
          <a:bodyPr>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Ltd.</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a:extLst>
              <a:ext uri="{FF2B5EF4-FFF2-40B4-BE49-F238E27FC236}">
                <a16:creationId xmlns:a16="http://schemas.microsoft.com/office/drawing/2014/main" id="{17259A02-C2E7-4E5B-BCE2-AAD57A4412C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65656" y="1422405"/>
            <a:ext cx="2496016" cy="3116031"/>
          </a:xfrm>
          <a:prstGeom prst="rect">
            <a:avLst/>
          </a:prstGeom>
        </p:spPr>
      </p:pic>
    </p:spTree>
    <p:extLst>
      <p:ext uri="{BB962C8B-B14F-4D97-AF65-F5344CB8AC3E}">
        <p14:creationId xmlns:p14="http://schemas.microsoft.com/office/powerpoint/2010/main" val="250212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3644"/>
            <a:ext cx="8229600" cy="553998"/>
          </a:xfrm>
        </p:spPr>
        <p:txBody>
          <a:bodyPr>
            <a:spAutoFit/>
          </a:bodyPr>
          <a:lstStyle/>
          <a:p>
            <a:r>
              <a:rPr lang="en-US" altLang="en-US" dirty="0"/>
              <a:t>Learning Objectives</a:t>
            </a:r>
            <a:endParaRPr lang="en-US" dirty="0"/>
          </a:p>
        </p:txBody>
      </p:sp>
      <p:sp>
        <p:nvSpPr>
          <p:cNvPr id="5" name="Content Placeholder 4"/>
          <p:cNvSpPr>
            <a:spLocks noGrp="1"/>
          </p:cNvSpPr>
          <p:nvPr>
            <p:ph idx="1"/>
          </p:nvPr>
        </p:nvSpPr>
        <p:spPr>
          <a:xfrm>
            <a:off x="457200" y="864096"/>
            <a:ext cx="8229600" cy="3231654"/>
          </a:xfrm>
        </p:spPr>
        <p:txBody>
          <a:bodyPr vert="horz" lIns="0" tIns="0" rIns="0" bIns="0" rtlCol="0" anchor="t">
            <a:spAutoFit/>
          </a:bodyPr>
          <a:lstStyle/>
          <a:p>
            <a:pPr marL="628650" indent="-628650">
              <a:buNone/>
              <a:tabLst>
                <a:tab pos="688975" algn="l"/>
              </a:tabLst>
            </a:pPr>
            <a:r>
              <a:rPr lang="en-US" altLang="en-US" sz="2000" b="1" dirty="0">
                <a:solidFill>
                  <a:schemeClr val="bg2"/>
                </a:solidFill>
              </a:rPr>
              <a:t>11.1</a:t>
            </a:r>
            <a:r>
              <a:rPr lang="en-US" altLang="en-US" sz="2000" b="1" dirty="0"/>
              <a:t> </a:t>
            </a:r>
            <a:r>
              <a:rPr lang="en-US" sz="2000" dirty="0"/>
              <a:t>What is the role of knowledge management systems in business?</a:t>
            </a:r>
            <a:endParaRPr lang="en-IN" altLang="en-US" sz="2000" dirty="0"/>
          </a:p>
          <a:p>
            <a:pPr marL="628650" indent="-628650" defTabSz="534988">
              <a:buNone/>
              <a:tabLst>
                <a:tab pos="688975" algn="l"/>
              </a:tabLst>
            </a:pPr>
            <a:r>
              <a:rPr lang="en-US" altLang="en-US" sz="2000" b="1" dirty="0">
                <a:solidFill>
                  <a:schemeClr val="bg2"/>
                </a:solidFill>
              </a:rPr>
              <a:t>11,2 </a:t>
            </a:r>
            <a:r>
              <a:rPr lang="en-US" sz="2000" dirty="0"/>
              <a:t>What are artificial intelligence (AI) and machine learning? How do businesses use AI?</a:t>
            </a:r>
            <a:endParaRPr lang="en-US" altLang="en-US" sz="2000" b="1" dirty="0">
              <a:solidFill>
                <a:schemeClr val="bg2"/>
              </a:solidFill>
            </a:endParaRPr>
          </a:p>
          <a:p>
            <a:pPr marL="628650" indent="-628650" defTabSz="534988">
              <a:buNone/>
              <a:tabLst>
                <a:tab pos="688975" algn="l"/>
              </a:tabLst>
            </a:pPr>
            <a:r>
              <a:rPr lang="en-US" altLang="en-US" sz="2000" b="1" dirty="0">
                <a:solidFill>
                  <a:schemeClr val="bg2"/>
                </a:solidFill>
              </a:rPr>
              <a:t>11.3</a:t>
            </a:r>
            <a:r>
              <a:rPr lang="en-US" altLang="en-US" sz="2000" b="1" dirty="0"/>
              <a:t> </a:t>
            </a:r>
            <a:r>
              <a:rPr lang="en-US" sz="2000" dirty="0"/>
              <a:t>What types of systems are used for enterprise-wide knowledge management, and how do they provide value for businesses?</a:t>
            </a:r>
            <a:endParaRPr lang="en-IN" altLang="en-US" sz="2000" dirty="0"/>
          </a:p>
          <a:p>
            <a:pPr marL="628650" indent="-628650" defTabSz="534988">
              <a:buNone/>
              <a:tabLst>
                <a:tab pos="688975" algn="l"/>
              </a:tabLst>
            </a:pPr>
            <a:r>
              <a:rPr lang="en-US" altLang="en-US" sz="2000" b="1" dirty="0">
                <a:solidFill>
                  <a:schemeClr val="bg2"/>
                </a:solidFill>
              </a:rPr>
              <a:t>11.4</a:t>
            </a:r>
            <a:r>
              <a:rPr lang="en-US" altLang="en-US" sz="2000" b="1" dirty="0"/>
              <a:t> </a:t>
            </a:r>
            <a:r>
              <a:rPr lang="en-US" sz="2000" dirty="0"/>
              <a:t>What are the major types of knowledge work systems, and how do they provide value for firms?</a:t>
            </a:r>
            <a:endParaRPr lang="en-IN" altLang="en-US" sz="2000" dirty="0"/>
          </a:p>
          <a:p>
            <a:pPr marL="0" indent="0">
              <a:buNone/>
            </a:pPr>
            <a:r>
              <a:rPr lang="en-US" altLang="en-US" sz="2000" b="1" dirty="0">
                <a:solidFill>
                  <a:schemeClr val="bg2"/>
                </a:solidFill>
              </a:rPr>
              <a:t>11.5</a:t>
            </a:r>
            <a:r>
              <a:rPr lang="en-US" altLang="en-US" sz="2000" dirty="0">
                <a:cs typeface="Arial"/>
              </a:rPr>
              <a:t> </a:t>
            </a:r>
            <a:r>
              <a:rPr lang="en-IN" sz="2000" dirty="0"/>
              <a:t>How will </a:t>
            </a:r>
            <a:r>
              <a:rPr lang="en-IN" sz="2000" spc="-300" dirty="0"/>
              <a:t>M I </a:t>
            </a:r>
            <a:r>
              <a:rPr lang="en-IN" sz="2000" dirty="0"/>
              <a:t>S help my career?</a:t>
            </a:r>
          </a:p>
        </p:txBody>
      </p:sp>
      <p:sp>
        <p:nvSpPr>
          <p:cNvPr id="2" name="Footer Placeholder 1">
            <a:extLst>
              <a:ext uri="{FF2B5EF4-FFF2-40B4-BE49-F238E27FC236}">
                <a16:creationId xmlns:a16="http://schemas.microsoft.com/office/drawing/2014/main" id="{3D84E69E-C7DE-420B-9BBE-8BC1F81200D6}"/>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92597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4790"/>
            <a:ext cx="8229600" cy="553998"/>
          </a:xfrm>
        </p:spPr>
        <p:txBody>
          <a:bodyPr>
            <a:spAutoFit/>
          </a:bodyPr>
          <a:lstStyle/>
          <a:p>
            <a:r>
              <a:rPr lang="en-IN" altLang="en-US" dirty="0"/>
              <a:t>Video Cases</a:t>
            </a:r>
            <a:endParaRPr lang="en-US" sz="2800" dirty="0"/>
          </a:p>
        </p:txBody>
      </p:sp>
      <p:sp>
        <p:nvSpPr>
          <p:cNvPr id="5" name="Content Placeholder 4"/>
          <p:cNvSpPr>
            <a:spLocks noGrp="1"/>
          </p:cNvSpPr>
          <p:nvPr>
            <p:ph idx="1"/>
          </p:nvPr>
        </p:nvSpPr>
        <p:spPr>
          <a:xfrm>
            <a:off x="457200" y="886819"/>
            <a:ext cx="8229600" cy="1669688"/>
          </a:xfrm>
        </p:spPr>
        <p:txBody>
          <a:bodyPr>
            <a:spAutoFit/>
          </a:bodyPr>
          <a:lstStyle/>
          <a:p>
            <a:r>
              <a:rPr lang="en-US" dirty="0"/>
              <a:t>Case 1: How </a:t>
            </a:r>
            <a:r>
              <a:rPr lang="en-US" spc="-300" dirty="0"/>
              <a:t>I B </a:t>
            </a:r>
            <a:r>
              <a:rPr lang="en-US" dirty="0"/>
              <a:t>M’s Watson Became a Jeopardy Champion</a:t>
            </a:r>
          </a:p>
          <a:p>
            <a:r>
              <a:rPr lang="en-US" dirty="0"/>
              <a:t>Case 2: Alfresco: Open Source Document Management and Collaboration</a:t>
            </a:r>
          </a:p>
        </p:txBody>
      </p:sp>
      <p:sp>
        <p:nvSpPr>
          <p:cNvPr id="2" name="Footer Placeholder 1">
            <a:extLst>
              <a:ext uri="{FF2B5EF4-FFF2-40B4-BE49-F238E27FC236}">
                <a16:creationId xmlns:a16="http://schemas.microsoft.com/office/drawing/2014/main" id="{EA7290CD-A14E-4C49-B24A-735622CA2D15}"/>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260939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3335"/>
            <a:ext cx="8229600" cy="984885"/>
          </a:xfrm>
        </p:spPr>
        <p:txBody>
          <a:bodyPr>
            <a:spAutoFit/>
          </a:bodyPr>
          <a:lstStyle/>
          <a:p>
            <a:r>
              <a:rPr lang="en-US" altLang="en-US" sz="3200" dirty="0"/>
              <a:t>Artificial Intelligence Beats Radiologists in Reading Mammograms </a:t>
            </a:r>
            <a:r>
              <a:rPr lang="en-US" altLang="en-US" sz="2800" dirty="0"/>
              <a:t>(1 of 2)</a:t>
            </a:r>
            <a:endParaRPr lang="en-US" sz="2800" dirty="0"/>
          </a:p>
        </p:txBody>
      </p:sp>
      <p:sp>
        <p:nvSpPr>
          <p:cNvPr id="5" name="Content Placeholder 4"/>
          <p:cNvSpPr>
            <a:spLocks noGrp="1"/>
          </p:cNvSpPr>
          <p:nvPr>
            <p:ph idx="1"/>
          </p:nvPr>
        </p:nvSpPr>
        <p:spPr>
          <a:xfrm>
            <a:off x="457200" y="971550"/>
            <a:ext cx="8229600" cy="3885679"/>
          </a:xfrm>
        </p:spPr>
        <p:txBody>
          <a:bodyPr>
            <a:spAutoFit/>
          </a:bodyPr>
          <a:lstStyle/>
          <a:p>
            <a:r>
              <a:rPr lang="en-US" altLang="en-US" sz="2000" dirty="0"/>
              <a:t>Problem</a:t>
            </a:r>
          </a:p>
          <a:p>
            <a:pPr lvl="1"/>
            <a:r>
              <a:rPr lang="en-US" altLang="en-US" sz="2000" dirty="0"/>
              <a:t>High level of information inaccuracy</a:t>
            </a:r>
          </a:p>
          <a:p>
            <a:pPr lvl="1"/>
            <a:r>
              <a:rPr lang="en-US" altLang="en-US" sz="2000" dirty="0"/>
              <a:t>Opportunities from new technology</a:t>
            </a:r>
          </a:p>
          <a:p>
            <a:r>
              <a:rPr lang="en-US" altLang="en-US" sz="2000" dirty="0"/>
              <a:t>Solutions</a:t>
            </a:r>
          </a:p>
          <a:p>
            <a:pPr lvl="1"/>
            <a:r>
              <a:rPr lang="en-US" altLang="en-US" sz="2000" dirty="0"/>
              <a:t>Monitor accuracy and costs</a:t>
            </a:r>
          </a:p>
          <a:p>
            <a:pPr lvl="1"/>
            <a:r>
              <a:rPr lang="en-US" altLang="en-US" sz="2000" dirty="0"/>
              <a:t>Evaluate study results</a:t>
            </a:r>
          </a:p>
          <a:p>
            <a:pPr lvl="1"/>
            <a:r>
              <a:rPr lang="en-US" altLang="en-US" sz="2000" dirty="0"/>
              <a:t>Collect mammograms for system training and testing</a:t>
            </a:r>
          </a:p>
          <a:p>
            <a:pPr lvl="1"/>
            <a:r>
              <a:rPr lang="en-US" altLang="en-US" sz="2000" dirty="0"/>
              <a:t>Train pattern recognition system</a:t>
            </a:r>
          </a:p>
          <a:p>
            <a:pPr lvl="1"/>
            <a:r>
              <a:rPr lang="en-US" altLang="en-US" sz="2000" dirty="0"/>
              <a:t>Compare AI system and human radiologist findings</a:t>
            </a:r>
          </a:p>
          <a:p>
            <a:pPr lvl="1"/>
            <a:r>
              <a:rPr lang="en-US" altLang="en-US" sz="2000" dirty="0"/>
              <a:t>AI pattern recognition system</a:t>
            </a:r>
          </a:p>
        </p:txBody>
      </p:sp>
      <p:sp>
        <p:nvSpPr>
          <p:cNvPr id="2" name="Footer Placeholder 1">
            <a:extLst>
              <a:ext uri="{FF2B5EF4-FFF2-40B4-BE49-F238E27FC236}">
                <a16:creationId xmlns:a16="http://schemas.microsoft.com/office/drawing/2014/main" id="{7824F29A-C239-49E3-A17F-7218B66C681E}"/>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12462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3335"/>
            <a:ext cx="8229600" cy="984885"/>
          </a:xfrm>
        </p:spPr>
        <p:txBody>
          <a:bodyPr>
            <a:spAutoFit/>
          </a:bodyPr>
          <a:lstStyle/>
          <a:p>
            <a:r>
              <a:rPr lang="en-US" altLang="en-US" sz="3200" dirty="0"/>
              <a:t>Artificial Intelligence Beats Radiologist in Reading Mammograms </a:t>
            </a:r>
            <a:r>
              <a:rPr lang="en-US" altLang="en-US" sz="2800" dirty="0"/>
              <a:t>(2 of 2)</a:t>
            </a:r>
            <a:endParaRPr lang="en-US" sz="2800" dirty="0"/>
          </a:p>
        </p:txBody>
      </p:sp>
      <p:sp>
        <p:nvSpPr>
          <p:cNvPr id="5" name="Content Placeholder 4"/>
          <p:cNvSpPr>
            <a:spLocks noGrp="1"/>
          </p:cNvSpPr>
          <p:nvPr>
            <p:ph idx="1"/>
          </p:nvPr>
        </p:nvSpPr>
        <p:spPr>
          <a:xfrm>
            <a:off x="457200" y="1123950"/>
            <a:ext cx="8229600" cy="1885131"/>
          </a:xfrm>
        </p:spPr>
        <p:txBody>
          <a:bodyPr>
            <a:spAutoFit/>
          </a:bodyPr>
          <a:lstStyle/>
          <a:p>
            <a:r>
              <a:rPr lang="en-US" altLang="en-US" sz="2200" dirty="0"/>
              <a:t>Demonstrates how organizational performance can benefit from using technology such as artificial intelligence to facilitate acquisition and application of knowledge</a:t>
            </a:r>
          </a:p>
          <a:p>
            <a:r>
              <a:rPr lang="en-US" altLang="en-US" sz="2200" dirty="0"/>
              <a:t>Illustrates the ability of AI pattern recognition systems to achieve higher level of accuracy than human radiologists</a:t>
            </a:r>
          </a:p>
        </p:txBody>
      </p:sp>
      <p:sp>
        <p:nvSpPr>
          <p:cNvPr id="2" name="Footer Placeholder 1">
            <a:extLst>
              <a:ext uri="{FF2B5EF4-FFF2-40B4-BE49-F238E27FC236}">
                <a16:creationId xmlns:a16="http://schemas.microsoft.com/office/drawing/2014/main" id="{6607E6B9-EE47-4DEC-AF1C-280D28935E6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521911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0276"/>
            <a:ext cx="8229600" cy="984885"/>
          </a:xfrm>
        </p:spPr>
        <p:txBody>
          <a:bodyPr>
            <a:spAutoFit/>
          </a:bodyPr>
          <a:lstStyle/>
          <a:p>
            <a:r>
              <a:rPr lang="en-US" altLang="en-US" sz="3200" dirty="0"/>
              <a:t>What is the Role of Knowledge Management Systems in Business?</a:t>
            </a:r>
            <a:endParaRPr lang="en-US" sz="3200" dirty="0"/>
          </a:p>
        </p:txBody>
      </p:sp>
      <p:sp>
        <p:nvSpPr>
          <p:cNvPr id="5" name="Content Placeholder 4"/>
          <p:cNvSpPr>
            <a:spLocks noGrp="1"/>
          </p:cNvSpPr>
          <p:nvPr>
            <p:ph idx="1"/>
          </p:nvPr>
        </p:nvSpPr>
        <p:spPr>
          <a:xfrm>
            <a:off x="457200" y="1377389"/>
            <a:ext cx="8229600" cy="2516073"/>
          </a:xfrm>
        </p:spPr>
        <p:txBody>
          <a:bodyPr>
            <a:spAutoFit/>
          </a:bodyPr>
          <a:lstStyle/>
          <a:p>
            <a:r>
              <a:rPr lang="en-US" altLang="en-US" sz="1800" dirty="0"/>
              <a:t>Knowledge management systems among fastest growing areas of software investment</a:t>
            </a:r>
          </a:p>
          <a:p>
            <a:r>
              <a:rPr lang="en-US" altLang="en-US" sz="1800" dirty="0"/>
              <a:t>Information economy: production and distribution of information and knowledge a major source of wealth and prosperity</a:t>
            </a:r>
          </a:p>
          <a:p>
            <a:r>
              <a:rPr lang="en-US" altLang="en-US" sz="1800" dirty="0"/>
              <a:t>Substantial part of a firm’s stock market value is related to intangible assets: knowledge, brands, reputations, and unique business processes</a:t>
            </a:r>
          </a:p>
          <a:p>
            <a:r>
              <a:rPr lang="en-US" altLang="en-US" sz="1800" dirty="0"/>
              <a:t>Well-executed knowledge-based projects can produce extraordinary </a:t>
            </a:r>
            <a:r>
              <a:rPr lang="en-US" altLang="en-US" sz="1800" spc="-300" dirty="0"/>
              <a:t>R O I</a:t>
            </a:r>
          </a:p>
        </p:txBody>
      </p:sp>
      <p:sp>
        <p:nvSpPr>
          <p:cNvPr id="2" name="Footer Placeholder 1">
            <a:extLst>
              <a:ext uri="{FF2B5EF4-FFF2-40B4-BE49-F238E27FC236}">
                <a16:creationId xmlns:a16="http://schemas.microsoft.com/office/drawing/2014/main" id="{3EF37415-C4CA-4F22-BA41-4C18D32A99F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065886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2087"/>
            <a:ext cx="8229600" cy="1015663"/>
          </a:xfrm>
        </p:spPr>
        <p:txBody>
          <a:bodyPr anchor="ctr">
            <a:spAutoFit/>
          </a:bodyPr>
          <a:lstStyle/>
          <a:p>
            <a:r>
              <a:rPr lang="en-US" altLang="en-US" dirty="0"/>
              <a:t>Important Dimensions of Knowledge </a:t>
            </a:r>
            <a:r>
              <a:rPr lang="en-US" altLang="en-US" sz="2800" dirty="0"/>
              <a:t>(1 of 2)</a:t>
            </a:r>
            <a:endParaRPr lang="en-US" sz="2800" dirty="0"/>
          </a:p>
        </p:txBody>
      </p:sp>
      <p:sp>
        <p:nvSpPr>
          <p:cNvPr id="5" name="Content Placeholder 4"/>
          <p:cNvSpPr>
            <a:spLocks noGrp="1"/>
          </p:cNvSpPr>
          <p:nvPr>
            <p:ph idx="1"/>
          </p:nvPr>
        </p:nvSpPr>
        <p:spPr>
          <a:xfrm>
            <a:off x="457200" y="1107885"/>
            <a:ext cx="8165939" cy="3140265"/>
          </a:xfrm>
        </p:spPr>
        <p:txBody>
          <a:bodyPr wrap="square">
            <a:spAutoFit/>
          </a:bodyPr>
          <a:lstStyle/>
          <a:p>
            <a:r>
              <a:rPr lang="en-US" altLang="en-US" sz="2200" dirty="0"/>
              <a:t>Data, information, knowledge, and wisdom</a:t>
            </a:r>
          </a:p>
          <a:p>
            <a:r>
              <a:rPr lang="en-US" altLang="en-US" sz="2200" dirty="0"/>
              <a:t>Tacit knowledge and explicit knowledge</a:t>
            </a:r>
          </a:p>
          <a:p>
            <a:r>
              <a:rPr lang="en-US" altLang="en-US" sz="2200" dirty="0"/>
              <a:t>Important dimensions of knowledge</a:t>
            </a:r>
          </a:p>
          <a:p>
            <a:pPr lvl="1"/>
            <a:r>
              <a:rPr lang="en-US" altLang="en-US" dirty="0"/>
              <a:t>Knowledge is a firm asset</a:t>
            </a:r>
          </a:p>
          <a:p>
            <a:pPr lvl="1"/>
            <a:r>
              <a:rPr lang="en-US" altLang="en-US" dirty="0"/>
              <a:t>Knowledge has different forms</a:t>
            </a:r>
          </a:p>
          <a:p>
            <a:pPr lvl="1"/>
            <a:r>
              <a:rPr lang="en-US" altLang="en-US" dirty="0"/>
              <a:t>Knowledge has a location</a:t>
            </a:r>
          </a:p>
          <a:p>
            <a:pPr lvl="1"/>
            <a:r>
              <a:rPr lang="en-US" altLang="en-US" dirty="0"/>
              <a:t>Knowledge is situational</a:t>
            </a:r>
          </a:p>
        </p:txBody>
      </p:sp>
      <p:sp>
        <p:nvSpPr>
          <p:cNvPr id="2" name="Footer Placeholder 1">
            <a:extLst>
              <a:ext uri="{FF2B5EF4-FFF2-40B4-BE49-F238E27FC236}">
                <a16:creationId xmlns:a16="http://schemas.microsoft.com/office/drawing/2014/main" id="{53C73045-555C-4719-887F-783CA51411F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477968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4299"/>
            <a:ext cx="8119641" cy="1013451"/>
          </a:xfrm>
        </p:spPr>
        <p:txBody>
          <a:bodyPr wrap="square">
            <a:spAutoFit/>
          </a:bodyPr>
          <a:lstStyle/>
          <a:p>
            <a:r>
              <a:rPr lang="en-US" altLang="en-US" dirty="0"/>
              <a:t>Important Dimensions of Knowledge </a:t>
            </a:r>
            <a:r>
              <a:rPr lang="en-US" altLang="en-US" sz="2800" dirty="0"/>
              <a:t>(2 of 2)</a:t>
            </a:r>
            <a:endParaRPr lang="en-US" sz="2800" dirty="0"/>
          </a:p>
        </p:txBody>
      </p:sp>
      <p:sp>
        <p:nvSpPr>
          <p:cNvPr id="5" name="Content Placeholder 4"/>
          <p:cNvSpPr>
            <a:spLocks noGrp="1"/>
          </p:cNvSpPr>
          <p:nvPr>
            <p:ph idx="1"/>
          </p:nvPr>
        </p:nvSpPr>
        <p:spPr>
          <a:xfrm>
            <a:off x="457200" y="1246584"/>
            <a:ext cx="8229600" cy="3077766"/>
          </a:xfrm>
        </p:spPr>
        <p:txBody>
          <a:bodyPr>
            <a:spAutoFit/>
          </a:bodyPr>
          <a:lstStyle/>
          <a:p>
            <a:r>
              <a:rPr lang="en-US" altLang="en-US" sz="2000" dirty="0"/>
              <a:t>Knowledge-based core competencies</a:t>
            </a:r>
          </a:p>
          <a:p>
            <a:pPr lvl="1"/>
            <a:r>
              <a:rPr lang="en-US" altLang="en-US" sz="2000" dirty="0"/>
              <a:t>Key organizational assets</a:t>
            </a:r>
          </a:p>
          <a:p>
            <a:r>
              <a:rPr lang="en-US" altLang="en-US" sz="2000" dirty="0"/>
              <a:t>Knowing how to do things effectively and efficiently in ways others cannot duplicate is a prime source of profit and competitive advantage</a:t>
            </a:r>
          </a:p>
          <a:p>
            <a:pPr lvl="1"/>
            <a:r>
              <a:rPr lang="en-US" altLang="en-US" sz="2000" dirty="0"/>
              <a:t>Example: Having a unique build-to-order production system</a:t>
            </a:r>
          </a:p>
          <a:p>
            <a:r>
              <a:rPr lang="en-US" altLang="en-US" sz="2000" dirty="0"/>
              <a:t>Organizational learning</a:t>
            </a:r>
          </a:p>
          <a:p>
            <a:pPr lvl="1"/>
            <a:r>
              <a:rPr lang="en-US" altLang="en-US" sz="2000" dirty="0"/>
              <a:t>Process in which organizations gain experience through collection of data, measurement, trial and error, and feedback</a:t>
            </a:r>
          </a:p>
        </p:txBody>
      </p:sp>
      <p:sp>
        <p:nvSpPr>
          <p:cNvPr id="2" name="Footer Placeholder 1">
            <a:extLst>
              <a:ext uri="{FF2B5EF4-FFF2-40B4-BE49-F238E27FC236}">
                <a16:creationId xmlns:a16="http://schemas.microsoft.com/office/drawing/2014/main" id="{04610E2E-D784-45C6-AE63-0F936132ADFD}"/>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625920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33350"/>
            <a:ext cx="8229600" cy="430887"/>
          </a:xfrm>
        </p:spPr>
        <p:txBody>
          <a:bodyPr>
            <a:spAutoFit/>
          </a:bodyPr>
          <a:lstStyle/>
          <a:p>
            <a:r>
              <a:rPr lang="en-US" altLang="en-US" sz="2800" dirty="0"/>
              <a:t>The Knowledge Management Value Chain </a:t>
            </a:r>
            <a:r>
              <a:rPr lang="en-US" altLang="en-US" sz="2200" dirty="0"/>
              <a:t>(1 of 3)</a:t>
            </a:r>
            <a:endParaRPr lang="en-US" sz="2200" dirty="0"/>
          </a:p>
        </p:txBody>
      </p:sp>
      <p:sp>
        <p:nvSpPr>
          <p:cNvPr id="5" name="Content Placeholder 4"/>
          <p:cNvSpPr>
            <a:spLocks noGrp="1"/>
          </p:cNvSpPr>
          <p:nvPr>
            <p:ph idx="1"/>
          </p:nvPr>
        </p:nvSpPr>
        <p:spPr>
          <a:xfrm>
            <a:off x="457200" y="819150"/>
            <a:ext cx="8229600" cy="3424014"/>
          </a:xfrm>
        </p:spPr>
        <p:txBody>
          <a:bodyPr>
            <a:spAutoFit/>
          </a:bodyPr>
          <a:lstStyle/>
          <a:p>
            <a:r>
              <a:rPr lang="en-US" altLang="en-US" sz="1800" dirty="0"/>
              <a:t>Knowledge management</a:t>
            </a:r>
          </a:p>
          <a:p>
            <a:pPr lvl="1"/>
            <a:r>
              <a:rPr lang="en-US" altLang="en-US" sz="1800" dirty="0"/>
              <a:t>Set of business processes developed in an organization to create, store, transfer, and apply knowledge</a:t>
            </a:r>
          </a:p>
          <a:p>
            <a:r>
              <a:rPr lang="en-US" altLang="en-US" sz="1800" dirty="0"/>
              <a:t>Knowledge management value chain</a:t>
            </a:r>
          </a:p>
          <a:p>
            <a:pPr lvl="1"/>
            <a:r>
              <a:rPr lang="en-US" altLang="en-US" sz="1800" dirty="0"/>
              <a:t>Each stage adds value to raw data and information as they are transformed into usable knowledge</a:t>
            </a:r>
          </a:p>
          <a:p>
            <a:pPr lvl="2"/>
            <a:r>
              <a:rPr lang="en-US" altLang="en-US" sz="1800" dirty="0"/>
              <a:t>Knowledge acquisition</a:t>
            </a:r>
          </a:p>
          <a:p>
            <a:pPr lvl="2"/>
            <a:r>
              <a:rPr lang="en-US" altLang="en-US" sz="1800" dirty="0"/>
              <a:t>Knowledge storage</a:t>
            </a:r>
          </a:p>
          <a:p>
            <a:pPr lvl="2"/>
            <a:r>
              <a:rPr lang="en-US" altLang="en-US" sz="1800" dirty="0"/>
              <a:t>Knowledge dissemination</a:t>
            </a:r>
          </a:p>
          <a:p>
            <a:pPr lvl="2"/>
            <a:r>
              <a:rPr lang="en-US" altLang="en-US" sz="1800" dirty="0"/>
              <a:t>Knowledge application</a:t>
            </a:r>
          </a:p>
        </p:txBody>
      </p:sp>
      <p:sp>
        <p:nvSpPr>
          <p:cNvPr id="2" name="Footer Placeholder 1">
            <a:extLst>
              <a:ext uri="{FF2B5EF4-FFF2-40B4-BE49-F238E27FC236}">
                <a16:creationId xmlns:a16="http://schemas.microsoft.com/office/drawing/2014/main" id="{27526283-C161-4F90-96B8-C375F0D4D1DF}"/>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517747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67215"/>
            <a:ext cx="8229600" cy="430887"/>
          </a:xfrm>
        </p:spPr>
        <p:txBody>
          <a:bodyPr>
            <a:spAutoFit/>
          </a:bodyPr>
          <a:lstStyle/>
          <a:p>
            <a:r>
              <a:rPr lang="en-US" altLang="en-US" sz="2800" dirty="0"/>
              <a:t>The Knowledge Management Value Chain </a:t>
            </a:r>
            <a:r>
              <a:rPr lang="en-US" altLang="en-US" sz="2200" dirty="0"/>
              <a:t>(2 of 3)</a:t>
            </a:r>
            <a:endParaRPr lang="en-US" sz="2200" dirty="0"/>
          </a:p>
        </p:txBody>
      </p:sp>
      <p:sp>
        <p:nvSpPr>
          <p:cNvPr id="5" name="Content Placeholder 4"/>
          <p:cNvSpPr>
            <a:spLocks noGrp="1"/>
          </p:cNvSpPr>
          <p:nvPr>
            <p:ph idx="1"/>
          </p:nvPr>
        </p:nvSpPr>
        <p:spPr>
          <a:xfrm>
            <a:off x="457200" y="742950"/>
            <a:ext cx="8229600" cy="3931846"/>
          </a:xfrm>
        </p:spPr>
        <p:txBody>
          <a:bodyPr>
            <a:spAutoFit/>
          </a:bodyPr>
          <a:lstStyle/>
          <a:p>
            <a:r>
              <a:rPr lang="en-US" altLang="en-US" sz="1800" dirty="0"/>
              <a:t>Knowledge acquisition</a:t>
            </a:r>
          </a:p>
          <a:p>
            <a:pPr lvl="1"/>
            <a:r>
              <a:rPr lang="en-US" altLang="en-US" sz="1800" dirty="0"/>
              <a:t>Documenting tacit and explicit knowledge</a:t>
            </a:r>
          </a:p>
          <a:p>
            <a:pPr lvl="2"/>
            <a:r>
              <a:rPr lang="en-US" altLang="en-US" sz="1800" dirty="0"/>
              <a:t>Storing documents, reports, presentations, best practices</a:t>
            </a:r>
          </a:p>
          <a:p>
            <a:pPr lvl="2"/>
            <a:r>
              <a:rPr lang="en-US" altLang="en-US" sz="1800" dirty="0"/>
              <a:t>Unstructured documents (e.g., e-mails)</a:t>
            </a:r>
          </a:p>
          <a:p>
            <a:pPr lvl="2"/>
            <a:r>
              <a:rPr lang="en-US" altLang="en-US" sz="1800" dirty="0"/>
              <a:t>Developing online expert networks</a:t>
            </a:r>
          </a:p>
          <a:p>
            <a:pPr lvl="1"/>
            <a:r>
              <a:rPr lang="en-US" altLang="en-US" sz="1800" dirty="0"/>
              <a:t>Creating knowledge</a:t>
            </a:r>
          </a:p>
          <a:p>
            <a:pPr lvl="1"/>
            <a:r>
              <a:rPr lang="en-US" altLang="en-US" sz="1800" dirty="0"/>
              <a:t>Tracking data from </a:t>
            </a:r>
            <a:r>
              <a:rPr lang="en-US" altLang="en-US" sz="1800" spc="-300" dirty="0"/>
              <a:t>T P </a:t>
            </a:r>
            <a:r>
              <a:rPr lang="en-US" altLang="en-US" sz="1800" dirty="0"/>
              <a:t>S and external sources</a:t>
            </a:r>
          </a:p>
          <a:p>
            <a:r>
              <a:rPr lang="en-US" altLang="en-US" sz="1800" dirty="0"/>
              <a:t>Knowledge storage</a:t>
            </a:r>
          </a:p>
          <a:p>
            <a:pPr lvl="1"/>
            <a:r>
              <a:rPr lang="en-US" altLang="en-US" sz="1800" dirty="0"/>
              <a:t>Databases</a:t>
            </a:r>
          </a:p>
          <a:p>
            <a:pPr lvl="1"/>
            <a:r>
              <a:rPr lang="en-US" altLang="en-US" sz="1800" dirty="0"/>
              <a:t>Document management systems</a:t>
            </a:r>
          </a:p>
          <a:p>
            <a:pPr lvl="1"/>
            <a:r>
              <a:rPr lang="en-US" altLang="en-US" sz="1800" dirty="0"/>
              <a:t>Role of management</a:t>
            </a:r>
          </a:p>
        </p:txBody>
      </p:sp>
      <p:sp>
        <p:nvSpPr>
          <p:cNvPr id="2" name="Footer Placeholder 1">
            <a:extLst>
              <a:ext uri="{FF2B5EF4-FFF2-40B4-BE49-F238E27FC236}">
                <a16:creationId xmlns:a16="http://schemas.microsoft.com/office/drawing/2014/main" id="{BC8F864A-160C-40D0-8C15-0D543C58F48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00754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60442"/>
            <a:ext cx="8229600" cy="430887"/>
          </a:xfrm>
        </p:spPr>
        <p:txBody>
          <a:bodyPr>
            <a:spAutoFit/>
          </a:bodyPr>
          <a:lstStyle/>
          <a:p>
            <a:r>
              <a:rPr lang="en-US" altLang="en-US" sz="2800" dirty="0"/>
              <a:t>The Knowledge Management Value Chain </a:t>
            </a:r>
            <a:r>
              <a:rPr lang="en-US" altLang="en-US" sz="2200" dirty="0"/>
              <a:t>(3 of 3)</a:t>
            </a:r>
            <a:endParaRPr lang="en-US" sz="2200" dirty="0"/>
          </a:p>
        </p:txBody>
      </p:sp>
      <p:sp>
        <p:nvSpPr>
          <p:cNvPr id="5" name="Content Placeholder 4"/>
          <p:cNvSpPr>
            <a:spLocks noGrp="1"/>
          </p:cNvSpPr>
          <p:nvPr>
            <p:ph idx="1"/>
          </p:nvPr>
        </p:nvSpPr>
        <p:spPr>
          <a:xfrm>
            <a:off x="457200" y="742950"/>
            <a:ext cx="8229600" cy="3854901"/>
          </a:xfrm>
        </p:spPr>
        <p:txBody>
          <a:bodyPr>
            <a:spAutoFit/>
          </a:bodyPr>
          <a:lstStyle/>
          <a:p>
            <a:r>
              <a:rPr lang="en-US" altLang="en-US" sz="1800" dirty="0"/>
              <a:t>Knowledge dissemination</a:t>
            </a:r>
          </a:p>
          <a:p>
            <a:pPr lvl="1"/>
            <a:r>
              <a:rPr lang="en-US" altLang="en-US" sz="1800" dirty="0"/>
              <a:t>Portals, wikis</a:t>
            </a:r>
          </a:p>
          <a:p>
            <a:pPr lvl="1"/>
            <a:r>
              <a:rPr lang="en-US" altLang="en-US" sz="1800" dirty="0"/>
              <a:t>E-mail, instant messaging</a:t>
            </a:r>
          </a:p>
          <a:p>
            <a:pPr lvl="1"/>
            <a:r>
              <a:rPr lang="en-US" altLang="en-US" sz="1800" dirty="0"/>
              <a:t>Search engines, collaboration tools</a:t>
            </a:r>
          </a:p>
          <a:p>
            <a:pPr lvl="1"/>
            <a:r>
              <a:rPr lang="en-US" altLang="en-US" sz="1800" dirty="0"/>
              <a:t>A deluge of information</a:t>
            </a:r>
          </a:p>
          <a:p>
            <a:pPr lvl="2"/>
            <a:r>
              <a:rPr lang="en-US" altLang="en-US" sz="1800" dirty="0"/>
              <a:t>Training programs, informal networks, and shared management experience help managers focus attention on important information.</a:t>
            </a:r>
          </a:p>
          <a:p>
            <a:r>
              <a:rPr lang="en-US" altLang="en-US" sz="1800" dirty="0"/>
              <a:t>Knowledge application</a:t>
            </a:r>
          </a:p>
          <a:p>
            <a:pPr lvl="1"/>
            <a:r>
              <a:rPr lang="en-US" altLang="en-US" sz="1800" dirty="0"/>
              <a:t>New business practices</a:t>
            </a:r>
          </a:p>
          <a:p>
            <a:pPr lvl="1"/>
            <a:r>
              <a:rPr lang="en-US" altLang="en-US" sz="1800" dirty="0"/>
              <a:t>New products and services</a:t>
            </a:r>
          </a:p>
          <a:p>
            <a:pPr lvl="1"/>
            <a:r>
              <a:rPr lang="en-US" altLang="en-US" sz="1800" dirty="0"/>
              <a:t>New markets</a:t>
            </a:r>
          </a:p>
        </p:txBody>
      </p:sp>
      <p:sp>
        <p:nvSpPr>
          <p:cNvPr id="2" name="Footer Placeholder 1">
            <a:extLst>
              <a:ext uri="{FF2B5EF4-FFF2-40B4-BE49-F238E27FC236}">
                <a16:creationId xmlns:a16="http://schemas.microsoft.com/office/drawing/2014/main" id="{ECC16316-F4FD-4B80-92C3-90CCAD14541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103701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3669"/>
            <a:ext cx="8229600" cy="861774"/>
          </a:xfrm>
        </p:spPr>
        <p:txBody>
          <a:bodyPr>
            <a:spAutoFit/>
          </a:bodyPr>
          <a:lstStyle/>
          <a:p>
            <a:r>
              <a:rPr lang="en-US" altLang="en-US" sz="2800" dirty="0"/>
              <a:t>Figure 11.1 The Knowledge Management Value Chain</a:t>
            </a:r>
            <a:endParaRPr lang="en-US" sz="2800" dirty="0"/>
          </a:p>
        </p:txBody>
      </p:sp>
      <p:pic>
        <p:nvPicPr>
          <p:cNvPr id="1026" name="Picture 2" descr="An illustration explains the role of knowledge management systems in knowledge business value chains.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821919" y="1398678"/>
            <a:ext cx="5500163" cy="3078072"/>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5ACC6B21-951B-4C57-A9F9-DA090EE2E1AF}"/>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911744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49634"/>
            <a:ext cx="8229600" cy="1292662"/>
          </a:xfrm>
        </p:spPr>
        <p:txBody>
          <a:bodyPr>
            <a:spAutoFit/>
          </a:bodyPr>
          <a:lstStyle/>
          <a:p>
            <a:r>
              <a:rPr lang="en-US" altLang="en-US" sz="2800" dirty="0"/>
              <a:t>Building Organizational and Management Capital: Collaboration, Communities of Practice, and Office Environments</a:t>
            </a:r>
            <a:endParaRPr lang="en-US" sz="2800" dirty="0"/>
          </a:p>
        </p:txBody>
      </p:sp>
      <p:sp>
        <p:nvSpPr>
          <p:cNvPr id="5" name="Content Placeholder 4"/>
          <p:cNvSpPr>
            <a:spLocks noGrp="1"/>
          </p:cNvSpPr>
          <p:nvPr>
            <p:ph idx="1"/>
          </p:nvPr>
        </p:nvSpPr>
        <p:spPr>
          <a:xfrm>
            <a:off x="457200" y="1657350"/>
            <a:ext cx="8229600" cy="2554545"/>
          </a:xfrm>
        </p:spPr>
        <p:txBody>
          <a:bodyPr>
            <a:spAutoFit/>
          </a:bodyPr>
          <a:lstStyle/>
          <a:p>
            <a:r>
              <a:rPr lang="en-US" altLang="en-US" sz="1800" dirty="0"/>
              <a:t>Developing new organizational roles and responsibilities for the acquisition of knowledge</a:t>
            </a:r>
          </a:p>
          <a:p>
            <a:r>
              <a:rPr lang="en-US" altLang="en-US" sz="1800" dirty="0"/>
              <a:t>Chief knowledge officer executives; dedicated staff / knowledge managers</a:t>
            </a:r>
          </a:p>
          <a:p>
            <a:r>
              <a:rPr lang="en-US" altLang="en-US" sz="1800" dirty="0"/>
              <a:t>Communities of practice (</a:t>
            </a:r>
            <a:r>
              <a:rPr lang="en-US" altLang="en-US" sz="1800" spc="-300" dirty="0"/>
              <a:t>C O P </a:t>
            </a:r>
            <a:r>
              <a:rPr lang="en-US" altLang="en-US" sz="1800" dirty="0"/>
              <a:t>s)</a:t>
            </a:r>
          </a:p>
          <a:p>
            <a:pPr lvl="1"/>
            <a:r>
              <a:rPr lang="en-US" altLang="en-US" sz="1800" dirty="0"/>
              <a:t>Informal social networks of professionals and employees</a:t>
            </a:r>
          </a:p>
          <a:p>
            <a:pPr lvl="1"/>
            <a:r>
              <a:rPr lang="en-US" altLang="en-US" sz="1800" dirty="0"/>
              <a:t>Activities include education, online newsletters, sharing knowledge</a:t>
            </a:r>
          </a:p>
          <a:p>
            <a:pPr lvl="1"/>
            <a:r>
              <a:rPr lang="en-US" altLang="en-US" sz="1800" dirty="0"/>
              <a:t>Reduce learning curves of new employees</a:t>
            </a:r>
          </a:p>
        </p:txBody>
      </p:sp>
      <p:sp>
        <p:nvSpPr>
          <p:cNvPr id="2" name="Footer Placeholder 1">
            <a:extLst>
              <a:ext uri="{FF2B5EF4-FFF2-40B4-BE49-F238E27FC236}">
                <a16:creationId xmlns:a16="http://schemas.microsoft.com/office/drawing/2014/main" id="{D3D0A0D2-200C-413F-8BD9-2B73A974EBE8}"/>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854867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28885"/>
            <a:ext cx="8229600" cy="461665"/>
          </a:xfrm>
        </p:spPr>
        <p:txBody>
          <a:bodyPr>
            <a:spAutoFit/>
          </a:bodyPr>
          <a:lstStyle/>
          <a:p>
            <a:r>
              <a:rPr lang="en-US" altLang="en-US" sz="3000" dirty="0"/>
              <a:t>Types of Knowledge Management Systems</a:t>
            </a:r>
            <a:endParaRPr lang="en-US" sz="3000" dirty="0"/>
          </a:p>
        </p:txBody>
      </p:sp>
      <p:sp>
        <p:nvSpPr>
          <p:cNvPr id="5" name="Content Placeholder 4"/>
          <p:cNvSpPr>
            <a:spLocks noGrp="1"/>
          </p:cNvSpPr>
          <p:nvPr>
            <p:ph idx="1"/>
          </p:nvPr>
        </p:nvSpPr>
        <p:spPr>
          <a:xfrm>
            <a:off x="457200" y="981824"/>
            <a:ext cx="8229600" cy="3385542"/>
          </a:xfrm>
        </p:spPr>
        <p:txBody>
          <a:bodyPr>
            <a:spAutoFit/>
          </a:bodyPr>
          <a:lstStyle/>
          <a:p>
            <a:r>
              <a:rPr lang="en-US" altLang="en-US" sz="1800" dirty="0"/>
              <a:t>Enterprise-wide knowledge management systems</a:t>
            </a:r>
          </a:p>
          <a:p>
            <a:pPr lvl="1"/>
            <a:r>
              <a:rPr lang="en-US" altLang="en-US" sz="1800" dirty="0"/>
              <a:t>General-purpose firm-wide efforts to collect, store, distribute, and apply digital content and knowledge</a:t>
            </a:r>
          </a:p>
          <a:p>
            <a:r>
              <a:rPr lang="en-US" altLang="en-US" sz="1800" dirty="0"/>
              <a:t>Knowledge work systems (</a:t>
            </a:r>
            <a:r>
              <a:rPr lang="en-US" altLang="en-US" sz="1800" spc="-300" dirty="0"/>
              <a:t>K W </a:t>
            </a:r>
            <a:r>
              <a:rPr lang="en-US" altLang="en-US" sz="1800" dirty="0"/>
              <a:t>S)</a:t>
            </a:r>
          </a:p>
          <a:p>
            <a:pPr lvl="1"/>
            <a:r>
              <a:rPr lang="en-US" altLang="en-US" sz="1800" dirty="0"/>
              <a:t>Specialized systems built for engineers, scientists, other knowledge workers charged with discovering and creating new knowledge</a:t>
            </a:r>
          </a:p>
          <a:p>
            <a:r>
              <a:rPr lang="en-US" altLang="en-US" sz="1800" dirty="0"/>
              <a:t>Intelligent techniques</a:t>
            </a:r>
          </a:p>
          <a:p>
            <a:pPr lvl="1"/>
            <a:r>
              <a:rPr lang="en-US" altLang="en-US" sz="1800" dirty="0"/>
              <a:t>Diverse group of techniques, such as data mining, expert systems, machine learning, used for various goals: discovering knowledge, distilling knowledge, discovering optimal solutions</a:t>
            </a:r>
          </a:p>
        </p:txBody>
      </p:sp>
      <p:sp>
        <p:nvSpPr>
          <p:cNvPr id="2" name="Footer Placeholder 1">
            <a:extLst>
              <a:ext uri="{FF2B5EF4-FFF2-40B4-BE49-F238E27FC236}">
                <a16:creationId xmlns:a16="http://schemas.microsoft.com/office/drawing/2014/main" id="{6321F58D-F4B2-48BF-A758-797B92AD926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084555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3503"/>
            <a:ext cx="8229600" cy="984885"/>
          </a:xfrm>
        </p:spPr>
        <p:txBody>
          <a:bodyPr>
            <a:spAutoFit/>
          </a:bodyPr>
          <a:lstStyle/>
          <a:p>
            <a:r>
              <a:rPr lang="en-US" altLang="en-US" sz="3200" dirty="0"/>
              <a:t>Figure 11.2 Major Types of Knowledge Management Systems</a:t>
            </a:r>
            <a:endParaRPr lang="en-US" sz="3200" dirty="0"/>
          </a:p>
        </p:txBody>
      </p:sp>
      <p:pic>
        <p:nvPicPr>
          <p:cNvPr id="2050" name="Picture 2" descr="An illustration explains three major types of knowledge management systems.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05225" y="1356882"/>
            <a:ext cx="7333550" cy="3272268"/>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3258D588-2FBF-4525-A142-6C0C91F52A4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902354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3644"/>
            <a:ext cx="8229600" cy="553998"/>
          </a:xfrm>
        </p:spPr>
        <p:txBody>
          <a:bodyPr>
            <a:spAutoFit/>
          </a:bodyPr>
          <a:lstStyle/>
          <a:p>
            <a:r>
              <a:rPr lang="en-US" altLang="en-US" dirty="0"/>
              <a:t>What Is Artificial Intelligence? </a:t>
            </a:r>
            <a:endParaRPr lang="en-US" dirty="0"/>
          </a:p>
        </p:txBody>
      </p:sp>
      <p:sp>
        <p:nvSpPr>
          <p:cNvPr id="5" name="Content Placeholder 4"/>
          <p:cNvSpPr>
            <a:spLocks noGrp="1"/>
          </p:cNvSpPr>
          <p:nvPr>
            <p:ph idx="1"/>
          </p:nvPr>
        </p:nvSpPr>
        <p:spPr>
          <a:xfrm>
            <a:off x="457200" y="895350"/>
            <a:ext cx="8229600" cy="3693319"/>
          </a:xfrm>
        </p:spPr>
        <p:txBody>
          <a:bodyPr>
            <a:spAutoFit/>
          </a:bodyPr>
          <a:lstStyle/>
          <a:p>
            <a:r>
              <a:rPr lang="en-US" altLang="en-US" sz="2000" dirty="0"/>
              <a:t>Artificial intelligence (AI): a form of intelligent technique</a:t>
            </a:r>
          </a:p>
          <a:p>
            <a:r>
              <a:rPr lang="en-US" altLang="en-US" sz="2000" dirty="0"/>
              <a:t>Grand vision</a:t>
            </a:r>
          </a:p>
          <a:p>
            <a:pPr lvl="1"/>
            <a:r>
              <a:rPr lang="en-US" altLang="en-US" sz="2000" dirty="0"/>
              <a:t>Computer hardware and software systems that are as “smart” as humans</a:t>
            </a:r>
          </a:p>
          <a:p>
            <a:pPr lvl="1"/>
            <a:r>
              <a:rPr lang="en-US" altLang="en-US" sz="2000" dirty="0"/>
              <a:t>So far, this vision has eluded computer programmers and scientists </a:t>
            </a:r>
          </a:p>
          <a:p>
            <a:r>
              <a:rPr lang="en-US" altLang="en-US" sz="2000" dirty="0"/>
              <a:t>Narrower, more realistic vision</a:t>
            </a:r>
          </a:p>
          <a:p>
            <a:pPr lvl="1"/>
            <a:r>
              <a:rPr lang="en-US" altLang="en-US" sz="2000" dirty="0"/>
              <a:t>Systems that take data inputs, process them, and produce outputs (like all software programs) and that can perform many complex tasks that would be difficult or impossible for humans to perform.</a:t>
            </a:r>
          </a:p>
        </p:txBody>
      </p:sp>
      <p:sp>
        <p:nvSpPr>
          <p:cNvPr id="2" name="Footer Placeholder 1">
            <a:extLst>
              <a:ext uri="{FF2B5EF4-FFF2-40B4-BE49-F238E27FC236}">
                <a16:creationId xmlns:a16="http://schemas.microsoft.com/office/drawing/2014/main" id="{B96F0D46-4D3B-4331-BDA9-A5907EB29D6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391840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0098"/>
            <a:ext cx="8229600" cy="553998"/>
          </a:xfrm>
        </p:spPr>
        <p:txBody>
          <a:bodyPr>
            <a:spAutoFit/>
          </a:bodyPr>
          <a:lstStyle/>
          <a:p>
            <a:r>
              <a:rPr lang="en-US" altLang="en-US" dirty="0"/>
              <a:t>Major Types of AI</a:t>
            </a:r>
            <a:endParaRPr lang="en-US" dirty="0"/>
          </a:p>
        </p:txBody>
      </p:sp>
      <p:sp>
        <p:nvSpPr>
          <p:cNvPr id="5" name="Content Placeholder 4"/>
          <p:cNvSpPr>
            <a:spLocks noGrp="1"/>
          </p:cNvSpPr>
          <p:nvPr>
            <p:ph idx="1"/>
          </p:nvPr>
        </p:nvSpPr>
        <p:spPr>
          <a:xfrm>
            <a:off x="457200" y="831086"/>
            <a:ext cx="8229600" cy="3739485"/>
          </a:xfrm>
        </p:spPr>
        <p:txBody>
          <a:bodyPr>
            <a:spAutoFit/>
          </a:bodyPr>
          <a:lstStyle/>
          <a:p>
            <a:r>
              <a:rPr lang="en-US" altLang="en-US" dirty="0"/>
              <a:t>Expert systems</a:t>
            </a:r>
          </a:p>
          <a:p>
            <a:r>
              <a:rPr lang="en-US" altLang="en-US" dirty="0"/>
              <a:t>Machine learning</a:t>
            </a:r>
          </a:p>
          <a:p>
            <a:r>
              <a:rPr lang="en-US" altLang="en-US" dirty="0"/>
              <a:t>Neural networks and deep learning networks</a:t>
            </a:r>
          </a:p>
          <a:p>
            <a:r>
              <a:rPr lang="en-US" altLang="en-US" dirty="0"/>
              <a:t>Genetic algorithms</a:t>
            </a:r>
          </a:p>
          <a:p>
            <a:r>
              <a:rPr lang="en-US" altLang="en-US" dirty="0"/>
              <a:t>Natural language processing</a:t>
            </a:r>
          </a:p>
          <a:p>
            <a:r>
              <a:rPr lang="en-US" altLang="en-US" sz="2400" dirty="0"/>
              <a:t>Computer vision</a:t>
            </a:r>
          </a:p>
          <a:p>
            <a:r>
              <a:rPr lang="en-US" altLang="en-US" dirty="0"/>
              <a:t>Robotics</a:t>
            </a:r>
            <a:endParaRPr lang="en-US" altLang="en-US" sz="2400" dirty="0"/>
          </a:p>
        </p:txBody>
      </p:sp>
      <p:sp>
        <p:nvSpPr>
          <p:cNvPr id="2" name="Footer Placeholder 1">
            <a:extLst>
              <a:ext uri="{FF2B5EF4-FFF2-40B4-BE49-F238E27FC236}">
                <a16:creationId xmlns:a16="http://schemas.microsoft.com/office/drawing/2014/main" id="{8D42188D-F8B5-46BE-BD65-698B597DD57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1331317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6871"/>
            <a:ext cx="8229600" cy="553998"/>
          </a:xfrm>
        </p:spPr>
        <p:txBody>
          <a:bodyPr>
            <a:spAutoFit/>
          </a:bodyPr>
          <a:lstStyle/>
          <a:p>
            <a:r>
              <a:rPr lang="en-US" altLang="en-US" dirty="0"/>
              <a:t>Expert Systems</a:t>
            </a:r>
            <a:endParaRPr lang="en-US" dirty="0"/>
          </a:p>
        </p:txBody>
      </p:sp>
      <p:sp>
        <p:nvSpPr>
          <p:cNvPr id="5" name="Content Placeholder 4"/>
          <p:cNvSpPr>
            <a:spLocks noGrp="1"/>
          </p:cNvSpPr>
          <p:nvPr>
            <p:ph idx="1"/>
          </p:nvPr>
        </p:nvSpPr>
        <p:spPr>
          <a:xfrm>
            <a:off x="457200" y="819150"/>
            <a:ext cx="8229600" cy="3731791"/>
          </a:xfrm>
        </p:spPr>
        <p:txBody>
          <a:bodyPr>
            <a:spAutoFit/>
          </a:bodyPr>
          <a:lstStyle/>
          <a:p>
            <a:r>
              <a:rPr lang="en-US" altLang="en-US" sz="1600" dirty="0"/>
              <a:t>Capture tacit knowledge in very specific and limited domain of human expertise</a:t>
            </a:r>
          </a:p>
          <a:p>
            <a:r>
              <a:rPr lang="en-US" altLang="en-US" sz="1600" dirty="0"/>
              <a:t>Capture knowledge as set of rules</a:t>
            </a:r>
          </a:p>
          <a:p>
            <a:r>
              <a:rPr lang="en-US" altLang="en-US" sz="1600" dirty="0"/>
              <a:t>Typically perform limited tasks</a:t>
            </a:r>
          </a:p>
          <a:p>
            <a:pPr lvl="1"/>
            <a:r>
              <a:rPr lang="en-US" altLang="en-US" sz="1600" dirty="0"/>
              <a:t>Diagnosing malfunctioning machine</a:t>
            </a:r>
          </a:p>
          <a:p>
            <a:pPr lvl="1"/>
            <a:r>
              <a:rPr lang="en-US" altLang="en-US" sz="1600" dirty="0"/>
              <a:t>Determining whether to grant credit for loan</a:t>
            </a:r>
          </a:p>
          <a:p>
            <a:r>
              <a:rPr lang="en-US" altLang="en-US" sz="1600" dirty="0"/>
              <a:t>Used for discrete, highly structured decision making</a:t>
            </a:r>
          </a:p>
          <a:p>
            <a:r>
              <a:rPr lang="en-US" altLang="en-US" sz="1600" dirty="0"/>
              <a:t>Knowledge base: Set of hundreds or thousands of rules</a:t>
            </a:r>
          </a:p>
          <a:p>
            <a:r>
              <a:rPr lang="en-US" altLang="en-US" sz="1600" dirty="0"/>
              <a:t>Inference engine: Strategy used to search knowledge base</a:t>
            </a:r>
          </a:p>
          <a:p>
            <a:pPr lvl="1"/>
            <a:r>
              <a:rPr lang="en-US" altLang="en-US" sz="1600" dirty="0"/>
              <a:t>Forward chaining</a:t>
            </a:r>
          </a:p>
          <a:p>
            <a:pPr lvl="1"/>
            <a:r>
              <a:rPr lang="en-US" altLang="en-US" sz="1600" dirty="0"/>
              <a:t>Backward chaining</a:t>
            </a:r>
          </a:p>
        </p:txBody>
      </p:sp>
      <p:sp>
        <p:nvSpPr>
          <p:cNvPr id="2" name="Footer Placeholder 1">
            <a:extLst>
              <a:ext uri="{FF2B5EF4-FFF2-40B4-BE49-F238E27FC236}">
                <a16:creationId xmlns:a16="http://schemas.microsoft.com/office/drawing/2014/main" id="{7388FF08-B2AF-4C28-9CAC-1501EF9E764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8003986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33350"/>
            <a:ext cx="8229600" cy="492443"/>
          </a:xfrm>
        </p:spPr>
        <p:txBody>
          <a:bodyPr>
            <a:spAutoFit/>
          </a:bodyPr>
          <a:lstStyle/>
          <a:p>
            <a:r>
              <a:rPr lang="en-US" altLang="en-US" sz="3200" dirty="0"/>
              <a:t>Figure 11.3 Rules in an Expert System</a:t>
            </a:r>
            <a:endParaRPr lang="en-US" sz="3200" dirty="0"/>
          </a:p>
        </p:txBody>
      </p:sp>
      <p:pic>
        <p:nvPicPr>
          <p:cNvPr id="3074" name="Picture 2" descr="A flowchart explains the rules in an expert system.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371935" y="871032"/>
            <a:ext cx="4400130" cy="3655153"/>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B2D08905-11FA-4A7B-B19A-66F0D872344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124204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3644"/>
            <a:ext cx="8229600" cy="553998"/>
          </a:xfrm>
        </p:spPr>
        <p:txBody>
          <a:bodyPr>
            <a:spAutoFit/>
          </a:bodyPr>
          <a:lstStyle/>
          <a:p>
            <a:r>
              <a:rPr lang="en-US" altLang="en-US" dirty="0"/>
              <a:t>Machine Learning </a:t>
            </a:r>
            <a:r>
              <a:rPr lang="en-US" altLang="en-US" sz="2800" dirty="0"/>
              <a:t>(1 of 2)</a:t>
            </a:r>
            <a:endParaRPr lang="en-US" sz="2800" dirty="0"/>
          </a:p>
        </p:txBody>
      </p:sp>
      <p:sp>
        <p:nvSpPr>
          <p:cNvPr id="5" name="Content Placeholder 4"/>
          <p:cNvSpPr>
            <a:spLocks noGrp="1"/>
          </p:cNvSpPr>
          <p:nvPr>
            <p:ph idx="1"/>
          </p:nvPr>
        </p:nvSpPr>
        <p:spPr>
          <a:xfrm>
            <a:off x="457200" y="775737"/>
            <a:ext cx="8229600" cy="3100849"/>
          </a:xfrm>
        </p:spPr>
        <p:txBody>
          <a:bodyPr>
            <a:spAutoFit/>
          </a:bodyPr>
          <a:lstStyle/>
          <a:p>
            <a:r>
              <a:rPr lang="en-US" altLang="en-US" sz="2200" dirty="0"/>
              <a:t>Used by neural networks, deep learning networks, and genetic algorithms</a:t>
            </a:r>
          </a:p>
          <a:p>
            <a:r>
              <a:rPr lang="en-US" altLang="en-US" sz="2200" dirty="0"/>
              <a:t>Different paradigm than expert systems</a:t>
            </a:r>
          </a:p>
          <a:p>
            <a:r>
              <a:rPr lang="en-US" altLang="en-US" sz="2200" dirty="0"/>
              <a:t>Focuses on recognizing patterns in very large data sets</a:t>
            </a:r>
            <a:endParaRPr lang="en-US" altLang="en-US" dirty="0"/>
          </a:p>
          <a:p>
            <a:r>
              <a:rPr lang="en-US" altLang="en-US" sz="2200" dirty="0"/>
              <a:t>Contemporary examples</a:t>
            </a:r>
          </a:p>
          <a:p>
            <a:pPr lvl="1"/>
            <a:r>
              <a:rPr lang="en-US" altLang="en-US" dirty="0"/>
              <a:t>Facebook ad display</a:t>
            </a:r>
          </a:p>
          <a:p>
            <a:pPr lvl="1"/>
            <a:r>
              <a:rPr lang="en-US" altLang="en-US" dirty="0"/>
              <a:t>Netflix recommender system</a:t>
            </a:r>
          </a:p>
        </p:txBody>
      </p:sp>
      <p:sp>
        <p:nvSpPr>
          <p:cNvPr id="2" name="Footer Placeholder 1">
            <a:extLst>
              <a:ext uri="{FF2B5EF4-FFF2-40B4-BE49-F238E27FC236}">
                <a16:creationId xmlns:a16="http://schemas.microsoft.com/office/drawing/2014/main" id="{B11EB8ED-490C-4715-95FA-1CEBAE9A034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2160491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3644"/>
            <a:ext cx="8229600" cy="553998"/>
          </a:xfrm>
        </p:spPr>
        <p:txBody>
          <a:bodyPr>
            <a:spAutoFit/>
          </a:bodyPr>
          <a:lstStyle/>
          <a:p>
            <a:r>
              <a:rPr lang="en-US" altLang="en-US" dirty="0"/>
              <a:t>Machine Learning </a:t>
            </a:r>
            <a:r>
              <a:rPr lang="en-US" altLang="en-US" sz="2800" dirty="0"/>
              <a:t>(2 of 2)</a:t>
            </a:r>
            <a:endParaRPr lang="en-US" sz="2800" dirty="0"/>
          </a:p>
        </p:txBody>
      </p:sp>
      <p:sp>
        <p:nvSpPr>
          <p:cNvPr id="5" name="Content Placeholder 4"/>
          <p:cNvSpPr>
            <a:spLocks noGrp="1"/>
          </p:cNvSpPr>
          <p:nvPr>
            <p:ph idx="1"/>
          </p:nvPr>
        </p:nvSpPr>
        <p:spPr>
          <a:xfrm>
            <a:off x="457200" y="775737"/>
            <a:ext cx="8229600" cy="3023905"/>
          </a:xfrm>
        </p:spPr>
        <p:txBody>
          <a:bodyPr>
            <a:spAutoFit/>
          </a:bodyPr>
          <a:lstStyle/>
          <a:p>
            <a:r>
              <a:rPr lang="en-US" altLang="en-US" sz="2200" dirty="0"/>
              <a:t>Supervised learning</a:t>
            </a:r>
          </a:p>
          <a:p>
            <a:pPr lvl="1"/>
            <a:r>
              <a:rPr lang="en-US" altLang="en-US" sz="2000" dirty="0"/>
              <a:t>System “trained” by providing examples of desired inputs and outputs identified by humans in advanced</a:t>
            </a:r>
          </a:p>
          <a:p>
            <a:pPr lvl="1"/>
            <a:r>
              <a:rPr lang="en-US" altLang="en-US" sz="2000" dirty="0"/>
              <a:t>One technique used to develop autonomous vehicles</a:t>
            </a:r>
          </a:p>
          <a:p>
            <a:r>
              <a:rPr lang="en-US" altLang="en-US" sz="2200" dirty="0"/>
              <a:t>Unsupervised learning</a:t>
            </a:r>
          </a:p>
          <a:p>
            <a:pPr lvl="1"/>
            <a:r>
              <a:rPr lang="en-US" altLang="en-US" sz="2000" dirty="0"/>
              <a:t>Same procedures as used with supervised learning, but humans do not provide examples</a:t>
            </a:r>
          </a:p>
          <a:p>
            <a:pPr lvl="1"/>
            <a:r>
              <a:rPr lang="en-US" altLang="en-US" sz="2000" dirty="0"/>
              <a:t>“Cat Paper”</a:t>
            </a:r>
          </a:p>
        </p:txBody>
      </p:sp>
      <p:sp>
        <p:nvSpPr>
          <p:cNvPr id="2" name="Footer Placeholder 1">
            <a:extLst>
              <a:ext uri="{FF2B5EF4-FFF2-40B4-BE49-F238E27FC236}">
                <a16:creationId xmlns:a16="http://schemas.microsoft.com/office/drawing/2014/main" id="{5F2B4F45-5F27-42B5-A8D4-5B55E563859D}"/>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5773051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6552"/>
            <a:ext cx="8229600" cy="553998"/>
          </a:xfrm>
        </p:spPr>
        <p:txBody>
          <a:bodyPr>
            <a:spAutoFit/>
          </a:bodyPr>
          <a:lstStyle/>
          <a:p>
            <a:r>
              <a:rPr lang="en-US" altLang="en-US" dirty="0"/>
              <a:t>Neural Networks </a:t>
            </a:r>
            <a:r>
              <a:rPr lang="en-US" altLang="en-US" sz="2800" dirty="0"/>
              <a:t>(1 of 3)</a:t>
            </a:r>
            <a:endParaRPr lang="en-US" sz="2800" dirty="0"/>
          </a:p>
        </p:txBody>
      </p:sp>
      <p:sp>
        <p:nvSpPr>
          <p:cNvPr id="5" name="Content Placeholder 4"/>
          <p:cNvSpPr>
            <a:spLocks noGrp="1"/>
          </p:cNvSpPr>
          <p:nvPr>
            <p:ph idx="1"/>
          </p:nvPr>
        </p:nvSpPr>
        <p:spPr>
          <a:xfrm>
            <a:off x="457200" y="742727"/>
            <a:ext cx="8229600" cy="3962623"/>
          </a:xfrm>
        </p:spPr>
        <p:txBody>
          <a:bodyPr>
            <a:spAutoFit/>
          </a:bodyPr>
          <a:lstStyle/>
          <a:p>
            <a:r>
              <a:rPr lang="en-US" altLang="en-US" sz="2200" dirty="0"/>
              <a:t>Find patterns and relationships in massive amounts of data too complicated for humans to analyze</a:t>
            </a:r>
          </a:p>
          <a:p>
            <a:r>
              <a:rPr lang="en-US" altLang="en-US" sz="2200" dirty="0"/>
              <a:t>“Learn” patterns by searching for relationships, building models, and correcting over and over again</a:t>
            </a:r>
          </a:p>
          <a:p>
            <a:r>
              <a:rPr lang="en-US" altLang="en-US" sz="2200" dirty="0"/>
              <a:t>Humans “train” network by feeding it data inputs for which outputs are known, to help neural network learn solution by example from human experts</a:t>
            </a:r>
          </a:p>
          <a:p>
            <a:r>
              <a:rPr lang="en-US" altLang="en-US" sz="2200" dirty="0"/>
              <a:t>Used in medicine, science, and business for problems in pattern classification, prediction, financial analysis, and control and optimization</a:t>
            </a:r>
          </a:p>
        </p:txBody>
      </p:sp>
      <p:sp>
        <p:nvSpPr>
          <p:cNvPr id="2" name="Footer Placeholder 1">
            <a:extLst>
              <a:ext uri="{FF2B5EF4-FFF2-40B4-BE49-F238E27FC236}">
                <a16:creationId xmlns:a16="http://schemas.microsoft.com/office/drawing/2014/main" id="{2E3DEDB3-C12E-4AA0-AE67-9E8499963B0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7382457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6299"/>
            <a:ext cx="8229600" cy="492443"/>
          </a:xfrm>
        </p:spPr>
        <p:txBody>
          <a:bodyPr>
            <a:spAutoFit/>
          </a:bodyPr>
          <a:lstStyle/>
          <a:p>
            <a:r>
              <a:rPr lang="en-US" sz="3200" dirty="0"/>
              <a:t>Figure 11.4 How a Neural Network Works</a:t>
            </a:r>
          </a:p>
        </p:txBody>
      </p:sp>
      <p:pic>
        <p:nvPicPr>
          <p:cNvPr id="4098" name="Picture 2" descr="A neural network diagram explains how data from various layers gives results.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94928" y="971550"/>
            <a:ext cx="8154180" cy="362483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B4518992-39C8-4B49-9B15-689703F52DAD}"/>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4638127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60442"/>
            <a:ext cx="8229600" cy="861774"/>
          </a:xfrm>
        </p:spPr>
        <p:txBody>
          <a:bodyPr>
            <a:spAutoFit/>
          </a:bodyPr>
          <a:lstStyle/>
          <a:p>
            <a:r>
              <a:rPr lang="en-IN" sz="2800" dirty="0"/>
              <a:t>Interactive Session: Technology: Do You Know Who Is Using Your Face?</a:t>
            </a:r>
            <a:endParaRPr lang="en-US" sz="2800" dirty="0"/>
          </a:p>
        </p:txBody>
      </p:sp>
      <p:sp>
        <p:nvSpPr>
          <p:cNvPr id="5" name="Content Placeholder 4"/>
          <p:cNvSpPr>
            <a:spLocks noGrp="1"/>
          </p:cNvSpPr>
          <p:nvPr>
            <p:ph idx="1"/>
          </p:nvPr>
        </p:nvSpPr>
        <p:spPr>
          <a:xfrm>
            <a:off x="457200" y="1123950"/>
            <a:ext cx="8229600" cy="3554819"/>
          </a:xfrm>
        </p:spPr>
        <p:txBody>
          <a:bodyPr>
            <a:spAutoFit/>
          </a:bodyPr>
          <a:lstStyle/>
          <a:p>
            <a:r>
              <a:rPr lang="en-IN" altLang="en-US" dirty="0"/>
              <a:t>Class discussion</a:t>
            </a:r>
          </a:p>
          <a:p>
            <a:pPr lvl="1"/>
            <a:r>
              <a:rPr lang="en-IN" altLang="en-US" sz="2400" dirty="0"/>
              <a:t>Explain the key technologies used in facial recognition systems.</a:t>
            </a:r>
          </a:p>
          <a:p>
            <a:pPr lvl="1"/>
            <a:r>
              <a:rPr lang="en-IN" altLang="en-US" sz="2400" dirty="0"/>
              <a:t>What are the benefits of using facial recognition systems. How do they help organizations improve operations and decision making. What problems can they help solve?</a:t>
            </a:r>
          </a:p>
          <a:p>
            <a:pPr lvl="1"/>
            <a:r>
              <a:rPr lang="en-IN" altLang="en-US" sz="2400" dirty="0"/>
              <a:t>Identify and describe the disadvantages of using facial recognition systems and facial databases.</a:t>
            </a:r>
          </a:p>
        </p:txBody>
      </p:sp>
      <p:sp>
        <p:nvSpPr>
          <p:cNvPr id="2" name="Footer Placeholder 1">
            <a:extLst>
              <a:ext uri="{FF2B5EF4-FFF2-40B4-BE49-F238E27FC236}">
                <a16:creationId xmlns:a16="http://schemas.microsoft.com/office/drawing/2014/main" id="{4EDC7B6B-E362-4F5B-BF13-5EEBF2D43BE6}"/>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2086437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6552"/>
            <a:ext cx="8229600" cy="553998"/>
          </a:xfrm>
        </p:spPr>
        <p:txBody>
          <a:bodyPr>
            <a:spAutoFit/>
          </a:bodyPr>
          <a:lstStyle/>
          <a:p>
            <a:r>
              <a:rPr lang="en-US" altLang="en-US" dirty="0"/>
              <a:t>Neural Networks </a:t>
            </a:r>
            <a:r>
              <a:rPr lang="en-US" altLang="en-US" sz="2800" dirty="0"/>
              <a:t>(2 of 3)</a:t>
            </a:r>
            <a:endParaRPr lang="en-US" sz="2800" dirty="0"/>
          </a:p>
        </p:txBody>
      </p:sp>
      <p:sp>
        <p:nvSpPr>
          <p:cNvPr id="5" name="Content Placeholder 4"/>
          <p:cNvSpPr>
            <a:spLocks noGrp="1"/>
          </p:cNvSpPr>
          <p:nvPr>
            <p:ph idx="1"/>
          </p:nvPr>
        </p:nvSpPr>
        <p:spPr>
          <a:xfrm>
            <a:off x="457200" y="742727"/>
            <a:ext cx="8229600" cy="2108269"/>
          </a:xfrm>
        </p:spPr>
        <p:txBody>
          <a:bodyPr>
            <a:spAutoFit/>
          </a:bodyPr>
          <a:lstStyle/>
          <a:p>
            <a:r>
              <a:rPr lang="en-US" altLang="en-US" sz="2200" dirty="0"/>
              <a:t>Deep learning neural networks</a:t>
            </a:r>
          </a:p>
          <a:p>
            <a:pPr lvl="1"/>
            <a:r>
              <a:rPr lang="en-US" altLang="en-US" sz="2000" dirty="0"/>
              <a:t>More complex, with many layers of transformations of input data to produce target output</a:t>
            </a:r>
          </a:p>
          <a:p>
            <a:pPr lvl="1"/>
            <a:r>
              <a:rPr lang="en-US" altLang="en-US" sz="2000" dirty="0"/>
              <a:t>Used almost exclusively for pattern detection on unlabeled data (unsupervised learning)</a:t>
            </a:r>
          </a:p>
          <a:p>
            <a:pPr lvl="1"/>
            <a:r>
              <a:rPr lang="en-US" altLang="en-US" sz="2000" dirty="0"/>
              <a:t>Some believe these come closest to “grand vision” of AI</a:t>
            </a:r>
          </a:p>
        </p:txBody>
      </p:sp>
      <p:sp>
        <p:nvSpPr>
          <p:cNvPr id="2" name="Footer Placeholder 1">
            <a:extLst>
              <a:ext uri="{FF2B5EF4-FFF2-40B4-BE49-F238E27FC236}">
                <a16:creationId xmlns:a16="http://schemas.microsoft.com/office/drawing/2014/main" id="{9C1EB0DF-C7F9-4472-82F9-E36F72A6AC7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0539543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6552"/>
            <a:ext cx="8229600" cy="553998"/>
          </a:xfrm>
        </p:spPr>
        <p:txBody>
          <a:bodyPr>
            <a:spAutoFit/>
          </a:bodyPr>
          <a:lstStyle/>
          <a:p>
            <a:r>
              <a:rPr lang="en-US" dirty="0"/>
              <a:t>Figure 11.5 A Deep Learning Network</a:t>
            </a:r>
            <a:endParaRPr lang="en-US" sz="2000" dirty="0"/>
          </a:p>
        </p:txBody>
      </p:sp>
      <p:pic>
        <p:nvPicPr>
          <p:cNvPr id="1026" name="Picture 2" descr="An illustration explains an exploded view of a 3-layered neural network diagram.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821919" y="852790"/>
            <a:ext cx="5500163" cy="362396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CBEF3D31-5852-457D-AE96-911FC98F6C5E}"/>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8224472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6552"/>
            <a:ext cx="8229600" cy="553998"/>
          </a:xfrm>
        </p:spPr>
        <p:txBody>
          <a:bodyPr>
            <a:spAutoFit/>
          </a:bodyPr>
          <a:lstStyle/>
          <a:p>
            <a:r>
              <a:rPr lang="en-US" altLang="en-US" dirty="0"/>
              <a:t>Neural Networks </a:t>
            </a:r>
            <a:r>
              <a:rPr lang="en-US" altLang="en-US" sz="2800" dirty="0"/>
              <a:t>(3 of 3)</a:t>
            </a:r>
            <a:endParaRPr lang="en-US" sz="2800" dirty="0"/>
          </a:p>
        </p:txBody>
      </p:sp>
      <p:sp>
        <p:nvSpPr>
          <p:cNvPr id="5" name="Content Placeholder 4"/>
          <p:cNvSpPr>
            <a:spLocks noGrp="1"/>
          </p:cNvSpPr>
          <p:nvPr>
            <p:ph idx="1"/>
          </p:nvPr>
        </p:nvSpPr>
        <p:spPr>
          <a:xfrm>
            <a:off x="457200" y="742727"/>
            <a:ext cx="8229600" cy="3185487"/>
          </a:xfrm>
        </p:spPr>
        <p:txBody>
          <a:bodyPr>
            <a:spAutoFit/>
          </a:bodyPr>
          <a:lstStyle/>
          <a:p>
            <a:r>
              <a:rPr lang="en-US" altLang="en-US" sz="2200" dirty="0"/>
              <a:t>Limitations of neural networks and machine learning</a:t>
            </a:r>
          </a:p>
          <a:p>
            <a:pPr lvl="1"/>
            <a:r>
              <a:rPr lang="en-US" altLang="en-US" sz="2000" dirty="0"/>
              <a:t>Require very large data sets to identify patterns</a:t>
            </a:r>
          </a:p>
          <a:p>
            <a:pPr lvl="1"/>
            <a:r>
              <a:rPr lang="en-US" altLang="en-US" sz="2000" dirty="0"/>
              <a:t>Patterns may not “make sense: or may be ephemeral</a:t>
            </a:r>
          </a:p>
          <a:p>
            <a:pPr lvl="1"/>
            <a:r>
              <a:rPr lang="en-US" altLang="en-US" sz="2000" dirty="0"/>
              <a:t>How system arrived at a particular solution often cannot be explained</a:t>
            </a:r>
          </a:p>
          <a:p>
            <a:pPr lvl="1"/>
            <a:r>
              <a:rPr lang="en-US" altLang="en-US" sz="2000" dirty="0"/>
              <a:t>Most useful for classifying digital assets into binary categories (yes or no), but most real-world problems do not have binary solutions</a:t>
            </a:r>
          </a:p>
          <a:p>
            <a:pPr lvl="1"/>
            <a:r>
              <a:rPr lang="en-US" altLang="en-US" sz="2000" dirty="0"/>
              <a:t>No sense of ethics, so may recommend actions that are illegal or immoral</a:t>
            </a:r>
          </a:p>
        </p:txBody>
      </p:sp>
      <p:sp>
        <p:nvSpPr>
          <p:cNvPr id="2" name="Footer Placeholder 1">
            <a:extLst>
              <a:ext uri="{FF2B5EF4-FFF2-40B4-BE49-F238E27FC236}">
                <a16:creationId xmlns:a16="http://schemas.microsoft.com/office/drawing/2014/main" id="{F3BB9476-1BFC-428F-BC59-90B48149B925}"/>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7118248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6871"/>
            <a:ext cx="8229600" cy="553998"/>
          </a:xfrm>
        </p:spPr>
        <p:txBody>
          <a:bodyPr>
            <a:spAutoFit/>
          </a:bodyPr>
          <a:lstStyle/>
          <a:p>
            <a:r>
              <a:rPr lang="en-US" altLang="en-US" dirty="0"/>
              <a:t>Genetic Algorithms</a:t>
            </a:r>
            <a:endParaRPr lang="en-US" dirty="0"/>
          </a:p>
        </p:txBody>
      </p:sp>
      <p:sp>
        <p:nvSpPr>
          <p:cNvPr id="5" name="Content Placeholder 4"/>
          <p:cNvSpPr>
            <a:spLocks noGrp="1"/>
          </p:cNvSpPr>
          <p:nvPr>
            <p:ph idx="1"/>
          </p:nvPr>
        </p:nvSpPr>
        <p:spPr>
          <a:xfrm>
            <a:off x="457200" y="973559"/>
            <a:ext cx="8229600" cy="3731791"/>
          </a:xfrm>
        </p:spPr>
        <p:txBody>
          <a:bodyPr>
            <a:spAutoFit/>
          </a:bodyPr>
          <a:lstStyle/>
          <a:p>
            <a:r>
              <a:rPr lang="en-IN" altLang="en-US" sz="2000" dirty="0"/>
              <a:t>Useful for finding optimal solution for specific problem by examining very large number of possible solutions for that problem</a:t>
            </a:r>
          </a:p>
          <a:p>
            <a:r>
              <a:rPr lang="en-IN" altLang="en-US" sz="2000" dirty="0"/>
              <a:t>Conceptually based on process of evolution</a:t>
            </a:r>
          </a:p>
          <a:p>
            <a:pPr lvl="1"/>
            <a:r>
              <a:rPr lang="en-IN" altLang="en-US" sz="2000" dirty="0"/>
              <a:t>Search among solution variables by changing and reorganizing component parts using processes such as inheritance, mutation, and selection</a:t>
            </a:r>
          </a:p>
          <a:p>
            <a:r>
              <a:rPr lang="en-IN" altLang="en-US" sz="2000" dirty="0"/>
              <a:t>Used in optimization problems (minimization of costs, efficient scheduling, optimal jet engine design) in which hundreds or thousands of variables exist</a:t>
            </a:r>
          </a:p>
          <a:p>
            <a:r>
              <a:rPr lang="en-IN" altLang="en-US" sz="2000" dirty="0"/>
              <a:t>Able to evaluate many solution alternatives quickly</a:t>
            </a:r>
          </a:p>
        </p:txBody>
      </p:sp>
      <p:sp>
        <p:nvSpPr>
          <p:cNvPr id="2" name="Footer Placeholder 1">
            <a:extLst>
              <a:ext uri="{FF2B5EF4-FFF2-40B4-BE49-F238E27FC236}">
                <a16:creationId xmlns:a16="http://schemas.microsoft.com/office/drawing/2014/main" id="{AA4F7360-FA96-45C0-8F6B-E244CE37C326}"/>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8782614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3503"/>
            <a:ext cx="8229600" cy="984885"/>
          </a:xfrm>
        </p:spPr>
        <p:txBody>
          <a:bodyPr>
            <a:spAutoFit/>
          </a:bodyPr>
          <a:lstStyle/>
          <a:p>
            <a:r>
              <a:rPr lang="en-IN" sz="3200" dirty="0"/>
              <a:t>Figure 11.6 The Components of a Genetic Algorithm</a:t>
            </a:r>
            <a:endParaRPr lang="en-US" sz="3200" dirty="0"/>
          </a:p>
        </p:txBody>
      </p:sp>
      <p:pic>
        <p:nvPicPr>
          <p:cNvPr id="2050" name="Picture 2" descr="An illustration explains the components of a genetic algorithm.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52945" y="1291883"/>
            <a:ext cx="8040763" cy="3413467"/>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39710547-151F-4083-AD74-EB968F46147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3628558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6552"/>
            <a:ext cx="8229600" cy="553998"/>
          </a:xfrm>
        </p:spPr>
        <p:txBody>
          <a:bodyPr>
            <a:spAutoFit/>
          </a:bodyPr>
          <a:lstStyle/>
          <a:p>
            <a:r>
              <a:rPr lang="en-US" dirty="0"/>
              <a:t>Natural Language Processing </a:t>
            </a:r>
          </a:p>
        </p:txBody>
      </p:sp>
      <p:sp>
        <p:nvSpPr>
          <p:cNvPr id="5" name="Content Placeholder 4"/>
          <p:cNvSpPr>
            <a:spLocks noGrp="1"/>
          </p:cNvSpPr>
          <p:nvPr>
            <p:ph idx="1"/>
          </p:nvPr>
        </p:nvSpPr>
        <p:spPr>
          <a:xfrm>
            <a:off x="457200" y="784175"/>
            <a:ext cx="8229600" cy="2970044"/>
          </a:xfrm>
        </p:spPr>
        <p:txBody>
          <a:bodyPr>
            <a:spAutoFit/>
          </a:bodyPr>
          <a:lstStyle/>
          <a:p>
            <a:r>
              <a:rPr lang="en-IN" altLang="en-US" dirty="0"/>
              <a:t>Software that can process voice or text command using natural human language</a:t>
            </a:r>
          </a:p>
          <a:p>
            <a:r>
              <a:rPr lang="en-IN" altLang="en-US" dirty="0"/>
              <a:t>Typically based on machine learning, including deep learning</a:t>
            </a:r>
          </a:p>
          <a:p>
            <a:r>
              <a:rPr lang="en-IN" altLang="en-US" dirty="0"/>
              <a:t>Examples: Google search; spam filtering systems; text mining sentiment analysis; customer call </a:t>
            </a:r>
            <a:r>
              <a:rPr lang="en-IN" altLang="en-US" dirty="0" err="1"/>
              <a:t>center</a:t>
            </a:r>
            <a:r>
              <a:rPr lang="en-IN" altLang="en-US" dirty="0"/>
              <a:t> interactions</a:t>
            </a:r>
          </a:p>
        </p:txBody>
      </p:sp>
      <p:sp>
        <p:nvSpPr>
          <p:cNvPr id="2" name="Footer Placeholder 1">
            <a:extLst>
              <a:ext uri="{FF2B5EF4-FFF2-40B4-BE49-F238E27FC236}">
                <a16:creationId xmlns:a16="http://schemas.microsoft.com/office/drawing/2014/main" id="{51D6D95F-926E-4296-848B-3D59691DB377}"/>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6021802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0098"/>
            <a:ext cx="8229600" cy="553998"/>
          </a:xfrm>
        </p:spPr>
        <p:txBody>
          <a:bodyPr>
            <a:spAutoFit/>
          </a:bodyPr>
          <a:lstStyle/>
          <a:p>
            <a:r>
              <a:rPr lang="en-US" dirty="0"/>
              <a:t>Computer Vision Systems </a:t>
            </a:r>
          </a:p>
        </p:txBody>
      </p:sp>
      <p:sp>
        <p:nvSpPr>
          <p:cNvPr id="5" name="Content Placeholder 4"/>
          <p:cNvSpPr>
            <a:spLocks noGrp="1"/>
          </p:cNvSpPr>
          <p:nvPr>
            <p:ph idx="1"/>
          </p:nvPr>
        </p:nvSpPr>
        <p:spPr>
          <a:xfrm>
            <a:off x="457200" y="860375"/>
            <a:ext cx="8229600" cy="3300904"/>
          </a:xfrm>
        </p:spPr>
        <p:txBody>
          <a:bodyPr>
            <a:spAutoFit/>
          </a:bodyPr>
          <a:lstStyle/>
          <a:p>
            <a:r>
              <a:rPr lang="en-IN" altLang="en-US" dirty="0"/>
              <a:t>Emulate human visual system to view and extract information from real-world images</a:t>
            </a:r>
          </a:p>
          <a:p>
            <a:r>
              <a:rPr lang="en-IN" altLang="en-US" dirty="0"/>
              <a:t>Examples: </a:t>
            </a:r>
          </a:p>
          <a:p>
            <a:pPr lvl="1"/>
            <a:r>
              <a:rPr lang="en-IN" altLang="en-US" sz="2400" dirty="0"/>
              <a:t>Facebook’s </a:t>
            </a:r>
            <a:r>
              <a:rPr lang="en-IN" altLang="en-US" sz="2400" dirty="0" err="1"/>
              <a:t>DeepFace</a:t>
            </a:r>
            <a:r>
              <a:rPr lang="en-IN" altLang="en-US" sz="2400" dirty="0"/>
              <a:t> can identify friends in photos across their system and the entire web</a:t>
            </a:r>
          </a:p>
          <a:p>
            <a:pPr lvl="1"/>
            <a:r>
              <a:rPr lang="en-IN" altLang="en-US" sz="2400" dirty="0"/>
              <a:t>Autonomous vehicles can recognize signs, road markers, people, animals, and other vehicles with good reliability</a:t>
            </a:r>
          </a:p>
        </p:txBody>
      </p:sp>
      <p:sp>
        <p:nvSpPr>
          <p:cNvPr id="2" name="Footer Placeholder 1">
            <a:extLst>
              <a:ext uri="{FF2B5EF4-FFF2-40B4-BE49-F238E27FC236}">
                <a16:creationId xmlns:a16="http://schemas.microsoft.com/office/drawing/2014/main" id="{67EA528A-9FB3-4662-810B-C7DE7A2D8A0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6297671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3997"/>
            <a:ext cx="8229600" cy="553998"/>
          </a:xfrm>
        </p:spPr>
        <p:txBody>
          <a:bodyPr>
            <a:spAutoFit/>
          </a:bodyPr>
          <a:lstStyle/>
          <a:p>
            <a:r>
              <a:rPr lang="en-US" dirty="0"/>
              <a:t>Robotics</a:t>
            </a:r>
          </a:p>
        </p:txBody>
      </p:sp>
      <p:sp>
        <p:nvSpPr>
          <p:cNvPr id="5" name="Content Placeholder 4"/>
          <p:cNvSpPr>
            <a:spLocks noGrp="1"/>
          </p:cNvSpPr>
          <p:nvPr>
            <p:ph idx="1"/>
          </p:nvPr>
        </p:nvSpPr>
        <p:spPr>
          <a:xfrm>
            <a:off x="457200" y="906754"/>
            <a:ext cx="8229600" cy="3624069"/>
          </a:xfrm>
        </p:spPr>
        <p:txBody>
          <a:bodyPr>
            <a:spAutoFit/>
          </a:bodyPr>
          <a:lstStyle/>
          <a:p>
            <a:r>
              <a:rPr lang="en-IN" altLang="en-US" sz="2200" dirty="0"/>
              <a:t>Design, construction, and operation of movable machines that can substitute for humans, along with computer systems for their control, sensory feedback, and information processing</a:t>
            </a:r>
          </a:p>
          <a:p>
            <a:r>
              <a:rPr lang="en-IN" altLang="en-US" sz="2200" dirty="0"/>
              <a:t>Generally programmed to perform specific and detailed actions in limited domains, e.g. robots spray paint autos, and assemble certain parts, welding, heavy assembly movement</a:t>
            </a:r>
          </a:p>
          <a:p>
            <a:r>
              <a:rPr lang="en-IN" altLang="en-US" sz="2200" dirty="0"/>
              <a:t>Used in dangerous situations like bomb disposal, delivering medical supplies to coronavirus-contaminated locations</a:t>
            </a:r>
          </a:p>
          <a:p>
            <a:r>
              <a:rPr lang="en-IN" altLang="en-US" sz="2200" dirty="0"/>
              <a:t>Surgical robots are expanding their capabilities</a:t>
            </a:r>
          </a:p>
        </p:txBody>
      </p:sp>
      <p:sp>
        <p:nvSpPr>
          <p:cNvPr id="2" name="Footer Placeholder 1">
            <a:extLst>
              <a:ext uri="{FF2B5EF4-FFF2-40B4-BE49-F238E27FC236}">
                <a16:creationId xmlns:a16="http://schemas.microsoft.com/office/drawing/2014/main" id="{8E928B86-838E-4407-964C-6B312B61CD6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2619879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89958"/>
            <a:ext cx="8229600" cy="984885"/>
          </a:xfrm>
        </p:spPr>
        <p:txBody>
          <a:bodyPr>
            <a:spAutoFit/>
          </a:bodyPr>
          <a:lstStyle/>
          <a:p>
            <a:r>
              <a:rPr lang="en-IN" sz="3200" dirty="0"/>
              <a:t>Interactive Session: Organizations: Will AI Kill Jobs?</a:t>
            </a:r>
            <a:endParaRPr lang="en-US" sz="3200" dirty="0"/>
          </a:p>
        </p:txBody>
      </p:sp>
      <p:sp>
        <p:nvSpPr>
          <p:cNvPr id="5" name="Content Placeholder 4"/>
          <p:cNvSpPr>
            <a:spLocks noGrp="1"/>
          </p:cNvSpPr>
          <p:nvPr>
            <p:ph idx="1"/>
          </p:nvPr>
        </p:nvSpPr>
        <p:spPr>
          <a:xfrm>
            <a:off x="457200" y="1351330"/>
            <a:ext cx="8229600" cy="2600712"/>
          </a:xfrm>
        </p:spPr>
        <p:txBody>
          <a:bodyPr>
            <a:spAutoFit/>
          </a:bodyPr>
          <a:lstStyle/>
          <a:p>
            <a:r>
              <a:rPr lang="en-IN" sz="2200" dirty="0"/>
              <a:t>Class discussion</a:t>
            </a:r>
          </a:p>
          <a:p>
            <a:pPr lvl="1"/>
            <a:r>
              <a:rPr lang="en-US" dirty="0"/>
              <a:t>Identify the problem described in this case study. In what sense is it an ethical dilemma?</a:t>
            </a:r>
          </a:p>
          <a:p>
            <a:pPr lvl="1"/>
            <a:r>
              <a:rPr lang="en-US" dirty="0"/>
              <a:t>Should more tasks be given to AI? Why or why not? Explain your answer.</a:t>
            </a:r>
          </a:p>
          <a:p>
            <a:pPr lvl="1"/>
            <a:r>
              <a:rPr lang="en-US" dirty="0"/>
              <a:t>Can the problem of AI reducing employment be solved? Explain your answer.</a:t>
            </a:r>
          </a:p>
        </p:txBody>
      </p:sp>
      <p:sp>
        <p:nvSpPr>
          <p:cNvPr id="2" name="Footer Placeholder 1">
            <a:extLst>
              <a:ext uri="{FF2B5EF4-FFF2-40B4-BE49-F238E27FC236}">
                <a16:creationId xmlns:a16="http://schemas.microsoft.com/office/drawing/2014/main" id="{62E285FA-977B-4CE2-8B11-AF3A4013A7A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569596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3325"/>
            <a:ext cx="8229600" cy="553998"/>
          </a:xfrm>
        </p:spPr>
        <p:txBody>
          <a:bodyPr>
            <a:spAutoFit/>
          </a:bodyPr>
          <a:lstStyle/>
          <a:p>
            <a:r>
              <a:rPr lang="en-US" dirty="0"/>
              <a:t>Intelligent Agents</a:t>
            </a:r>
          </a:p>
        </p:txBody>
      </p:sp>
      <p:sp>
        <p:nvSpPr>
          <p:cNvPr id="5" name="Content Placeholder 4"/>
          <p:cNvSpPr>
            <a:spLocks noGrp="1"/>
          </p:cNvSpPr>
          <p:nvPr>
            <p:ph idx="1"/>
          </p:nvPr>
        </p:nvSpPr>
        <p:spPr>
          <a:xfrm>
            <a:off x="457200" y="821903"/>
            <a:ext cx="8229600" cy="3654847"/>
          </a:xfrm>
        </p:spPr>
        <p:txBody>
          <a:bodyPr>
            <a:spAutoFit/>
          </a:bodyPr>
          <a:lstStyle/>
          <a:p>
            <a:r>
              <a:rPr lang="en-IN" altLang="en-US" sz="1800" dirty="0"/>
              <a:t>Work without direct human intervention to carry out repetitive, predictable tasks</a:t>
            </a:r>
          </a:p>
          <a:p>
            <a:pPr lvl="1"/>
            <a:r>
              <a:rPr lang="en-IN" altLang="en-US" sz="1800" dirty="0"/>
              <a:t>Deleting junk e-mail</a:t>
            </a:r>
          </a:p>
          <a:p>
            <a:pPr lvl="1"/>
            <a:r>
              <a:rPr lang="en-IN" altLang="en-US" sz="1800" dirty="0"/>
              <a:t>Finding cheapest airfare</a:t>
            </a:r>
          </a:p>
          <a:p>
            <a:r>
              <a:rPr lang="en-IN" altLang="en-US" sz="1800" dirty="0"/>
              <a:t>Use limited built-in or learned knowledge base</a:t>
            </a:r>
          </a:p>
          <a:p>
            <a:pPr lvl="1"/>
            <a:r>
              <a:rPr lang="en-IN" altLang="en-US" sz="1800" dirty="0"/>
              <a:t>Some are capable of self-adjustment, for example: </a:t>
            </a:r>
            <a:r>
              <a:rPr lang="en-IN" altLang="en-US" sz="1800" dirty="0" err="1"/>
              <a:t>Siri</a:t>
            </a:r>
            <a:endParaRPr lang="en-IN" altLang="en-US" sz="1800" dirty="0"/>
          </a:p>
          <a:p>
            <a:r>
              <a:rPr lang="en-IN" altLang="en-US" sz="1800" dirty="0" err="1"/>
              <a:t>Chatbots</a:t>
            </a:r>
            <a:endParaRPr lang="en-IN" altLang="en-US" sz="1800" dirty="0"/>
          </a:p>
          <a:p>
            <a:r>
              <a:rPr lang="en-IN" altLang="en-US" sz="1800" dirty="0"/>
              <a:t>Agent-based </a:t>
            </a:r>
            <a:r>
              <a:rPr lang="en-IN" altLang="en-US" sz="1800" dirty="0" err="1"/>
              <a:t>modeling</a:t>
            </a:r>
            <a:r>
              <a:rPr lang="en-IN" altLang="en-US" sz="1800" dirty="0"/>
              <a:t> applications:</a:t>
            </a:r>
          </a:p>
          <a:p>
            <a:pPr lvl="1"/>
            <a:r>
              <a:rPr lang="en-IN" altLang="en-US" sz="1800" dirty="0"/>
              <a:t>Model </a:t>
            </a:r>
            <a:r>
              <a:rPr lang="en-IN" altLang="en-US" sz="1800" dirty="0" err="1"/>
              <a:t>behavior</a:t>
            </a:r>
            <a:r>
              <a:rPr lang="en-IN" altLang="en-US" sz="1800" dirty="0"/>
              <a:t> of consumers, stock markets, and supply chains; used to predict spread of epidemics</a:t>
            </a:r>
          </a:p>
        </p:txBody>
      </p:sp>
      <p:sp>
        <p:nvSpPr>
          <p:cNvPr id="2" name="Footer Placeholder 1">
            <a:extLst>
              <a:ext uri="{FF2B5EF4-FFF2-40B4-BE49-F238E27FC236}">
                <a16:creationId xmlns:a16="http://schemas.microsoft.com/office/drawing/2014/main" id="{053DF94B-88E2-4763-A3EF-7BF1A334F30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0909315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7469"/>
            <a:ext cx="8229600" cy="984885"/>
          </a:xfrm>
        </p:spPr>
        <p:txBody>
          <a:bodyPr>
            <a:spAutoFit/>
          </a:bodyPr>
          <a:lstStyle/>
          <a:p>
            <a:r>
              <a:rPr lang="en-IN" sz="3200" dirty="0"/>
              <a:t>Figure 11.7 Intelligent Agents in P&amp;G’s Supply Chain Network</a:t>
            </a:r>
            <a:endParaRPr lang="en-US" sz="3200" dirty="0"/>
          </a:p>
        </p:txBody>
      </p:sp>
      <p:pic>
        <p:nvPicPr>
          <p:cNvPr id="3074" name="Picture 2" descr="An illustration explains how software agents support in shortening the replenishment cycle.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821919" y="1163961"/>
            <a:ext cx="5500163" cy="3541389"/>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36B5C334-7833-45B8-B334-D25B3DC70BA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9402324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3031"/>
            <a:ext cx="8229600" cy="984885"/>
          </a:xfrm>
        </p:spPr>
        <p:txBody>
          <a:bodyPr>
            <a:spAutoFit/>
          </a:bodyPr>
          <a:lstStyle/>
          <a:p>
            <a:r>
              <a:rPr lang="en-US" altLang="en-US" sz="3200" dirty="0"/>
              <a:t>What Types of Systems Are Used for Enterprise-Wide Knowledge Management?</a:t>
            </a:r>
            <a:endParaRPr lang="en-US" sz="3200" dirty="0"/>
          </a:p>
        </p:txBody>
      </p:sp>
      <p:sp>
        <p:nvSpPr>
          <p:cNvPr id="5" name="Content Placeholder 4"/>
          <p:cNvSpPr>
            <a:spLocks noGrp="1"/>
          </p:cNvSpPr>
          <p:nvPr>
            <p:ph idx="1"/>
          </p:nvPr>
        </p:nvSpPr>
        <p:spPr>
          <a:xfrm>
            <a:off x="457200" y="1428750"/>
            <a:ext cx="8229600" cy="2870016"/>
          </a:xfrm>
        </p:spPr>
        <p:txBody>
          <a:bodyPr>
            <a:spAutoFit/>
          </a:bodyPr>
          <a:lstStyle/>
          <a:p>
            <a:r>
              <a:rPr lang="en-US" altLang="en-US" sz="1800" dirty="0"/>
              <a:t>Three major types of knowledge in an enterprise</a:t>
            </a:r>
          </a:p>
          <a:p>
            <a:pPr lvl="1"/>
            <a:r>
              <a:rPr lang="en-US" altLang="en-US" sz="1800" dirty="0"/>
              <a:t>Structured documents</a:t>
            </a:r>
          </a:p>
          <a:p>
            <a:pPr lvl="2"/>
            <a:r>
              <a:rPr lang="en-US" altLang="en-US" sz="1800" dirty="0"/>
              <a:t>Reports, presentations</a:t>
            </a:r>
          </a:p>
          <a:p>
            <a:pPr lvl="2"/>
            <a:r>
              <a:rPr lang="en-US" altLang="en-US" sz="1800" dirty="0"/>
              <a:t>Formal rules</a:t>
            </a:r>
          </a:p>
          <a:p>
            <a:pPr lvl="1"/>
            <a:r>
              <a:rPr lang="en-US" altLang="en-US" sz="1800" dirty="0" err="1"/>
              <a:t>Semistructured</a:t>
            </a:r>
            <a:r>
              <a:rPr lang="en-US" altLang="en-US" sz="1800" dirty="0"/>
              <a:t> documents</a:t>
            </a:r>
          </a:p>
          <a:p>
            <a:pPr lvl="2"/>
            <a:r>
              <a:rPr lang="en-US" altLang="en-US" sz="1800" dirty="0"/>
              <a:t>E-mails, videos</a:t>
            </a:r>
          </a:p>
          <a:p>
            <a:pPr lvl="1"/>
            <a:r>
              <a:rPr lang="en-US" altLang="en-US" sz="1800" dirty="0"/>
              <a:t>Unstructured, tacit knowledge</a:t>
            </a:r>
          </a:p>
          <a:p>
            <a:r>
              <a:rPr lang="en-US" altLang="en-US" sz="1800" dirty="0"/>
              <a:t>80% of an organization’s business content is </a:t>
            </a:r>
            <a:r>
              <a:rPr lang="en-US" altLang="en-US" sz="1800" dirty="0" err="1"/>
              <a:t>semistructured</a:t>
            </a:r>
            <a:r>
              <a:rPr lang="en-US" altLang="en-US" sz="1800" dirty="0"/>
              <a:t> or unstructured</a:t>
            </a:r>
          </a:p>
        </p:txBody>
      </p:sp>
      <p:sp>
        <p:nvSpPr>
          <p:cNvPr id="2" name="Footer Placeholder 1">
            <a:extLst>
              <a:ext uri="{FF2B5EF4-FFF2-40B4-BE49-F238E27FC236}">
                <a16:creationId xmlns:a16="http://schemas.microsoft.com/office/drawing/2014/main" id="{E63052FB-30B6-4198-8B27-602D9FEE527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4650391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7788"/>
            <a:ext cx="8229600" cy="492443"/>
          </a:xfrm>
        </p:spPr>
        <p:txBody>
          <a:bodyPr>
            <a:spAutoFit/>
          </a:bodyPr>
          <a:lstStyle/>
          <a:p>
            <a:r>
              <a:rPr lang="en-US" sz="3200" dirty="0"/>
              <a:t>Enterprise Content Management Systems</a:t>
            </a:r>
          </a:p>
        </p:txBody>
      </p:sp>
      <p:sp>
        <p:nvSpPr>
          <p:cNvPr id="5" name="Content Placeholder 4"/>
          <p:cNvSpPr>
            <a:spLocks noGrp="1"/>
          </p:cNvSpPr>
          <p:nvPr>
            <p:ph idx="1"/>
          </p:nvPr>
        </p:nvSpPr>
        <p:spPr>
          <a:xfrm>
            <a:off x="457200" y="895350"/>
            <a:ext cx="8229600" cy="3385542"/>
          </a:xfrm>
        </p:spPr>
        <p:txBody>
          <a:bodyPr>
            <a:spAutoFit/>
          </a:bodyPr>
          <a:lstStyle/>
          <a:p>
            <a:r>
              <a:rPr lang="en-IN" altLang="en-US" sz="2000" dirty="0"/>
              <a:t>Help capture, store, retrieve, distribute, preserve documents and </a:t>
            </a:r>
            <a:r>
              <a:rPr lang="en-IN" altLang="en-US" sz="2000" dirty="0" err="1"/>
              <a:t>semistructured</a:t>
            </a:r>
            <a:r>
              <a:rPr lang="en-IN" altLang="en-US" sz="2000" dirty="0"/>
              <a:t> knowledge</a:t>
            </a:r>
          </a:p>
          <a:p>
            <a:r>
              <a:rPr lang="en-IN" altLang="en-US" sz="2000" dirty="0"/>
              <a:t>Bring in external sources</a:t>
            </a:r>
          </a:p>
          <a:p>
            <a:pPr lvl="1"/>
            <a:r>
              <a:rPr lang="en-IN" altLang="en-US" sz="2000" dirty="0"/>
              <a:t>News feeds, research</a:t>
            </a:r>
          </a:p>
          <a:p>
            <a:r>
              <a:rPr lang="en-IN" altLang="en-US" sz="2000" dirty="0"/>
              <a:t>Tools for communication and collaboration</a:t>
            </a:r>
          </a:p>
          <a:p>
            <a:pPr lvl="1"/>
            <a:r>
              <a:rPr lang="en-IN" altLang="en-US" sz="2000" dirty="0"/>
              <a:t>Blogs, wikis, and so on</a:t>
            </a:r>
          </a:p>
          <a:p>
            <a:r>
              <a:rPr lang="en-IN" altLang="en-US" sz="2000" dirty="0"/>
              <a:t>Key problem: developing taxonomy</a:t>
            </a:r>
          </a:p>
          <a:p>
            <a:r>
              <a:rPr lang="en-IN" altLang="en-US" sz="2000" dirty="0"/>
              <a:t>Digital asset management systems</a:t>
            </a:r>
          </a:p>
        </p:txBody>
      </p:sp>
      <p:sp>
        <p:nvSpPr>
          <p:cNvPr id="2" name="Footer Placeholder 1">
            <a:extLst>
              <a:ext uri="{FF2B5EF4-FFF2-40B4-BE49-F238E27FC236}">
                <a16:creationId xmlns:a16="http://schemas.microsoft.com/office/drawing/2014/main" id="{2028A52C-2A2C-48B7-A383-BE36A7A38B95}"/>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6572103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6730"/>
            <a:ext cx="8229600" cy="984885"/>
          </a:xfrm>
        </p:spPr>
        <p:txBody>
          <a:bodyPr>
            <a:spAutoFit/>
          </a:bodyPr>
          <a:lstStyle/>
          <a:p>
            <a:r>
              <a:rPr lang="en-US" sz="3200" dirty="0"/>
              <a:t>Figure 11.8 </a:t>
            </a:r>
            <a:r>
              <a:rPr lang="en-US" altLang="en-US" sz="3200" dirty="0"/>
              <a:t>An Enterprise Content Management System</a:t>
            </a:r>
            <a:endParaRPr lang="en-US" sz="3200" dirty="0"/>
          </a:p>
        </p:txBody>
      </p:sp>
      <p:pic>
        <p:nvPicPr>
          <p:cNvPr id="4098" name="Picture 2" descr="A linear flow diagram explains the concept of an enterprise content management system.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638580" y="1276350"/>
            <a:ext cx="5866840" cy="348389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423A6854-55B6-492D-93D9-4135E096C31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0668411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3923"/>
            <a:ext cx="8229600" cy="553998"/>
          </a:xfrm>
        </p:spPr>
        <p:txBody>
          <a:bodyPr>
            <a:spAutoFit/>
          </a:bodyPr>
          <a:lstStyle/>
          <a:p>
            <a:r>
              <a:rPr lang="en-US" dirty="0"/>
              <a:t>Locating and Sharing Expertise	</a:t>
            </a:r>
          </a:p>
        </p:txBody>
      </p:sp>
      <p:sp>
        <p:nvSpPr>
          <p:cNvPr id="5" name="Content Placeholder 4"/>
          <p:cNvSpPr>
            <a:spLocks noGrp="1"/>
          </p:cNvSpPr>
          <p:nvPr>
            <p:ph idx="1"/>
          </p:nvPr>
        </p:nvSpPr>
        <p:spPr>
          <a:xfrm>
            <a:off x="457200" y="890409"/>
            <a:ext cx="8229600" cy="3662541"/>
          </a:xfrm>
        </p:spPr>
        <p:txBody>
          <a:bodyPr>
            <a:spAutoFit/>
          </a:bodyPr>
          <a:lstStyle/>
          <a:p>
            <a:r>
              <a:rPr lang="en-IN" altLang="en-US" sz="2200" dirty="0"/>
              <a:t>Provide online directory of corporate experts in well-defined knowledge domains</a:t>
            </a:r>
          </a:p>
          <a:p>
            <a:r>
              <a:rPr lang="en-IN" altLang="en-US" sz="2200" dirty="0"/>
              <a:t>Search tools enable employees to find appropriate expert in a company</a:t>
            </a:r>
          </a:p>
          <a:p>
            <a:r>
              <a:rPr lang="en-IN" altLang="en-US" sz="2200" dirty="0"/>
              <a:t>Social networking and social business tools for finding knowledge outside the firm</a:t>
            </a:r>
          </a:p>
          <a:p>
            <a:pPr lvl="1"/>
            <a:r>
              <a:rPr lang="en-IN" altLang="en-US" dirty="0"/>
              <a:t>Saving</a:t>
            </a:r>
          </a:p>
          <a:p>
            <a:pPr lvl="1"/>
            <a:r>
              <a:rPr lang="en-IN" altLang="en-US" dirty="0"/>
              <a:t>Tagging</a:t>
            </a:r>
          </a:p>
          <a:p>
            <a:pPr lvl="1"/>
            <a:r>
              <a:rPr lang="en-IN" altLang="en-US" dirty="0"/>
              <a:t>Sharing web pages</a:t>
            </a:r>
          </a:p>
        </p:txBody>
      </p:sp>
      <p:sp>
        <p:nvSpPr>
          <p:cNvPr id="2" name="Footer Placeholder 1">
            <a:extLst>
              <a:ext uri="{FF2B5EF4-FFF2-40B4-BE49-F238E27FC236}">
                <a16:creationId xmlns:a16="http://schemas.microsoft.com/office/drawing/2014/main" id="{C36791F9-53DD-4E37-8557-C85E0FB78D9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4095927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4561"/>
            <a:ext cx="8229600" cy="492443"/>
          </a:xfrm>
        </p:spPr>
        <p:txBody>
          <a:bodyPr>
            <a:spAutoFit/>
          </a:bodyPr>
          <a:lstStyle/>
          <a:p>
            <a:r>
              <a:rPr lang="en-IN" sz="3200" dirty="0"/>
              <a:t>Learning Management Systems (</a:t>
            </a:r>
            <a:r>
              <a:rPr lang="en-IN" sz="3200" spc="-450" dirty="0"/>
              <a:t>L M </a:t>
            </a:r>
            <a:r>
              <a:rPr lang="en-IN" sz="3200" dirty="0"/>
              <a:t>S)</a:t>
            </a:r>
            <a:endParaRPr lang="en-US" sz="3200" dirty="0"/>
          </a:p>
        </p:txBody>
      </p:sp>
      <p:sp>
        <p:nvSpPr>
          <p:cNvPr id="5" name="Content Placeholder 4"/>
          <p:cNvSpPr>
            <a:spLocks noGrp="1"/>
          </p:cNvSpPr>
          <p:nvPr>
            <p:ph idx="1"/>
          </p:nvPr>
        </p:nvSpPr>
        <p:spPr>
          <a:xfrm>
            <a:off x="457200" y="819150"/>
            <a:ext cx="8229600" cy="3608680"/>
          </a:xfrm>
        </p:spPr>
        <p:txBody>
          <a:bodyPr>
            <a:spAutoFit/>
          </a:bodyPr>
          <a:lstStyle/>
          <a:p>
            <a:r>
              <a:rPr lang="en-IN" altLang="en-US" sz="1800" dirty="0"/>
              <a:t>Provide tools for management, delivery, tracking, and assessment of employee learning and training</a:t>
            </a:r>
          </a:p>
          <a:p>
            <a:r>
              <a:rPr lang="en-IN" altLang="en-US" sz="1800" dirty="0"/>
              <a:t>Support multiple modes of learning</a:t>
            </a:r>
          </a:p>
          <a:p>
            <a:pPr lvl="1"/>
            <a:r>
              <a:rPr lang="en-IN" altLang="en-US" sz="1800" dirty="0"/>
              <a:t>web-based classes, online forums, and so on</a:t>
            </a:r>
          </a:p>
          <a:p>
            <a:r>
              <a:rPr lang="en-IN" altLang="en-US" sz="1800" dirty="0"/>
              <a:t>Automates selection and administration of courses</a:t>
            </a:r>
          </a:p>
          <a:p>
            <a:r>
              <a:rPr lang="en-IN" altLang="en-US" sz="1800" dirty="0"/>
              <a:t>Assembles and delivers learning content</a:t>
            </a:r>
          </a:p>
          <a:p>
            <a:r>
              <a:rPr lang="en-IN" altLang="en-US" sz="1800" dirty="0"/>
              <a:t>Measures learning effectiveness</a:t>
            </a:r>
          </a:p>
          <a:p>
            <a:r>
              <a:rPr lang="en-IN" altLang="en-US" sz="1800" dirty="0"/>
              <a:t>Massively open online courses (</a:t>
            </a:r>
            <a:r>
              <a:rPr lang="en-IN" altLang="en-US" sz="1800" spc="-300" dirty="0"/>
              <a:t>M O </a:t>
            </a:r>
            <a:r>
              <a:rPr lang="en-IN" altLang="en-US" sz="1800" spc="-300" dirty="0" err="1"/>
              <a:t>O</a:t>
            </a:r>
            <a:r>
              <a:rPr lang="en-IN" altLang="en-US" sz="1800" spc="-300" dirty="0"/>
              <a:t> C </a:t>
            </a:r>
            <a:r>
              <a:rPr lang="en-IN" altLang="en-US" sz="1800" dirty="0"/>
              <a:t>s)</a:t>
            </a:r>
          </a:p>
          <a:p>
            <a:pPr lvl="1"/>
            <a:r>
              <a:rPr lang="en-IN" altLang="en-US" sz="1800" dirty="0"/>
              <a:t>Web course open to large numbers of participants</a:t>
            </a:r>
          </a:p>
        </p:txBody>
      </p:sp>
      <p:sp>
        <p:nvSpPr>
          <p:cNvPr id="2" name="Footer Placeholder 1">
            <a:extLst>
              <a:ext uri="{FF2B5EF4-FFF2-40B4-BE49-F238E27FC236}">
                <a16:creationId xmlns:a16="http://schemas.microsoft.com/office/drawing/2014/main" id="{A37F28C2-AB3B-4BBA-9EE1-8DAA85569126}"/>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7530226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33350"/>
            <a:ext cx="8229600" cy="492443"/>
          </a:xfrm>
        </p:spPr>
        <p:txBody>
          <a:bodyPr>
            <a:spAutoFit/>
          </a:bodyPr>
          <a:lstStyle/>
          <a:p>
            <a:r>
              <a:rPr lang="en-IN" sz="3200" dirty="0"/>
              <a:t>Knowledge Workers and Knowledge Work</a:t>
            </a:r>
            <a:endParaRPr lang="en-US" sz="3200" dirty="0"/>
          </a:p>
        </p:txBody>
      </p:sp>
      <p:sp>
        <p:nvSpPr>
          <p:cNvPr id="5" name="Content Placeholder 4"/>
          <p:cNvSpPr>
            <a:spLocks noGrp="1"/>
          </p:cNvSpPr>
          <p:nvPr>
            <p:ph idx="1"/>
          </p:nvPr>
        </p:nvSpPr>
        <p:spPr>
          <a:xfrm>
            <a:off x="457200" y="895350"/>
            <a:ext cx="8229600" cy="2639184"/>
          </a:xfrm>
        </p:spPr>
        <p:txBody>
          <a:bodyPr>
            <a:spAutoFit/>
          </a:bodyPr>
          <a:lstStyle/>
          <a:p>
            <a:r>
              <a:rPr lang="en-IN" altLang="en-US" sz="1800" dirty="0"/>
              <a:t>Knowledge workers</a:t>
            </a:r>
          </a:p>
          <a:p>
            <a:pPr lvl="1"/>
            <a:r>
              <a:rPr lang="en-IN" altLang="en-US" sz="1800" dirty="0"/>
              <a:t>Researchers, designers, architects, scientists, engineers who create knowledge for the organization</a:t>
            </a:r>
          </a:p>
          <a:p>
            <a:pPr lvl="1"/>
            <a:r>
              <a:rPr lang="en-IN" altLang="en-US" sz="1800" dirty="0"/>
              <a:t>Perform key roles critical to organization and managers who work within organization</a:t>
            </a:r>
          </a:p>
          <a:p>
            <a:r>
              <a:rPr lang="en-IN" altLang="en-US" sz="1800" dirty="0"/>
              <a:t>Knowledge work systems</a:t>
            </a:r>
          </a:p>
          <a:p>
            <a:pPr lvl="1"/>
            <a:r>
              <a:rPr lang="en-IN" altLang="en-US" sz="1800" dirty="0"/>
              <a:t>Systems for knowledge workers to help create new knowledge and integrate that knowledge into business</a:t>
            </a:r>
          </a:p>
        </p:txBody>
      </p:sp>
      <p:sp>
        <p:nvSpPr>
          <p:cNvPr id="2" name="Footer Placeholder 1">
            <a:extLst>
              <a:ext uri="{FF2B5EF4-FFF2-40B4-BE49-F238E27FC236}">
                <a16:creationId xmlns:a16="http://schemas.microsoft.com/office/drawing/2014/main" id="{FF0C1CA9-55AB-4B80-BB38-E711336F58A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107881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33350"/>
            <a:ext cx="8229600" cy="461665"/>
          </a:xfrm>
        </p:spPr>
        <p:txBody>
          <a:bodyPr>
            <a:spAutoFit/>
          </a:bodyPr>
          <a:lstStyle/>
          <a:p>
            <a:r>
              <a:rPr lang="en-IN" sz="3000" dirty="0"/>
              <a:t>Requirements of Knowledge Work Systems</a:t>
            </a:r>
            <a:endParaRPr lang="en-US" sz="3000" dirty="0"/>
          </a:p>
        </p:txBody>
      </p:sp>
      <p:sp>
        <p:nvSpPr>
          <p:cNvPr id="5" name="Content Placeholder 4"/>
          <p:cNvSpPr>
            <a:spLocks noGrp="1"/>
          </p:cNvSpPr>
          <p:nvPr>
            <p:ph idx="1"/>
          </p:nvPr>
        </p:nvSpPr>
        <p:spPr>
          <a:xfrm>
            <a:off x="457200" y="971550"/>
            <a:ext cx="8229600" cy="2800767"/>
          </a:xfrm>
        </p:spPr>
        <p:txBody>
          <a:bodyPr>
            <a:spAutoFit/>
          </a:bodyPr>
          <a:lstStyle/>
          <a:p>
            <a:r>
              <a:rPr lang="en-US" sz="2200" dirty="0"/>
              <a:t>Sufficient computing power for graphics, complex calculations</a:t>
            </a:r>
          </a:p>
          <a:p>
            <a:r>
              <a:rPr lang="en-US" sz="2200" dirty="0"/>
              <a:t>Communications and document management</a:t>
            </a:r>
          </a:p>
          <a:p>
            <a:r>
              <a:rPr lang="en-US" sz="2200" dirty="0"/>
              <a:t>Access to external databases</a:t>
            </a:r>
          </a:p>
          <a:p>
            <a:r>
              <a:rPr lang="en-US" sz="2200" dirty="0"/>
              <a:t>User-friendly interfaces</a:t>
            </a:r>
          </a:p>
          <a:p>
            <a:r>
              <a:rPr lang="en-US" sz="2200" dirty="0"/>
              <a:t>Optimized for tasks to be performed (design engineering, financial analysis)</a:t>
            </a:r>
          </a:p>
        </p:txBody>
      </p:sp>
      <p:sp>
        <p:nvSpPr>
          <p:cNvPr id="2" name="Footer Placeholder 1">
            <a:extLst>
              <a:ext uri="{FF2B5EF4-FFF2-40B4-BE49-F238E27FC236}">
                <a16:creationId xmlns:a16="http://schemas.microsoft.com/office/drawing/2014/main" id="{A687716D-3A56-4D09-B344-8A25E35C5BC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8299661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3503"/>
            <a:ext cx="8229600" cy="984885"/>
          </a:xfrm>
        </p:spPr>
        <p:txBody>
          <a:bodyPr>
            <a:spAutoFit/>
          </a:bodyPr>
          <a:lstStyle/>
          <a:p>
            <a:r>
              <a:rPr lang="en-US" sz="3200" dirty="0"/>
              <a:t>Figure 11.9 </a:t>
            </a:r>
            <a:r>
              <a:rPr lang="en-US" altLang="en-US" sz="3200" dirty="0"/>
              <a:t>Requirements of Knowledge Work Systems</a:t>
            </a:r>
            <a:endParaRPr lang="en-US" sz="3200" dirty="0"/>
          </a:p>
        </p:txBody>
      </p:sp>
      <p:pic>
        <p:nvPicPr>
          <p:cNvPr id="5122" name="Picture 2" descr="An illustration explains the requirements of knowledge work systems. For a full description, see Notes. Press F6. "/>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188596" y="1352550"/>
            <a:ext cx="4766808" cy="331569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1359DB28-A529-4002-8DDF-85266ACED93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1262604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7788"/>
            <a:ext cx="8229600" cy="492443"/>
          </a:xfrm>
        </p:spPr>
        <p:txBody>
          <a:bodyPr>
            <a:spAutoFit/>
          </a:bodyPr>
          <a:lstStyle/>
          <a:p>
            <a:r>
              <a:rPr lang="en-IN" sz="3200" dirty="0"/>
              <a:t>Examples of Knowledge Work Systems</a:t>
            </a:r>
            <a:endParaRPr lang="en-US" sz="3200" dirty="0"/>
          </a:p>
        </p:txBody>
      </p:sp>
      <p:sp>
        <p:nvSpPr>
          <p:cNvPr id="5" name="Content Placeholder 4"/>
          <p:cNvSpPr>
            <a:spLocks noGrp="1"/>
          </p:cNvSpPr>
          <p:nvPr>
            <p:ph idx="1"/>
          </p:nvPr>
        </p:nvSpPr>
        <p:spPr>
          <a:xfrm>
            <a:off x="457200" y="895350"/>
            <a:ext cx="8229600" cy="3554819"/>
          </a:xfrm>
        </p:spPr>
        <p:txBody>
          <a:bodyPr>
            <a:spAutoFit/>
          </a:bodyPr>
          <a:lstStyle/>
          <a:p>
            <a:r>
              <a:rPr lang="en-IN" spc="-300" dirty="0"/>
              <a:t>C A D</a:t>
            </a:r>
            <a:r>
              <a:rPr lang="en-IN" dirty="0"/>
              <a:t> (computer-aided design)</a:t>
            </a:r>
          </a:p>
          <a:p>
            <a:pPr lvl="1"/>
            <a:r>
              <a:rPr lang="en-IN" sz="2400" dirty="0"/>
              <a:t>Creation of engineering or architectural designs</a:t>
            </a:r>
          </a:p>
          <a:p>
            <a:pPr lvl="1"/>
            <a:r>
              <a:rPr lang="en-IN" sz="2400" dirty="0"/>
              <a:t>3D printing</a:t>
            </a:r>
          </a:p>
          <a:p>
            <a:r>
              <a:rPr lang="en-IN" dirty="0"/>
              <a:t>Virtual reality systems</a:t>
            </a:r>
          </a:p>
          <a:p>
            <a:pPr lvl="1"/>
            <a:r>
              <a:rPr lang="en-IN" dirty="0"/>
              <a:t>Simulate real-life environments</a:t>
            </a:r>
          </a:p>
          <a:p>
            <a:r>
              <a:rPr lang="en-IN" dirty="0"/>
              <a:t>Augmented reality (AR) systems</a:t>
            </a:r>
          </a:p>
          <a:p>
            <a:pPr lvl="1"/>
            <a:r>
              <a:rPr lang="en-IN" dirty="0"/>
              <a:t>Enhance visualization by overlaying digital data and images onto physical real-world environment</a:t>
            </a:r>
          </a:p>
        </p:txBody>
      </p:sp>
      <p:sp>
        <p:nvSpPr>
          <p:cNvPr id="2" name="Footer Placeholder 1">
            <a:extLst>
              <a:ext uri="{FF2B5EF4-FFF2-40B4-BE49-F238E27FC236}">
                <a16:creationId xmlns:a16="http://schemas.microsoft.com/office/drawing/2014/main" id="{F8B4F3CC-3BBE-4484-9691-0EC1432C52F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8484731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5665"/>
            <a:ext cx="8229600" cy="553998"/>
          </a:xfrm>
        </p:spPr>
        <p:txBody>
          <a:bodyPr>
            <a:spAutoFit/>
          </a:bodyPr>
          <a:lstStyle/>
          <a:p>
            <a:r>
              <a:rPr lang="en-IN" dirty="0"/>
              <a:t>How Will MIS Help My Career?</a:t>
            </a:r>
            <a:endParaRPr lang="en-US" dirty="0"/>
          </a:p>
        </p:txBody>
      </p:sp>
      <p:sp>
        <p:nvSpPr>
          <p:cNvPr id="5" name="Content Placeholder 4"/>
          <p:cNvSpPr>
            <a:spLocks noGrp="1"/>
          </p:cNvSpPr>
          <p:nvPr>
            <p:ph idx="1"/>
          </p:nvPr>
        </p:nvSpPr>
        <p:spPr>
          <a:xfrm>
            <a:off x="457200" y="903914"/>
            <a:ext cx="8229600" cy="2616101"/>
          </a:xfrm>
        </p:spPr>
        <p:txBody>
          <a:bodyPr>
            <a:spAutoFit/>
          </a:bodyPr>
          <a:lstStyle/>
          <a:p>
            <a:r>
              <a:rPr lang="en-IN" dirty="0"/>
              <a:t>The Company: </a:t>
            </a:r>
            <a:r>
              <a:rPr lang="en-IN" dirty="0" err="1"/>
              <a:t>RazzleDazzle</a:t>
            </a:r>
            <a:r>
              <a:rPr lang="en-IN" dirty="0"/>
              <a:t> Technology</a:t>
            </a:r>
          </a:p>
          <a:p>
            <a:r>
              <a:rPr lang="en-IN" dirty="0"/>
              <a:t>Position Description: Entry-level sales assistant </a:t>
            </a:r>
          </a:p>
          <a:p>
            <a:r>
              <a:rPr lang="en-IN" dirty="0"/>
              <a:t>Job Requirements</a:t>
            </a:r>
          </a:p>
          <a:p>
            <a:r>
              <a:rPr lang="en-IN" dirty="0"/>
              <a:t>Interview Questions</a:t>
            </a:r>
          </a:p>
          <a:p>
            <a:r>
              <a:rPr lang="en-IN" dirty="0"/>
              <a:t>Author Tips</a:t>
            </a:r>
          </a:p>
        </p:txBody>
      </p:sp>
      <p:sp>
        <p:nvSpPr>
          <p:cNvPr id="2" name="Footer Placeholder 1">
            <a:extLst>
              <a:ext uri="{FF2B5EF4-FFF2-40B4-BE49-F238E27FC236}">
                <a16:creationId xmlns:a16="http://schemas.microsoft.com/office/drawing/2014/main" id="{765AB8B2-3080-4667-8863-FAF4FDC417B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3839226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452972" y="51792"/>
            <a:ext cx="8124825" cy="553998"/>
          </a:xfrm>
        </p:spPr>
        <p:txBody>
          <a:bodyPr vert="horz" wrap="square" lIns="0" tIns="0" rIns="0" bIns="0" rtlCol="0" anchor="b" anchorCtr="0">
            <a:spAutoFit/>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3061" y="1609445"/>
            <a:ext cx="1277815" cy="1434026"/>
          </a:xfrm>
          <a:prstGeom prst="rect">
            <a:avLst/>
          </a:prstGeom>
        </p:spPr>
      </p:pic>
      <p:sp>
        <p:nvSpPr>
          <p:cNvPr id="9" name="Text Placeholder 1">
            <a:extLst>
              <a:ext uri="{FF2B5EF4-FFF2-40B4-BE49-F238E27FC236}">
                <a16:creationId xmlns:a16="http://schemas.microsoft.com/office/drawing/2014/main" id="{AD5FAE7B-F718-4307-B112-AD6256157E8F}"/>
              </a:ext>
            </a:extLst>
          </p:cNvPr>
          <p:cNvSpPr txBox="1">
            <a:spLocks/>
          </p:cNvSpPr>
          <p:nvPr/>
        </p:nvSpPr>
        <p:spPr>
          <a:xfrm>
            <a:off x="1822938" y="1144332"/>
            <a:ext cx="6858001" cy="2854836"/>
          </a:xfrm>
          <a:prstGeom prst="rect">
            <a:avLst/>
          </a:prstGeom>
        </p:spPr>
        <p:style>
          <a:lnRef idx="2">
            <a:schemeClr val="dk1"/>
          </a:lnRef>
          <a:fillRef idx="1">
            <a:schemeClr val="lt1"/>
          </a:fillRef>
          <a:effectRef idx="0">
            <a:schemeClr val="dk1"/>
          </a:effectRef>
          <a:fontRef idx="minor">
            <a:schemeClr val="dk1"/>
          </a:fontRef>
        </p:style>
        <p:txBody>
          <a:bodyPr vert="horz" lIns="182880" tIns="182880" rIns="182880" bIns="182880" rtlCol="0" anchor="ctr">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dk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dk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9pPr>
          </a:lstStyle>
          <a:p>
            <a:pPr marL="10160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
        <p:nvSpPr>
          <p:cNvPr id="3" name="Footer Placeholder 2">
            <a:extLst>
              <a:ext uri="{FF2B5EF4-FFF2-40B4-BE49-F238E27FC236}">
                <a16:creationId xmlns:a16="http://schemas.microsoft.com/office/drawing/2014/main" id="{6CB86487-0C3B-4537-BC05-28E44FA44866}"/>
              </a:ext>
            </a:extLst>
          </p:cNvPr>
          <p:cNvSpPr>
            <a:spLocks noGrp="1"/>
          </p:cNvSpPr>
          <p:nvPr>
            <p:ph type="ft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25639365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77bb34d93a4c6de111706773da7e89128aa"/>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4661</TotalTime>
  <Words>7569</Words>
  <Application>Microsoft Office PowerPoint</Application>
  <PresentationFormat>On-screen Show (16:9)</PresentationFormat>
  <Paragraphs>545</Paragraphs>
  <Slides>46</Slides>
  <Notes>46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Courier New</vt:lpstr>
      <vt:lpstr>Segoe UI</vt:lpstr>
      <vt:lpstr>Times New Roman</vt:lpstr>
      <vt:lpstr>Verdana</vt:lpstr>
      <vt:lpstr>Wingdings</vt:lpstr>
      <vt:lpstr>508 Lecture</vt:lpstr>
      <vt:lpstr>Management Information Systems: Managing the Digital Firm</vt:lpstr>
      <vt:lpstr>Learning Objectives</vt:lpstr>
      <vt:lpstr>Video Cases</vt:lpstr>
      <vt:lpstr>Artificial Intelligence Beats Radiologists in Reading Mammograms (1 of 2)</vt:lpstr>
      <vt:lpstr>Artificial Intelligence Beats Radiologist in Reading Mammograms (2 of 2)</vt:lpstr>
      <vt:lpstr>What is the Role of Knowledge Management Systems in Business?</vt:lpstr>
      <vt:lpstr>Important Dimensions of Knowledge (1 of 2)</vt:lpstr>
      <vt:lpstr>Important Dimensions of Knowledge (2 of 2)</vt:lpstr>
      <vt:lpstr>The Knowledge Management Value Chain (1 of 3)</vt:lpstr>
      <vt:lpstr>The Knowledge Management Value Chain (2 of 3)</vt:lpstr>
      <vt:lpstr>The Knowledge Management Value Chain (3 of 3)</vt:lpstr>
      <vt:lpstr>Figure 11.1 The Knowledge Management Value Chain</vt:lpstr>
      <vt:lpstr>Building Organizational and Management Capital: Collaboration, Communities of Practice, and Office Environments</vt:lpstr>
      <vt:lpstr>Types of Knowledge Management Systems</vt:lpstr>
      <vt:lpstr>Figure 11.2 Major Types of Knowledge Management Systems</vt:lpstr>
      <vt:lpstr>What Is Artificial Intelligence? </vt:lpstr>
      <vt:lpstr>Major Types of AI</vt:lpstr>
      <vt:lpstr>Expert Systems</vt:lpstr>
      <vt:lpstr>Figure 11.3 Rules in an Expert System</vt:lpstr>
      <vt:lpstr>Machine Learning (1 of 2)</vt:lpstr>
      <vt:lpstr>Machine Learning (2 of 2)</vt:lpstr>
      <vt:lpstr>Neural Networks (1 of 3)</vt:lpstr>
      <vt:lpstr>Figure 11.4 How a Neural Network Works</vt:lpstr>
      <vt:lpstr>Interactive Session: Technology: Do You Know Who Is Using Your Face?</vt:lpstr>
      <vt:lpstr>Neural Networks (2 of 3)</vt:lpstr>
      <vt:lpstr>Figure 11.5 A Deep Learning Network</vt:lpstr>
      <vt:lpstr>Neural Networks (3 of 3)</vt:lpstr>
      <vt:lpstr>Genetic Algorithms</vt:lpstr>
      <vt:lpstr>Figure 11.6 The Components of a Genetic Algorithm</vt:lpstr>
      <vt:lpstr>Natural Language Processing </vt:lpstr>
      <vt:lpstr>Computer Vision Systems </vt:lpstr>
      <vt:lpstr>Robotics</vt:lpstr>
      <vt:lpstr>Interactive Session: Organizations: Will AI Kill Jobs?</vt:lpstr>
      <vt:lpstr>Intelligent Agents</vt:lpstr>
      <vt:lpstr>Figure 11.7 Intelligent Agents in P&amp;G’s Supply Chain Network</vt:lpstr>
      <vt:lpstr>What Types of Systems Are Used for Enterprise-Wide Knowledge Management?</vt:lpstr>
      <vt:lpstr>Enterprise Content Management Systems</vt:lpstr>
      <vt:lpstr>Figure 11.8 An Enterprise Content Management System</vt:lpstr>
      <vt:lpstr>Locating and Sharing Expertise </vt:lpstr>
      <vt:lpstr>Learning Management Systems (L M S)</vt:lpstr>
      <vt:lpstr>Knowledge Workers and Knowledge Work</vt:lpstr>
      <vt:lpstr>Requirements of Knowledge Work Systems</vt:lpstr>
      <vt:lpstr>Figure 11.9 Requirements of Knowledge Work Systems</vt:lpstr>
      <vt:lpstr>Examples of Knowledge Work Systems</vt:lpstr>
      <vt:lpstr>How Will MIS Help My Career?</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Information Systems: Managing the Digital Firm, Sixteenth Edition</dc:title>
  <dc:subject>Management</dc:subject>
  <dc:creator>Kenneth C. Laudon / Jane P. Laudon</dc:creator>
  <cp:keywords>Management Information Systems</cp:keywords>
  <cp:lastModifiedBy>Das, Bedasree</cp:lastModifiedBy>
  <cp:revision>1089</cp:revision>
  <cp:lastPrinted>2020-10-30T21:05:53Z</cp:lastPrinted>
  <dcterms:created xsi:type="dcterms:W3CDTF">2014-07-14T20:04:21Z</dcterms:created>
  <dcterms:modified xsi:type="dcterms:W3CDTF">2021-05-28T12:10:48Z</dcterms:modified>
</cp:coreProperties>
</file>