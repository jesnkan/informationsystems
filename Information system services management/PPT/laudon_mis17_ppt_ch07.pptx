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handoutMasterIdLst>
    <p:handoutMasterId r:id="rId53"/>
  </p:handoutMasterIdLst>
  <p:sldIdLst>
    <p:sldId id="506" r:id="rId2"/>
    <p:sldId id="380" r:id="rId3"/>
    <p:sldId id="518" r:id="rId4"/>
    <p:sldId id="516" r:id="rId5"/>
    <p:sldId id="519" r:id="rId6"/>
    <p:sldId id="520" r:id="rId7"/>
    <p:sldId id="521" r:id="rId8"/>
    <p:sldId id="522" r:id="rId9"/>
    <p:sldId id="523" r:id="rId10"/>
    <p:sldId id="564" r:id="rId11"/>
    <p:sldId id="525" r:id="rId12"/>
    <p:sldId id="526" r:id="rId13"/>
    <p:sldId id="528" r:id="rId14"/>
    <p:sldId id="527" r:id="rId15"/>
    <p:sldId id="565" r:id="rId16"/>
    <p:sldId id="530" r:id="rId17"/>
    <p:sldId id="566" r:id="rId18"/>
    <p:sldId id="532" r:id="rId19"/>
    <p:sldId id="533" r:id="rId20"/>
    <p:sldId id="534" r:id="rId21"/>
    <p:sldId id="567" r:id="rId22"/>
    <p:sldId id="536" r:id="rId23"/>
    <p:sldId id="568" r:id="rId24"/>
    <p:sldId id="539" r:id="rId25"/>
    <p:sldId id="540" r:id="rId26"/>
    <p:sldId id="542" r:id="rId27"/>
    <p:sldId id="569" r:id="rId28"/>
    <p:sldId id="570" r:id="rId29"/>
    <p:sldId id="571" r:id="rId30"/>
    <p:sldId id="544" r:id="rId31"/>
    <p:sldId id="563" r:id="rId32"/>
    <p:sldId id="547" r:id="rId33"/>
    <p:sldId id="562" r:id="rId34"/>
    <p:sldId id="549" r:id="rId35"/>
    <p:sldId id="573" r:id="rId36"/>
    <p:sldId id="550" r:id="rId37"/>
    <p:sldId id="538" r:id="rId38"/>
    <p:sldId id="551" r:id="rId39"/>
    <p:sldId id="552" r:id="rId40"/>
    <p:sldId id="553" r:id="rId41"/>
    <p:sldId id="554" r:id="rId42"/>
    <p:sldId id="555" r:id="rId43"/>
    <p:sldId id="556" r:id="rId44"/>
    <p:sldId id="558" r:id="rId45"/>
    <p:sldId id="572" r:id="rId46"/>
    <p:sldId id="574" r:id="rId47"/>
    <p:sldId id="560" r:id="rId48"/>
    <p:sldId id="559" r:id="rId49"/>
    <p:sldId id="561" r:id="rId50"/>
    <p:sldId id="514" r:id="rId51"/>
  </p:sldIdLst>
  <p:sldSz cx="9144000" cy="5143500" type="screen16x9"/>
  <p:notesSz cx="6858000" cy="9144000"/>
  <p:custDataLst>
    <p:tags r:id="rId5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orient="horz" pos="252" userDrawn="1">
          <p15:clr>
            <a:srgbClr val="A4A3A4"/>
          </p15:clr>
        </p15:guide>
        <p15:guide id="4" orient="horz" pos="432" userDrawn="1">
          <p15:clr>
            <a:srgbClr val="A4A3A4"/>
          </p15:clr>
        </p15:guide>
        <p15:guide id="5" orient="horz" pos="3024" userDrawn="1">
          <p15:clr>
            <a:srgbClr val="A4A3A4"/>
          </p15:clr>
        </p15:guide>
        <p15:guide id="6" orient="horz" pos="792" userDrawn="1">
          <p15:clr>
            <a:srgbClr val="A4A3A4"/>
          </p15:clr>
        </p15:guide>
        <p15:guide id="7" pos="288" userDrawn="1">
          <p15:clr>
            <a:srgbClr val="A4A3A4"/>
          </p15:clr>
        </p15:guide>
        <p15:guide id="8" pos="5472" userDrawn="1">
          <p15:clr>
            <a:srgbClr val="A4A3A4"/>
          </p15:clr>
        </p15:guide>
        <p15:guide id="9" orient="horz" pos="648" userDrawn="1">
          <p15:clr>
            <a:srgbClr val="A4A3A4"/>
          </p15:clr>
        </p15:guide>
        <p15:guide id="10" orient="horz" pos="900" userDrawn="1">
          <p15:clr>
            <a:srgbClr val="A4A3A4"/>
          </p15:clr>
        </p15:guide>
        <p15:guide id="11" orient="horz" pos="1152" userDrawn="1">
          <p15:clr>
            <a:srgbClr val="A4A3A4"/>
          </p15:clr>
        </p15:guide>
        <p15:guide id="12" orient="horz" pos="31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ane Kosharek" initials="DK" lastIdx="1" clrIdx="0">
    <p:extLst>
      <p:ext uri="{19B8F6BF-5375-455C-9EA6-DF929625EA0E}">
        <p15:presenceInfo xmlns:p15="http://schemas.microsoft.com/office/powerpoint/2012/main" userId="f80e80a411c6fffc" providerId="Windows Live"/>
      </p:ext>
    </p:extLst>
  </p:cmAuthor>
  <p:cmAuthor id="2" name="Carol Traver" initials="CT" lastIdx="1" clrIdx="1">
    <p:extLst>
      <p:ext uri="{19B8F6BF-5375-455C-9EA6-DF929625EA0E}">
        <p15:presenceInfo xmlns:p15="http://schemas.microsoft.com/office/powerpoint/2012/main" userId="017e1d6f1d8651f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FDB940"/>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5721E-C80B-4E26-9CED-0EBFDBA28B49}" v="48" dt="2019-01-02T20:47:52.858"/>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810" autoAdjust="0"/>
    <p:restoredTop sz="90146" autoAdjust="0"/>
  </p:normalViewPr>
  <p:slideViewPr>
    <p:cSldViewPr>
      <p:cViewPr varScale="1">
        <p:scale>
          <a:sx n="86" d="100"/>
          <a:sy n="86" d="100"/>
        </p:scale>
        <p:origin x="516" y="84"/>
      </p:cViewPr>
      <p:guideLst>
        <p:guide orient="horz" pos="1620"/>
        <p:guide pos="2880"/>
        <p:guide orient="horz" pos="252"/>
        <p:guide orient="horz" pos="432"/>
        <p:guide orient="horz" pos="3024"/>
        <p:guide orient="horz" pos="792"/>
        <p:guide pos="288"/>
        <p:guide pos="5472"/>
        <p:guide orient="horz" pos="648"/>
        <p:guide orient="horz" pos="900"/>
        <p:guide orient="horz" pos="1152"/>
        <p:guide orient="horz" pos="316"/>
      </p:guideLst>
    </p:cSldViewPr>
  </p:slideViewPr>
  <p:outlineViewPr>
    <p:cViewPr>
      <p:scale>
        <a:sx n="33" d="100"/>
        <a:sy n="33" d="100"/>
      </p:scale>
      <p:origin x="0" y="19380"/>
    </p:cViewPr>
  </p:outlineViewPr>
  <p:notesTextViewPr>
    <p:cViewPr>
      <p:scale>
        <a:sx n="1" d="1"/>
        <a:sy n="1" d="1"/>
      </p:scale>
      <p:origin x="0" y="0"/>
    </p:cViewPr>
  </p:notesTextViewPr>
  <p:notesViewPr>
    <p:cSldViewPr>
      <p:cViewPr varScale="1">
        <p:scale>
          <a:sx n="51" d="100"/>
          <a:sy n="51" d="100"/>
        </p:scale>
        <p:origin x="2692" y="2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5/28/2021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5/28/2021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168426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t>This chapter discusses the principal technologies used in networking and the Internet. Ask students what the difference is between a network and the Internet. Why is networking so important to modern organizations? How many students have wireless networks at home? How many have a smartphone that uses a 4G or 5G network? What</a:t>
            </a:r>
            <a:r>
              <a:rPr lang="en-US" altLang="ja-JP" dirty="0"/>
              <a:t>'s the difference between a 4G network and Wi-Fi? How many students have seen an RFID tag? </a:t>
            </a:r>
            <a:endParaRPr lang="en-US" altLang="en-US" sz="1200" dirty="0">
              <a:solidFill>
                <a:schemeClr val="tx1">
                  <a:lumMod val="75000"/>
                  <a:lumOff val="25000"/>
                </a:schemeClr>
              </a:solidFill>
              <a:ea typeface="ＭＳ Ｐゴシック" pitchFamily="34" charset="-128"/>
              <a:cs typeface="Lucida Sans Unicode"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recent developments in networking technologies. Ask students to give an example of convergence. How fast is broadband today? Note that in 2000, typical Internet access speeds were 56 kbps over a telephone line, costing 25 cents per kilobit, whereas today broadband speeds are 5-500 mbps, costing a fraction of a cent per kilobit. Are students aware of how fast their Internet connections are at home, school, or work? Ask students if they know the speed of their cell phone</a:t>
            </a:r>
            <a:r>
              <a:rPr lang="en-US" altLang="ja-JP" dirty="0"/>
              <a:t>’s Internet connection. The point here is to try and raise awareness of telecommunications systems among students.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sz="1200" dirty="0"/>
              <a:t>This slide describes what a network is along with the components that you will find in a simple network (illustrated on the next slide.) Ask students to describe the function of an NIC. What is a connection medium? Ask students to describe the purpose of a hub, switch, and router.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7.1,</a:t>
            </a:r>
            <a:r>
              <a:rPr lang="en-US" altLang="en-US" baseline="0" dirty="0"/>
              <a:t> Page 252.</a:t>
            </a:r>
          </a:p>
          <a:p>
            <a:r>
              <a:rPr lang="en-US" sz="1200" b="0" i="1" u="none" strike="noStrike" kern="1200" cap="none" baseline="0" dirty="0">
                <a:solidFill>
                  <a:schemeClr val="tx1"/>
                </a:solidFill>
                <a:latin typeface="+mn-lt"/>
                <a:ea typeface="Arial"/>
                <a:cs typeface="Arial"/>
                <a:sym typeface="Arial"/>
              </a:rPr>
              <a:t>Illustrated here is a simple computer network consisting of computers, a network operating system (NOS) residing on a dedicated server computer, cable (wiring) connecting the devices, switches, and a router.</a:t>
            </a:r>
          </a:p>
          <a:p>
            <a:endParaRPr lang="en-US" altLang="en-US" sz="1200" b="0" i="0" u="none" strike="noStrike" kern="1200" cap="none" baseline="0" dirty="0">
              <a:solidFill>
                <a:schemeClr val="tx1"/>
              </a:solidFill>
              <a:latin typeface="+mn-lt"/>
              <a:ea typeface="Arial"/>
              <a:cs typeface="Arial"/>
              <a:sym typeface="Arial"/>
            </a:endParaRPr>
          </a:p>
          <a:p>
            <a:pPr eaLnBrk="1" hangingPunct="1"/>
            <a:r>
              <a:rPr lang="en-US" altLang="en-US" dirty="0">
                <a:latin typeface="+mn-lt"/>
              </a:rPr>
              <a:t>Although the NOS is shown as part of the server, note that, depending on the type of software, an NOS may also be designed to reside on client computers (these are called peer-to-peer networks). Do some students have a home computer network? Ask them to describe the elements of the network.</a:t>
            </a:r>
          </a:p>
          <a:p>
            <a:pPr eaLnBrk="1" hangingPunct="1"/>
            <a:endParaRPr lang="en-US" dirty="0">
              <a:latin typeface="+mn-lt"/>
            </a:endParaRPr>
          </a:p>
          <a:p>
            <a:pPr marL="0" marR="0">
              <a:lnSpc>
                <a:spcPct val="115000"/>
              </a:lnSpc>
              <a:spcBef>
                <a:spcPts val="0"/>
              </a:spcBef>
              <a:spcAft>
                <a:spcPts val="0"/>
              </a:spcAft>
            </a:pPr>
            <a:r>
              <a:rPr lang="en-US" u="sng" dirty="0">
                <a:latin typeface="+mn-lt"/>
              </a:rPr>
              <a:t>Alt Text</a:t>
            </a:r>
          </a:p>
          <a:p>
            <a:pPr marL="0" marR="0">
              <a:lnSpc>
                <a:spcPct val="115000"/>
              </a:lnSpc>
              <a:spcBef>
                <a:spcPts val="0"/>
              </a:spcBef>
              <a:spcAft>
                <a:spcPts val="0"/>
              </a:spcAft>
            </a:pPr>
            <a:r>
              <a:rPr lang="en-US" dirty="0">
                <a:latin typeface="+mn-lt"/>
              </a:rPr>
              <a:t>Long description: A flow diagram explains the various components of a simple computer network. </a:t>
            </a:r>
            <a:r>
              <a:rPr lang="en-US" sz="1200" dirty="0">
                <a:solidFill>
                  <a:srgbClr val="000000"/>
                </a:solidFill>
                <a:effectLst/>
                <a:latin typeface="+mn-lt"/>
                <a:ea typeface="Times New Roman" panose="02020603050405020304" pitchFamily="18" charset="0"/>
              </a:rPr>
              <a:t>The sequence is as follows: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PC computer</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Switch. This is connected to another PC.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Switch. This is connected to a </a:t>
            </a:r>
            <a:r>
              <a:rPr lang="en-US" sz="1200" dirty="0" err="1">
                <a:effectLst/>
                <a:latin typeface="+mn-lt"/>
                <a:ea typeface="Calibri" panose="020F0502020204030204" pitchFamily="34" charset="0"/>
              </a:rPr>
              <a:t>a</a:t>
            </a:r>
            <a:r>
              <a:rPr lang="en-US" sz="1200" dirty="0">
                <a:effectLst/>
                <a:latin typeface="+mn-lt"/>
                <a:ea typeface="Calibri" panose="020F0502020204030204" pitchFamily="34" charset="0"/>
              </a:rPr>
              <a:t> network operating system server.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Router</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Other networks/internet. </a:t>
            </a:r>
          </a:p>
          <a:p>
            <a:pPr eaLnBrk="1" hangingPunct="1"/>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looks at the additional components one might expect to find in the network of a large company that has many locations and thousands of employees (illustrated on the next slide). Ask students what is meant by </a:t>
            </a:r>
            <a:r>
              <a:rPr lang="ja-JP" altLang="en-US" dirty="0">
                <a:latin typeface="+mn-lt"/>
              </a:rPr>
              <a:t>“</a:t>
            </a:r>
            <a:r>
              <a:rPr lang="en-US" altLang="ja-JP" dirty="0">
                <a:latin typeface="+mn-lt"/>
              </a:rPr>
              <a:t>backend systems.</a:t>
            </a:r>
            <a:r>
              <a:rPr lang="ja-JP" altLang="en-US" dirty="0">
                <a:latin typeface="+mn-lt"/>
              </a:rPr>
              <a:t>”</a:t>
            </a:r>
            <a:r>
              <a:rPr lang="en-US" altLang="ja-JP" dirty="0">
                <a:latin typeface="+mn-lt"/>
              </a:rPr>
              <a:t> Note that many firms are dispensing with traditional landline telephone networks and using Internet telephones that run on existing internal data networks and the Internet.</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7.2,</a:t>
            </a:r>
            <a:r>
              <a:rPr lang="en-US" altLang="en-US" baseline="0" dirty="0"/>
              <a:t> Page 253.</a:t>
            </a:r>
          </a:p>
          <a:p>
            <a:r>
              <a:rPr lang="en-US" sz="1200" b="0" i="1" u="none" strike="noStrike" kern="1200" cap="none" baseline="0" dirty="0">
                <a:solidFill>
                  <a:schemeClr val="tx1"/>
                </a:solidFill>
                <a:latin typeface="+mn-lt"/>
                <a:ea typeface="Arial"/>
                <a:cs typeface="Arial"/>
                <a:sym typeface="Arial"/>
              </a:rPr>
              <a:t>Today’s corporate network infrastructure is a collection of many networks from the public switched telephone network, to the Internet, to corporate local area networks linking workgroups, departments, or office floors.</a:t>
            </a:r>
            <a:endParaRPr lang="en-US" altLang="en-US" i="1"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aseline="0" dirty="0"/>
          </a:p>
          <a:p>
            <a:pPr eaLnBrk="1" hangingPunct="1"/>
            <a:r>
              <a:rPr lang="en-US" altLang="en-US" dirty="0">
                <a:latin typeface="+mn-lt"/>
              </a:rPr>
              <a:t>This graphic illustrates the components of a large company</a:t>
            </a:r>
            <a:r>
              <a:rPr lang="en-US" altLang="ja-JP" dirty="0">
                <a:latin typeface="+mn-lt"/>
              </a:rPr>
              <a:t>’s network. Note the difference between the wireless LAN, which allows wireless access within the office, and the mobile Wi-Fi network, which allows Internet access to employees outside of offices. The advantage of telephone-based wireless systems is that they do not require a Wi-Fi hotspot to work, and in fact can connect users to the entire globe through their telephone networks. Cable networks</a:t>
            </a:r>
            <a:r>
              <a:rPr lang="en-US" altLang="ja-JP" dirty="0">
                <a:latin typeface="+mn-lt"/>
                <a:cs typeface="Times New Roman" panose="02020603050405020304" pitchFamily="18" charset="0"/>
              </a:rPr>
              <a:t>—</a:t>
            </a:r>
            <a:r>
              <a:rPr lang="en-US" altLang="ja-JP" dirty="0">
                <a:latin typeface="+mn-lt"/>
              </a:rPr>
              <a:t>major competitors of telephone company Internet providers</a:t>
            </a:r>
            <a:r>
              <a:rPr lang="en-US" altLang="ja-JP" dirty="0">
                <a:latin typeface="+mn-lt"/>
                <a:cs typeface="Times New Roman" panose="02020603050405020304" pitchFamily="18" charset="0"/>
              </a:rPr>
              <a:t>—have recently developed a </a:t>
            </a:r>
            <a:r>
              <a:rPr lang="en-US" altLang="ja-JP" dirty="0">
                <a:latin typeface="+mn-lt"/>
              </a:rPr>
              <a:t>mobile option. Optimum Cable (Comcast) has installed neighborhood Wi-Fi hot spots, allowing cable subscribers wireless access to the Internet.</a:t>
            </a:r>
          </a:p>
          <a:p>
            <a:pPr eaLnBrk="1" hangingPunct="1"/>
            <a:endParaRPr lang="en-US" altLang="en-US" baseline="0" dirty="0">
              <a:latin typeface="+mn-lt"/>
            </a:endParaRPr>
          </a:p>
          <a:p>
            <a:pPr marL="0" marR="0">
              <a:lnSpc>
                <a:spcPct val="115000"/>
              </a:lnSpc>
              <a:spcBef>
                <a:spcPts val="0"/>
              </a:spcBef>
              <a:spcAft>
                <a:spcPts val="0"/>
              </a:spcAft>
            </a:pPr>
            <a:r>
              <a:rPr lang="en-US" altLang="en-US" u="sng" baseline="0" dirty="0">
                <a:latin typeface="+mn-lt"/>
              </a:rPr>
              <a:t>Alt Text</a:t>
            </a:r>
          </a:p>
          <a:p>
            <a:pPr marL="0" marR="0">
              <a:lnSpc>
                <a:spcPct val="115000"/>
              </a:lnSpc>
              <a:spcBef>
                <a:spcPts val="0"/>
              </a:spcBef>
              <a:spcAft>
                <a:spcPts val="0"/>
              </a:spcAft>
            </a:pPr>
            <a:r>
              <a:rPr lang="en-US" altLang="en-US" baseline="0" dirty="0">
                <a:latin typeface="+mn-lt"/>
              </a:rPr>
              <a:t>Long description: Two flow diagrams explain the infrastructure of a corporate network</a:t>
            </a:r>
            <a:r>
              <a:rPr lang="en-US" altLang="en-US" sz="1200" baseline="0" dirty="0">
                <a:latin typeface="+mn-lt"/>
              </a:rPr>
              <a:t>. </a:t>
            </a:r>
            <a:r>
              <a:rPr lang="en-US" sz="1200" dirty="0">
                <a:solidFill>
                  <a:srgbClr val="000000"/>
                </a:solidFill>
                <a:effectLst/>
                <a:latin typeface="+mn-lt"/>
                <a:ea typeface="Times New Roman" panose="02020603050405020304" pitchFamily="18" charset="0"/>
              </a:rPr>
              <a:t>The first flow diagram illustrates a connection between the mobile phone, smartphones and the telephone system, which is connected to the telephone service provider. </a:t>
            </a: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At the center of the second flow diagram is the internet service provider which is connected to the following: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A series of servers depicting the corporate website intranet and extranet.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Internet. The internet is connected to the mobile Wi-Fi network via the wireless internet service provider. </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Wireless LAN through the corporate wired network.</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and the following two look at the main technologies in use today for networks: client/server computing, packet switching, and TCP/IP. Ask students what advantages client/server computing  has over centralized mainframe computing.</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continues the discussion of the three main networking technologies today, looking at the second, packet switching. Note that circuit-switched networks were expensive and wasted available communications capacity</a:t>
            </a:r>
            <a:r>
              <a:rPr lang="en-US" altLang="en-US" dirty="0">
                <a:latin typeface="+mn-lt"/>
                <a:cs typeface="Times New Roman" panose="02020603050405020304" pitchFamily="18" charset="0"/>
              </a:rPr>
              <a:t>—</a:t>
            </a:r>
            <a:r>
              <a:rPr lang="en-US" altLang="en-US" dirty="0">
                <a:latin typeface="+mn-lt"/>
              </a:rPr>
              <a:t>the circuit had to be maintained whether data was being sent or not. It is also important to note that packet switching enables packets to follow many different paths. What is the advantage of this capability?  If one path is blocked due to an accident or power failure, the data will automatically be shifted by routers to open paths. However, in truly massive outages like the September 11, 2011 attack on the World Trade Center, nearby metropolitan servers were knocked out, and for a period of several days, Internet access was limited in the New York Metropolitan area. The notion that packet switching networks would survive a nuclear attack is highly unlikely.</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7.3,</a:t>
            </a:r>
            <a:r>
              <a:rPr lang="en-US" altLang="en-US" baseline="0" dirty="0"/>
              <a:t> Page 255.</a:t>
            </a:r>
          </a:p>
          <a:p>
            <a:r>
              <a:rPr lang="en-US" sz="1200" b="0" i="0" u="none" strike="noStrike" kern="1200" cap="none" baseline="0" dirty="0">
                <a:solidFill>
                  <a:schemeClr val="tx1"/>
                </a:solidFill>
                <a:latin typeface="+mn-lt"/>
                <a:ea typeface="Arial"/>
                <a:cs typeface="Arial"/>
                <a:sym typeface="Arial"/>
              </a:rPr>
              <a:t>Data are grouped into small packets, which are transmitted independently over various communications channels and reassembled at their final destination.</a:t>
            </a:r>
            <a:endParaRPr lang="en-US" alt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aseline="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This graphic illustrates how packet switching works, showing a message being split into three packets, sent along different routes, and then reassembled at the destination. Note that each packet contains a packet number, message number, and destination.</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continues the discussion of the three main networking technologies in use today and looks at the third, TCP/IP. Note that in a network, there are typically many different types of hardware and software components that need to work together to transmit and receive information. Different components in a network communicate with one another only by adhering to a common set of rules called protocols. In the past, many diverse proprietary and incompatible protocols often forced business firms to purchase computing and communications equipment from a single vendor. But today, corporate networks are increasingly using a single, common, worldwide standard called Transmission Control Protocol/ Internet Protocol (TCP/IP). TCP/IP actually is a suite of  protocols, the main ones of which are TCP and IP. Ask students what these two main protocols are responsible for.</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7.4,</a:t>
            </a:r>
            <a:r>
              <a:rPr lang="en-US" altLang="en-US" baseline="0" dirty="0"/>
              <a:t> Page 256.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i="1" u="none" strike="noStrike" kern="1200" cap="none" baseline="0" dirty="0">
                <a:solidFill>
                  <a:schemeClr val="tx1"/>
                </a:solidFill>
                <a:ea typeface="Arial"/>
                <a:cs typeface="Arial"/>
                <a:sym typeface="Arial"/>
              </a:rPr>
              <a:t>This figure illustrates the four layers of the TCP/IP reference model for communications.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0" i="0" u="none" strike="noStrike" kern="1200" cap="none" baseline="0" dirty="0">
              <a:solidFill>
                <a:schemeClr val="tx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i="0" dirty="0"/>
              <a:t>Note that what happens when computer A sends a message to computer B, is that the data that computer A creates is transferred within that computer from the application layer to subsequent layers in sequence. In this process it is split into packets, and information is added at each stage, ultimately translating the packets into a form that can be transferred over the network interface. After traveling over the network interface, the packets are reassembled at the recipient computer, from the network interface layer up, ultimately for use by the application layer.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u="sng" baseline="0" dirty="0"/>
              <a:t>Alt Text</a:t>
            </a:r>
          </a:p>
          <a:p>
            <a:pPr marL="0" marR="0" fontAlgn="auto">
              <a:lnSpc>
                <a:spcPct val="115000"/>
              </a:lnSpc>
              <a:spcBef>
                <a:spcPts val="0"/>
              </a:spcBef>
              <a:spcAft>
                <a:spcPts val="0"/>
              </a:spcAft>
            </a:pPr>
            <a:r>
              <a:rPr lang="en-US" altLang="en-US" baseline="0" dirty="0"/>
              <a:t>Long description: A figure illustrates how two computers using TCP/IP communicate. </a:t>
            </a:r>
            <a:r>
              <a:rPr lang="en-US" dirty="0">
                <a:solidFill>
                  <a:srgbClr val="000000"/>
                </a:solidFill>
                <a:effectLst/>
                <a:ea typeface="Times New Roman" panose="02020603050405020304" pitchFamily="18" charset="0"/>
              </a:rPr>
              <a:t>Computer A communicates to computer B through the four layers of the </a:t>
            </a:r>
            <a:r>
              <a:rPr lang="en-US" dirty="0">
                <a:solidFill>
                  <a:srgbClr val="000000"/>
                </a:solidFill>
                <a:effectLst/>
                <a:ea typeface="Times New Roman" panose="02020603050405020304" pitchFamily="18" charset="0"/>
                <a:cs typeface="Calibri" panose="020F0502020204030204" pitchFamily="34" charset="0"/>
              </a:rPr>
              <a:t>transmission control protocol/internet protocol reference model. </a:t>
            </a:r>
            <a:endParaRPr lang="en-US" dirty="0">
              <a:solidFill>
                <a:srgbClr val="000000"/>
              </a:solidFill>
              <a:effectLst/>
              <a:ea typeface="Times New Roman" panose="02020603050405020304" pitchFamily="18" charset="0"/>
            </a:endParaRPr>
          </a:p>
          <a:p>
            <a:pPr marL="0" marR="0" fontAlgn="auto">
              <a:lnSpc>
                <a:spcPct val="115000"/>
              </a:lnSpc>
              <a:spcBef>
                <a:spcPts val="0"/>
              </a:spcBef>
              <a:spcAft>
                <a:spcPts val="0"/>
              </a:spcAft>
            </a:pPr>
            <a:r>
              <a:rPr lang="en-US" dirty="0">
                <a:solidFill>
                  <a:srgbClr val="000000"/>
                </a:solidFill>
                <a:effectLst/>
                <a:ea typeface="Times New Roman" panose="02020603050405020304" pitchFamily="18" charset="0"/>
                <a:cs typeface="Calibri" panose="020F0502020204030204" pitchFamily="34" charset="0"/>
              </a:rPr>
              <a:t>The four layers are: </a:t>
            </a:r>
            <a:endParaRPr lang="en-US" dirty="0">
              <a:solidFill>
                <a:srgbClr val="000000"/>
              </a:solidFill>
              <a:effectLs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Application</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Transport </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Internet</a:t>
            </a:r>
          </a:p>
          <a:p>
            <a:pPr marL="171450" marR="0" lvl="0" indent="-171450">
              <a:lnSpc>
                <a:spcPct val="115000"/>
              </a:lnSpc>
              <a:spcBef>
                <a:spcPts val="0"/>
              </a:spcBef>
              <a:spcAft>
                <a:spcPts val="0"/>
              </a:spcAft>
              <a:buFont typeface="Arial" panose="020B0604020202020204" pitchFamily="34" charset="0"/>
              <a:buChar char="•"/>
            </a:pPr>
            <a:r>
              <a:rPr lang="en-US" dirty="0">
                <a:ea typeface="Calibri" panose="020F0502020204030204" pitchFamily="34" charset="0"/>
              </a:rPr>
              <a:t>Network interface.</a:t>
            </a:r>
            <a:endParaRPr lang="en-US" dirty="0">
              <a:effectLst/>
              <a:ea typeface="Calibri" panose="020F050202020403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looks at the types of networks that organizations use. Ask students what the differences are between digital and analog signals. Ask students to describe and distinguish between LANs, CANs, WANs, and MANs, and also to talk about their different range of operation. Note that a network can be defined by the way the clients interact (client/server versus peer-to-peer), the type of physical medium to carry signals (Ethernet, Fast Ethernet, etc.), and the way in which computers are connected and send signals to each other (topology).</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114800"/>
          </a:xfrm>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7.5,</a:t>
            </a:r>
            <a:r>
              <a:rPr lang="en-US" altLang="en-US" baseline="0" dirty="0"/>
              <a:t> Page 257.</a:t>
            </a:r>
          </a:p>
          <a:p>
            <a:r>
              <a:rPr lang="en-US" sz="1200" b="0" i="1" u="none" strike="noStrike" kern="1200" cap="none" baseline="0" dirty="0">
                <a:solidFill>
                  <a:schemeClr val="tx1"/>
                </a:solidFill>
                <a:latin typeface="+mn-lt"/>
                <a:ea typeface="Arial"/>
                <a:cs typeface="Arial"/>
                <a:sym typeface="Arial"/>
              </a:rPr>
              <a:t>A modem is a device that translates digital signals into analog form (and vice versa) so that computers can transmit data over analog networks such as telephone and cable networks.</a:t>
            </a:r>
            <a:endParaRPr lang="en-US" altLang="en-US" i="1"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This graphic illustrates the differences between digital and analog signals and shows how digital signals can be sent to other computers over analog cables such as telephone and cable lines which are analog. Note that digital signals are representations of the two binary digits, 0 and 1, and are represented logically as on and off electrical pulses (in reality as different voltages). Ask students what MODEM stands for.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Times New Roman" panose="02020603050405020304" pitchFamily="18" charset="0"/>
            </a:endParaRPr>
          </a:p>
          <a:p>
            <a:pPr marL="0" marR="0">
              <a:lnSpc>
                <a:spcPct val="115000"/>
              </a:lnSpc>
              <a:spcBef>
                <a:spcPts val="0"/>
              </a:spcBef>
              <a:spcAft>
                <a:spcPts val="0"/>
              </a:spcAft>
            </a:pPr>
            <a:r>
              <a:rPr lang="en-US" u="sng" dirty="0"/>
              <a:t>Alt Text</a:t>
            </a:r>
          </a:p>
          <a:p>
            <a:pPr marL="0" marR="0">
              <a:lnSpc>
                <a:spcPct val="115000"/>
              </a:lnSpc>
              <a:spcBef>
                <a:spcPts val="0"/>
              </a:spcBef>
              <a:spcAft>
                <a:spcPts val="0"/>
              </a:spcAft>
            </a:pPr>
            <a:r>
              <a:rPr lang="en-US" dirty="0"/>
              <a:t>Long description: An illustration explains how a computer translates digital signals into analog form</a:t>
            </a:r>
            <a:r>
              <a:rPr lang="en-US" sz="1200" dirty="0"/>
              <a:t>. </a:t>
            </a:r>
            <a:r>
              <a:rPr lang="en-US" sz="1200" dirty="0">
                <a:solidFill>
                  <a:srgbClr val="000000"/>
                </a:solidFill>
                <a:effectLst/>
                <a:latin typeface="+mn-lt"/>
                <a:ea typeface="Times New Roman" panose="02020603050405020304" pitchFamily="18" charset="0"/>
              </a:rPr>
              <a:t>Computer sends digital signals in the form of bits and bytes to the modem. The modem then translates to the signal received into analog form for the following networks:</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Telephone line</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Cable system</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Wireless media</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Analog device.</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looks at the media involved in network transmission. Note that many of the telephone systems in buildings had twisted wires installed for analog communication, but they can be used for digital communication as well. Also, today, telecommunications companies are starting to bring fiber optic cable into the home for high-speed Internet access. </a:t>
            </a:r>
          </a:p>
          <a:p>
            <a:r>
              <a:rPr lang="en-US" altLang="en-US" dirty="0">
                <a:latin typeface="+mn-lt"/>
              </a:rPr>
              <a:t>Note that the transmission capacity of a medium (bps) is dependent on its frequency, which is measured in hertz, or cycles per second. Ask students to define bandwidth (it is the difference between the highest and lowest frequencies that can be accommodated on a single channel).</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examines what the Internet is</a:t>
            </a:r>
            <a:r>
              <a:rPr lang="en-US" altLang="en-US" dirty="0">
                <a:latin typeface="+mn-lt"/>
                <a:cs typeface="Times New Roman" panose="02020603050405020304" pitchFamily="18" charset="0"/>
              </a:rPr>
              <a:t>—</a:t>
            </a:r>
            <a:r>
              <a:rPr lang="en-US" altLang="en-US" dirty="0">
                <a:latin typeface="+mn-lt"/>
              </a:rPr>
              <a:t>ask students to describe it and what they use it for. The text refers to the Internet as the most extensive public communication system and the world</a:t>
            </a:r>
            <a:r>
              <a:rPr lang="en-US" altLang="ja-JP" dirty="0">
                <a:latin typeface="+mn-lt"/>
              </a:rPr>
              <a:t>’s largest implementation of client/server computing.</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latin typeface="+mn-lt"/>
              </a:rPr>
              <a:t>Ask students what an IP address is used for. Ask students why we have a domain name system, and why we don</a:t>
            </a:r>
            <a:r>
              <a:rPr lang="en-US" altLang="ja-JP" dirty="0">
                <a:latin typeface="+mn-lt"/>
              </a:rPr>
              <a:t>'t just use IP addresses. Note that the domain name system makes it possible for people to remember addresses.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latin typeface="+mn-lt"/>
            </a:endParaRPr>
          </a:p>
          <a:p>
            <a:r>
              <a:rPr lang="en-US" altLang="en-US" dirty="0">
                <a:latin typeface="+mn-lt"/>
              </a:rPr>
              <a:t>Ask students how they connect to the Internet. Do any use satellite? Note that T lines are leased, dedicated lines suitable for businesses or government agencies requiring high-speed guaranteed service levels. Do students know that the Internet does not guarantee any service level and agrees only to make a </a:t>
            </a:r>
            <a:r>
              <a:rPr lang="ja-JP" altLang="en-US" dirty="0">
                <a:latin typeface="+mn-lt"/>
              </a:rPr>
              <a:t>“</a:t>
            </a:r>
            <a:r>
              <a:rPr lang="en-US" altLang="ja-JP" dirty="0">
                <a:latin typeface="+mn-lt"/>
              </a:rPr>
              <a:t>best effort.</a:t>
            </a:r>
            <a:r>
              <a:rPr lang="ja-JP" altLang="en-US" dirty="0">
                <a:latin typeface="+mn-lt"/>
              </a:rPr>
              <a:t>”</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114800"/>
          </a:xfrm>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7.6,</a:t>
            </a:r>
            <a:r>
              <a:rPr lang="en-US" altLang="en-US" baseline="0" dirty="0"/>
              <a:t> Page 260.</a:t>
            </a:r>
          </a:p>
          <a:p>
            <a:r>
              <a:rPr lang="en-US" sz="1200" b="0" i="1" u="none" strike="noStrike" kern="1200" cap="none" baseline="0" dirty="0">
                <a:solidFill>
                  <a:schemeClr val="tx1"/>
                </a:solidFill>
                <a:latin typeface="+mn-lt"/>
                <a:ea typeface="Arial"/>
                <a:cs typeface="Arial"/>
                <a:sym typeface="Arial"/>
              </a:rPr>
              <a:t>The Domain Name System is a hierarchical system with a root domain, top-level domains, second-level domains, and host computers at the third level.</a:t>
            </a:r>
          </a:p>
          <a:p>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This graphic describes how the domain name system works. Note that the </a:t>
            </a:r>
            <a:r>
              <a:rPr lang="ja-JP" altLang="en-US" dirty="0">
                <a:latin typeface="+mn-lt"/>
              </a:rPr>
              <a:t>“</a:t>
            </a:r>
            <a:r>
              <a:rPr lang="en-US" altLang="ja-JP" dirty="0">
                <a:latin typeface="+mn-lt"/>
              </a:rPr>
              <a:t>root</a:t>
            </a:r>
            <a:r>
              <a:rPr lang="ja-JP" altLang="en-US" dirty="0">
                <a:latin typeface="+mn-lt"/>
              </a:rPr>
              <a:t>”</a:t>
            </a:r>
            <a:r>
              <a:rPr lang="en-US" altLang="ja-JP" dirty="0">
                <a:latin typeface="+mn-lt"/>
              </a:rPr>
              <a:t> domain is the period that is used before the top-level domain, such as .</a:t>
            </a:r>
            <a:r>
              <a:rPr lang="en-US" altLang="ja-JP" dirty="0" err="1">
                <a:latin typeface="+mn-lt"/>
              </a:rPr>
              <a:t>edu</a:t>
            </a:r>
            <a:r>
              <a:rPr lang="en-US" altLang="ja-JP" dirty="0">
                <a:latin typeface="+mn-lt"/>
              </a:rPr>
              <a:t> or .com. Give students an example Internet address, such as myserver.myspace.com and ask them what the top-, second-, and third-level domains are.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aseline="0" dirty="0">
              <a:latin typeface="+mn-lt"/>
            </a:endParaRPr>
          </a:p>
          <a:p>
            <a:pPr marL="0" marR="0">
              <a:lnSpc>
                <a:spcPct val="115000"/>
              </a:lnSpc>
              <a:spcBef>
                <a:spcPts val="0"/>
              </a:spcBef>
              <a:spcAft>
                <a:spcPts val="0"/>
              </a:spcAft>
            </a:pPr>
            <a:r>
              <a:rPr lang="en-US" altLang="en-US" u="sng" baseline="0" dirty="0">
                <a:latin typeface="+mn-lt"/>
              </a:rPr>
              <a:t>Alt Text</a:t>
            </a:r>
          </a:p>
          <a:p>
            <a:pPr marL="0" marR="0">
              <a:lnSpc>
                <a:spcPct val="115000"/>
              </a:lnSpc>
              <a:spcBef>
                <a:spcPts val="0"/>
              </a:spcBef>
              <a:spcAft>
                <a:spcPts val="0"/>
              </a:spcAft>
            </a:pPr>
            <a:r>
              <a:rPr lang="en-US" altLang="en-US" baseline="0" dirty="0">
                <a:latin typeface="+mn-lt"/>
              </a:rPr>
              <a:t>Long description: A four-tier hierarchy explains the concept of the domain name system</a:t>
            </a:r>
            <a:r>
              <a:rPr lang="en-US" altLang="en-US" sz="1200" baseline="0" dirty="0">
                <a:latin typeface="+mn-lt"/>
              </a:rPr>
              <a:t>. </a:t>
            </a:r>
            <a:r>
              <a:rPr lang="en-US" sz="1200" dirty="0">
                <a:solidFill>
                  <a:srgbClr val="000000"/>
                </a:solidFill>
                <a:effectLst/>
                <a:latin typeface="+mn-lt"/>
                <a:ea typeface="Times New Roman" panose="02020603050405020304" pitchFamily="18" charset="0"/>
              </a:rPr>
              <a:t>The details of the hierarchy are as follows: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At the topmost level is the root domain.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The second level consists of top-level domains such as: </a:t>
            </a:r>
            <a:r>
              <a:rPr lang="en-US" sz="1200" dirty="0" err="1">
                <a:effectLst/>
                <a:latin typeface="+mn-lt"/>
                <a:ea typeface="Calibri" panose="020F0502020204030204" pitchFamily="34" charset="0"/>
              </a:rPr>
              <a:t>edu</a:t>
            </a:r>
            <a:r>
              <a:rPr lang="en-US" sz="1200" dirty="0">
                <a:effectLst/>
                <a:latin typeface="+mn-lt"/>
                <a:ea typeface="Calibri" panose="020F0502020204030204" pitchFamily="34" charset="0"/>
              </a:rPr>
              <a:t>, com, gov, org, net, and other domains.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The third level consists of second-level domains such as: </a:t>
            </a:r>
            <a:r>
              <a:rPr lang="en-US" sz="1200" dirty="0" err="1">
                <a:effectLst/>
                <a:latin typeface="+mn-lt"/>
                <a:ea typeface="Calibri" panose="020F0502020204030204" pitchFamily="34" charset="0"/>
              </a:rPr>
              <a:t>expedia</a:t>
            </a:r>
            <a:r>
              <a:rPr lang="en-US" sz="1200" dirty="0">
                <a:effectLst/>
                <a:latin typeface="+mn-lt"/>
                <a:ea typeface="Calibri" panose="020F0502020204030204" pitchFamily="34" charset="0"/>
              </a:rPr>
              <a:t> and google from the “com” domain and congress from the “gov” domain.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The fourth level consist of the third-level domains and host computers such as sales from the “google” domain.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The sales dot google dot com is connected to the host computer, labeled computer 1 and translates into computer1 dot sales dot google dot com.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The Internet</a:t>
            </a:r>
            <a:r>
              <a:rPr lang="en-US" baseline="0" dirty="0"/>
              <a:t> has many governmental, international, and professional bodies that govern its policies.  In addition, many countries have created partially independent domestic Internets that are controlled by government intelligence agencies.  The concept of a global Internet is no longer a reality. For instance, the Internet users experience in China or Iran is different from the Internet experienced in the United States, EU, and other Asian countries.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7.7,</a:t>
            </a:r>
            <a:r>
              <a:rPr lang="en-US" altLang="en-US" baseline="0" dirty="0"/>
              <a:t> Page 262.</a:t>
            </a:r>
          </a:p>
          <a:p>
            <a:r>
              <a:rPr lang="en-US" sz="1200" b="0" i="1" u="none" strike="noStrike" kern="1200" cap="none" baseline="0" dirty="0">
                <a:solidFill>
                  <a:schemeClr val="tx1"/>
                </a:solidFill>
                <a:latin typeface="+mn-lt"/>
                <a:ea typeface="Arial"/>
                <a:cs typeface="Arial"/>
                <a:sym typeface="Arial"/>
              </a:rPr>
              <a:t>The Internet backbone connects to regional networks, which in turn provide access to Internet service providers, large firms, and government institutions. Network access points (NAPs) and metropolitan area exchanges (MAEs) are hubs where the backbone intersects regional and local networks and where backbone owners connect with one another.</a:t>
            </a:r>
          </a:p>
          <a:p>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This graphic illustrates the architecture of the Internet. Note that MAEs (metropolitan area exchanges) are hubs where the backbone intersects regional and local networks and where backbone networks connect with one another.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mn-lt"/>
            </a:endParaRPr>
          </a:p>
          <a:p>
            <a:pPr marL="0" marR="0">
              <a:lnSpc>
                <a:spcPct val="115000"/>
              </a:lnSpc>
              <a:spcBef>
                <a:spcPts val="0"/>
              </a:spcBef>
              <a:spcAft>
                <a:spcPts val="0"/>
              </a:spcAft>
            </a:pPr>
            <a:r>
              <a:rPr lang="en-US" altLang="en-US" u="sng" dirty="0">
                <a:latin typeface="+mn-lt"/>
              </a:rPr>
              <a:t>Alt Text</a:t>
            </a:r>
          </a:p>
          <a:p>
            <a:pPr marL="0" marR="0">
              <a:lnSpc>
                <a:spcPct val="115000"/>
              </a:lnSpc>
              <a:spcBef>
                <a:spcPts val="0"/>
              </a:spcBef>
              <a:spcAft>
                <a:spcPts val="0"/>
              </a:spcAft>
            </a:pPr>
            <a:r>
              <a:rPr lang="en-US" altLang="en-US" dirty="0">
                <a:latin typeface="+mn-lt"/>
              </a:rPr>
              <a:t>Long description:</a:t>
            </a:r>
            <a:r>
              <a:rPr lang="en-US" altLang="en-US" sz="1200" dirty="0">
                <a:latin typeface="+mn-lt"/>
              </a:rPr>
              <a:t> An illustration explains Internet network architecture. </a:t>
            </a:r>
            <a:r>
              <a:rPr lang="en-US" sz="1200" dirty="0">
                <a:solidFill>
                  <a:srgbClr val="000000"/>
                </a:solidFill>
                <a:effectLst/>
                <a:latin typeface="+mn-lt"/>
                <a:ea typeface="Times New Roman" panose="02020603050405020304" pitchFamily="18" charset="0"/>
              </a:rPr>
              <a:t>The details of the network diagram are as below: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The internet backbone is interconnected to the MAE hub, which includes the regional hubs like the MAEs and NAPs.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The MAE is interconnected to the regional hosts and the MAE hub through the internet.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The regional host is connected to the domains like </a:t>
            </a:r>
            <a:r>
              <a:rPr lang="en-US" sz="1200" dirty="0" err="1">
                <a:effectLst/>
                <a:latin typeface="+mn-lt"/>
                <a:ea typeface="Calibri" panose="020F0502020204030204" pitchFamily="34" charset="0"/>
              </a:rPr>
              <a:t>nyu</a:t>
            </a:r>
            <a:r>
              <a:rPr lang="en-US" sz="1200" dirty="0">
                <a:effectLst/>
                <a:latin typeface="+mn-lt"/>
                <a:ea typeface="Calibri" panose="020F0502020204030204" pitchFamily="34" charset="0"/>
              </a:rPr>
              <a:t> dot </a:t>
            </a:r>
            <a:r>
              <a:rPr lang="en-US" sz="1200" dirty="0" err="1">
                <a:effectLst/>
                <a:latin typeface="+mn-lt"/>
                <a:ea typeface="Calibri" panose="020F0502020204030204" pitchFamily="34" charset="0"/>
              </a:rPr>
              <a:t>edu</a:t>
            </a:r>
            <a:r>
              <a:rPr lang="en-US" sz="1200" dirty="0">
                <a:effectLst/>
                <a:latin typeface="+mn-lt"/>
                <a:ea typeface="Calibri" panose="020F0502020204030204" pitchFamily="34" charset="0"/>
              </a:rPr>
              <a:t> and the local ISP through the T1 line.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POP3 mail and SMTP mail are transmitted from the domain: </a:t>
            </a:r>
            <a:r>
              <a:rPr lang="en-US" sz="1200" dirty="0" err="1">
                <a:effectLst/>
                <a:latin typeface="+mn-lt"/>
                <a:ea typeface="Calibri" panose="020F0502020204030204" pitchFamily="34" charset="0"/>
              </a:rPr>
              <a:t>nyu</a:t>
            </a:r>
            <a:r>
              <a:rPr lang="en-US" sz="1200" dirty="0">
                <a:effectLst/>
                <a:latin typeface="+mn-lt"/>
                <a:ea typeface="Calibri" panose="020F0502020204030204" pitchFamily="34" charset="0"/>
              </a:rPr>
              <a:t> dot </a:t>
            </a:r>
            <a:r>
              <a:rPr lang="en-US" sz="1200" dirty="0" err="1">
                <a:effectLst/>
                <a:latin typeface="+mn-lt"/>
                <a:ea typeface="Calibri" panose="020F0502020204030204" pitchFamily="34" charset="0"/>
              </a:rPr>
              <a:t>edu</a:t>
            </a:r>
            <a:r>
              <a:rPr lang="en-US" sz="1200" dirty="0">
                <a:effectLst/>
                <a:latin typeface="+mn-lt"/>
                <a:ea typeface="Calibri" panose="020F0502020204030204" pitchFamily="34" charset="0"/>
              </a:rPr>
              <a:t>.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The domain </a:t>
            </a:r>
            <a:r>
              <a:rPr lang="en-US" sz="1200" dirty="0" err="1">
                <a:effectLst/>
                <a:latin typeface="+mn-lt"/>
                <a:ea typeface="Calibri" panose="020F0502020204030204" pitchFamily="34" charset="0"/>
              </a:rPr>
              <a:t>nyu</a:t>
            </a:r>
            <a:r>
              <a:rPr lang="en-US" sz="1200" dirty="0">
                <a:effectLst/>
                <a:latin typeface="+mn-lt"/>
                <a:ea typeface="Calibri" panose="020F0502020204030204" pitchFamily="34" charset="0"/>
              </a:rPr>
              <a:t> dot </a:t>
            </a:r>
            <a:r>
              <a:rPr lang="en-US" sz="1200" dirty="0" err="1">
                <a:effectLst/>
                <a:latin typeface="+mn-lt"/>
                <a:ea typeface="Calibri" panose="020F0502020204030204" pitchFamily="34" charset="0"/>
              </a:rPr>
              <a:t>edu</a:t>
            </a:r>
            <a:r>
              <a:rPr lang="en-US" sz="1200" dirty="0">
                <a:effectLst/>
                <a:latin typeface="+mn-lt"/>
                <a:ea typeface="Calibri" panose="020F0502020204030204" pitchFamily="34" charset="0"/>
              </a:rPr>
              <a:t> is connected to the campus network and offices. The client IP address gets assigned here. </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The domain local ISP through the regular phone line is connected to the home. The client IP address gets assigned here.</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continues the discussion about what the Internet is, here looking at the services, or applications, that the Internet supports. Notice that the Internet comprises many more services than just e-mail and the web. Ask students which of these services, beyond e-mail and the web have they used, and if they have, to describe how it works.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Students who have cable Internet telephones are using VoIP.  Other popular technologies that use the Internet as a platform are VoIP, unified communications, and virtual private networks. Ask students what they think is the value to business is of each of these technologies.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562600" cy="4572000"/>
          </a:xfrm>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7.8,</a:t>
            </a:r>
            <a:r>
              <a:rPr lang="en-US" altLang="en-US" baseline="0" dirty="0"/>
              <a:t> Page 264.</a:t>
            </a:r>
          </a:p>
          <a:p>
            <a:r>
              <a:rPr lang="en-US" sz="1200" b="0" i="1" u="none" strike="noStrike" kern="1200" cap="none" baseline="0" dirty="0">
                <a:solidFill>
                  <a:schemeClr val="tx1"/>
                </a:solidFill>
                <a:latin typeface="+mn-lt"/>
                <a:ea typeface="Arial"/>
                <a:cs typeface="Arial"/>
                <a:sym typeface="Arial"/>
              </a:rPr>
              <a:t>Client computers running web browsers and other software can access an array of services on servers over the Internet. These services may all run on a single server or on multiple specialized servers.</a:t>
            </a:r>
          </a:p>
          <a:p>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This graphic looks at the services that an Internet server computer can offer: Websites (HTTP), e-mail (SMTP), file transfer (FTP), newsgroups (NNTP). It illustrates where on the path between client and backend systems these services lie.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mn-lt"/>
            </a:endParaRPr>
          </a:p>
          <a:p>
            <a:pPr marL="0" marR="0">
              <a:lnSpc>
                <a:spcPct val="115000"/>
              </a:lnSpc>
              <a:spcBef>
                <a:spcPts val="0"/>
              </a:spcBef>
              <a:spcAft>
                <a:spcPts val="0"/>
              </a:spcAft>
            </a:pPr>
            <a:r>
              <a:rPr lang="en-US" altLang="en-US" sz="1200" u="sng" dirty="0">
                <a:latin typeface="+mn-lt"/>
              </a:rPr>
              <a:t>Alt Text</a:t>
            </a:r>
          </a:p>
          <a:p>
            <a:pPr marL="0" marR="0">
              <a:lnSpc>
                <a:spcPct val="115000"/>
              </a:lnSpc>
              <a:spcBef>
                <a:spcPts val="0"/>
              </a:spcBef>
              <a:spcAft>
                <a:spcPts val="0"/>
              </a:spcAft>
            </a:pPr>
            <a:r>
              <a:rPr lang="en-US" altLang="en-US" sz="1200" dirty="0">
                <a:latin typeface="+mn-lt"/>
              </a:rPr>
              <a:t>Long description: A network diagram explains how client computers can access an array of services on servers over the Internet. </a:t>
            </a:r>
            <a:r>
              <a:rPr lang="en-US" sz="1200" dirty="0">
                <a:solidFill>
                  <a:srgbClr val="000000"/>
                </a:solidFill>
                <a:effectLst/>
                <a:latin typeface="+mn-lt"/>
                <a:ea typeface="Times New Roman" panose="02020603050405020304" pitchFamily="18" charset="0"/>
              </a:rPr>
              <a:t>The sequence of the flow is as follows: </a:t>
            </a: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The client computer or smartphone which is using web browser and other client software is interconnected to the internet. The internet is interconnected to the server. Both these interconnections are depicted via dashed bidirectional arrows. </a:t>
            </a:r>
          </a:p>
          <a:p>
            <a:pPr marL="0" marR="0">
              <a:lnSpc>
                <a:spcPct val="115000"/>
              </a:lnSpc>
              <a:spcBef>
                <a:spcPts val="0"/>
              </a:spcBef>
              <a:spcAft>
                <a:spcPts val="0"/>
              </a:spcAft>
            </a:pP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The server includes the following: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Web (HTTP) server</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Simple Mail Transfer Protocol (SMTP)</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Domain Name Serving (DNS) utility</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File Transfer Protocol (FTP)</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Network News Transfer Protocol (NNTP)</a:t>
            </a:r>
          </a:p>
          <a:p>
            <a:pPr marL="0" marR="0">
              <a:lnSpc>
                <a:spcPct val="115000"/>
              </a:lnSpc>
              <a:spcBef>
                <a:spcPts val="0"/>
              </a:spcBef>
              <a:spcAft>
                <a:spcPts val="0"/>
              </a:spcAft>
            </a:pP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The server is interconnected to the application server, web pages, and mail files. </a:t>
            </a: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The application server is further interconnected to the database server which is interconnected to the back-end systems. The back-end system includes various databases. The application server is also connected to the entities: Sales, production, accounting, and HR.</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7.9,</a:t>
            </a:r>
            <a:r>
              <a:rPr lang="en-US" altLang="en-US" baseline="0" dirty="0"/>
              <a:t> Page 265.</a:t>
            </a:r>
          </a:p>
          <a:p>
            <a:r>
              <a:rPr lang="en-US" sz="1200" b="0" i="1" u="none" strike="noStrike" kern="1200" cap="none" baseline="0" dirty="0">
                <a:solidFill>
                  <a:schemeClr val="tx1"/>
                </a:solidFill>
                <a:latin typeface="+mn-lt"/>
                <a:ea typeface="Arial"/>
                <a:cs typeface="Arial"/>
                <a:sym typeface="Arial"/>
              </a:rPr>
              <a:t>A VoIP phone call digitizes and breaks up a voice message into data packets that may travel along different routes before being reassembled at the final destination. A processor nearest the call’s destination, called a gateway, arranges the packets in the proper order and directs them to the telephone number of the receiver or the IP address of the receiving computer.</a:t>
            </a:r>
          </a:p>
          <a:p>
            <a:endParaRPr 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This graphic shows how VoIP works. The voice messages are digitized and transported over the Internet in the same packet-switching method as traditional Internet data. Gateways are simply computers (network devices) that maintain the interface with the Internet in a firm.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cap="none" baseline="0" dirty="0">
              <a:solidFill>
                <a:schemeClr val="tx1"/>
              </a:solidFill>
              <a:latin typeface="+mn-lt"/>
              <a:ea typeface="Arial"/>
              <a:cs typeface="Arial"/>
              <a:sym typeface="Arial"/>
            </a:endParaRPr>
          </a:p>
          <a:p>
            <a:pPr marL="0" marR="0">
              <a:lnSpc>
                <a:spcPct val="115000"/>
              </a:lnSpc>
              <a:spcBef>
                <a:spcPts val="0"/>
              </a:spcBef>
              <a:spcAft>
                <a:spcPts val="0"/>
              </a:spcAft>
            </a:pPr>
            <a:r>
              <a:rPr lang="en-US" sz="1200" b="0" i="0" u="sng" strike="noStrike" kern="1200" cap="none" baseline="0" dirty="0">
                <a:solidFill>
                  <a:schemeClr val="tx1"/>
                </a:solidFill>
                <a:latin typeface="+mn-lt"/>
                <a:ea typeface="Arial"/>
                <a:cs typeface="Arial"/>
                <a:sym typeface="Arial"/>
              </a:rPr>
              <a:t>Alt Text</a:t>
            </a:r>
          </a:p>
          <a:p>
            <a:pPr marL="0" marR="0">
              <a:lnSpc>
                <a:spcPct val="115000"/>
              </a:lnSpc>
              <a:spcBef>
                <a:spcPts val="0"/>
              </a:spcBef>
              <a:spcAft>
                <a:spcPts val="0"/>
              </a:spcAft>
            </a:pPr>
            <a:r>
              <a:rPr lang="en-US" sz="1200" b="0" i="0" u="none" strike="noStrike" kern="1200" cap="none" baseline="0" dirty="0">
                <a:solidFill>
                  <a:schemeClr val="tx1"/>
                </a:solidFill>
                <a:latin typeface="+mn-lt"/>
                <a:ea typeface="Arial"/>
                <a:cs typeface="Arial"/>
                <a:sym typeface="Arial"/>
              </a:rPr>
              <a:t>Long description: A two-way flow diagram explains how voice over IP works. </a:t>
            </a:r>
            <a:r>
              <a:rPr lang="en-US" sz="1200" dirty="0">
                <a:solidFill>
                  <a:srgbClr val="000000"/>
                </a:solidFill>
                <a:effectLst/>
                <a:latin typeface="+mn-lt"/>
                <a:ea typeface="Times New Roman" panose="02020603050405020304" pitchFamily="18" charset="0"/>
              </a:rPr>
              <a:t>The details are as below:</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Message from the user passes through the gateway via the internet and reaches the user at the other end and vice-versa.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The message “How are you?” which gets digitized as ABC and breaks up into data packets, while passing through the internet before being reassembled at the final destination.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The gateway near the user arranges the packets in the proper order and directs them to the receiving computer.</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Similarly, the return message “Fine, thank you!” gets digitized as XYZ and breaks up into data packets before passing the gateway and resembling again for the user.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7.10,</a:t>
            </a:r>
            <a:r>
              <a:rPr lang="en-US" altLang="en-US" baseline="0" dirty="0"/>
              <a:t> Page 268.</a:t>
            </a:r>
          </a:p>
          <a:p>
            <a:r>
              <a:rPr lang="en-US" sz="1200" b="0" i="1" u="none" strike="noStrike" kern="1200" cap="none" baseline="0" dirty="0">
                <a:solidFill>
                  <a:schemeClr val="tx1"/>
                </a:solidFill>
                <a:latin typeface="+mn-lt"/>
                <a:ea typeface="Arial"/>
                <a:cs typeface="Arial"/>
                <a:sym typeface="Arial"/>
              </a:rPr>
              <a:t>This VPN is a private network of computers linked using a secure tunnel connection over the Internet. It protects data transmitted over the public Internet by encoding the data and wrapping them within the Internet protocol. By adding a wrapper around a network message to hide its content, organizations can create a private connection that travels through the public Internet.</a:t>
            </a:r>
          </a:p>
          <a:p>
            <a:endParaRPr lang="en-US" altLang="en-US" sz="1200" b="0" i="0" u="none" strike="noStrike" kern="1200" cap="none" baseline="0" dirty="0">
              <a:solidFill>
                <a:schemeClr val="tx1"/>
              </a:solidFill>
              <a:latin typeface="+mn-lt"/>
              <a:ea typeface="Arial"/>
              <a:cs typeface="Arial"/>
              <a:sym typeface="Arial"/>
            </a:endParaRPr>
          </a:p>
          <a:p>
            <a:r>
              <a:rPr lang="en-US" altLang="en-US" dirty="0">
                <a:latin typeface="+mn-lt"/>
              </a:rPr>
              <a:t>This graphic illustrates how a virtual private network works. The rectangles A, B, C, and D represent different computers on the VPN. In a process called tunneling, packets of data are encrypted and wrapped inside IP packets. By adding this wrapper around a network message to hide its content, business firms create a private connection that travels through the public Internet.</a:t>
            </a:r>
          </a:p>
          <a:p>
            <a:endParaRPr lang="en-US" dirty="0">
              <a:latin typeface="Times New Roman" panose="02020603050405020304" pitchFamily="18" charset="0"/>
            </a:endParaRPr>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An illustration explains the concept of virtual private network. </a:t>
            </a:r>
            <a:r>
              <a:rPr lang="en-US" sz="1200" dirty="0">
                <a:solidFill>
                  <a:srgbClr val="000000"/>
                </a:solidFill>
                <a:effectLst/>
                <a:latin typeface="+mn-lt"/>
                <a:ea typeface="Times New Roman" panose="02020603050405020304" pitchFamily="18" charset="0"/>
                <a:cs typeface="Calibri" panose="020F0502020204030204" pitchFamily="34" charset="0"/>
              </a:rPr>
              <a:t>The details are as follows: </a:t>
            </a:r>
            <a:endParaRPr lang="en-US" sz="1200" dirty="0">
              <a:solidFill>
                <a:srgbClr val="000000"/>
              </a:solidFill>
              <a:effectLst/>
              <a:latin typeface="+mn-lt"/>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The data tunnel which sends and receives data is at the center of the illustration. </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The data tunnel is enclosed by the internet. </a:t>
            </a:r>
          </a:p>
          <a:p>
            <a:pPr marL="342900" marR="0" lvl="0" indent="-342900">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mn-lt"/>
                <a:ea typeface="Times New Roman" panose="02020603050405020304" pitchFamily="18" charset="0"/>
              </a:rPr>
              <a:t>Bidirectional arrows connect computers A, B, C, and D to the data tunnel via the internet.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looks at one of the most popular services on the Internet, the web, and the main protocols enabling the web. The web is an interlinked connection of websites, which are collections of web pages linked to a home page. These pages are created using a text markup language call HTML and transmitted to user</a:t>
            </a:r>
            <a:r>
              <a:rPr lang="en-US" altLang="ja-JP" dirty="0">
                <a:latin typeface="+mn-lt"/>
              </a:rPr>
              <a:t>’s web browsers by HTTP. Web page addresses (URLs) are composed of the domain name of the website and the file location of the individual web page. Ask students if any have created web pages using HTML, and if so, to describe what this is like. How have they made the web pages visible to others on the web?</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latin typeface="+mn-lt"/>
              </a:rPr>
              <a:t>This slide looks at how people find information of interest on the web. The primary method is through search engines, which today act as major portals to the web. Ask students where their initial points of entry are on the web, and how they find information they are interested in.  Most will be Google users, but ask if they have looked at Bing, the Microsoft search engine that is showing some promise. </a:t>
            </a:r>
          </a:p>
          <a:p>
            <a:pPr eaLnBrk="1" hangingPunct="1"/>
            <a:endParaRPr lang="en-US" altLang="en-US" dirty="0">
              <a:latin typeface="+mn-lt"/>
            </a:endParaRPr>
          </a:p>
          <a:p>
            <a:pPr eaLnBrk="1" hangingPunct="1"/>
            <a:r>
              <a:rPr lang="en-US" altLang="en-US" dirty="0">
                <a:latin typeface="+mn-lt"/>
              </a:rPr>
              <a:t>The text discusses how big the web is, in terms of pages. Google indexed an estimated 5  billion web pages in 2019, but this does not</a:t>
            </a:r>
            <a:r>
              <a:rPr lang="en-US" altLang="ja-JP" dirty="0">
                <a:latin typeface="+mn-lt"/>
              </a:rPr>
              <a:t> include the </a:t>
            </a:r>
            <a:r>
              <a:rPr lang="ja-JP" altLang="en-US" dirty="0">
                <a:latin typeface="+mn-lt"/>
              </a:rPr>
              <a:t>“</a:t>
            </a:r>
            <a:r>
              <a:rPr lang="en-US" altLang="ja-JP" dirty="0">
                <a:latin typeface="+mn-lt"/>
              </a:rPr>
              <a:t>deep web.</a:t>
            </a:r>
            <a:r>
              <a:rPr lang="ja-JP" altLang="en-US" dirty="0">
                <a:latin typeface="+mn-lt"/>
              </a:rPr>
              <a:t>”</a:t>
            </a:r>
            <a:r>
              <a:rPr lang="en-US" altLang="ja-JP" dirty="0">
                <a:latin typeface="+mn-lt"/>
              </a:rPr>
              <a:t> Other estimates point to “one trillion” web pages, but many of these are duplicates.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Figure 7.11,</a:t>
            </a:r>
            <a:r>
              <a:rPr lang="en-US" altLang="en-US" baseline="0" dirty="0">
                <a:latin typeface="+mn-lt"/>
              </a:rPr>
              <a:t> Page 269.</a:t>
            </a:r>
          </a:p>
          <a:p>
            <a:r>
              <a:rPr lang="en-US" sz="1200" b="0" i="1" u="none" strike="noStrike" kern="1200" cap="none" baseline="0" dirty="0">
                <a:solidFill>
                  <a:schemeClr val="tx1"/>
                </a:solidFill>
                <a:latin typeface="+mn-lt"/>
                <a:ea typeface="Arial"/>
                <a:cs typeface="Arial"/>
                <a:sym typeface="Arial"/>
              </a:rPr>
              <a:t>Google is the most popular search engine. </a:t>
            </a:r>
          </a:p>
          <a:p>
            <a:r>
              <a:rPr lang="en-US" sz="1200" b="0" i="1" u="none" strike="noStrike" kern="1200" cap="none" baseline="0" dirty="0">
                <a:solidFill>
                  <a:schemeClr val="dk1"/>
                </a:solidFill>
                <a:latin typeface="+mn-lt"/>
                <a:ea typeface="Arial"/>
                <a:cs typeface="Arial"/>
                <a:sym typeface="Arial"/>
              </a:rPr>
              <a:t>Source: Based on data from Net Market Share, February 2020.</a:t>
            </a:r>
          </a:p>
          <a:p>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This graphic ranks the major search engines according to popularity, or percentage of total number of searches performed. Google is a clear favorite. Is this due to the superiority of their search engine results or does it involve other factors such as their clean interface, or their reach, which makes their ad platform more valuable to advertisers. Poll your class about the search engines they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mn-lt"/>
            </a:endParaRPr>
          </a:p>
          <a:p>
            <a:pPr marL="0" marR="0">
              <a:lnSpc>
                <a:spcPct val="115000"/>
              </a:lnSpc>
              <a:spcBef>
                <a:spcPts val="0"/>
              </a:spcBef>
              <a:spcAft>
                <a:spcPts val="0"/>
              </a:spcAft>
            </a:pPr>
            <a:r>
              <a:rPr lang="en-US" altLang="en-US" u="sng" dirty="0">
                <a:latin typeface="+mn-lt"/>
              </a:rPr>
              <a:t>Alt Text</a:t>
            </a:r>
          </a:p>
          <a:p>
            <a:pPr marL="0" marR="0">
              <a:lnSpc>
                <a:spcPct val="115000"/>
              </a:lnSpc>
              <a:spcBef>
                <a:spcPts val="0"/>
              </a:spcBef>
              <a:spcAft>
                <a:spcPts val="0"/>
              </a:spcAft>
            </a:pPr>
            <a:r>
              <a:rPr lang="en-US" altLang="en-US" dirty="0">
                <a:latin typeface="+mn-lt"/>
              </a:rPr>
              <a:t>Long description</a:t>
            </a:r>
            <a:r>
              <a:rPr lang="en-US" altLang="en-US" sz="1200" dirty="0">
                <a:latin typeface="+mn-lt"/>
              </a:rPr>
              <a:t>: A pie chart presents data on the market share of various search engines across the world. </a:t>
            </a:r>
            <a:r>
              <a:rPr lang="en-US" sz="1200" dirty="0">
                <a:solidFill>
                  <a:srgbClr val="000000"/>
                </a:solidFill>
                <a:effectLst/>
                <a:latin typeface="+mn-lt"/>
                <a:ea typeface="Times New Roman" panose="02020603050405020304" pitchFamily="18" charset="0"/>
                <a:cs typeface="Calibri" panose="020F0502020204030204" pitchFamily="34" charset="0"/>
              </a:rPr>
              <a:t>The details are as follows:</a:t>
            </a:r>
            <a:endParaRPr lang="en-US" sz="1200" dirty="0">
              <a:solidFill>
                <a:srgbClr val="000000"/>
              </a:solidFill>
              <a:effectLst/>
              <a:latin typeface="+mn-lt"/>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Google: 73.1%</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Bing: 11.6%</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Baidu: 10.4%</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Yahoo: 2.5%</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Others: 2.5%. </a:t>
            </a:r>
            <a:endParaRPr lang="en-US" sz="1200" dirty="0">
              <a:effectLst/>
              <a:latin typeface="+mn-lt"/>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495801"/>
          </a:xfrm>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7.12,</a:t>
            </a:r>
            <a:r>
              <a:rPr lang="en-US" altLang="en-US" baseline="0" dirty="0"/>
              <a:t> Page 270.</a:t>
            </a:r>
          </a:p>
          <a:p>
            <a:r>
              <a:rPr lang="en-US" sz="1200" b="0" i="1" u="none" strike="noStrike" kern="1200" cap="none" baseline="0" dirty="0">
                <a:solidFill>
                  <a:schemeClr val="tx1"/>
                </a:solidFill>
                <a:latin typeface="+mn-lt"/>
                <a:ea typeface="Arial"/>
                <a:cs typeface="Arial"/>
                <a:sym typeface="Arial"/>
              </a:rPr>
              <a:t>The Google search engine is continuously crawling the web, indexing the content of each page, calculating its popularity, and storing the pages so that it can respond quickly to user requests to see a page. The entire process takes about half a second. </a:t>
            </a:r>
          </a:p>
          <a:p>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This graphic illustrates in a very high-level diagram how Google works. At the foundation of Google</a:t>
            </a:r>
            <a:r>
              <a:rPr lang="en-US" altLang="ja-JP" dirty="0">
                <a:latin typeface="+mn-lt"/>
              </a:rPr>
              <a:t>’s search engine are two concepts</a:t>
            </a:r>
            <a:r>
              <a:rPr lang="en-US" altLang="ja-JP" dirty="0">
                <a:latin typeface="+mn-lt"/>
                <a:cs typeface="Times New Roman" panose="02020603050405020304" pitchFamily="18" charset="0"/>
              </a:rPr>
              <a:t>—</a:t>
            </a:r>
            <a:r>
              <a:rPr lang="en-US" altLang="ja-JP" dirty="0">
                <a:latin typeface="+mn-lt"/>
              </a:rPr>
              <a:t>page ranking and the indexing of combinations of words. Ask students if they have a favorite search engine, and if so, why that search is their favorite. The reality of how Google actually works is the subject of many volumes and is beyond the scope of this book. </a:t>
            </a:r>
          </a:p>
          <a:p>
            <a:pPr marL="0" marR="0">
              <a:lnSpc>
                <a:spcPct val="115000"/>
              </a:lnSpc>
              <a:spcBef>
                <a:spcPts val="0"/>
              </a:spcBef>
              <a:spcAft>
                <a:spcPts val="0"/>
              </a:spcAft>
            </a:pPr>
            <a:br>
              <a:rPr lang="en-US" altLang="ja-JP" dirty="0">
                <a:latin typeface="Times New Roman" panose="02020603050405020304" pitchFamily="18" charset="0"/>
              </a:rPr>
            </a:br>
            <a:r>
              <a:rPr lang="en-US" altLang="ja-JP" dirty="0"/>
              <a:t>Alt Text</a:t>
            </a:r>
          </a:p>
          <a:p>
            <a:pPr marL="0" marR="0">
              <a:lnSpc>
                <a:spcPct val="115000"/>
              </a:lnSpc>
              <a:spcBef>
                <a:spcPts val="0"/>
              </a:spcBef>
              <a:spcAft>
                <a:spcPts val="0"/>
              </a:spcAft>
            </a:pPr>
            <a:r>
              <a:rPr lang="en-US" altLang="ja-JP" dirty="0">
                <a:latin typeface="Times New Roman" panose="02020603050405020304" pitchFamily="18" charset="0"/>
              </a:rPr>
              <a:t>Long descriptio</a:t>
            </a:r>
            <a:r>
              <a:rPr lang="en-US" altLang="ja-JP" sz="1200" dirty="0">
                <a:latin typeface="+mn-lt"/>
              </a:rPr>
              <a:t>n: A process diagram explains the various steps followed by Google web search. </a:t>
            </a:r>
            <a:r>
              <a:rPr lang="en-US" sz="1200" dirty="0">
                <a:solidFill>
                  <a:srgbClr val="000000"/>
                </a:solidFill>
                <a:effectLst/>
                <a:latin typeface="+mn-lt"/>
                <a:ea typeface="Times New Roman" panose="02020603050405020304" pitchFamily="18" charset="0"/>
                <a:cs typeface="Calibri" panose="020F0502020204030204" pitchFamily="34" charset="0"/>
              </a:rPr>
              <a:t>The details of the diagram are as follows:</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Step 1: User enters query.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Step 2: Google’s Web servers receive the request. Google uses millions of servers linked together and connected to the internet to handle incoming requests and produce the results.</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Step 3: Request is sent to Google’s index servers that describe which pages contain the keywords matching the query and where those pages are stored on the document servers.</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Step 4: Using the PageRank software, the system measures the “importance” or popularity of each page by solving an equation with more than 500 million variables and two billion terms. These are likely the “best” pages for the query.</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Step 5: Small text summaries are prepared for each Web page.</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Step 6: Results delivered to user, 10 to a page. </a:t>
            </a:r>
            <a:endParaRPr lang="en-US" sz="1200" dirty="0">
              <a:effectLst/>
              <a:latin typeface="+mn-lt"/>
              <a:ea typeface="Calibri" panose="020F0502020204030204" pitchFamily="34" charset="0"/>
            </a:endParaRPr>
          </a:p>
          <a:p>
            <a:endParaRPr lang="en-US" sz="1200" dirty="0">
              <a:solidFill>
                <a:srgbClr val="000000"/>
              </a:solidFill>
              <a:effectLst/>
              <a:latin typeface="+mn-lt"/>
              <a:ea typeface="Times New Roman" panose="02020603050405020304" pitchFamily="18" charset="0"/>
            </a:endParaRPr>
          </a:p>
          <a:p>
            <a:r>
              <a:rPr lang="en-US" sz="1200" dirty="0">
                <a:solidFill>
                  <a:srgbClr val="000000"/>
                </a:solidFill>
                <a:effectLst/>
                <a:latin typeface="+mn-lt"/>
                <a:ea typeface="Times New Roman" panose="02020603050405020304" pitchFamily="18" charset="0"/>
              </a:rPr>
              <a:t>All the steps in the diagram are shown as a sequence in the form of an enclosure, which begin and end at the user.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Times New Roman" panose="02020603050405020304" pitchFamily="18" charset="0"/>
              </a:rPr>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13549065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The Internet of Things includes the idea that our cars, refrigerators, heaters and air conditioning units, along with all other appliances, and buildings, will be on the Internet.</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discusses the evolution in wireless communication. Ask students what changes or improvements have happened in their cell phone service over the past two years. Have they purchased or upgraded a cell phone in that time, and if so, why? 3G networks, a standard which first appeared in the early 2000s, have mobile upload capacities of about 144 mbps, enough for email and some web browsing, but not videos.  3G networks have been largely supplanted by more powerful 4G networks, with 5G an upcoming technology (discussed in the next slide).</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continues the discussion of the evolution in wireless communication. 4G networks started appearing in 2010 in the United States.  They are also called LTE (Long Term Evolution) networks.  4G cell networks can be used for display of video on mobile devices with download speeds of about 100 mbps, and upload speeds of 50 mbps.  5G networks are just now beginning to be deployed and will enable movies to be downloaded in seconds. How many students watch videos on their smartphones?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discusses the current standards in wireless networking. Ask students if they have any Bluetooth or wireless devices they use for computing, such as keyboards, earphones, or other. Note that in most Wi-Fi communications, wireless devices communicate with a wired LAN using an access point.</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latin typeface="+mn-lt"/>
              </a:rPr>
              <a:t>This slide continues the discussion about wireless networking and Wi-Fi. Ask students if they have ever connected to the Internet through a hotspot at an airport, coffee shop, hotel, or other location. Are</a:t>
            </a:r>
            <a:r>
              <a:rPr lang="en-US" altLang="en-US" baseline="0" dirty="0">
                <a:latin typeface="+mn-lt"/>
              </a:rPr>
              <a:t> they aware of the security issues of using their smartphones to access the Internet at, say, Starbucks.  </a:t>
            </a:r>
            <a:endParaRPr lang="en-US" altLang="en-US" dirty="0">
              <a:latin typeface="+mn-lt"/>
            </a:endParaRPr>
          </a:p>
          <a:p>
            <a:pPr eaLnBrk="1" hangingPunct="1"/>
            <a:endParaRPr lang="en-US" altLang="en-US" dirty="0">
              <a:latin typeface="+mn-lt"/>
            </a:endParaRPr>
          </a:p>
          <a:p>
            <a:r>
              <a:rPr lang="en-US" altLang="en-US" dirty="0">
                <a:latin typeface="+mn-lt"/>
              </a:rPr>
              <a:t>Ask students what other drawbacks, beside security, there are to Wi-Fi (roaming difficulties, interference). Note that wireless networks based on the upcoming 802.11n specification will solve interference problems by using multiple wireless antennas in tandem to transmit and receive data and technology to coordinate multiple simultaneous radio signals. What is this technology called? (MIMO).</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7.13,</a:t>
            </a:r>
            <a:r>
              <a:rPr lang="en-US" altLang="en-US" baseline="0" dirty="0"/>
              <a:t> Page 278.</a:t>
            </a:r>
          </a:p>
          <a:p>
            <a:r>
              <a:rPr lang="en-US" sz="1200" b="0" i="1" u="none" strike="noStrike" kern="1200" cap="none" baseline="0" dirty="0">
                <a:solidFill>
                  <a:schemeClr val="tx1"/>
                </a:solidFill>
                <a:latin typeface="+mn-lt"/>
                <a:ea typeface="Arial"/>
                <a:cs typeface="Arial"/>
                <a:sym typeface="Arial"/>
              </a:rPr>
              <a:t>Bluetooth enables a variety of devices, including cell phones, smartphones, wireless keyboards and mice, PCs, and printers, to interact wirelessly with each other within a small, 30-foot (10-meter) area. In addition to the links shown, Bluetooth can be used to network similar devices to send data from one PC to another, for example.</a:t>
            </a:r>
          </a:p>
          <a:p>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This graphic illustrates the uses of Bluetooth for a PAN. Bluetooth connects wireless keyboards and mice to PCs or cell phones to earpieces without wires. Bluetooth has low-power requirements, making it appropriate for battery-powered handheld computers, and cell phones. Most cell phones today are Bluetooth enabled, allowing them to connect to other wireless devices (such as earphones) and PCs.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Times New Roman" panose="02020603050405020304" pitchFamily="18" charset="0"/>
            </a:endParaRPr>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An illustration explains a sample Bluetooth network. </a:t>
            </a:r>
            <a:r>
              <a:rPr lang="en-US" sz="1200" dirty="0">
                <a:solidFill>
                  <a:srgbClr val="000000"/>
                </a:solidFill>
                <a:effectLst/>
                <a:latin typeface="+mn-lt"/>
                <a:ea typeface="Times New Roman" panose="02020603050405020304" pitchFamily="18" charset="0"/>
              </a:rPr>
              <a:t>In the diagram, the printer communicates with various devices through a private connection. The various devices shown in the diagram are: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Smartphones</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Wireless Keyboard</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User Computer</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562600" cy="4419601"/>
          </a:xfrm>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7.14,</a:t>
            </a:r>
            <a:r>
              <a:rPr lang="en-US" altLang="en-US" baseline="0" dirty="0"/>
              <a:t> Page 279.</a:t>
            </a:r>
          </a:p>
          <a:p>
            <a:r>
              <a:rPr lang="en-US" sz="1200" b="0" i="1" u="none" strike="noStrike" kern="1200" cap="none" baseline="0" dirty="0">
                <a:solidFill>
                  <a:schemeClr val="tx1"/>
                </a:solidFill>
                <a:latin typeface="+mn-lt"/>
                <a:ea typeface="Arial"/>
                <a:cs typeface="Arial"/>
                <a:sym typeface="Arial"/>
              </a:rPr>
              <a:t>Mobile laptop computers equipped with network interface cards link to the wired LAN by communicating with the access point. The access point uses radio waves to transmit network signals from the wired network to the client adapters, which convert them to data that the mobile device can understand. The client adapter then transmits the data from the mobile device back to the access point, which forwards the data to the wired network.</a:t>
            </a:r>
          </a:p>
          <a:p>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This graphic illustrates an 802.11 wireless LAN operating in infrastructure mode that connects a small number of mobile devices to a larger wired LAN. Most wireless devices are client machines. The servers that the mobile client stations need to use are on the wired LAN. The access point controls the wireless stations and acts as a bridge between the main wired LAN and the wireless LAN. (A bridge connects two LANs based on different technologies like your wireless network to your </a:t>
            </a:r>
            <a:r>
              <a:rPr lang="en-US" altLang="en-US" dirty="0" err="1">
                <a:latin typeface="+mn-lt"/>
              </a:rPr>
              <a:t>BluRay</a:t>
            </a:r>
            <a:r>
              <a:rPr lang="en-US" altLang="en-US" dirty="0">
                <a:latin typeface="+mn-lt"/>
              </a:rPr>
              <a:t> player so you can download Internet movies from Netflix and watch them on your TV). The access point also controls the wireless stations.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u="sng" dirty="0"/>
              <a:t>Alt Text</a:t>
            </a:r>
          </a:p>
          <a:p>
            <a:pPr marL="0" marR="0">
              <a:lnSpc>
                <a:spcPct val="115000"/>
              </a:lnSpc>
              <a:spcBef>
                <a:spcPts val="0"/>
              </a:spcBef>
              <a:spcAft>
                <a:spcPts val="0"/>
              </a:spcAft>
            </a:pPr>
            <a:r>
              <a:rPr lang="en-US" dirty="0"/>
              <a:t>Long description</a:t>
            </a:r>
            <a:r>
              <a:rPr lang="en-US" sz="1200" dirty="0"/>
              <a:t>: </a:t>
            </a:r>
            <a:r>
              <a:rPr lang="en-US" sz="1200" dirty="0">
                <a:latin typeface="+mn-lt"/>
              </a:rPr>
              <a:t>An illustration explains the concept of a wireless local area network. </a:t>
            </a:r>
            <a:r>
              <a:rPr lang="en-US" sz="1200" dirty="0">
                <a:solidFill>
                  <a:srgbClr val="000000"/>
                </a:solidFill>
                <a:effectLst/>
                <a:latin typeface="+mn-lt"/>
                <a:ea typeface="Times New Roman" panose="02020603050405020304" pitchFamily="18" charset="0"/>
              </a:rPr>
              <a:t>The details of the diagram are as below: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The internet communicates to the router which in turn communicates to the wired network. The wired network includes servers, access point, and user computers. </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Several laptops are shown in the wireless network of the access point.</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introduces one of two wireless technologies having a major impact on business, RFID. Ask students for examples of where RFID is used today. The text provides the example of Walmart using RFID to manage inventory and supply chains. Ask students how this works.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7.15,</a:t>
            </a:r>
            <a:r>
              <a:rPr lang="en-US" altLang="en-US" baseline="0" dirty="0"/>
              <a:t> Page 280.</a:t>
            </a:r>
          </a:p>
          <a:p>
            <a:r>
              <a:rPr lang="en-US" sz="1200" b="0" i="1" u="none" strike="noStrike" kern="1200" cap="none" baseline="0" dirty="0">
                <a:solidFill>
                  <a:schemeClr val="tx1"/>
                </a:solidFill>
                <a:latin typeface="+mn-lt"/>
                <a:ea typeface="Arial"/>
                <a:cs typeface="Arial"/>
                <a:sym typeface="Arial"/>
              </a:rPr>
              <a:t>RFID uses low-powered radio transmitters to read data stored in a tag at distances ranging from 1 inch to 100 feet. The reader captures the data from the tag and sends them over a network to a host computer for processing.</a:t>
            </a:r>
            <a:endParaRPr lang="en-US" altLang="en-US" i="1"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This graphic illustrates how RFID works. Ask students if RFID potentially poses any ethical problems. For example, if your jeans have a built in RFID chip, it’s easy to track your movements. Likewise if your student ID card has an RFID chip.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aseline="0" dirty="0"/>
          </a:p>
          <a:p>
            <a:pPr marL="0" marR="0">
              <a:lnSpc>
                <a:spcPct val="115000"/>
              </a:lnSpc>
              <a:spcBef>
                <a:spcPts val="0"/>
              </a:spcBef>
              <a:spcAft>
                <a:spcPts val="0"/>
              </a:spcAft>
            </a:pPr>
            <a:r>
              <a:rPr lang="en-US" altLang="en-US" u="sng" baseline="0" dirty="0"/>
              <a:t>Alt Text</a:t>
            </a:r>
          </a:p>
          <a:p>
            <a:pPr marL="0" marR="0">
              <a:lnSpc>
                <a:spcPct val="115000"/>
              </a:lnSpc>
              <a:spcBef>
                <a:spcPts val="0"/>
              </a:spcBef>
              <a:spcAft>
                <a:spcPts val="0"/>
              </a:spcAft>
            </a:pPr>
            <a:r>
              <a:rPr lang="en-US" altLang="en-US" baseline="0" dirty="0"/>
              <a:t>Long descripti</a:t>
            </a:r>
            <a:r>
              <a:rPr lang="en-US" altLang="en-US" sz="1200" baseline="0" dirty="0"/>
              <a:t>on: </a:t>
            </a:r>
            <a:r>
              <a:rPr lang="en-US" altLang="en-US" sz="1200" baseline="0" dirty="0">
                <a:latin typeface="+mn-lt"/>
              </a:rPr>
              <a:t>A sequential flow explains how RFID works. </a:t>
            </a:r>
            <a:r>
              <a:rPr lang="en-US" sz="1200" dirty="0">
                <a:solidFill>
                  <a:srgbClr val="000000"/>
                </a:solidFill>
                <a:effectLst/>
                <a:latin typeface="+mn-lt"/>
                <a:ea typeface="Times New Roman" panose="02020603050405020304" pitchFamily="18" charset="0"/>
              </a:rPr>
              <a:t>In the diagram, radio waves from a tag are shown transmitting to the RFID reader which then communicates with the host network. </a:t>
            </a: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The details are as below: </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Tag is a microchip holds data including an identification number. The rest of the tag is an antenna that transmits data to a reader.</a:t>
            </a: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rPr>
              <a:t>RFID has an antenna that constantly transmits. When it senses a tag, it wakes it up, interrogates it, and decodes the data. Then it transmits the data to a host system over wired or wireless connections. </a:t>
            </a:r>
          </a:p>
          <a:p>
            <a:pPr marL="342900" marR="0" lvl="0" indent="-342900">
              <a:lnSpc>
                <a:spcPct val="115000"/>
              </a:lnSpc>
              <a:spcBef>
                <a:spcPts val="0"/>
              </a:spcBef>
              <a:spcAft>
                <a:spcPts val="0"/>
              </a:spcAft>
              <a:buFont typeface="Symbol" panose="05050102010706020507" pitchFamily="18" charset="2"/>
              <a:buChar char=""/>
            </a:pPr>
            <a:r>
              <a:rPr lang="en-US" sz="1200" dirty="0">
                <a:solidFill>
                  <a:srgbClr val="000000"/>
                </a:solidFill>
                <a:effectLst/>
                <a:latin typeface="+mn-lt"/>
                <a:ea typeface="Times New Roman" panose="02020603050405020304" pitchFamily="18" charset="0"/>
              </a:rPr>
              <a:t>Host computer processes the data from the tag that have been transmitted by the reader.</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Times New Roman" panose="02020603050405020304" pitchFamily="18" charset="0"/>
              </a:rPr>
              <a:t>This slide introduces one of two wireless technologies having a major impact on business, radio frequency ID. Ask students for examples of where RFID is used today. The text provides the example of Walmart using RFID to manage inventory and supply chains. Ask students how this works.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46</a:t>
            </a:fld>
            <a:endParaRPr lang="en-US" dirty="0"/>
          </a:p>
        </p:txBody>
      </p:sp>
    </p:spTree>
    <p:extLst>
      <p:ext uri="{BB962C8B-B14F-4D97-AF65-F5344CB8AC3E}">
        <p14:creationId xmlns:p14="http://schemas.microsoft.com/office/powerpoint/2010/main" val="309368123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This slide introduces a second wireless technology having a major impact on business, wireless sensor networks. Note that the wireless sensors are linked into an interconnected network that routes the data to a computer for analysis.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7.16,</a:t>
            </a:r>
            <a:r>
              <a:rPr lang="en-US" altLang="en-US" baseline="0" dirty="0"/>
              <a:t> Page 282</a:t>
            </a:r>
          </a:p>
          <a:p>
            <a:r>
              <a:rPr lang="en-US" sz="1200" b="0" i="1" u="none" strike="noStrike" kern="1200" cap="none" baseline="0" dirty="0">
                <a:solidFill>
                  <a:schemeClr val="tx1"/>
                </a:solidFill>
                <a:latin typeface="+mn-lt"/>
                <a:ea typeface="Arial"/>
                <a:cs typeface="Arial"/>
                <a:sym typeface="Arial"/>
              </a:rPr>
              <a:t>The small circles represent lower-level nodes, and the larger circles represent high-end nodes. Lower-level nodes forward data to each other or to higher-level nodes, which transmit data more rapidly and speed up network performance.</a:t>
            </a:r>
          </a:p>
          <a:p>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This graphic illustrates the lower-level nodes and higher-level nodes at work in a wireless sensor network. Note that the server that data from the sensors is sent to acts as a gateway to a network based on Internet technology.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Times New Roman" panose="02020603050405020304" pitchFamily="18" charset="0"/>
            </a:endParaRPr>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An illustration explains how a wireless sensor network works. </a:t>
            </a:r>
            <a:r>
              <a:rPr lang="en-US" sz="1200" dirty="0">
                <a:solidFill>
                  <a:srgbClr val="000000"/>
                </a:solidFill>
                <a:effectLst/>
                <a:latin typeface="+mn-lt"/>
                <a:ea typeface="Times New Roman" panose="02020603050405020304" pitchFamily="18" charset="0"/>
              </a:rPr>
              <a:t>The details are as below: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Three higher level nodes connected to each other in a triad.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Various smaller level nodes are seen forwarding the data to each other and to a higher-level node closest to the server. </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The closest higher-level node is connected to the server and the server is connected to the internet.</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good opportunity for a class discussion on how MIS will help students with their current or future careers. Would any in the class be interested in a job like this? What do they think are the most important skills the employer is looking for? How would they answer the interviewer questions?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50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291465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ctrTitle"/>
          </p:nvPr>
        </p:nvSpPr>
        <p:spPr>
          <a:xfrm>
            <a:off x="685800" y="571501"/>
            <a:ext cx="7772400" cy="2128838"/>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2971800"/>
            <a:ext cx="7794626" cy="131445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ADEC8E8B-142C-4669-94DB-339D30F401CA}"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Ltd. All Rights Reserved.</a:t>
            </a: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918000" cy="209936"/>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4825796"/>
            <a:ext cx="918000" cy="209936"/>
          </a:xfrm>
          <a:prstGeom prst="rect">
            <a:avLst/>
          </a:prstGeom>
        </p:spPr>
      </p:pic>
      <p:sp>
        <p:nvSpPr>
          <p:cNvPr id="8" name="Text Placeholder 22"/>
          <p:cNvSpPr>
            <a:spLocks noGrp="1"/>
          </p:cNvSpPr>
          <p:nvPr>
            <p:ph type="body" sz="quarter" idx="16" hasCustomPrompt="1"/>
          </p:nvPr>
        </p:nvSpPr>
        <p:spPr>
          <a:xfrm>
            <a:off x="2834640" y="4800600"/>
            <a:ext cx="5928360" cy="20574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a:xfrm>
            <a:off x="93969" y="4857750"/>
            <a:ext cx="8595360" cy="200946"/>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F92B8267-104E-428D-A94D-DF91F92AE077}"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612322"/>
            <a:ext cx="8229600" cy="302078"/>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200151"/>
            <a:ext cx="8229600" cy="3394472"/>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4880374"/>
            <a:ext cx="8595360" cy="215898"/>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E100A2CE-D7DC-4034-A2C2-86153D53B86F}"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4981971"/>
            <a:ext cx="8595360" cy="161529"/>
          </a:xfrm>
        </p:spPr>
        <p:txBody>
          <a:bodyPr/>
          <a:lstStyle/>
          <a:p>
            <a:r>
              <a:rPr lang="en-US"/>
              <a:t>Copyright © 2022, 2020, 2018 Pearson Education, Ltd. All Rights Reserved</a:t>
            </a:r>
            <a:endParaRPr lang="en-US" dirty="0"/>
          </a:p>
        </p:txBody>
      </p:sp>
      <p:sp>
        <p:nvSpPr>
          <p:cNvPr id="9" name="Date Placeholder 3"/>
          <p:cNvSpPr>
            <a:spLocks noGrp="1"/>
          </p:cNvSpPr>
          <p:nvPr>
            <p:ph type="dt" sz="half" idx="10"/>
          </p:nvPr>
        </p:nvSpPr>
        <p:spPr>
          <a:xfrm>
            <a:off x="6335713" y="84804"/>
            <a:ext cx="2133600" cy="137160"/>
          </a:xfrm>
        </p:spPr>
        <p:txBody>
          <a:bodyPr/>
          <a:lstStyle/>
          <a:p>
            <a:fld id="{7266684B-4660-4A5C-B674-AB8ACA0D478D}" type="datetime1">
              <a:rPr lang="en-US" smtClean="0"/>
              <a:t>5/28/2021</a:t>
            </a:fld>
            <a:endParaRPr lang="en-US" dirty="0"/>
          </a:p>
        </p:txBody>
      </p:sp>
      <p:sp>
        <p:nvSpPr>
          <p:cNvPr id="10" name="Slide Number Placeholder 5"/>
          <p:cNvSpPr>
            <a:spLocks noGrp="1"/>
          </p:cNvSpPr>
          <p:nvPr>
            <p:ph type="sldNum" sz="quarter" idx="12"/>
          </p:nvPr>
        </p:nvSpPr>
        <p:spPr>
          <a:xfrm>
            <a:off x="8469313" y="84804"/>
            <a:ext cx="551783" cy="13716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56032" indent="-256032">
              <a:buClr>
                <a:srgbClr val="007FA3"/>
              </a:buClr>
              <a:buSzPct val="100000"/>
              <a:defRPr sz="2400"/>
            </a:lvl1pPr>
            <a:lvl2pPr marL="740664" indent="-283464">
              <a:buClr>
                <a:srgbClr val="007FA3"/>
              </a:buClr>
              <a:defRPr sz="2200"/>
            </a:lvl2pPr>
            <a:lvl3pPr>
              <a:buClr>
                <a:srgbClr val="007FA3"/>
              </a:buClr>
              <a:defRPr sz="2000"/>
            </a:lvl3pPr>
            <a:lvl4pPr>
              <a:buClr>
                <a:srgbClr val="007FA3"/>
              </a:buClr>
              <a:defRPr sz="18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4810285"/>
            <a:ext cx="8595360" cy="248411"/>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72DBE251-1E89-42DB-8B62-367EFD0591D3}"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171450"/>
            <a:ext cx="8229600" cy="800100"/>
          </a:xfrm>
        </p:spPr>
        <p:txBody>
          <a:bodyPr anchor="t"/>
          <a:lstStyle>
            <a:lvl1pPr>
              <a:defRPr sz="36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4026120"/>
            <a:ext cx="8229600" cy="687642"/>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403089D6-2382-4C79-BCFD-451020BC1F54}" type="datetime1">
              <a:rPr lang="en-US" smtClean="0"/>
              <a:t>5/28/2021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4825796"/>
            <a:ext cx="918000" cy="209936"/>
          </a:xfrm>
          <a:prstGeom prst="rect">
            <a:avLst/>
          </a:prstGeom>
        </p:spPr>
      </p:pic>
      <p:sp>
        <p:nvSpPr>
          <p:cNvPr id="9" name="TextBox 8"/>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0015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97180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20A6E107-7BF7-46F6-9CDC-A1101EA6A711}"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00150"/>
            <a:ext cx="8229600" cy="1006575"/>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457450"/>
            <a:ext cx="8229600" cy="911240"/>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13D84363-5D51-4A30-99D9-A4C2E5CD6854}"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943350"/>
            <a:ext cx="8305800" cy="571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6514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7F652478-EA0F-448A-B654-CE520791255D}"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161529"/>
            <a:ext cx="8229600" cy="822960"/>
          </a:xfrm>
        </p:spPr>
        <p:txBody>
          <a:bodyPr/>
          <a:lstStyle/>
          <a:p>
            <a:r>
              <a:rPr lang="en-US" dirty="0"/>
              <a:t>Click to edit Master title style</a:t>
            </a:r>
          </a:p>
        </p:txBody>
      </p:sp>
      <p:sp>
        <p:nvSpPr>
          <p:cNvPr id="7" name="Content Placeholder 2"/>
          <p:cNvSpPr>
            <a:spLocks noGrp="1"/>
          </p:cNvSpPr>
          <p:nvPr>
            <p:ph idx="1"/>
          </p:nvPr>
        </p:nvSpPr>
        <p:spPr>
          <a:xfrm>
            <a:off x="457200" y="1200151"/>
            <a:ext cx="8229600" cy="685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000250"/>
            <a:ext cx="3886200" cy="1828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000250"/>
            <a:ext cx="4267200" cy="182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085851"/>
            <a:ext cx="7772400" cy="1614488"/>
          </a:xfrm>
        </p:spPr>
        <p:txBody>
          <a:bodyPr anchor="b">
            <a:noAutofit/>
          </a:bodyPr>
          <a:lstStyle>
            <a:lvl1pPr algn="l">
              <a:defRPr sz="36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8" y="2971800"/>
            <a:ext cx="7794627" cy="131445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5300D35B-AB3F-4165-BE6B-CF3A6A67ADF2}" type="datetime1">
              <a:rPr lang="en-US" smtClean="0"/>
              <a:t>5/28/2021</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3" name="Date Placeholder 2"/>
          <p:cNvSpPr>
            <a:spLocks noGrp="1"/>
          </p:cNvSpPr>
          <p:nvPr>
            <p:ph type="dt" sz="half" idx="10"/>
          </p:nvPr>
        </p:nvSpPr>
        <p:spPr/>
        <p:txBody>
          <a:bodyPr/>
          <a:lstStyle/>
          <a:p>
            <a:fld id="{3A2453A1-3234-47AB-BF59-FAD6CB1B0482}"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B3C960F7-B69D-4BBD-841F-06FFC2A78793}" type="datetime1">
              <a:rPr lang="en-US" smtClean="0"/>
              <a:t>5/28/2021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4825796"/>
            <a:ext cx="918000" cy="209936"/>
          </a:xfrm>
          <a:prstGeom prst="rect">
            <a:avLst/>
          </a:prstGeom>
        </p:spPr>
      </p:pic>
      <p:sp>
        <p:nvSpPr>
          <p:cNvPr id="11" name="TextBox 10"/>
          <p:cNvSpPr txBox="1"/>
          <p:nvPr userDrawn="1"/>
        </p:nvSpPr>
        <p:spPr>
          <a:xfrm>
            <a:off x="95799" y="4828541"/>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2017,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4624003"/>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C83F2355-A36B-40E2-BEE7-E5A6DB94F423}"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686250" cy="209250"/>
          </a:xfrm>
          <a:prstGeom prst="rect">
            <a:avLst/>
          </a:prstGeom>
        </p:spPr>
      </p:pic>
    </p:spTree>
    <p:extLst>
      <p:ext uri="{BB962C8B-B14F-4D97-AF65-F5344CB8AC3E}">
        <p14:creationId xmlns:p14="http://schemas.microsoft.com/office/powerpoint/2010/main" val="1321805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6_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161529"/>
            <a:ext cx="8229600" cy="82295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70" y="4629150"/>
            <a:ext cx="8595359" cy="176597"/>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r>
              <a:rPr lang="en-US"/>
              <a:t>Copyright © 2022, 2020, 2018 Pearson Education, Ltd. All Rights Reserved</a:t>
            </a:r>
            <a:endParaRPr dirty="0"/>
          </a:p>
        </p:txBody>
      </p:sp>
      <p:sp>
        <p:nvSpPr>
          <p:cNvPr id="35" name="Shape 35"/>
          <p:cNvSpPr txBox="1">
            <a:spLocks noGrp="1"/>
          </p:cNvSpPr>
          <p:nvPr>
            <p:ph type="dt" idx="10"/>
          </p:nvPr>
        </p:nvSpPr>
        <p:spPr>
          <a:xfrm>
            <a:off x="6335713" y="84804"/>
            <a:ext cx="2133599" cy="13715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029CBD59-2C97-4608-8B01-DE899CEBFCC2}" type="datetime1">
              <a:rPr lang="en-US" smtClean="0"/>
              <a:t>5/28/2021</a:t>
            </a:fld>
            <a:endParaRPr dirty="0"/>
          </a:p>
        </p:txBody>
      </p:sp>
      <p:sp>
        <p:nvSpPr>
          <p:cNvPr id="36" name="Shape 36"/>
          <p:cNvSpPr txBox="1">
            <a:spLocks noGrp="1"/>
          </p:cNvSpPr>
          <p:nvPr>
            <p:ph type="sldNum" idx="12"/>
          </p:nvPr>
        </p:nvSpPr>
        <p:spPr>
          <a:xfrm>
            <a:off x="8469312" y="84804"/>
            <a:ext cx="551783" cy="137159"/>
          </a:xfrm>
          <a:prstGeom prst="rect">
            <a:avLst/>
          </a:prstGeom>
          <a:noFill/>
          <a:ln>
            <a:noFill/>
          </a:ln>
        </p:spPr>
        <p:txBody>
          <a:bodyPr lIns="91425" tIns="45700" rIns="91425" bIns="45700" anchor="ctr" anchorCtr="0">
            <a:noAutofit/>
          </a:bodyPr>
          <a:lstStyle/>
          <a:p>
            <a:pPr>
              <a:buSzPct val="25000"/>
            </a:pPr>
            <a:fld id="{00000000-1234-1234-1234-123412341234}" type="slidenum">
              <a:rPr lang="en-US" smtClean="0">
                <a:solidFill>
                  <a:schemeClr val="lt1"/>
                </a:solidFill>
                <a:ea typeface="Arial"/>
                <a:cs typeface="Arial"/>
                <a:sym typeface="Arial"/>
              </a:rPr>
              <a:pPr>
                <a:buSzPct val="25000"/>
              </a:pPr>
              <a:t>‹#›</a:t>
            </a:fld>
            <a:endParaRPr lang="en-US" dirty="0">
              <a:solidFill>
                <a:schemeClr val="lt1"/>
              </a:solidFil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167245"/>
            <a:ext cx="8229600" cy="1700646"/>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78944"/>
            <a:ext cx="8229600" cy="1578769"/>
          </a:xfrm>
        </p:spPr>
        <p:txBody>
          <a:bodyPr/>
          <a:lstStyle/>
          <a:p>
            <a:pPr lvl="0"/>
            <a:r>
              <a:rPr lang="en-US" dirty="0"/>
              <a:t>Edit Master text styles</a:t>
            </a:r>
          </a:p>
        </p:txBody>
      </p:sp>
    </p:spTree>
    <p:extLst>
      <p:ext uri="{BB962C8B-B14F-4D97-AF65-F5344CB8AC3E}">
        <p14:creationId xmlns:p14="http://schemas.microsoft.com/office/powerpoint/2010/main" val="1142722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61529"/>
            <a:ext cx="8229600" cy="82296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4629151"/>
            <a:ext cx="8595360" cy="176597"/>
          </a:xfrm>
          <a:prstGeom prst="rect">
            <a:avLst/>
          </a:prstGeom>
        </p:spPr>
        <p:txBody>
          <a:bodyPr vert="horz" lIns="0" tIns="0" rIns="0" bIns="0" rtlCol="0" anchor="b"/>
          <a:lstStyle>
            <a:lvl1pPr algn="l">
              <a:defRPr sz="1100">
                <a:solidFill>
                  <a:schemeClr val="tx1"/>
                </a:solidFill>
              </a:defRPr>
            </a:lvl1pPr>
          </a:lstStyle>
          <a:p>
            <a:r>
              <a:rPr lang="en-US"/>
              <a:t>Copyright © 2022, 2020, 2018 Pearson Education, Ltd. All Rights Reserved</a:t>
            </a:r>
            <a:endParaRPr lang="en-US" dirty="0"/>
          </a:p>
        </p:txBody>
      </p:sp>
      <p:sp>
        <p:nvSpPr>
          <p:cNvPr id="4" name="Date Placeholder 3"/>
          <p:cNvSpPr>
            <a:spLocks noGrp="1"/>
          </p:cNvSpPr>
          <p:nvPr>
            <p:ph type="dt" sz="half" idx="2"/>
          </p:nvPr>
        </p:nvSpPr>
        <p:spPr>
          <a:xfrm>
            <a:off x="6335713" y="84804"/>
            <a:ext cx="2133600" cy="137160"/>
          </a:xfrm>
          <a:prstGeom prst="rect">
            <a:avLst/>
          </a:prstGeom>
        </p:spPr>
        <p:txBody>
          <a:bodyPr vert="horz" lIns="91440" tIns="45720" rIns="91440" bIns="45720" rtlCol="0" anchor="ctr"/>
          <a:lstStyle>
            <a:lvl1pPr algn="r">
              <a:defRPr sz="900">
                <a:solidFill>
                  <a:schemeClr val="bg1"/>
                </a:solidFill>
              </a:defRPr>
            </a:lvl1pPr>
          </a:lstStyle>
          <a:p>
            <a:fld id="{830D10AC-A652-4A87-8C25-A11F436A9FF7}" type="datetime1">
              <a:rPr lang="en-US" smtClean="0"/>
              <a:t>5/28/2021</a:t>
            </a:fld>
            <a:endParaRPr lang="en-US" dirty="0"/>
          </a:p>
        </p:txBody>
      </p:sp>
      <p:sp>
        <p:nvSpPr>
          <p:cNvPr id="6" name="Slide Number Placeholder 5"/>
          <p:cNvSpPr>
            <a:spLocks noGrp="1"/>
          </p:cNvSpPr>
          <p:nvPr>
            <p:ph type="sldNum" sz="quarter" idx="4"/>
          </p:nvPr>
        </p:nvSpPr>
        <p:spPr>
          <a:xfrm>
            <a:off x="8469313" y="84804"/>
            <a:ext cx="551783" cy="13716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226578" y="4800601"/>
            <a:ext cx="65532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Pearson Logo"/>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57200" y="4825796"/>
            <a:ext cx="686250" cy="209250"/>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5" r:id="rId9"/>
    <p:sldLayoutId id="2147483662" r:id="rId10"/>
    <p:sldLayoutId id="2147483651" r:id="rId11"/>
    <p:sldLayoutId id="2147483654" r:id="rId12"/>
    <p:sldLayoutId id="2147483655" r:id="rId13"/>
    <p:sldLayoutId id="2147483663" r:id="rId14"/>
    <p:sldLayoutId id="2147483664" r:id="rId15"/>
  </p:sldLayoutIdLst>
  <p:hf sldNum="0" hdr="0" dt="0"/>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hyperlink" Target="http://www.megacorp.com/content/features/082602.html" TargetMode="External"/><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15.xml"/><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492"/>
            <a:ext cx="8229600" cy="1107996"/>
          </a:xfrm>
        </p:spPr>
        <p:txBody>
          <a:bodyPr wrap="square" anchor="b">
            <a:spAutoFit/>
          </a:bodyPr>
          <a:lstStyle/>
          <a:p>
            <a:r>
              <a:rPr lang="en-IN" dirty="0"/>
              <a:t>Management Information Systems: Managing the Digital Firm</a:t>
            </a:r>
          </a:p>
        </p:txBody>
      </p:sp>
      <p:sp>
        <p:nvSpPr>
          <p:cNvPr id="3" name="Text Placeholder 2"/>
          <p:cNvSpPr>
            <a:spLocks noGrp="1"/>
          </p:cNvSpPr>
          <p:nvPr>
            <p:ph type="body" sz="quarter" idx="13"/>
          </p:nvPr>
        </p:nvSpPr>
        <p:spPr>
          <a:xfrm>
            <a:off x="457200" y="1260673"/>
            <a:ext cx="8229600" cy="307777"/>
          </a:xfrm>
        </p:spPr>
        <p:txBody>
          <a:bodyPr vert="horz" lIns="0" tIns="0" rIns="0" bIns="0" rtlCol="0" anchor="t">
            <a:spAutoFit/>
          </a:bodyPr>
          <a:lstStyle/>
          <a:p>
            <a:r>
              <a:rPr lang="en-IN" dirty="0"/>
              <a:t>Seventeenth Edition, Global Edition</a:t>
            </a:r>
          </a:p>
        </p:txBody>
      </p:sp>
      <p:sp>
        <p:nvSpPr>
          <p:cNvPr id="4" name="Text Placeholder 3"/>
          <p:cNvSpPr>
            <a:spLocks noGrp="1"/>
          </p:cNvSpPr>
          <p:nvPr>
            <p:ph type="body" sz="quarter" idx="14"/>
          </p:nvPr>
        </p:nvSpPr>
        <p:spPr>
          <a:xfrm>
            <a:off x="4569035" y="1935229"/>
            <a:ext cx="4117765" cy="492443"/>
          </a:xfrm>
        </p:spPr>
        <p:txBody>
          <a:bodyPr wrap="square">
            <a:spAutoFit/>
          </a:bodyPr>
          <a:lstStyle/>
          <a:p>
            <a:r>
              <a:rPr lang="en-IN" sz="3200" dirty="0"/>
              <a:t>Chapter 7</a:t>
            </a:r>
          </a:p>
        </p:txBody>
      </p:sp>
      <p:sp>
        <p:nvSpPr>
          <p:cNvPr id="5" name="Text Placeholder 4"/>
          <p:cNvSpPr>
            <a:spLocks noGrp="1"/>
          </p:cNvSpPr>
          <p:nvPr>
            <p:ph type="body" sz="quarter" idx="15"/>
          </p:nvPr>
        </p:nvSpPr>
        <p:spPr>
          <a:xfrm>
            <a:off x="4569035" y="2571751"/>
            <a:ext cx="4117765" cy="615553"/>
          </a:xfrm>
        </p:spPr>
        <p:txBody>
          <a:bodyPr wrap="square">
            <a:spAutoFit/>
          </a:bodyPr>
          <a:lstStyle/>
          <a:p>
            <a:r>
              <a:rPr lang="en-IN" altLang="en-US" sz="2000" dirty="0"/>
              <a:t>Telecommunications, the Internet, and Wireless Technology</a:t>
            </a:r>
          </a:p>
        </p:txBody>
      </p:sp>
      <p:sp>
        <p:nvSpPr>
          <p:cNvPr id="11" name="Text Placeholder 3"/>
          <p:cNvSpPr>
            <a:spLocks noGrp="1"/>
          </p:cNvSpPr>
          <p:nvPr>
            <p:ph type="body" sz="quarter" idx="14"/>
          </p:nvPr>
        </p:nvSpPr>
        <p:spPr>
          <a:xfrm>
            <a:off x="2309414" y="4845050"/>
            <a:ext cx="6385810" cy="184666"/>
          </a:xfrm>
        </p:spPr>
        <p:txBody>
          <a:bodyPr>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8" name="TextBox 7"/>
          <p:cNvSpPr txBox="1"/>
          <p:nvPr/>
        </p:nvSpPr>
        <p:spPr>
          <a:xfrm>
            <a:off x="4961460" y="4205816"/>
            <a:ext cx="2971808" cy="575735"/>
          </a:xfrm>
          <a:prstGeom prst="rect">
            <a:avLst/>
          </a:prstGeom>
          <a:noFill/>
        </p:spPr>
        <p:txBody>
          <a:bodyPr wrap="square" rtlCol="0">
            <a:spAutoFit/>
          </a:bodyPr>
          <a:lstStyle/>
          <a:p>
            <a:r>
              <a:rPr lang="en-IN" sz="1000" dirty="0">
                <a:solidFill>
                  <a:schemeClr val="bg1"/>
                </a:solidFill>
              </a:rPr>
              <a:t>Slide in this Presentation Contain Hyperlinks. JAWS users should be able to get a list of links by using INSERT+F7</a:t>
            </a:r>
          </a:p>
        </p:txBody>
      </p:sp>
      <p:pic>
        <p:nvPicPr>
          <p:cNvPr id="6" name="Picture 5">
            <a:extLst>
              <a:ext uri="{FF2B5EF4-FFF2-40B4-BE49-F238E27FC236}">
                <a16:creationId xmlns:a16="http://schemas.microsoft.com/office/drawing/2014/main" id="{52EED17D-0455-407A-B6DC-0C16259A81B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65656" y="1568450"/>
            <a:ext cx="2496016" cy="3116031"/>
          </a:xfrm>
          <a:prstGeom prst="rect">
            <a:avLst/>
          </a:prstGeom>
        </p:spPr>
      </p:pic>
    </p:spTree>
    <p:extLst>
      <p:ext uri="{BB962C8B-B14F-4D97-AF65-F5344CB8AC3E}">
        <p14:creationId xmlns:p14="http://schemas.microsoft.com/office/powerpoint/2010/main" val="25021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US" altLang="en-US" dirty="0"/>
              <a:t>Learning Objectives</a:t>
            </a:r>
            <a:endParaRPr lang="en-US" dirty="0"/>
          </a:p>
        </p:txBody>
      </p:sp>
      <p:sp>
        <p:nvSpPr>
          <p:cNvPr id="5" name="Content Placeholder 4"/>
          <p:cNvSpPr>
            <a:spLocks noGrp="1"/>
          </p:cNvSpPr>
          <p:nvPr>
            <p:ph idx="1"/>
          </p:nvPr>
        </p:nvSpPr>
        <p:spPr>
          <a:xfrm>
            <a:off x="457200" y="729655"/>
            <a:ext cx="8229600" cy="4001095"/>
          </a:xfrm>
        </p:spPr>
        <p:txBody>
          <a:bodyPr vert="horz" lIns="0" tIns="0" rIns="0" bIns="0" rtlCol="0" anchor="t">
            <a:spAutoFit/>
          </a:bodyPr>
          <a:lstStyle/>
          <a:p>
            <a:pPr marL="542925" indent="-542925">
              <a:spcBef>
                <a:spcPts val="600"/>
              </a:spcBef>
              <a:buNone/>
              <a:tabLst>
                <a:tab pos="542925" algn="l"/>
              </a:tabLst>
            </a:pPr>
            <a:r>
              <a:rPr lang="en-US" altLang="en-US" b="1" dirty="0">
                <a:solidFill>
                  <a:schemeClr val="bg2"/>
                </a:solidFill>
              </a:rPr>
              <a:t>7.1</a:t>
            </a:r>
            <a:r>
              <a:rPr lang="en-US" altLang="en-US" b="1" dirty="0"/>
              <a:t> </a:t>
            </a:r>
            <a:r>
              <a:rPr lang="en-US" dirty="0"/>
              <a:t>What are the principal components of telecommunications networks and key networking technologies?</a:t>
            </a:r>
            <a:endParaRPr lang="en-IN" altLang="en-US" dirty="0"/>
          </a:p>
          <a:p>
            <a:pPr marL="0" indent="0">
              <a:spcBef>
                <a:spcPts val="600"/>
              </a:spcBef>
              <a:buNone/>
            </a:pPr>
            <a:r>
              <a:rPr lang="en-US" altLang="en-US" b="1" dirty="0">
                <a:solidFill>
                  <a:schemeClr val="bg2"/>
                </a:solidFill>
              </a:rPr>
              <a:t>7.2</a:t>
            </a:r>
            <a:r>
              <a:rPr lang="en-US" altLang="en-US" b="1" dirty="0"/>
              <a:t> </a:t>
            </a:r>
            <a:r>
              <a:rPr lang="en-US" dirty="0"/>
              <a:t>What are the different types of networks?</a:t>
            </a:r>
            <a:endParaRPr lang="en-IN" altLang="en-US" dirty="0"/>
          </a:p>
          <a:p>
            <a:pPr marL="542925" indent="-542925">
              <a:spcBef>
                <a:spcPts val="600"/>
              </a:spcBef>
              <a:buNone/>
              <a:tabLst>
                <a:tab pos="542925" algn="l"/>
              </a:tabLst>
            </a:pPr>
            <a:r>
              <a:rPr lang="en-US" altLang="en-US" b="1" dirty="0">
                <a:solidFill>
                  <a:schemeClr val="bg2"/>
                </a:solidFill>
              </a:rPr>
              <a:t>7.3</a:t>
            </a:r>
            <a:r>
              <a:rPr lang="en-US" altLang="en-US" b="1" dirty="0"/>
              <a:t> </a:t>
            </a:r>
            <a:r>
              <a:rPr lang="en-US" dirty="0"/>
              <a:t>How do the Internet and Internet technology work, and how do they support communication and e-business?</a:t>
            </a:r>
            <a:endParaRPr lang="en-IN" altLang="en-US" dirty="0"/>
          </a:p>
          <a:p>
            <a:pPr marL="542925" indent="-542925">
              <a:spcBef>
                <a:spcPts val="600"/>
              </a:spcBef>
              <a:buNone/>
              <a:tabLst>
                <a:tab pos="542925" algn="l"/>
              </a:tabLst>
            </a:pPr>
            <a:r>
              <a:rPr lang="en-US" altLang="en-US" b="1" dirty="0">
                <a:solidFill>
                  <a:schemeClr val="bg2"/>
                </a:solidFill>
              </a:rPr>
              <a:t>7.4</a:t>
            </a:r>
            <a:r>
              <a:rPr lang="en-US" altLang="en-US" dirty="0">
                <a:cs typeface="Arial"/>
              </a:rPr>
              <a:t> </a:t>
            </a:r>
            <a:r>
              <a:rPr lang="en-US" dirty="0"/>
              <a:t>What are the principal technologies and standards for wireless networking, communication, and Internet access?</a:t>
            </a:r>
          </a:p>
          <a:p>
            <a:pPr marL="0" indent="0">
              <a:spcBef>
                <a:spcPts val="600"/>
              </a:spcBef>
              <a:buNone/>
            </a:pPr>
            <a:r>
              <a:rPr lang="en-US" altLang="en-US" b="1" dirty="0">
                <a:solidFill>
                  <a:schemeClr val="bg2"/>
                </a:solidFill>
              </a:rPr>
              <a:t>7.5</a:t>
            </a:r>
            <a:r>
              <a:rPr lang="en-US" altLang="en-US" dirty="0">
                <a:cs typeface="Arial"/>
              </a:rPr>
              <a:t> </a:t>
            </a:r>
            <a:r>
              <a:rPr lang="en-US" dirty="0"/>
              <a:t>How will </a:t>
            </a:r>
            <a:r>
              <a:rPr lang="en-US" spc="-300" dirty="0"/>
              <a:t>M I </a:t>
            </a:r>
            <a:r>
              <a:rPr lang="en-US" dirty="0"/>
              <a:t>S help my career?</a:t>
            </a:r>
          </a:p>
        </p:txBody>
      </p:sp>
      <p:sp>
        <p:nvSpPr>
          <p:cNvPr id="2" name="Footer Placeholder 1">
            <a:extLst>
              <a:ext uri="{FF2B5EF4-FFF2-40B4-BE49-F238E27FC236}">
                <a16:creationId xmlns:a16="http://schemas.microsoft.com/office/drawing/2014/main" id="{7EA7A8C0-EB95-442F-8E65-6FFADCC81CA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2597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5665"/>
            <a:ext cx="8229600" cy="553998"/>
          </a:xfrm>
        </p:spPr>
        <p:txBody>
          <a:bodyPr>
            <a:spAutoFit/>
          </a:bodyPr>
          <a:lstStyle/>
          <a:p>
            <a:r>
              <a:rPr lang="en-IN" altLang="en-US" dirty="0"/>
              <a:t>Video Cases</a:t>
            </a:r>
            <a:endParaRPr lang="en-US" sz="2800" dirty="0"/>
          </a:p>
        </p:txBody>
      </p:sp>
      <p:sp>
        <p:nvSpPr>
          <p:cNvPr id="5" name="Content Placeholder 4"/>
          <p:cNvSpPr>
            <a:spLocks noGrp="1"/>
          </p:cNvSpPr>
          <p:nvPr>
            <p:ph idx="1"/>
          </p:nvPr>
        </p:nvSpPr>
        <p:spPr>
          <a:xfrm>
            <a:off x="457200" y="877694"/>
            <a:ext cx="8229600" cy="1300356"/>
          </a:xfrm>
        </p:spPr>
        <p:txBody>
          <a:bodyPr>
            <a:spAutoFit/>
          </a:bodyPr>
          <a:lstStyle/>
          <a:p>
            <a:pPr indent="-255600"/>
            <a:r>
              <a:rPr lang="en-IN" dirty="0"/>
              <a:t>Case 1: </a:t>
            </a:r>
            <a:r>
              <a:rPr lang="en-US" dirty="0"/>
              <a:t>Telepresence Moves out of the Boardroom and into the Field</a:t>
            </a:r>
            <a:r>
              <a:rPr lang="en-IN" dirty="0"/>
              <a:t> </a:t>
            </a:r>
          </a:p>
          <a:p>
            <a:pPr indent="-255600"/>
            <a:r>
              <a:rPr lang="en-IN" dirty="0"/>
              <a:t>Case 2: </a:t>
            </a:r>
            <a:r>
              <a:rPr lang="en-US" dirty="0"/>
              <a:t>Virtual Collaboration with </a:t>
            </a:r>
            <a:r>
              <a:rPr lang="en-US" spc="-300" dirty="0"/>
              <a:t>I </a:t>
            </a:r>
            <a:r>
              <a:rPr lang="en-US" sz="100" spc="-300" dirty="0"/>
              <a:t> </a:t>
            </a:r>
            <a:r>
              <a:rPr lang="en-US" spc="-300" dirty="0"/>
              <a:t>B </a:t>
            </a:r>
            <a:r>
              <a:rPr lang="en-US" sz="100" spc="-300" dirty="0"/>
              <a:t> </a:t>
            </a:r>
            <a:r>
              <a:rPr lang="en-US" dirty="0"/>
              <a:t>M </a:t>
            </a:r>
            <a:r>
              <a:rPr lang="en-US" dirty="0" err="1"/>
              <a:t>Sametime</a:t>
            </a:r>
            <a:endParaRPr lang="en-IN" dirty="0"/>
          </a:p>
        </p:txBody>
      </p:sp>
      <p:sp>
        <p:nvSpPr>
          <p:cNvPr id="2" name="Footer Placeholder 1">
            <a:extLst>
              <a:ext uri="{FF2B5EF4-FFF2-40B4-BE49-F238E27FC236}">
                <a16:creationId xmlns:a16="http://schemas.microsoft.com/office/drawing/2014/main" id="{6B54C102-E9ED-4425-9C0A-D9A4EA23B55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60939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67561"/>
            <a:ext cx="8229600" cy="861774"/>
          </a:xfrm>
        </p:spPr>
        <p:txBody>
          <a:bodyPr>
            <a:spAutoFit/>
          </a:bodyPr>
          <a:lstStyle/>
          <a:p>
            <a:r>
              <a:rPr lang="en-IN" altLang="en-US" sz="3200" dirty="0"/>
              <a:t>Alibaba: Redefining Traditional Retailing </a:t>
            </a:r>
            <a:br>
              <a:rPr lang="en-IN" altLang="en-US" sz="3200" dirty="0"/>
            </a:br>
            <a:r>
              <a:rPr lang="en-IN" altLang="en-US" sz="2400" dirty="0"/>
              <a:t>(1 of 2)</a:t>
            </a:r>
            <a:endParaRPr lang="en-US" sz="2400" dirty="0"/>
          </a:p>
        </p:txBody>
      </p:sp>
      <p:sp>
        <p:nvSpPr>
          <p:cNvPr id="5" name="Content Placeholder 4"/>
          <p:cNvSpPr>
            <a:spLocks noGrp="1"/>
          </p:cNvSpPr>
          <p:nvPr>
            <p:ph idx="1"/>
          </p:nvPr>
        </p:nvSpPr>
        <p:spPr>
          <a:xfrm>
            <a:off x="457200" y="1754787"/>
            <a:ext cx="8229600" cy="2408352"/>
          </a:xfrm>
        </p:spPr>
        <p:txBody>
          <a:bodyPr anchor="ctr">
            <a:spAutoFit/>
          </a:bodyPr>
          <a:lstStyle/>
          <a:p>
            <a:pPr>
              <a:spcBef>
                <a:spcPts val="300"/>
              </a:spcBef>
            </a:pPr>
            <a:r>
              <a:rPr lang="en-US" dirty="0"/>
              <a:t>Problem</a:t>
            </a:r>
          </a:p>
          <a:p>
            <a:pPr lvl="1">
              <a:spcBef>
                <a:spcPts val="300"/>
              </a:spcBef>
            </a:pPr>
            <a:r>
              <a:rPr lang="en-US" sz="2400" dirty="0"/>
              <a:t>omnichannel retail strategy</a:t>
            </a:r>
          </a:p>
          <a:p>
            <a:pPr lvl="1">
              <a:spcBef>
                <a:spcPts val="300"/>
              </a:spcBef>
            </a:pPr>
            <a:r>
              <a:rPr lang="en-US" sz="2400" dirty="0"/>
              <a:t>supply chain</a:t>
            </a:r>
          </a:p>
          <a:p>
            <a:pPr>
              <a:spcBef>
                <a:spcPts val="300"/>
              </a:spcBef>
            </a:pPr>
            <a:r>
              <a:rPr lang="en-US" dirty="0"/>
              <a:t>Solutions</a:t>
            </a:r>
          </a:p>
          <a:p>
            <a:pPr lvl="1">
              <a:spcBef>
                <a:spcPts val="300"/>
              </a:spcBef>
            </a:pPr>
            <a:r>
              <a:rPr lang="en-US" sz="2400" dirty="0"/>
              <a:t>Hema app</a:t>
            </a:r>
          </a:p>
          <a:p>
            <a:pPr lvl="1">
              <a:spcBef>
                <a:spcPts val="300"/>
              </a:spcBef>
            </a:pPr>
            <a:r>
              <a:rPr lang="en-US" sz="2400" dirty="0"/>
              <a:t>curating through QR codes</a:t>
            </a:r>
          </a:p>
        </p:txBody>
      </p:sp>
      <p:sp>
        <p:nvSpPr>
          <p:cNvPr id="2" name="Footer Placeholder 1">
            <a:extLst>
              <a:ext uri="{FF2B5EF4-FFF2-40B4-BE49-F238E27FC236}">
                <a16:creationId xmlns:a16="http://schemas.microsoft.com/office/drawing/2014/main" id="{B0EAD0D9-DFFB-4510-9F11-1E885165817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66743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67561"/>
            <a:ext cx="8229600" cy="984885"/>
          </a:xfrm>
        </p:spPr>
        <p:txBody>
          <a:bodyPr>
            <a:spAutoFit/>
          </a:bodyPr>
          <a:lstStyle/>
          <a:p>
            <a:r>
              <a:rPr lang="en-IN" altLang="en-US" sz="3200" dirty="0"/>
              <a:t>Alibaba: Redefining Traditional Retailing (2 of 2)</a:t>
            </a:r>
            <a:endParaRPr lang="en-US" sz="3200" dirty="0"/>
          </a:p>
        </p:txBody>
      </p:sp>
      <p:sp>
        <p:nvSpPr>
          <p:cNvPr id="5" name="Content Placeholder 4"/>
          <p:cNvSpPr>
            <a:spLocks noGrp="1"/>
          </p:cNvSpPr>
          <p:nvPr>
            <p:ph idx="1"/>
          </p:nvPr>
        </p:nvSpPr>
        <p:spPr>
          <a:xfrm>
            <a:off x="457200" y="1430477"/>
            <a:ext cx="8229600" cy="2600712"/>
          </a:xfrm>
        </p:spPr>
        <p:txBody>
          <a:bodyPr>
            <a:spAutoFit/>
          </a:bodyPr>
          <a:lstStyle/>
          <a:p>
            <a:r>
              <a:rPr lang="en-US" dirty="0"/>
              <a:t>The Hema app continuously acquires information from its customers</a:t>
            </a:r>
          </a:p>
          <a:p>
            <a:r>
              <a:rPr lang="en-US" dirty="0"/>
              <a:t>Demonstrates I T’s role in helping organizations increase efficiency and lower costs</a:t>
            </a:r>
          </a:p>
          <a:p>
            <a:r>
              <a:rPr lang="en-US" dirty="0"/>
              <a:t>Illustrates the ability of I T systems to support inventory management and sales</a:t>
            </a:r>
          </a:p>
        </p:txBody>
      </p:sp>
      <p:sp>
        <p:nvSpPr>
          <p:cNvPr id="2" name="Footer Placeholder 1">
            <a:extLst>
              <a:ext uri="{FF2B5EF4-FFF2-40B4-BE49-F238E27FC236}">
                <a16:creationId xmlns:a16="http://schemas.microsoft.com/office/drawing/2014/main" id="{9A41C96E-EB76-4EEE-ABF1-6875C17DDB9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1131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5250"/>
            <a:ext cx="8229600" cy="492443"/>
          </a:xfrm>
        </p:spPr>
        <p:txBody>
          <a:bodyPr>
            <a:spAutoFit/>
          </a:bodyPr>
          <a:lstStyle/>
          <a:p>
            <a:r>
              <a:rPr lang="en-IN" altLang="en-US" sz="3200" dirty="0"/>
              <a:t>Networking and Communication Trends</a:t>
            </a:r>
            <a:endParaRPr lang="en-US" sz="2400" dirty="0"/>
          </a:p>
        </p:txBody>
      </p:sp>
      <p:sp>
        <p:nvSpPr>
          <p:cNvPr id="5" name="Content Placeholder 4"/>
          <p:cNvSpPr>
            <a:spLocks noGrp="1"/>
          </p:cNvSpPr>
          <p:nvPr>
            <p:ph idx="1"/>
          </p:nvPr>
        </p:nvSpPr>
        <p:spPr>
          <a:xfrm>
            <a:off x="457200" y="742950"/>
            <a:ext cx="8229600" cy="3093154"/>
          </a:xfrm>
        </p:spPr>
        <p:txBody>
          <a:bodyPr>
            <a:spAutoFit/>
          </a:bodyPr>
          <a:lstStyle/>
          <a:p>
            <a:r>
              <a:rPr lang="en-IN" sz="2200" dirty="0"/>
              <a:t>Convergence</a:t>
            </a:r>
          </a:p>
          <a:p>
            <a:pPr lvl="1"/>
            <a:r>
              <a:rPr lang="en-IN" dirty="0"/>
              <a:t>Telephone networks and computer networks converging into single digital network using Internet standards</a:t>
            </a:r>
          </a:p>
          <a:p>
            <a:pPr>
              <a:spcBef>
                <a:spcPts val="600"/>
              </a:spcBef>
            </a:pPr>
            <a:r>
              <a:rPr lang="en-IN" sz="2200" dirty="0"/>
              <a:t>Broadband</a:t>
            </a:r>
          </a:p>
          <a:p>
            <a:pPr lvl="1"/>
            <a:r>
              <a:rPr lang="en-IN" dirty="0"/>
              <a:t>Majority of U.S. households have high-speed broadband</a:t>
            </a:r>
          </a:p>
          <a:p>
            <a:pPr>
              <a:spcBef>
                <a:spcPts val="600"/>
              </a:spcBef>
            </a:pPr>
            <a:r>
              <a:rPr lang="en-IN" sz="2200" dirty="0"/>
              <a:t>Broadband wireless</a:t>
            </a:r>
          </a:p>
          <a:p>
            <a:pPr lvl="1"/>
            <a:r>
              <a:rPr lang="en-IN" dirty="0"/>
              <a:t>Voice, data communication are increasingly taking place over broadband wireless platforms</a:t>
            </a:r>
          </a:p>
        </p:txBody>
      </p:sp>
      <p:sp>
        <p:nvSpPr>
          <p:cNvPr id="2" name="Footer Placeholder 1">
            <a:extLst>
              <a:ext uri="{FF2B5EF4-FFF2-40B4-BE49-F238E27FC236}">
                <a16:creationId xmlns:a16="http://schemas.microsoft.com/office/drawing/2014/main" id="{E52D4710-DCFF-4A47-BE46-3B545BC7C3B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01774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IN" altLang="en-US" dirty="0"/>
              <a:t>What Is a Computer Network?</a:t>
            </a:r>
            <a:endParaRPr lang="en-US" sz="2800" dirty="0"/>
          </a:p>
        </p:txBody>
      </p:sp>
      <p:sp>
        <p:nvSpPr>
          <p:cNvPr id="5" name="Content Placeholder 4"/>
          <p:cNvSpPr>
            <a:spLocks noGrp="1"/>
          </p:cNvSpPr>
          <p:nvPr>
            <p:ph idx="1"/>
          </p:nvPr>
        </p:nvSpPr>
        <p:spPr>
          <a:xfrm>
            <a:off x="457200" y="733787"/>
            <a:ext cx="8229600" cy="4052899"/>
          </a:xfrm>
        </p:spPr>
        <p:txBody>
          <a:bodyPr>
            <a:spAutoFit/>
          </a:bodyPr>
          <a:lstStyle/>
          <a:p>
            <a:r>
              <a:rPr lang="en-IN" dirty="0"/>
              <a:t>Two or more connected computers</a:t>
            </a:r>
          </a:p>
          <a:p>
            <a:pPr>
              <a:spcBef>
                <a:spcPts val="600"/>
              </a:spcBef>
            </a:pPr>
            <a:r>
              <a:rPr lang="en-IN" dirty="0"/>
              <a:t>Major components in simple network</a:t>
            </a:r>
          </a:p>
          <a:p>
            <a:pPr lvl="1"/>
            <a:r>
              <a:rPr lang="en-IN" dirty="0"/>
              <a:t>Client and server computers</a:t>
            </a:r>
          </a:p>
          <a:p>
            <a:pPr lvl="1"/>
            <a:r>
              <a:rPr lang="en-IN" dirty="0"/>
              <a:t>Network interfaces (</a:t>
            </a:r>
            <a:r>
              <a:rPr lang="en-IN" spc="-300" dirty="0"/>
              <a:t>N I C </a:t>
            </a:r>
            <a:r>
              <a:rPr lang="en-IN" dirty="0"/>
              <a:t>s)</a:t>
            </a:r>
          </a:p>
          <a:p>
            <a:pPr lvl="1"/>
            <a:r>
              <a:rPr lang="en-IN" dirty="0"/>
              <a:t>Connection medium</a:t>
            </a:r>
          </a:p>
          <a:p>
            <a:pPr lvl="1"/>
            <a:r>
              <a:rPr lang="en-IN" dirty="0"/>
              <a:t>Network operating system (</a:t>
            </a:r>
            <a:r>
              <a:rPr lang="en-IN" spc="-300" dirty="0"/>
              <a:t>N O </a:t>
            </a:r>
            <a:r>
              <a:rPr lang="en-IN" dirty="0"/>
              <a:t>S)</a:t>
            </a:r>
          </a:p>
          <a:p>
            <a:pPr lvl="1"/>
            <a:r>
              <a:rPr lang="en-IN" dirty="0"/>
              <a:t>Hubs, switches, routers</a:t>
            </a:r>
          </a:p>
          <a:p>
            <a:pPr>
              <a:spcBef>
                <a:spcPts val="600"/>
              </a:spcBef>
            </a:pPr>
            <a:r>
              <a:rPr lang="en-IN" dirty="0"/>
              <a:t>Software-defined networking (</a:t>
            </a:r>
            <a:r>
              <a:rPr lang="en-IN" spc="-300" dirty="0"/>
              <a:t>S D </a:t>
            </a:r>
            <a:r>
              <a:rPr lang="en-IN" dirty="0"/>
              <a:t>N)</a:t>
            </a:r>
          </a:p>
          <a:p>
            <a:pPr lvl="1"/>
            <a:r>
              <a:rPr lang="en-IN" dirty="0"/>
              <a:t>Functions of switches and routers managed by central program</a:t>
            </a:r>
          </a:p>
        </p:txBody>
      </p:sp>
      <p:sp>
        <p:nvSpPr>
          <p:cNvPr id="2" name="Footer Placeholder 1">
            <a:extLst>
              <a:ext uri="{FF2B5EF4-FFF2-40B4-BE49-F238E27FC236}">
                <a16:creationId xmlns:a16="http://schemas.microsoft.com/office/drawing/2014/main" id="{ED6CC4DF-E52A-45F0-89C3-4D0285A4701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30718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1354"/>
            <a:ext cx="8229600" cy="1107996"/>
          </a:xfrm>
        </p:spPr>
        <p:txBody>
          <a:bodyPr>
            <a:spAutoFit/>
          </a:bodyPr>
          <a:lstStyle/>
          <a:p>
            <a:r>
              <a:rPr lang="en-IN" altLang="en-US" dirty="0"/>
              <a:t>Figure 7.1 Components of a Simple Computer Network</a:t>
            </a:r>
            <a:endParaRPr lang="en-US" sz="2800" dirty="0"/>
          </a:p>
        </p:txBody>
      </p:sp>
      <p:pic>
        <p:nvPicPr>
          <p:cNvPr id="1026" name="Picture 2" descr="A flow diagram explains the various components of a simple computer network.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554590" y="1403350"/>
            <a:ext cx="6034821" cy="338735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84D0B03B-453F-4AA0-BA7B-4781044FA12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188885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1116"/>
            <a:ext cx="8229600" cy="553998"/>
          </a:xfrm>
        </p:spPr>
        <p:txBody>
          <a:bodyPr>
            <a:spAutoFit/>
          </a:bodyPr>
          <a:lstStyle/>
          <a:p>
            <a:r>
              <a:rPr lang="en-IN" altLang="en-US" dirty="0"/>
              <a:t>Networks in Large Companies</a:t>
            </a:r>
            <a:endParaRPr lang="en-US" sz="2800" dirty="0"/>
          </a:p>
        </p:txBody>
      </p:sp>
      <p:sp>
        <p:nvSpPr>
          <p:cNvPr id="5" name="Content Placeholder 4"/>
          <p:cNvSpPr>
            <a:spLocks noGrp="1"/>
          </p:cNvSpPr>
          <p:nvPr>
            <p:ph idx="1"/>
          </p:nvPr>
        </p:nvSpPr>
        <p:spPr>
          <a:xfrm>
            <a:off x="457200" y="819150"/>
            <a:ext cx="8229600" cy="3877985"/>
          </a:xfrm>
        </p:spPr>
        <p:txBody>
          <a:bodyPr>
            <a:spAutoFit/>
          </a:bodyPr>
          <a:lstStyle/>
          <a:p>
            <a:r>
              <a:rPr lang="en-IN" dirty="0"/>
              <a:t>Large number of local area networks (</a:t>
            </a:r>
            <a:r>
              <a:rPr lang="en-IN" spc="-300" dirty="0"/>
              <a:t>L A N </a:t>
            </a:r>
            <a:r>
              <a:rPr lang="en-IN" dirty="0"/>
              <a:t>s) linked to firmwide corporate networks</a:t>
            </a:r>
          </a:p>
          <a:p>
            <a:r>
              <a:rPr lang="en-IN" dirty="0"/>
              <a:t>Various powerful servers</a:t>
            </a:r>
          </a:p>
          <a:p>
            <a:pPr lvl="1"/>
            <a:r>
              <a:rPr lang="en-IN" sz="2400" dirty="0"/>
              <a:t>Website, corporate intranet, extranet</a:t>
            </a:r>
          </a:p>
          <a:p>
            <a:pPr lvl="1"/>
            <a:r>
              <a:rPr lang="en-IN" sz="2400" dirty="0"/>
              <a:t>Backend systems</a:t>
            </a:r>
          </a:p>
          <a:p>
            <a:r>
              <a:rPr lang="en-IN" dirty="0"/>
              <a:t>Mobile wireless </a:t>
            </a:r>
            <a:r>
              <a:rPr lang="en-IN" spc="-300" dirty="0"/>
              <a:t>L A N </a:t>
            </a:r>
            <a:r>
              <a:rPr lang="en-IN" dirty="0"/>
              <a:t>s (Wi-Fi networks)</a:t>
            </a:r>
          </a:p>
          <a:p>
            <a:r>
              <a:rPr lang="en-IN" dirty="0"/>
              <a:t>Videoconferencing system</a:t>
            </a:r>
          </a:p>
          <a:p>
            <a:r>
              <a:rPr lang="en-IN" dirty="0"/>
              <a:t>Telephone network, wireless cell phones</a:t>
            </a:r>
          </a:p>
        </p:txBody>
      </p:sp>
      <p:sp>
        <p:nvSpPr>
          <p:cNvPr id="2" name="Footer Placeholder 1">
            <a:extLst>
              <a:ext uri="{FF2B5EF4-FFF2-40B4-BE49-F238E27FC236}">
                <a16:creationId xmlns:a16="http://schemas.microsoft.com/office/drawing/2014/main" id="{D7830CA4-6226-46C0-972F-0951A6E6B34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17529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20650"/>
            <a:ext cx="8229600" cy="461665"/>
          </a:xfrm>
        </p:spPr>
        <p:txBody>
          <a:bodyPr>
            <a:spAutoFit/>
          </a:bodyPr>
          <a:lstStyle/>
          <a:p>
            <a:r>
              <a:rPr lang="en-US" sz="3000" dirty="0"/>
              <a:t>Figure 7.2 </a:t>
            </a:r>
            <a:r>
              <a:rPr lang="en-US" altLang="en-US" sz="3000" dirty="0"/>
              <a:t>Corporate Network Infrastructure</a:t>
            </a:r>
            <a:endParaRPr lang="en-US" sz="3000" dirty="0"/>
          </a:p>
        </p:txBody>
      </p:sp>
      <p:pic>
        <p:nvPicPr>
          <p:cNvPr id="2050" name="Picture 2" descr="Two flow diagrams explain the infrastructure of a corporate network.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326429" y="850873"/>
            <a:ext cx="4488084" cy="3930677"/>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0499B26-459F-4FBF-BB5A-6AB8294A6C8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37675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7465"/>
            <a:ext cx="8229600" cy="984885"/>
          </a:xfrm>
        </p:spPr>
        <p:txBody>
          <a:bodyPr>
            <a:spAutoFit/>
          </a:bodyPr>
          <a:lstStyle/>
          <a:p>
            <a:r>
              <a:rPr lang="en-IN" altLang="en-US" dirty="0"/>
              <a:t>Key Digital Networking Technologies </a:t>
            </a:r>
            <a:r>
              <a:rPr lang="en-IN" altLang="en-US" sz="2800" dirty="0"/>
              <a:t>(1 of 3)</a:t>
            </a:r>
            <a:endParaRPr lang="en-US" sz="2800" dirty="0"/>
          </a:p>
        </p:txBody>
      </p:sp>
      <p:sp>
        <p:nvSpPr>
          <p:cNvPr id="5" name="Content Placeholder 4"/>
          <p:cNvSpPr>
            <a:spLocks noGrp="1"/>
          </p:cNvSpPr>
          <p:nvPr>
            <p:ph idx="1"/>
          </p:nvPr>
        </p:nvSpPr>
        <p:spPr>
          <a:xfrm>
            <a:off x="457200" y="1261517"/>
            <a:ext cx="8229600" cy="2846933"/>
          </a:xfrm>
        </p:spPr>
        <p:txBody>
          <a:bodyPr>
            <a:spAutoFit/>
          </a:bodyPr>
          <a:lstStyle/>
          <a:p>
            <a:r>
              <a:rPr lang="en-IN" sz="2000" dirty="0"/>
              <a:t>Client/server computing</a:t>
            </a:r>
          </a:p>
          <a:p>
            <a:pPr lvl="1"/>
            <a:r>
              <a:rPr lang="en-IN" sz="2000" dirty="0"/>
              <a:t>Distributed computing model</a:t>
            </a:r>
          </a:p>
          <a:p>
            <a:pPr lvl="1"/>
            <a:r>
              <a:rPr lang="en-IN" sz="2000" dirty="0"/>
              <a:t>Clients linked through network controlled by network server computer</a:t>
            </a:r>
          </a:p>
          <a:p>
            <a:pPr lvl="1"/>
            <a:r>
              <a:rPr lang="en-IN" sz="2000" dirty="0"/>
              <a:t>Server sets rules of communication for network and provides every client with an address so others can find it on the network</a:t>
            </a:r>
          </a:p>
          <a:p>
            <a:pPr lvl="1"/>
            <a:r>
              <a:rPr lang="en-IN" sz="2000" dirty="0"/>
              <a:t>Has largely replaced centralized mainframe computing</a:t>
            </a:r>
          </a:p>
          <a:p>
            <a:pPr lvl="1"/>
            <a:r>
              <a:rPr lang="en-IN" sz="2000" dirty="0"/>
              <a:t>The Internet: largest implementation of client/server computing</a:t>
            </a:r>
          </a:p>
        </p:txBody>
      </p:sp>
      <p:sp>
        <p:nvSpPr>
          <p:cNvPr id="2" name="Footer Placeholder 1">
            <a:extLst>
              <a:ext uri="{FF2B5EF4-FFF2-40B4-BE49-F238E27FC236}">
                <a16:creationId xmlns:a16="http://schemas.microsoft.com/office/drawing/2014/main" id="{1C6AA4F3-E8D6-4F2B-AA41-CF472F0D88F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02049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7465"/>
            <a:ext cx="8229600" cy="984885"/>
          </a:xfrm>
        </p:spPr>
        <p:txBody>
          <a:bodyPr>
            <a:spAutoFit/>
          </a:bodyPr>
          <a:lstStyle/>
          <a:p>
            <a:r>
              <a:rPr lang="en-IN" altLang="en-US" dirty="0"/>
              <a:t>Key Digital Networking Technologies </a:t>
            </a:r>
            <a:r>
              <a:rPr lang="en-IN" altLang="en-US" sz="2800" dirty="0"/>
              <a:t>(2 of 3)</a:t>
            </a:r>
            <a:endParaRPr lang="en-US" sz="2800" dirty="0"/>
          </a:p>
        </p:txBody>
      </p:sp>
      <p:sp>
        <p:nvSpPr>
          <p:cNvPr id="5" name="Content Placeholder 4"/>
          <p:cNvSpPr>
            <a:spLocks noGrp="1"/>
          </p:cNvSpPr>
          <p:nvPr>
            <p:ph idx="1"/>
          </p:nvPr>
        </p:nvSpPr>
        <p:spPr>
          <a:xfrm>
            <a:off x="457200" y="1226731"/>
            <a:ext cx="8229600" cy="3554819"/>
          </a:xfrm>
        </p:spPr>
        <p:txBody>
          <a:bodyPr>
            <a:spAutoFit/>
          </a:bodyPr>
          <a:lstStyle/>
          <a:p>
            <a:r>
              <a:rPr lang="en-IN" dirty="0"/>
              <a:t>Packet switching</a:t>
            </a:r>
          </a:p>
          <a:p>
            <a:pPr lvl="1"/>
            <a:r>
              <a:rPr lang="en-IN" sz="2400" dirty="0"/>
              <a:t>Method of slicing digital messages into parcels (packets), sending packets along different communication paths as they become available, and then reassembling packets at destination</a:t>
            </a:r>
          </a:p>
          <a:p>
            <a:pPr lvl="1"/>
            <a:r>
              <a:rPr lang="en-IN" sz="2400" dirty="0"/>
              <a:t>Previous circuit-switched networks required assembly of complete point-to-point circuit</a:t>
            </a:r>
          </a:p>
          <a:p>
            <a:pPr lvl="1"/>
            <a:r>
              <a:rPr lang="en-IN" sz="2400" dirty="0"/>
              <a:t>Packet switching more efficient use of network’s communications capacity</a:t>
            </a:r>
          </a:p>
        </p:txBody>
      </p:sp>
      <p:sp>
        <p:nvSpPr>
          <p:cNvPr id="2" name="Footer Placeholder 1">
            <a:extLst>
              <a:ext uri="{FF2B5EF4-FFF2-40B4-BE49-F238E27FC236}">
                <a16:creationId xmlns:a16="http://schemas.microsoft.com/office/drawing/2014/main" id="{2DD28D4F-D8C3-4D71-AE64-0C52007EB2C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319580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450"/>
            <a:ext cx="8229600" cy="1107996"/>
          </a:xfrm>
        </p:spPr>
        <p:txBody>
          <a:bodyPr>
            <a:spAutoFit/>
          </a:bodyPr>
          <a:lstStyle/>
          <a:p>
            <a:r>
              <a:rPr lang="en-IN" dirty="0"/>
              <a:t>Figure 7.3 Packet-Switched Networks and Packet Communications</a:t>
            </a:r>
            <a:endParaRPr lang="en-US" sz="2800" dirty="0"/>
          </a:p>
        </p:txBody>
      </p:sp>
      <p:pic>
        <p:nvPicPr>
          <p:cNvPr id="3074" name="Picture 2" descr="An illustration explains how message is transmitted through smaller packets 1, 2, and 3, and reassembles as message at the final destination. The message is just data and consists of packet number, message number, and destination."/>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652732" y="1389653"/>
            <a:ext cx="5838534" cy="3257697"/>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CE4FFFC-3514-4F36-84CD-53129759B3A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15570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768"/>
            <a:ext cx="8229600" cy="965479"/>
          </a:xfrm>
        </p:spPr>
        <p:txBody>
          <a:bodyPr anchor="ctr">
            <a:spAutoFit/>
          </a:bodyPr>
          <a:lstStyle/>
          <a:p>
            <a:r>
              <a:rPr lang="en-IN" altLang="en-US" dirty="0"/>
              <a:t>Key Digital Networking Technologies </a:t>
            </a:r>
            <a:r>
              <a:rPr lang="en-IN" altLang="en-US" sz="2800" dirty="0"/>
              <a:t>(3 of 3)</a:t>
            </a:r>
            <a:endParaRPr lang="en-US" sz="2800" dirty="0"/>
          </a:p>
        </p:txBody>
      </p:sp>
      <p:sp>
        <p:nvSpPr>
          <p:cNvPr id="5" name="Content Placeholder 4"/>
          <p:cNvSpPr>
            <a:spLocks noGrp="1"/>
          </p:cNvSpPr>
          <p:nvPr>
            <p:ph idx="1"/>
          </p:nvPr>
        </p:nvSpPr>
        <p:spPr>
          <a:xfrm>
            <a:off x="457200" y="1091624"/>
            <a:ext cx="8229600" cy="3694843"/>
          </a:xfrm>
        </p:spPr>
        <p:txBody>
          <a:bodyPr>
            <a:spAutoFit/>
          </a:bodyPr>
          <a:lstStyle/>
          <a:p>
            <a:pPr>
              <a:spcBef>
                <a:spcPts val="300"/>
              </a:spcBef>
            </a:pPr>
            <a:r>
              <a:rPr lang="en-IN" sz="2000" spc="-300" dirty="0"/>
              <a:t>T C P </a:t>
            </a:r>
            <a:r>
              <a:rPr lang="en-IN" sz="2000" dirty="0"/>
              <a:t>/</a:t>
            </a:r>
            <a:r>
              <a:rPr lang="en-IN" sz="2000" spc="-300" dirty="0"/>
              <a:t>I P</a:t>
            </a:r>
            <a:r>
              <a:rPr lang="en-IN" sz="2000" dirty="0"/>
              <a:t> and connectivity</a:t>
            </a:r>
          </a:p>
          <a:p>
            <a:pPr lvl="1">
              <a:spcBef>
                <a:spcPts val="300"/>
              </a:spcBef>
            </a:pPr>
            <a:r>
              <a:rPr lang="en-IN" sz="2000" dirty="0"/>
              <a:t>Protocols: rules that govern transmission of information between two points</a:t>
            </a:r>
          </a:p>
          <a:p>
            <a:pPr lvl="1">
              <a:spcBef>
                <a:spcPts val="300"/>
              </a:spcBef>
            </a:pPr>
            <a:r>
              <a:rPr lang="en-IN" sz="2000" dirty="0"/>
              <a:t>Transmission Control Protocol/Internet Protocol (</a:t>
            </a:r>
            <a:r>
              <a:rPr lang="en-IN" sz="2000" spc="-300" dirty="0"/>
              <a:t>T C P</a:t>
            </a:r>
            <a:r>
              <a:rPr lang="en-IN" sz="2000" dirty="0"/>
              <a:t> </a:t>
            </a:r>
            <a:r>
              <a:rPr lang="en-IN" sz="2000" spc="-300" dirty="0"/>
              <a:t>/ I </a:t>
            </a:r>
            <a:r>
              <a:rPr lang="en-IN" sz="2000" dirty="0"/>
              <a:t>P)</a:t>
            </a:r>
          </a:p>
          <a:p>
            <a:pPr lvl="2">
              <a:spcBef>
                <a:spcPts val="300"/>
              </a:spcBef>
            </a:pPr>
            <a:r>
              <a:rPr lang="en-IN" dirty="0"/>
              <a:t>Common worldwide standard that is basis for the Internet</a:t>
            </a:r>
          </a:p>
          <a:p>
            <a:pPr lvl="1">
              <a:spcBef>
                <a:spcPts val="300"/>
              </a:spcBef>
            </a:pPr>
            <a:r>
              <a:rPr lang="en-IN" sz="2000" dirty="0"/>
              <a:t>Department of </a:t>
            </a:r>
            <a:r>
              <a:rPr lang="en-IN" sz="2000" dirty="0" err="1"/>
              <a:t>Defense</a:t>
            </a:r>
            <a:r>
              <a:rPr lang="en-IN" sz="2000" dirty="0"/>
              <a:t> reference model for </a:t>
            </a:r>
            <a:r>
              <a:rPr lang="en-IN" sz="2000" spc="-300" dirty="0"/>
              <a:t>T C P</a:t>
            </a:r>
            <a:r>
              <a:rPr lang="en-IN" sz="2000" dirty="0"/>
              <a:t> </a:t>
            </a:r>
            <a:r>
              <a:rPr lang="en-IN" sz="2000" spc="-300" dirty="0"/>
              <a:t>/ I </a:t>
            </a:r>
            <a:r>
              <a:rPr lang="en-IN" sz="2000" dirty="0"/>
              <a:t>P</a:t>
            </a:r>
            <a:endParaRPr lang="en-IN" sz="2000" spc="-300" dirty="0"/>
          </a:p>
          <a:p>
            <a:pPr lvl="2">
              <a:spcBef>
                <a:spcPts val="300"/>
              </a:spcBef>
            </a:pPr>
            <a:r>
              <a:rPr lang="en-IN" dirty="0"/>
              <a:t>Four layers</a:t>
            </a:r>
          </a:p>
          <a:p>
            <a:pPr lvl="3">
              <a:spcBef>
                <a:spcPts val="300"/>
              </a:spcBef>
            </a:pPr>
            <a:r>
              <a:rPr lang="en-IN" sz="2000" dirty="0"/>
              <a:t>Application layer</a:t>
            </a:r>
          </a:p>
          <a:p>
            <a:pPr lvl="3">
              <a:spcBef>
                <a:spcPts val="300"/>
              </a:spcBef>
            </a:pPr>
            <a:r>
              <a:rPr lang="en-IN" sz="2000" dirty="0"/>
              <a:t>Transport layer</a:t>
            </a:r>
          </a:p>
          <a:p>
            <a:pPr lvl="3">
              <a:spcBef>
                <a:spcPts val="300"/>
              </a:spcBef>
            </a:pPr>
            <a:r>
              <a:rPr lang="en-IN" sz="2000" dirty="0"/>
              <a:t>Internet layer</a:t>
            </a:r>
          </a:p>
          <a:p>
            <a:pPr lvl="3">
              <a:spcBef>
                <a:spcPts val="300"/>
              </a:spcBef>
            </a:pPr>
            <a:r>
              <a:rPr lang="en-IN" sz="2000" dirty="0"/>
              <a:t>Network interface layer</a:t>
            </a:r>
          </a:p>
        </p:txBody>
      </p:sp>
      <p:sp>
        <p:nvSpPr>
          <p:cNvPr id="2" name="Footer Placeholder 1">
            <a:extLst>
              <a:ext uri="{FF2B5EF4-FFF2-40B4-BE49-F238E27FC236}">
                <a16:creationId xmlns:a16="http://schemas.microsoft.com/office/drawing/2014/main" id="{4A2C8AA2-F75F-44D3-9769-834D268BB1E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592383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1122"/>
            <a:ext cx="8229600" cy="1477328"/>
          </a:xfrm>
        </p:spPr>
        <p:txBody>
          <a:bodyPr>
            <a:spAutoFit/>
          </a:bodyPr>
          <a:lstStyle/>
          <a:p>
            <a:r>
              <a:rPr lang="en-US" sz="3200" dirty="0"/>
              <a:t>Figure 7.4 The Transmission Control Protocol/Internet Protocol (</a:t>
            </a:r>
            <a:r>
              <a:rPr lang="en-US" sz="3200" spc="-300" dirty="0"/>
              <a:t>T C </a:t>
            </a:r>
            <a:r>
              <a:rPr lang="en-US" sz="3200" dirty="0"/>
              <a:t>P/</a:t>
            </a:r>
            <a:r>
              <a:rPr lang="en-US" sz="3200" spc="-300" dirty="0"/>
              <a:t>I </a:t>
            </a:r>
            <a:r>
              <a:rPr lang="en-US" sz="3200" dirty="0"/>
              <a:t>P) Reference Model</a:t>
            </a:r>
            <a:endParaRPr lang="en-US" sz="2400" dirty="0"/>
          </a:p>
        </p:txBody>
      </p:sp>
      <p:pic>
        <p:nvPicPr>
          <p:cNvPr id="4098" name="Picture 2" descr="A figure illustrates how two computers using TCP/IP communicate.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453426" y="1713518"/>
            <a:ext cx="2231047" cy="3075226"/>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AED0EC19-903F-48A3-A487-AD4E3957A94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424026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IN" altLang="en-US" dirty="0"/>
              <a:t>Types of Networks</a:t>
            </a:r>
            <a:endParaRPr lang="en-US" sz="2800" dirty="0"/>
          </a:p>
        </p:txBody>
      </p:sp>
      <p:sp>
        <p:nvSpPr>
          <p:cNvPr id="5" name="Content Placeholder 4"/>
          <p:cNvSpPr>
            <a:spLocks noGrp="1"/>
          </p:cNvSpPr>
          <p:nvPr>
            <p:ph idx="1"/>
          </p:nvPr>
        </p:nvSpPr>
        <p:spPr>
          <a:xfrm>
            <a:off x="457200" y="825662"/>
            <a:ext cx="8229600" cy="3961480"/>
          </a:xfrm>
        </p:spPr>
        <p:txBody>
          <a:bodyPr>
            <a:spAutoFit/>
          </a:bodyPr>
          <a:lstStyle/>
          <a:p>
            <a:r>
              <a:rPr lang="en-IN" sz="2200" dirty="0"/>
              <a:t>Signals: Digital versus </a:t>
            </a:r>
            <a:r>
              <a:rPr lang="en-IN" sz="2200" dirty="0" err="1"/>
              <a:t>analog</a:t>
            </a:r>
            <a:endParaRPr lang="en-IN" sz="2200" dirty="0"/>
          </a:p>
          <a:p>
            <a:pPr lvl="1"/>
            <a:r>
              <a:rPr lang="en-IN" dirty="0"/>
              <a:t>Modem: translates digital signals into </a:t>
            </a:r>
            <a:r>
              <a:rPr lang="en-IN" dirty="0" err="1"/>
              <a:t>analog</a:t>
            </a:r>
            <a:r>
              <a:rPr lang="en-IN" dirty="0"/>
              <a:t> form (and vice versa)</a:t>
            </a:r>
          </a:p>
          <a:p>
            <a:pPr>
              <a:spcBef>
                <a:spcPts val="600"/>
              </a:spcBef>
            </a:pPr>
            <a:r>
              <a:rPr lang="en-IN" sz="2200" dirty="0"/>
              <a:t>Types of networks</a:t>
            </a:r>
          </a:p>
          <a:p>
            <a:pPr lvl="1"/>
            <a:r>
              <a:rPr lang="en-IN" dirty="0"/>
              <a:t>Local area networks (</a:t>
            </a:r>
            <a:r>
              <a:rPr lang="en-IN" spc="-300" dirty="0"/>
              <a:t>L A N </a:t>
            </a:r>
            <a:r>
              <a:rPr lang="en-IN" dirty="0"/>
              <a:t>s)</a:t>
            </a:r>
          </a:p>
          <a:p>
            <a:pPr lvl="2"/>
            <a:r>
              <a:rPr lang="en-IN" sz="2200" dirty="0"/>
              <a:t>Ethernet</a:t>
            </a:r>
          </a:p>
          <a:p>
            <a:pPr lvl="2"/>
            <a:r>
              <a:rPr lang="en-IN" sz="2200" dirty="0"/>
              <a:t>Client/server vs. peer-to-peer</a:t>
            </a:r>
          </a:p>
          <a:p>
            <a:pPr lvl="1"/>
            <a:r>
              <a:rPr lang="en-IN" dirty="0"/>
              <a:t>Wide area networks (</a:t>
            </a:r>
            <a:r>
              <a:rPr lang="en-IN" spc="-300" dirty="0"/>
              <a:t>W A N </a:t>
            </a:r>
            <a:r>
              <a:rPr lang="en-IN" dirty="0"/>
              <a:t>s)</a:t>
            </a:r>
          </a:p>
          <a:p>
            <a:pPr lvl="1"/>
            <a:r>
              <a:rPr lang="en-IN" dirty="0"/>
              <a:t>Metropolitan area networks (</a:t>
            </a:r>
            <a:r>
              <a:rPr lang="en-IN" spc="-300" dirty="0"/>
              <a:t>M A N </a:t>
            </a:r>
            <a:r>
              <a:rPr lang="en-IN" dirty="0"/>
              <a:t>s)</a:t>
            </a:r>
          </a:p>
          <a:p>
            <a:pPr lvl="1"/>
            <a:r>
              <a:rPr lang="en-IN" dirty="0"/>
              <a:t>Campus area networks (</a:t>
            </a:r>
            <a:r>
              <a:rPr lang="en-IN" spc="-300" dirty="0"/>
              <a:t>C A N </a:t>
            </a:r>
            <a:r>
              <a:rPr lang="en-IN" dirty="0"/>
              <a:t>s)</a:t>
            </a:r>
          </a:p>
        </p:txBody>
      </p:sp>
      <p:sp>
        <p:nvSpPr>
          <p:cNvPr id="2" name="Footer Placeholder 1">
            <a:extLst>
              <a:ext uri="{FF2B5EF4-FFF2-40B4-BE49-F238E27FC236}">
                <a16:creationId xmlns:a16="http://schemas.microsoft.com/office/drawing/2014/main" id="{0843C5E2-D4F8-400D-8E77-A9C1BB8CA9C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570012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IN" dirty="0"/>
              <a:t>Figure 7.5 Functions of the Modem</a:t>
            </a:r>
            <a:endParaRPr lang="en-US" sz="2800" dirty="0"/>
          </a:p>
        </p:txBody>
      </p:sp>
      <p:pic>
        <p:nvPicPr>
          <p:cNvPr id="5122" name="Picture 2" descr="An illustration explains how a computer translates digital signals into analog form.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18379" y="1295103"/>
            <a:ext cx="8093267" cy="2533947"/>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6E2D1DF3-0494-412D-9186-DB990C4BD4F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974866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46050"/>
            <a:ext cx="8229600" cy="430887"/>
          </a:xfrm>
        </p:spPr>
        <p:txBody>
          <a:bodyPr>
            <a:spAutoFit/>
          </a:bodyPr>
          <a:lstStyle/>
          <a:p>
            <a:r>
              <a:rPr lang="en-US" sz="2800" dirty="0"/>
              <a:t>Transmission Media and Transmission Speed</a:t>
            </a:r>
          </a:p>
        </p:txBody>
      </p:sp>
      <p:sp>
        <p:nvSpPr>
          <p:cNvPr id="5" name="Content Placeholder 4"/>
          <p:cNvSpPr>
            <a:spLocks noGrp="1"/>
          </p:cNvSpPr>
          <p:nvPr>
            <p:ph idx="1"/>
          </p:nvPr>
        </p:nvSpPr>
        <p:spPr>
          <a:xfrm>
            <a:off x="457200" y="832371"/>
            <a:ext cx="8229600" cy="3885679"/>
          </a:xfrm>
        </p:spPr>
        <p:txBody>
          <a:bodyPr>
            <a:spAutoFit/>
          </a:bodyPr>
          <a:lstStyle/>
          <a:p>
            <a:r>
              <a:rPr lang="en-IN" sz="2000" dirty="0"/>
              <a:t>Physical transmission media</a:t>
            </a:r>
          </a:p>
          <a:p>
            <a:pPr lvl="1">
              <a:spcBef>
                <a:spcPts val="300"/>
              </a:spcBef>
            </a:pPr>
            <a:r>
              <a:rPr lang="en-IN" sz="2000" dirty="0"/>
              <a:t>Twisted pair wire (</a:t>
            </a:r>
            <a:r>
              <a:rPr lang="en-IN" sz="2000" spc="-300" dirty="0"/>
              <a:t>C A T</a:t>
            </a:r>
            <a:r>
              <a:rPr lang="en-IN" sz="2000" dirty="0"/>
              <a:t>5 and CAT6)</a:t>
            </a:r>
          </a:p>
          <a:p>
            <a:pPr lvl="1">
              <a:spcBef>
                <a:spcPts val="300"/>
              </a:spcBef>
            </a:pPr>
            <a:r>
              <a:rPr lang="en-IN" sz="2000" dirty="0"/>
              <a:t>Coaxial cable</a:t>
            </a:r>
          </a:p>
          <a:p>
            <a:pPr lvl="1">
              <a:spcBef>
                <a:spcPts val="300"/>
              </a:spcBef>
            </a:pPr>
            <a:r>
              <a:rPr lang="en-IN" sz="2000" dirty="0" err="1"/>
              <a:t>Fiber</a:t>
            </a:r>
            <a:r>
              <a:rPr lang="en-IN" sz="2000" dirty="0"/>
              <a:t> optics cable</a:t>
            </a:r>
          </a:p>
          <a:p>
            <a:pPr lvl="1">
              <a:spcBef>
                <a:spcPts val="300"/>
              </a:spcBef>
            </a:pPr>
            <a:r>
              <a:rPr lang="en-IN" sz="2000" dirty="0"/>
              <a:t>Wireless transmission media and devices</a:t>
            </a:r>
          </a:p>
          <a:p>
            <a:pPr lvl="2"/>
            <a:r>
              <a:rPr lang="en-IN" dirty="0"/>
              <a:t>Satellites</a:t>
            </a:r>
          </a:p>
          <a:p>
            <a:pPr lvl="2"/>
            <a:r>
              <a:rPr lang="en-IN" dirty="0"/>
              <a:t>Cellular systems</a:t>
            </a:r>
          </a:p>
          <a:p>
            <a:pPr>
              <a:spcBef>
                <a:spcPts val="600"/>
              </a:spcBef>
            </a:pPr>
            <a:r>
              <a:rPr lang="en-IN" sz="2000" dirty="0"/>
              <a:t>Bandwidth: Transmission speed</a:t>
            </a:r>
          </a:p>
          <a:p>
            <a:pPr lvl="1">
              <a:spcBef>
                <a:spcPts val="300"/>
              </a:spcBef>
            </a:pPr>
            <a:r>
              <a:rPr lang="en-IN" sz="2000" dirty="0"/>
              <a:t>Bits per second (</a:t>
            </a:r>
            <a:r>
              <a:rPr lang="en-IN" sz="2000" spc="-300" dirty="0"/>
              <a:t>b p </a:t>
            </a:r>
            <a:r>
              <a:rPr lang="en-IN" sz="2000" dirty="0"/>
              <a:t>s)</a:t>
            </a:r>
          </a:p>
          <a:p>
            <a:pPr lvl="1">
              <a:spcBef>
                <a:spcPts val="300"/>
              </a:spcBef>
            </a:pPr>
            <a:r>
              <a:rPr lang="en-IN" sz="2000" dirty="0"/>
              <a:t>Hertz</a:t>
            </a:r>
          </a:p>
          <a:p>
            <a:pPr lvl="1">
              <a:spcBef>
                <a:spcPts val="300"/>
              </a:spcBef>
            </a:pPr>
            <a:r>
              <a:rPr lang="en-IN" sz="2000" dirty="0"/>
              <a:t>Bandwidth</a:t>
            </a:r>
          </a:p>
        </p:txBody>
      </p:sp>
      <p:sp>
        <p:nvSpPr>
          <p:cNvPr id="2" name="Footer Placeholder 1">
            <a:extLst>
              <a:ext uri="{FF2B5EF4-FFF2-40B4-BE49-F238E27FC236}">
                <a16:creationId xmlns:a16="http://schemas.microsoft.com/office/drawing/2014/main" id="{3A7DAE35-88E5-441F-BB0F-C6F33E1AC60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982419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US" dirty="0"/>
              <a:t>What Is the Internet?</a:t>
            </a:r>
            <a:endParaRPr lang="en-US" sz="2800" dirty="0"/>
          </a:p>
        </p:txBody>
      </p:sp>
      <p:sp>
        <p:nvSpPr>
          <p:cNvPr id="5" name="Content Placeholder 4"/>
          <p:cNvSpPr>
            <a:spLocks noGrp="1"/>
          </p:cNvSpPr>
          <p:nvPr>
            <p:ph idx="1"/>
          </p:nvPr>
        </p:nvSpPr>
        <p:spPr>
          <a:xfrm>
            <a:off x="457200" y="769987"/>
            <a:ext cx="8229600" cy="3770263"/>
          </a:xfrm>
        </p:spPr>
        <p:txBody>
          <a:bodyPr>
            <a:spAutoFit/>
          </a:bodyPr>
          <a:lstStyle/>
          <a:p>
            <a:pPr>
              <a:spcBef>
                <a:spcPts val="600"/>
              </a:spcBef>
            </a:pPr>
            <a:r>
              <a:rPr lang="en-IN" sz="2000" dirty="0"/>
              <a:t>The Internet</a:t>
            </a:r>
          </a:p>
          <a:p>
            <a:pPr lvl="1"/>
            <a:r>
              <a:rPr lang="en-IN" sz="2000" dirty="0"/>
              <a:t>World’s most extensive network</a:t>
            </a:r>
          </a:p>
          <a:p>
            <a:pPr lvl="1"/>
            <a:r>
              <a:rPr lang="en-IN" sz="2000" dirty="0"/>
              <a:t>Internet service providers (</a:t>
            </a:r>
            <a:r>
              <a:rPr lang="en-IN" sz="2000" spc="-300" dirty="0"/>
              <a:t>I S P </a:t>
            </a:r>
            <a:r>
              <a:rPr lang="en-IN" sz="2000" dirty="0"/>
              <a:t>s)</a:t>
            </a:r>
          </a:p>
          <a:p>
            <a:pPr lvl="2"/>
            <a:r>
              <a:rPr lang="en-IN" dirty="0"/>
              <a:t>Provide connections</a:t>
            </a:r>
          </a:p>
          <a:p>
            <a:pPr lvl="2"/>
            <a:r>
              <a:rPr lang="en-IN" dirty="0"/>
              <a:t>Types of Internet connections</a:t>
            </a:r>
          </a:p>
          <a:p>
            <a:pPr lvl="3"/>
            <a:r>
              <a:rPr lang="en-IN" sz="2000" dirty="0"/>
              <a:t>Dial-up: 56.6 </a:t>
            </a:r>
            <a:r>
              <a:rPr lang="en-IN" sz="2000" spc="-300" dirty="0"/>
              <a:t>K b p </a:t>
            </a:r>
            <a:r>
              <a:rPr lang="en-IN" sz="2000" dirty="0"/>
              <a:t>s</a:t>
            </a:r>
          </a:p>
          <a:p>
            <a:pPr lvl="3"/>
            <a:r>
              <a:rPr lang="en-IN" sz="2000" dirty="0"/>
              <a:t>Digital subscriber line (</a:t>
            </a:r>
            <a:r>
              <a:rPr lang="en-IN" sz="2000" spc="-300" dirty="0"/>
              <a:t>D S </a:t>
            </a:r>
            <a:r>
              <a:rPr lang="en-IN" sz="2000" dirty="0"/>
              <a:t>L/</a:t>
            </a:r>
            <a:r>
              <a:rPr lang="en-IN" sz="2000" spc="-300" dirty="0"/>
              <a:t>F I O </a:t>
            </a:r>
            <a:r>
              <a:rPr lang="en-IN" sz="2000" dirty="0"/>
              <a:t>S): 385 </a:t>
            </a:r>
            <a:r>
              <a:rPr lang="en-IN" sz="2000" spc="-300" dirty="0"/>
              <a:t>K b p </a:t>
            </a:r>
            <a:r>
              <a:rPr lang="en-IN" sz="2000" dirty="0"/>
              <a:t>s –100+ </a:t>
            </a:r>
            <a:r>
              <a:rPr lang="en-IN" sz="2000" spc="-300" dirty="0"/>
              <a:t>M b p </a:t>
            </a:r>
            <a:r>
              <a:rPr lang="en-IN" sz="2000" dirty="0"/>
              <a:t>s</a:t>
            </a:r>
          </a:p>
          <a:p>
            <a:pPr lvl="3"/>
            <a:r>
              <a:rPr lang="en-IN" sz="2000" dirty="0"/>
              <a:t>Cable Internet connections: 20–100 </a:t>
            </a:r>
            <a:r>
              <a:rPr lang="en-IN" sz="2000" spc="-300" dirty="0"/>
              <a:t>M b p </a:t>
            </a:r>
            <a:r>
              <a:rPr lang="en-IN" sz="2000" dirty="0"/>
              <a:t>s</a:t>
            </a:r>
          </a:p>
          <a:p>
            <a:pPr lvl="3"/>
            <a:r>
              <a:rPr lang="en-IN" sz="2000" dirty="0"/>
              <a:t>Satellite</a:t>
            </a:r>
          </a:p>
          <a:p>
            <a:pPr lvl="3"/>
            <a:r>
              <a:rPr lang="en-IN" sz="2000" dirty="0"/>
              <a:t>T1/T3 lines: 1.54 Mbps/45 </a:t>
            </a:r>
            <a:r>
              <a:rPr lang="en-IN" sz="2000" spc="-300" dirty="0"/>
              <a:t>M b p </a:t>
            </a:r>
            <a:r>
              <a:rPr lang="en-IN" sz="2000" dirty="0"/>
              <a:t>s</a:t>
            </a:r>
          </a:p>
        </p:txBody>
      </p:sp>
      <p:sp>
        <p:nvSpPr>
          <p:cNvPr id="2" name="Footer Placeholder 1">
            <a:extLst>
              <a:ext uri="{FF2B5EF4-FFF2-40B4-BE49-F238E27FC236}">
                <a16:creationId xmlns:a16="http://schemas.microsoft.com/office/drawing/2014/main" id="{7F0D0ED0-E1E9-45EC-8F25-BFCF9357A10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58146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US" dirty="0"/>
              <a:t>Internet Addressing and Architecture</a:t>
            </a:r>
            <a:endParaRPr lang="en-US" sz="2800" dirty="0"/>
          </a:p>
        </p:txBody>
      </p:sp>
      <p:sp>
        <p:nvSpPr>
          <p:cNvPr id="5" name="Content Placeholder 4"/>
          <p:cNvSpPr>
            <a:spLocks noGrp="1"/>
          </p:cNvSpPr>
          <p:nvPr>
            <p:ph idx="1"/>
          </p:nvPr>
        </p:nvSpPr>
        <p:spPr>
          <a:xfrm>
            <a:off x="457200" y="819150"/>
            <a:ext cx="8229600" cy="3108543"/>
          </a:xfrm>
        </p:spPr>
        <p:txBody>
          <a:bodyPr>
            <a:spAutoFit/>
          </a:bodyPr>
          <a:lstStyle/>
          <a:p>
            <a:r>
              <a:rPr lang="en-IN" dirty="0"/>
              <a:t>Each device on Internet assigned Internet Protocol (</a:t>
            </a:r>
            <a:r>
              <a:rPr lang="en-IN" spc="-300" dirty="0"/>
              <a:t>I </a:t>
            </a:r>
            <a:r>
              <a:rPr lang="en-IN" dirty="0"/>
              <a:t>P) address</a:t>
            </a:r>
          </a:p>
          <a:p>
            <a:r>
              <a:rPr lang="en-IN" dirty="0"/>
              <a:t>32-bit number, e.g. 207.46.250.119</a:t>
            </a:r>
          </a:p>
          <a:p>
            <a:r>
              <a:rPr lang="en-IN" dirty="0"/>
              <a:t>The Domain Name System (</a:t>
            </a:r>
            <a:r>
              <a:rPr lang="en-IN" spc="-300" dirty="0"/>
              <a:t>D N </a:t>
            </a:r>
            <a:r>
              <a:rPr lang="en-IN" dirty="0"/>
              <a:t>S)</a:t>
            </a:r>
          </a:p>
          <a:p>
            <a:pPr lvl="1"/>
            <a:r>
              <a:rPr lang="en-IN" dirty="0"/>
              <a:t>Converts IP addresses to domain names</a:t>
            </a:r>
          </a:p>
          <a:p>
            <a:pPr lvl="1"/>
            <a:r>
              <a:rPr lang="en-IN" dirty="0"/>
              <a:t>Hierarchical structure</a:t>
            </a:r>
          </a:p>
          <a:p>
            <a:pPr lvl="1"/>
            <a:r>
              <a:rPr lang="en-IN" dirty="0"/>
              <a:t>Top-level domains</a:t>
            </a:r>
          </a:p>
        </p:txBody>
      </p:sp>
      <p:sp>
        <p:nvSpPr>
          <p:cNvPr id="2" name="Footer Placeholder 1">
            <a:extLst>
              <a:ext uri="{FF2B5EF4-FFF2-40B4-BE49-F238E27FC236}">
                <a16:creationId xmlns:a16="http://schemas.microsoft.com/office/drawing/2014/main" id="{08C9A202-2353-4F26-9703-A6E0B116A14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837303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US" dirty="0"/>
              <a:t>Figure 7.6 </a:t>
            </a:r>
            <a:r>
              <a:rPr lang="en-US" altLang="en-US" dirty="0"/>
              <a:t>The Domain Name System</a:t>
            </a:r>
            <a:endParaRPr lang="en-US" sz="2800" dirty="0"/>
          </a:p>
        </p:txBody>
      </p:sp>
      <p:pic>
        <p:nvPicPr>
          <p:cNvPr id="6146" name="Picture 2" descr="A four-tier hierarchy explains the concept of the domain name system.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498801" y="792546"/>
            <a:ext cx="6146399" cy="391280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A3C99036-049E-4C58-A8E6-952B6ED0E70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435537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US" dirty="0"/>
              <a:t>Internet Architecture and Governance</a:t>
            </a:r>
            <a:endParaRPr lang="en-US" sz="2800" dirty="0"/>
          </a:p>
        </p:txBody>
      </p:sp>
      <p:sp>
        <p:nvSpPr>
          <p:cNvPr id="5" name="Content Placeholder 4"/>
          <p:cNvSpPr>
            <a:spLocks noGrp="1"/>
          </p:cNvSpPr>
          <p:nvPr>
            <p:ph idx="1"/>
          </p:nvPr>
        </p:nvSpPr>
        <p:spPr>
          <a:xfrm>
            <a:off x="457200" y="831850"/>
            <a:ext cx="8229600" cy="3862596"/>
          </a:xfrm>
        </p:spPr>
        <p:txBody>
          <a:bodyPr>
            <a:spAutoFit/>
          </a:bodyPr>
          <a:lstStyle/>
          <a:p>
            <a:r>
              <a:rPr lang="en-IN" dirty="0"/>
              <a:t>Network service providers</a:t>
            </a:r>
          </a:p>
          <a:p>
            <a:pPr lvl="1"/>
            <a:r>
              <a:rPr lang="en-IN" sz="2400" dirty="0"/>
              <a:t>Own trunk lines (high-speed backbone networks)</a:t>
            </a:r>
          </a:p>
          <a:p>
            <a:pPr>
              <a:spcBef>
                <a:spcPts val="600"/>
              </a:spcBef>
            </a:pPr>
            <a:r>
              <a:rPr lang="en-IN" dirty="0"/>
              <a:t>Regional telephone and cable T V companies</a:t>
            </a:r>
          </a:p>
          <a:p>
            <a:pPr lvl="1"/>
            <a:r>
              <a:rPr lang="en-IN" sz="2400" dirty="0"/>
              <a:t>Provide regional and local access</a:t>
            </a:r>
          </a:p>
          <a:p>
            <a:pPr>
              <a:spcBef>
                <a:spcPts val="600"/>
              </a:spcBef>
            </a:pPr>
            <a:r>
              <a:rPr lang="en-IN" dirty="0"/>
              <a:t>Professional organizations and government bodies establish Internet standards</a:t>
            </a:r>
          </a:p>
          <a:p>
            <a:pPr lvl="1"/>
            <a:r>
              <a:rPr lang="en-IN" sz="2400" spc="-300" dirty="0"/>
              <a:t>I A </a:t>
            </a:r>
            <a:r>
              <a:rPr lang="en-IN" sz="2400" dirty="0"/>
              <a:t>B</a:t>
            </a:r>
          </a:p>
          <a:p>
            <a:pPr lvl="1"/>
            <a:r>
              <a:rPr lang="en-IN" sz="2400" spc="-300" dirty="0"/>
              <a:t>I C A N </a:t>
            </a:r>
            <a:r>
              <a:rPr lang="en-IN" sz="2400" dirty="0" err="1"/>
              <a:t>N</a:t>
            </a:r>
            <a:endParaRPr lang="en-IN" sz="2400" dirty="0"/>
          </a:p>
          <a:p>
            <a:pPr lvl="1"/>
            <a:r>
              <a:rPr lang="en-IN" sz="2400" spc="-300" dirty="0"/>
              <a:t>W 3 </a:t>
            </a:r>
            <a:r>
              <a:rPr lang="en-IN" sz="2400" dirty="0"/>
              <a:t>C</a:t>
            </a:r>
          </a:p>
        </p:txBody>
      </p:sp>
      <p:sp>
        <p:nvSpPr>
          <p:cNvPr id="2" name="Footer Placeholder 1">
            <a:extLst>
              <a:ext uri="{FF2B5EF4-FFF2-40B4-BE49-F238E27FC236}">
                <a16:creationId xmlns:a16="http://schemas.microsoft.com/office/drawing/2014/main" id="{7097AB76-84CB-4BB4-85F8-CC55E07626A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313525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5250"/>
            <a:ext cx="8229600" cy="492443"/>
          </a:xfrm>
        </p:spPr>
        <p:txBody>
          <a:bodyPr>
            <a:spAutoFit/>
          </a:bodyPr>
          <a:lstStyle/>
          <a:p>
            <a:r>
              <a:rPr lang="en-US" sz="3200" dirty="0"/>
              <a:t>Figure 7.7 Internet Network Architecture</a:t>
            </a:r>
            <a:endParaRPr lang="en-US" sz="2400" dirty="0"/>
          </a:p>
        </p:txBody>
      </p:sp>
      <p:pic>
        <p:nvPicPr>
          <p:cNvPr id="3" name="Picture 2" descr="An illustration explains Internet network architecture. For a full description, see Notes. Press F6.">
            <a:extLst>
              <a:ext uri="{FF2B5EF4-FFF2-40B4-BE49-F238E27FC236}">
                <a16:creationId xmlns:a16="http://schemas.microsoft.com/office/drawing/2014/main" id="{1CF86D26-971A-4C3D-9993-D9B6802F22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67131" y="839211"/>
            <a:ext cx="4609736" cy="3817735"/>
          </a:xfrm>
          <a:prstGeom prst="rect">
            <a:avLst/>
          </a:prstGeom>
        </p:spPr>
      </p:pic>
      <p:sp>
        <p:nvSpPr>
          <p:cNvPr id="2" name="Footer Placeholder 1">
            <a:extLst>
              <a:ext uri="{FF2B5EF4-FFF2-40B4-BE49-F238E27FC236}">
                <a16:creationId xmlns:a16="http://schemas.microsoft.com/office/drawing/2014/main" id="{84859A6B-5E72-4691-A42B-FA0A0670469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971495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5250"/>
            <a:ext cx="8229600" cy="492443"/>
          </a:xfrm>
        </p:spPr>
        <p:txBody>
          <a:bodyPr>
            <a:spAutoFit/>
          </a:bodyPr>
          <a:lstStyle/>
          <a:p>
            <a:r>
              <a:rPr lang="en-IN" sz="3200" dirty="0"/>
              <a:t>The Future Internet: </a:t>
            </a:r>
            <a:r>
              <a:rPr lang="en-IN" sz="3200" spc="-300" dirty="0"/>
              <a:t>I P v </a:t>
            </a:r>
            <a:r>
              <a:rPr lang="en-IN" sz="3200" dirty="0"/>
              <a:t>6 and Internet 2</a:t>
            </a:r>
            <a:endParaRPr lang="en-US" sz="2400" dirty="0"/>
          </a:p>
        </p:txBody>
      </p:sp>
      <p:sp>
        <p:nvSpPr>
          <p:cNvPr id="5" name="Content Placeholder 4"/>
          <p:cNvSpPr>
            <a:spLocks noGrp="1"/>
          </p:cNvSpPr>
          <p:nvPr>
            <p:ph idx="1"/>
          </p:nvPr>
        </p:nvSpPr>
        <p:spPr>
          <a:xfrm>
            <a:off x="457200" y="780455"/>
            <a:ext cx="8229600" cy="4001095"/>
          </a:xfrm>
        </p:spPr>
        <p:txBody>
          <a:bodyPr>
            <a:spAutoFit/>
          </a:bodyPr>
          <a:lstStyle/>
          <a:p>
            <a:r>
              <a:rPr lang="en-IN" sz="2200" spc="-300" dirty="0"/>
              <a:t>I P v </a:t>
            </a:r>
            <a:r>
              <a:rPr lang="en-IN" sz="2200" dirty="0"/>
              <a:t>6</a:t>
            </a:r>
          </a:p>
          <a:p>
            <a:pPr lvl="1"/>
            <a:r>
              <a:rPr lang="en-IN" dirty="0"/>
              <a:t>New addressing scheme for </a:t>
            </a:r>
            <a:r>
              <a:rPr lang="en-IN" spc="-300" dirty="0"/>
              <a:t>I </a:t>
            </a:r>
            <a:r>
              <a:rPr lang="en-IN" dirty="0"/>
              <a:t>P numbers</a:t>
            </a:r>
          </a:p>
          <a:p>
            <a:pPr lvl="1"/>
            <a:r>
              <a:rPr lang="en-IN" dirty="0"/>
              <a:t>Will provide more than a quadrillion new addresses</a:t>
            </a:r>
          </a:p>
          <a:p>
            <a:pPr lvl="1"/>
            <a:r>
              <a:rPr lang="en-IN" dirty="0"/>
              <a:t>Not compatible with earlier </a:t>
            </a:r>
            <a:r>
              <a:rPr lang="en-IN" spc="-300" dirty="0"/>
              <a:t>I P v 4</a:t>
            </a:r>
            <a:r>
              <a:rPr lang="en-IN" dirty="0"/>
              <a:t> addressing</a:t>
            </a:r>
          </a:p>
          <a:p>
            <a:pPr>
              <a:spcBef>
                <a:spcPts val="600"/>
              </a:spcBef>
            </a:pPr>
            <a:r>
              <a:rPr lang="en-IN" sz="2200" dirty="0"/>
              <a:t>Internet2</a:t>
            </a:r>
          </a:p>
          <a:p>
            <a:pPr lvl="1"/>
            <a:r>
              <a:rPr lang="en-IN" dirty="0"/>
              <a:t>Advanced networking consortium</a:t>
            </a:r>
          </a:p>
          <a:p>
            <a:pPr lvl="2"/>
            <a:r>
              <a:rPr lang="en-IN" sz="2200" dirty="0"/>
              <a:t>Universities, businesses, government agencies, other institutions</a:t>
            </a:r>
          </a:p>
          <a:p>
            <a:pPr lvl="1"/>
            <a:r>
              <a:rPr lang="en-IN" dirty="0"/>
              <a:t>Developed high-capacity 100 </a:t>
            </a:r>
            <a:r>
              <a:rPr lang="en-IN" spc="-300" dirty="0"/>
              <a:t>G b p </a:t>
            </a:r>
            <a:r>
              <a:rPr lang="en-IN" dirty="0"/>
              <a:t>s testing network</a:t>
            </a:r>
          </a:p>
          <a:p>
            <a:pPr lvl="1"/>
            <a:r>
              <a:rPr lang="en-IN" dirty="0"/>
              <a:t>Testing leading-edge new technologies for Internet</a:t>
            </a:r>
          </a:p>
        </p:txBody>
      </p:sp>
      <p:sp>
        <p:nvSpPr>
          <p:cNvPr id="2" name="Footer Placeholder 1">
            <a:extLst>
              <a:ext uri="{FF2B5EF4-FFF2-40B4-BE49-F238E27FC236}">
                <a16:creationId xmlns:a16="http://schemas.microsoft.com/office/drawing/2014/main" id="{43EED3F3-6016-4A84-90A2-5293FFC800E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229649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3461"/>
            <a:ext cx="8229600" cy="1043782"/>
          </a:xfrm>
        </p:spPr>
        <p:txBody>
          <a:bodyPr>
            <a:spAutoFit/>
          </a:bodyPr>
          <a:lstStyle/>
          <a:p>
            <a:r>
              <a:rPr lang="en-IN" dirty="0"/>
              <a:t>Internet Services and Communication Tools </a:t>
            </a:r>
            <a:r>
              <a:rPr lang="en-IN" sz="2800" dirty="0"/>
              <a:t>(1 of 2)</a:t>
            </a:r>
            <a:endParaRPr lang="en-US" sz="2800" dirty="0"/>
          </a:p>
        </p:txBody>
      </p:sp>
      <p:sp>
        <p:nvSpPr>
          <p:cNvPr id="5" name="Content Placeholder 4"/>
          <p:cNvSpPr>
            <a:spLocks noGrp="1"/>
          </p:cNvSpPr>
          <p:nvPr>
            <p:ph idx="1"/>
          </p:nvPr>
        </p:nvSpPr>
        <p:spPr>
          <a:xfrm>
            <a:off x="457200" y="1426785"/>
            <a:ext cx="8229600" cy="2523768"/>
          </a:xfrm>
        </p:spPr>
        <p:txBody>
          <a:bodyPr>
            <a:spAutoFit/>
          </a:bodyPr>
          <a:lstStyle/>
          <a:p>
            <a:r>
              <a:rPr lang="en-IN" sz="2200" dirty="0"/>
              <a:t>Internet services</a:t>
            </a:r>
          </a:p>
          <a:p>
            <a:pPr lvl="1">
              <a:spcBef>
                <a:spcPts val="200"/>
              </a:spcBef>
            </a:pPr>
            <a:r>
              <a:rPr lang="en-IN" dirty="0"/>
              <a:t>E-mail</a:t>
            </a:r>
          </a:p>
          <a:p>
            <a:pPr lvl="1">
              <a:spcBef>
                <a:spcPts val="200"/>
              </a:spcBef>
            </a:pPr>
            <a:r>
              <a:rPr lang="en-IN" dirty="0"/>
              <a:t>Chatting and instant messaging</a:t>
            </a:r>
          </a:p>
          <a:p>
            <a:pPr lvl="1">
              <a:spcBef>
                <a:spcPts val="200"/>
              </a:spcBef>
            </a:pPr>
            <a:r>
              <a:rPr lang="en-IN" dirty="0"/>
              <a:t>Newsgroups</a:t>
            </a:r>
          </a:p>
          <a:p>
            <a:pPr lvl="1">
              <a:spcBef>
                <a:spcPts val="200"/>
              </a:spcBef>
            </a:pPr>
            <a:r>
              <a:rPr lang="en-IN" dirty="0"/>
              <a:t>Telnet</a:t>
            </a:r>
          </a:p>
          <a:p>
            <a:pPr lvl="1">
              <a:spcBef>
                <a:spcPts val="200"/>
              </a:spcBef>
            </a:pPr>
            <a:r>
              <a:rPr lang="en-IN" dirty="0"/>
              <a:t>File Transfer Protocol (</a:t>
            </a:r>
            <a:r>
              <a:rPr lang="en-IN" spc="-300" dirty="0"/>
              <a:t>F T </a:t>
            </a:r>
            <a:r>
              <a:rPr lang="en-IN" dirty="0"/>
              <a:t>P)</a:t>
            </a:r>
          </a:p>
          <a:p>
            <a:pPr lvl="1">
              <a:spcBef>
                <a:spcPts val="200"/>
              </a:spcBef>
            </a:pPr>
            <a:r>
              <a:rPr lang="en-IN" dirty="0"/>
              <a:t>World Wide Web</a:t>
            </a:r>
          </a:p>
        </p:txBody>
      </p:sp>
      <p:sp>
        <p:nvSpPr>
          <p:cNvPr id="2" name="Footer Placeholder 1">
            <a:extLst>
              <a:ext uri="{FF2B5EF4-FFF2-40B4-BE49-F238E27FC236}">
                <a16:creationId xmlns:a16="http://schemas.microsoft.com/office/drawing/2014/main" id="{03CE5659-7534-4C75-92FA-D144CE2AE6E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618604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1354"/>
            <a:ext cx="8229600" cy="1107996"/>
          </a:xfrm>
        </p:spPr>
        <p:txBody>
          <a:bodyPr>
            <a:spAutoFit/>
          </a:bodyPr>
          <a:lstStyle/>
          <a:p>
            <a:r>
              <a:rPr lang="en-IN" dirty="0"/>
              <a:t>Internet Services and Communication Tools </a:t>
            </a:r>
            <a:r>
              <a:rPr lang="en-IN" sz="2800" dirty="0"/>
              <a:t>(2 of 2)</a:t>
            </a:r>
            <a:endParaRPr lang="en-US" sz="2800" dirty="0"/>
          </a:p>
        </p:txBody>
      </p:sp>
      <p:sp>
        <p:nvSpPr>
          <p:cNvPr id="5" name="Content Placeholder 4"/>
          <p:cNvSpPr>
            <a:spLocks noGrp="1"/>
          </p:cNvSpPr>
          <p:nvPr>
            <p:ph idx="1"/>
          </p:nvPr>
        </p:nvSpPr>
        <p:spPr>
          <a:xfrm>
            <a:off x="457200" y="1353190"/>
            <a:ext cx="8229600" cy="3170099"/>
          </a:xfrm>
        </p:spPr>
        <p:txBody>
          <a:bodyPr>
            <a:spAutoFit/>
          </a:bodyPr>
          <a:lstStyle/>
          <a:p>
            <a:r>
              <a:rPr lang="en-IN" dirty="0"/>
              <a:t>Voice over IP (VoIP)</a:t>
            </a:r>
          </a:p>
          <a:p>
            <a:pPr lvl="1"/>
            <a:r>
              <a:rPr lang="en-IN" dirty="0"/>
              <a:t>Digital voice communication using </a:t>
            </a:r>
            <a:r>
              <a:rPr lang="en-IN" spc="-300" dirty="0"/>
              <a:t>I </a:t>
            </a:r>
            <a:r>
              <a:rPr lang="en-IN" dirty="0"/>
              <a:t>P, packet switching</a:t>
            </a:r>
          </a:p>
          <a:p>
            <a:r>
              <a:rPr lang="en-IN" dirty="0"/>
              <a:t>Unified communications</a:t>
            </a:r>
          </a:p>
          <a:p>
            <a:pPr lvl="1"/>
            <a:r>
              <a:rPr lang="en-IN" sz="2400" dirty="0"/>
              <a:t>Communications systems that integrate voice, data,    e-mail, conferencing</a:t>
            </a:r>
          </a:p>
          <a:p>
            <a:r>
              <a:rPr lang="en-IN" dirty="0"/>
              <a:t>Virtual private network (</a:t>
            </a:r>
            <a:r>
              <a:rPr lang="en-IN" spc="-300" dirty="0"/>
              <a:t>V P </a:t>
            </a:r>
            <a:r>
              <a:rPr lang="en-IN" dirty="0"/>
              <a:t>N)</a:t>
            </a:r>
          </a:p>
          <a:p>
            <a:pPr lvl="1"/>
            <a:r>
              <a:rPr lang="en-IN" sz="2400" dirty="0"/>
              <a:t>Secure, encrypted, private network run over Internet</a:t>
            </a:r>
          </a:p>
        </p:txBody>
      </p:sp>
      <p:sp>
        <p:nvSpPr>
          <p:cNvPr id="2" name="Footer Placeholder 1">
            <a:extLst>
              <a:ext uri="{FF2B5EF4-FFF2-40B4-BE49-F238E27FC236}">
                <a16:creationId xmlns:a16="http://schemas.microsoft.com/office/drawing/2014/main" id="{E6941243-A31D-45EA-8E4C-961DC615BE0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577238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1354"/>
            <a:ext cx="8229600" cy="1107996"/>
          </a:xfrm>
        </p:spPr>
        <p:txBody>
          <a:bodyPr>
            <a:spAutoFit/>
          </a:bodyPr>
          <a:lstStyle/>
          <a:p>
            <a:r>
              <a:rPr lang="en-IN" dirty="0"/>
              <a:t>Figure 7.8 Client/Server Computing on the Internet</a:t>
            </a:r>
            <a:endParaRPr lang="en-US" sz="2800" dirty="0"/>
          </a:p>
        </p:txBody>
      </p:sp>
      <p:pic>
        <p:nvPicPr>
          <p:cNvPr id="8194" name="Picture 2" descr="A network diagram explains how client computers can access an array of services on servers over the Internet.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916065" y="1336567"/>
            <a:ext cx="7303754" cy="336878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E3DA6F82-B0EE-401E-9ECD-E7FFD082A64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125859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US" dirty="0"/>
              <a:t>Figure 7.9 </a:t>
            </a:r>
            <a:r>
              <a:rPr lang="en-US" altLang="en-US" dirty="0"/>
              <a:t>How Voice over I</a:t>
            </a:r>
            <a:r>
              <a:rPr lang="en-US" altLang="en-US" sz="200" dirty="0"/>
              <a:t> </a:t>
            </a:r>
            <a:r>
              <a:rPr lang="en-US" altLang="en-US" dirty="0"/>
              <a:t>P Works</a:t>
            </a:r>
            <a:endParaRPr lang="en-US" sz="2800" dirty="0"/>
          </a:p>
        </p:txBody>
      </p:sp>
      <p:pic>
        <p:nvPicPr>
          <p:cNvPr id="9218" name="Picture 2" descr="A two-way flow diagram explains how voice over IP work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54932" y="819150"/>
            <a:ext cx="7826646" cy="3850241"/>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6E713B08-694B-4C75-A4E0-243028817D4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217296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1354"/>
            <a:ext cx="8229600" cy="1107996"/>
          </a:xfrm>
        </p:spPr>
        <p:txBody>
          <a:bodyPr>
            <a:spAutoFit/>
          </a:bodyPr>
          <a:lstStyle/>
          <a:p>
            <a:r>
              <a:rPr lang="en-IN" dirty="0"/>
              <a:t>Figure 7.10 A Virtual Private Network Using the Internet</a:t>
            </a:r>
            <a:endParaRPr lang="en-US" sz="2800" dirty="0"/>
          </a:p>
        </p:txBody>
      </p:sp>
      <p:pic>
        <p:nvPicPr>
          <p:cNvPr id="10242" name="Picture 2" descr="An illustration explains the concept of virtual private network.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909471" y="1298629"/>
            <a:ext cx="5325056" cy="3432289"/>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5AE1FAD9-941B-422F-A752-9E5576E2D32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5358354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1750"/>
            <a:ext cx="8229600" cy="1661993"/>
          </a:xfrm>
        </p:spPr>
        <p:txBody>
          <a:bodyPr>
            <a:spAutoFit/>
          </a:bodyPr>
          <a:lstStyle/>
          <a:p>
            <a:r>
              <a:rPr lang="en-IN" dirty="0"/>
              <a:t>Interactive Session: Management: Monitoring Employees on Networks: Unethical or Good Business?</a:t>
            </a:r>
            <a:endParaRPr lang="en-US" sz="2800" dirty="0"/>
          </a:p>
        </p:txBody>
      </p:sp>
      <p:sp>
        <p:nvSpPr>
          <p:cNvPr id="5" name="Content Placeholder 4"/>
          <p:cNvSpPr>
            <a:spLocks noGrp="1"/>
          </p:cNvSpPr>
          <p:nvPr>
            <p:ph idx="1"/>
          </p:nvPr>
        </p:nvSpPr>
        <p:spPr>
          <a:xfrm>
            <a:off x="457200" y="1842284"/>
            <a:ext cx="8229600" cy="2939266"/>
          </a:xfrm>
        </p:spPr>
        <p:txBody>
          <a:bodyPr>
            <a:spAutoFit/>
          </a:bodyPr>
          <a:lstStyle/>
          <a:p>
            <a:r>
              <a:rPr lang="en-IN" sz="2200" dirty="0"/>
              <a:t>Class discussion</a:t>
            </a:r>
          </a:p>
          <a:p>
            <a:pPr lvl="1"/>
            <a:r>
              <a:rPr lang="en-IN" dirty="0"/>
              <a:t>Should managers monitor employee e-mail and Internet usage? Why or why not?</a:t>
            </a:r>
          </a:p>
          <a:p>
            <a:pPr lvl="1"/>
            <a:r>
              <a:rPr lang="en-IN" dirty="0"/>
              <a:t>Describe an effective e-mail and web use policy for a company.</a:t>
            </a:r>
          </a:p>
          <a:p>
            <a:pPr lvl="1"/>
            <a:r>
              <a:rPr lang="en-IN" dirty="0"/>
              <a:t>Should managers inform employees that their web behaviour is being monitored? Or should managers monitor secretly? Why or why not?</a:t>
            </a:r>
          </a:p>
        </p:txBody>
      </p:sp>
      <p:sp>
        <p:nvSpPr>
          <p:cNvPr id="2" name="Footer Placeholder 1">
            <a:extLst>
              <a:ext uri="{FF2B5EF4-FFF2-40B4-BE49-F238E27FC236}">
                <a16:creationId xmlns:a16="http://schemas.microsoft.com/office/drawing/2014/main" id="{AE68FC4C-2ADE-473A-BDC9-EB948C9C25F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367715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IN" dirty="0"/>
              <a:t>The Web</a:t>
            </a:r>
            <a:endParaRPr lang="en-US" sz="2800" dirty="0"/>
          </a:p>
        </p:txBody>
      </p:sp>
      <p:sp>
        <p:nvSpPr>
          <p:cNvPr id="5" name="Content Placeholder 4"/>
          <p:cNvSpPr>
            <a:spLocks noGrp="1"/>
          </p:cNvSpPr>
          <p:nvPr>
            <p:ph idx="1"/>
          </p:nvPr>
        </p:nvSpPr>
        <p:spPr>
          <a:xfrm>
            <a:off x="457200" y="762367"/>
            <a:ext cx="8229600" cy="1708160"/>
          </a:xfrm>
        </p:spPr>
        <p:txBody>
          <a:bodyPr>
            <a:spAutoFit/>
          </a:bodyPr>
          <a:lstStyle/>
          <a:p>
            <a:r>
              <a:rPr lang="en-IN" dirty="0"/>
              <a:t>Hypertext</a:t>
            </a:r>
          </a:p>
          <a:p>
            <a:pPr lvl="1"/>
            <a:r>
              <a:rPr lang="en-IN" sz="2400" dirty="0"/>
              <a:t>Hypertext </a:t>
            </a:r>
            <a:r>
              <a:rPr lang="en-IN" sz="2400" dirty="0" err="1"/>
              <a:t>Markup</a:t>
            </a:r>
            <a:r>
              <a:rPr lang="en-IN" sz="2400" dirty="0"/>
              <a:t> Language (</a:t>
            </a:r>
            <a:r>
              <a:rPr lang="en-IN" sz="2400" spc="-300" dirty="0"/>
              <a:t>H T M L)</a:t>
            </a:r>
          </a:p>
          <a:p>
            <a:pPr lvl="1"/>
            <a:r>
              <a:rPr lang="en-IN" sz="2400" dirty="0"/>
              <a:t>Hypertext Transfer Protocol (</a:t>
            </a:r>
            <a:r>
              <a:rPr lang="en-IN" sz="2400" spc="-300" dirty="0"/>
              <a:t>H T </a:t>
            </a:r>
            <a:r>
              <a:rPr lang="en-IN" sz="2400" spc="-300" dirty="0" err="1"/>
              <a:t>T</a:t>
            </a:r>
            <a:r>
              <a:rPr lang="en-IN" sz="2400" spc="-300" dirty="0"/>
              <a:t> </a:t>
            </a:r>
            <a:r>
              <a:rPr lang="en-IN" sz="2400" dirty="0"/>
              <a:t>P):</a:t>
            </a:r>
          </a:p>
          <a:p>
            <a:pPr lvl="1"/>
            <a:r>
              <a:rPr lang="en-IN" sz="2400" dirty="0"/>
              <a:t>Uniform resource locator (</a:t>
            </a:r>
            <a:r>
              <a:rPr lang="en-IN" sz="2400" spc="-300" dirty="0"/>
              <a:t>U R </a:t>
            </a:r>
            <a:r>
              <a:rPr lang="en-IN" sz="2400" dirty="0"/>
              <a:t>L):</a:t>
            </a:r>
          </a:p>
        </p:txBody>
      </p:sp>
      <p:sp>
        <p:nvSpPr>
          <p:cNvPr id="3" name="Content Placeholder 2"/>
          <p:cNvSpPr>
            <a:spLocks noGrp="1"/>
          </p:cNvSpPr>
          <p:nvPr>
            <p:ph idx="13"/>
          </p:nvPr>
        </p:nvSpPr>
        <p:spPr>
          <a:xfrm>
            <a:off x="457200" y="2534017"/>
            <a:ext cx="8229600" cy="738664"/>
          </a:xfrm>
        </p:spPr>
        <p:txBody>
          <a:bodyPr>
            <a:spAutoFit/>
          </a:bodyPr>
          <a:lstStyle/>
          <a:p>
            <a:pPr lvl="2"/>
            <a:r>
              <a:rPr lang="en-IN" sz="2400" dirty="0">
                <a:hlinkClick r:id="rId3" tooltip="http://www.megacorp.com/content/features/082602.html"/>
              </a:rPr>
              <a:t>http://www.megacorp.com/content/features/082602.html</a:t>
            </a:r>
            <a:endParaRPr lang="en-US" dirty="0"/>
          </a:p>
        </p:txBody>
      </p:sp>
      <p:sp>
        <p:nvSpPr>
          <p:cNvPr id="6" name="Content Placeholder 5"/>
          <p:cNvSpPr>
            <a:spLocks noGrp="1"/>
          </p:cNvSpPr>
          <p:nvPr>
            <p:ph sz="quarter" idx="14"/>
          </p:nvPr>
        </p:nvSpPr>
        <p:spPr>
          <a:xfrm>
            <a:off x="457200" y="3457942"/>
            <a:ext cx="8229600" cy="815608"/>
          </a:xfrm>
        </p:spPr>
        <p:txBody>
          <a:bodyPr wrap="square">
            <a:spAutoFit/>
          </a:bodyPr>
          <a:lstStyle/>
          <a:p>
            <a:r>
              <a:rPr lang="en-IN" dirty="0"/>
              <a:t>Web servers</a:t>
            </a:r>
          </a:p>
          <a:p>
            <a:pPr lvl="2"/>
            <a:r>
              <a:rPr lang="en-IN" sz="2400" dirty="0"/>
              <a:t>Software for locating and managing web pages</a:t>
            </a:r>
            <a:endParaRPr lang="en-US" dirty="0"/>
          </a:p>
        </p:txBody>
      </p:sp>
      <p:sp>
        <p:nvSpPr>
          <p:cNvPr id="2" name="Footer Placeholder 1">
            <a:extLst>
              <a:ext uri="{FF2B5EF4-FFF2-40B4-BE49-F238E27FC236}">
                <a16:creationId xmlns:a16="http://schemas.microsoft.com/office/drawing/2014/main" id="{AA3FE94C-E086-4E56-BE79-1DCDB2BDDEB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78485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8764"/>
            <a:ext cx="8229600" cy="553998"/>
          </a:xfrm>
        </p:spPr>
        <p:txBody>
          <a:bodyPr>
            <a:spAutoFit/>
          </a:bodyPr>
          <a:lstStyle/>
          <a:p>
            <a:r>
              <a:rPr lang="en-IN" dirty="0"/>
              <a:t>Searching for Information on the Web</a:t>
            </a:r>
            <a:endParaRPr lang="en-US" sz="2800" dirty="0"/>
          </a:p>
        </p:txBody>
      </p:sp>
      <p:sp>
        <p:nvSpPr>
          <p:cNvPr id="5" name="Content Placeholder 4"/>
          <p:cNvSpPr>
            <a:spLocks noGrp="1"/>
          </p:cNvSpPr>
          <p:nvPr>
            <p:ph idx="1"/>
          </p:nvPr>
        </p:nvSpPr>
        <p:spPr>
          <a:xfrm>
            <a:off x="457200" y="876965"/>
            <a:ext cx="8229600" cy="3739485"/>
          </a:xfrm>
        </p:spPr>
        <p:txBody>
          <a:bodyPr>
            <a:spAutoFit/>
          </a:bodyPr>
          <a:lstStyle/>
          <a:p>
            <a:r>
              <a:rPr lang="en-IN" dirty="0"/>
              <a:t>Search engines</a:t>
            </a:r>
          </a:p>
          <a:p>
            <a:r>
              <a:rPr lang="en-IN" dirty="0"/>
              <a:t>Mobile search</a:t>
            </a:r>
          </a:p>
          <a:p>
            <a:r>
              <a:rPr lang="en-IN" dirty="0"/>
              <a:t>Semantic search and predictive search</a:t>
            </a:r>
          </a:p>
          <a:p>
            <a:r>
              <a:rPr lang="en-IN" dirty="0"/>
              <a:t>Visual search</a:t>
            </a:r>
          </a:p>
          <a:p>
            <a:r>
              <a:rPr lang="en-IN" dirty="0"/>
              <a:t>Intelligent agent shopping bots</a:t>
            </a:r>
          </a:p>
          <a:p>
            <a:r>
              <a:rPr lang="en-IN" dirty="0"/>
              <a:t>Search engine marketing</a:t>
            </a:r>
          </a:p>
          <a:p>
            <a:r>
              <a:rPr lang="en-IN" dirty="0"/>
              <a:t>Search engine optimization (</a:t>
            </a:r>
            <a:r>
              <a:rPr lang="en-IN" spc="-300" dirty="0"/>
              <a:t>S E </a:t>
            </a:r>
            <a:r>
              <a:rPr lang="en-IN" dirty="0"/>
              <a:t>O)</a:t>
            </a:r>
          </a:p>
        </p:txBody>
      </p:sp>
      <p:sp>
        <p:nvSpPr>
          <p:cNvPr id="2" name="Footer Placeholder 1">
            <a:extLst>
              <a:ext uri="{FF2B5EF4-FFF2-40B4-BE49-F238E27FC236}">
                <a16:creationId xmlns:a16="http://schemas.microsoft.com/office/drawing/2014/main" id="{82555370-1DB6-4A9F-8078-C1251E3B18B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918965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1354"/>
            <a:ext cx="8229600" cy="1107996"/>
          </a:xfrm>
        </p:spPr>
        <p:txBody>
          <a:bodyPr>
            <a:spAutoFit/>
          </a:bodyPr>
          <a:lstStyle/>
          <a:p>
            <a:r>
              <a:rPr lang="en-IN" dirty="0"/>
              <a:t>Figure 7.11 Top Desktop/Laptop Web Search Engines Worldwide</a:t>
            </a:r>
            <a:endParaRPr lang="en-US" sz="2800" dirty="0"/>
          </a:p>
        </p:txBody>
      </p:sp>
      <p:pic>
        <p:nvPicPr>
          <p:cNvPr id="3" name="Picture 2" descr="A pie chart presents data on the market share of various search engines across the world. For a full description, see Notes. Press F6.">
            <a:extLst>
              <a:ext uri="{FF2B5EF4-FFF2-40B4-BE49-F238E27FC236}">
                <a16:creationId xmlns:a16="http://schemas.microsoft.com/office/drawing/2014/main" id="{FD456165-E9D8-497C-90C1-F3DE22CE0F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1149350"/>
            <a:ext cx="5288182" cy="3492859"/>
          </a:xfrm>
          <a:prstGeom prst="rect">
            <a:avLst/>
          </a:prstGeom>
        </p:spPr>
      </p:pic>
      <p:sp>
        <p:nvSpPr>
          <p:cNvPr id="2" name="Footer Placeholder 1">
            <a:extLst>
              <a:ext uri="{FF2B5EF4-FFF2-40B4-BE49-F238E27FC236}">
                <a16:creationId xmlns:a16="http://schemas.microsoft.com/office/drawing/2014/main" id="{B60B5175-4259-4EE8-BFB6-AAC96AB6C63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6255553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US" dirty="0"/>
              <a:t>Figure 7.12 </a:t>
            </a:r>
            <a:r>
              <a:rPr lang="en-US" altLang="en-US" dirty="0"/>
              <a:t>How Google Works</a:t>
            </a:r>
            <a:endParaRPr lang="en-US" sz="2800" dirty="0"/>
          </a:p>
        </p:txBody>
      </p:sp>
      <p:pic>
        <p:nvPicPr>
          <p:cNvPr id="12290" name="Picture 2" descr="A process diagram explains the various steps followed by Google web search.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582562" y="891618"/>
            <a:ext cx="5975070" cy="3737532"/>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8E53EC9C-A017-4F1F-8092-CE2E15F57BE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6202483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US" dirty="0"/>
              <a:t>Sharing Information on the Web</a:t>
            </a:r>
            <a:endParaRPr lang="en-US" sz="2800" dirty="0"/>
          </a:p>
        </p:txBody>
      </p:sp>
      <p:sp>
        <p:nvSpPr>
          <p:cNvPr id="5" name="Content Placeholder 4"/>
          <p:cNvSpPr>
            <a:spLocks noGrp="1"/>
          </p:cNvSpPr>
          <p:nvPr>
            <p:ph idx="1"/>
          </p:nvPr>
        </p:nvSpPr>
        <p:spPr>
          <a:xfrm>
            <a:off x="457200" y="728454"/>
            <a:ext cx="8229600" cy="1708160"/>
          </a:xfrm>
        </p:spPr>
        <p:txBody>
          <a:bodyPr>
            <a:spAutoFit/>
          </a:bodyPr>
          <a:lstStyle/>
          <a:p>
            <a:pPr>
              <a:spcBef>
                <a:spcPts val="600"/>
              </a:spcBef>
            </a:pPr>
            <a:r>
              <a:rPr lang="en-IN" dirty="0"/>
              <a:t>Blogs and microblogs</a:t>
            </a:r>
          </a:p>
          <a:p>
            <a:pPr>
              <a:spcBef>
                <a:spcPts val="600"/>
              </a:spcBef>
            </a:pPr>
            <a:r>
              <a:rPr lang="en-IN" dirty="0"/>
              <a:t>RSS</a:t>
            </a:r>
          </a:p>
          <a:p>
            <a:pPr>
              <a:spcBef>
                <a:spcPts val="600"/>
              </a:spcBef>
            </a:pPr>
            <a:r>
              <a:rPr lang="en-IN" dirty="0"/>
              <a:t>Wikis</a:t>
            </a:r>
          </a:p>
          <a:p>
            <a:pPr>
              <a:spcBef>
                <a:spcPts val="600"/>
              </a:spcBef>
            </a:pPr>
            <a:r>
              <a:rPr lang="en-IN" dirty="0"/>
              <a:t>Social networking</a:t>
            </a:r>
          </a:p>
        </p:txBody>
      </p:sp>
      <p:sp>
        <p:nvSpPr>
          <p:cNvPr id="2" name="Footer Placeholder 1">
            <a:extLst>
              <a:ext uri="{FF2B5EF4-FFF2-40B4-BE49-F238E27FC236}">
                <a16:creationId xmlns:a16="http://schemas.microsoft.com/office/drawing/2014/main" id="{FE18AADF-AE71-4C3D-B8B5-18A4C02D19F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5993293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US" dirty="0"/>
              <a:t>The Future Web</a:t>
            </a:r>
            <a:endParaRPr lang="en-US" sz="2800" dirty="0"/>
          </a:p>
        </p:txBody>
      </p:sp>
      <p:sp>
        <p:nvSpPr>
          <p:cNvPr id="5" name="Content Placeholder 4"/>
          <p:cNvSpPr>
            <a:spLocks noGrp="1"/>
          </p:cNvSpPr>
          <p:nvPr>
            <p:ph idx="1"/>
          </p:nvPr>
        </p:nvSpPr>
        <p:spPr>
          <a:xfrm>
            <a:off x="457200" y="728454"/>
            <a:ext cx="8229600" cy="3416320"/>
          </a:xfrm>
        </p:spPr>
        <p:txBody>
          <a:bodyPr>
            <a:spAutoFit/>
          </a:bodyPr>
          <a:lstStyle/>
          <a:p>
            <a:pPr>
              <a:spcBef>
                <a:spcPts val="600"/>
              </a:spcBef>
            </a:pPr>
            <a:r>
              <a:rPr lang="en-IN" dirty="0"/>
              <a:t>More tools to make sense of trillions of pages on the Internet</a:t>
            </a:r>
          </a:p>
          <a:p>
            <a:pPr>
              <a:spcBef>
                <a:spcPts val="600"/>
              </a:spcBef>
            </a:pPr>
            <a:r>
              <a:rPr lang="en-IN" dirty="0"/>
              <a:t>Pervasive web</a:t>
            </a:r>
          </a:p>
          <a:p>
            <a:pPr>
              <a:spcBef>
                <a:spcPts val="600"/>
              </a:spcBef>
            </a:pPr>
            <a:r>
              <a:rPr lang="en-IN" dirty="0"/>
              <a:t>Internet of Things (</a:t>
            </a:r>
            <a:r>
              <a:rPr lang="en-IN" spc="-300" dirty="0"/>
              <a:t>I o </a:t>
            </a:r>
            <a:r>
              <a:rPr lang="en-IN" dirty="0"/>
              <a:t>T)</a:t>
            </a:r>
          </a:p>
          <a:p>
            <a:pPr>
              <a:spcBef>
                <a:spcPts val="600"/>
              </a:spcBef>
            </a:pPr>
            <a:r>
              <a:rPr lang="en-IN" dirty="0"/>
              <a:t>App Internet</a:t>
            </a:r>
          </a:p>
          <a:p>
            <a:pPr>
              <a:spcBef>
                <a:spcPts val="600"/>
              </a:spcBef>
            </a:pPr>
            <a:r>
              <a:rPr lang="en-IN" dirty="0"/>
              <a:t>Increased cloud computing and </a:t>
            </a:r>
            <a:r>
              <a:rPr lang="en-IN" spc="-300" dirty="0"/>
              <a:t>S a </a:t>
            </a:r>
            <a:r>
              <a:rPr lang="en-IN" spc="-300" dirty="0" err="1"/>
              <a:t>a</a:t>
            </a:r>
            <a:r>
              <a:rPr lang="en-IN" spc="-300" dirty="0"/>
              <a:t> </a:t>
            </a:r>
            <a:r>
              <a:rPr lang="en-IN" dirty="0"/>
              <a:t>S</a:t>
            </a:r>
          </a:p>
          <a:p>
            <a:pPr>
              <a:spcBef>
                <a:spcPts val="600"/>
              </a:spcBef>
            </a:pPr>
            <a:r>
              <a:rPr lang="en-IN" dirty="0"/>
              <a:t>Ubiquitous mobile connectivity</a:t>
            </a:r>
          </a:p>
          <a:p>
            <a:pPr>
              <a:spcBef>
                <a:spcPts val="600"/>
              </a:spcBef>
            </a:pPr>
            <a:r>
              <a:rPr lang="en-IN" dirty="0"/>
              <a:t>Greater seamlessness of web as a whole</a:t>
            </a:r>
          </a:p>
        </p:txBody>
      </p:sp>
      <p:sp>
        <p:nvSpPr>
          <p:cNvPr id="2" name="Footer Placeholder 1">
            <a:extLst>
              <a:ext uri="{FF2B5EF4-FFF2-40B4-BE49-F238E27FC236}">
                <a16:creationId xmlns:a16="http://schemas.microsoft.com/office/drawing/2014/main" id="{A30B3D4E-12E3-458E-9340-CE868743633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773990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49593"/>
            <a:ext cx="8229600" cy="984885"/>
          </a:xfrm>
        </p:spPr>
        <p:txBody>
          <a:bodyPr>
            <a:spAutoFit/>
          </a:bodyPr>
          <a:lstStyle/>
          <a:p>
            <a:r>
              <a:rPr lang="en-IN" sz="3200" dirty="0"/>
              <a:t>Interactive Session: Technology: </a:t>
            </a:r>
            <a:r>
              <a:rPr lang="en-US" sz="3200" dirty="0"/>
              <a:t>Talking Cars Make for Better Road Safety</a:t>
            </a:r>
          </a:p>
        </p:txBody>
      </p:sp>
      <p:sp>
        <p:nvSpPr>
          <p:cNvPr id="5" name="Content Placeholder 4"/>
          <p:cNvSpPr>
            <a:spLocks noGrp="1"/>
          </p:cNvSpPr>
          <p:nvPr>
            <p:ph idx="1"/>
          </p:nvPr>
        </p:nvSpPr>
        <p:spPr>
          <a:xfrm>
            <a:off x="457200" y="1676727"/>
            <a:ext cx="8229600" cy="1769715"/>
          </a:xfrm>
        </p:spPr>
        <p:txBody>
          <a:bodyPr>
            <a:spAutoFit/>
          </a:bodyPr>
          <a:lstStyle/>
          <a:p>
            <a:r>
              <a:rPr lang="en-IN" sz="2000" dirty="0"/>
              <a:t>Class discussion</a:t>
            </a:r>
          </a:p>
          <a:p>
            <a:pPr lvl="1"/>
            <a:r>
              <a:rPr lang="en-US" sz="2000" dirty="0"/>
              <a:t>What are the pros and cons of the V2X technology?</a:t>
            </a:r>
            <a:endParaRPr lang="en-IN" sz="2000" dirty="0"/>
          </a:p>
          <a:p>
            <a:pPr lvl="1"/>
            <a:r>
              <a:rPr lang="en-US" sz="2000" dirty="0"/>
              <a:t>What can be done to speed up the adoption of V2X technology among vehicle owners?</a:t>
            </a:r>
            <a:endParaRPr lang="en-IN" sz="2000" dirty="0"/>
          </a:p>
          <a:p>
            <a:pPr lvl="1"/>
            <a:r>
              <a:rPr lang="en-US" sz="2000" dirty="0"/>
              <a:t>What other applications can you think of for the ITS Connect?</a:t>
            </a:r>
            <a:endParaRPr lang="en-IN" sz="2000" dirty="0"/>
          </a:p>
        </p:txBody>
      </p:sp>
      <p:sp>
        <p:nvSpPr>
          <p:cNvPr id="2" name="Footer Placeholder 1">
            <a:extLst>
              <a:ext uri="{FF2B5EF4-FFF2-40B4-BE49-F238E27FC236}">
                <a16:creationId xmlns:a16="http://schemas.microsoft.com/office/drawing/2014/main" id="{ACD4B322-33E9-48FA-95CA-752EA42CC66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1215557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6122"/>
            <a:ext cx="8229600" cy="553998"/>
          </a:xfrm>
        </p:spPr>
        <p:txBody>
          <a:bodyPr>
            <a:spAutoFit/>
          </a:bodyPr>
          <a:lstStyle/>
          <a:p>
            <a:r>
              <a:rPr lang="en-IN" dirty="0"/>
              <a:t>Cellular Systems </a:t>
            </a:r>
            <a:r>
              <a:rPr lang="en-IN" sz="2800" dirty="0"/>
              <a:t>(1 of 2)</a:t>
            </a:r>
            <a:endParaRPr lang="en-US" sz="2800" dirty="0"/>
          </a:p>
        </p:txBody>
      </p:sp>
      <p:sp>
        <p:nvSpPr>
          <p:cNvPr id="5" name="Content Placeholder 4"/>
          <p:cNvSpPr>
            <a:spLocks noGrp="1"/>
          </p:cNvSpPr>
          <p:nvPr>
            <p:ph idx="1"/>
          </p:nvPr>
        </p:nvSpPr>
        <p:spPr>
          <a:xfrm>
            <a:off x="457200" y="884322"/>
            <a:ext cx="8229600" cy="3577903"/>
          </a:xfrm>
        </p:spPr>
        <p:txBody>
          <a:bodyPr>
            <a:spAutoFit/>
          </a:bodyPr>
          <a:lstStyle/>
          <a:p>
            <a:pPr>
              <a:defRPr/>
            </a:pPr>
            <a:r>
              <a:rPr lang="en-US" dirty="0"/>
              <a:t>Competing standards</a:t>
            </a:r>
          </a:p>
          <a:p>
            <a:pPr lvl="1">
              <a:defRPr/>
            </a:pPr>
            <a:r>
              <a:rPr lang="en-US" sz="2400" spc="-300" dirty="0"/>
              <a:t>C D M </a:t>
            </a:r>
            <a:r>
              <a:rPr lang="en-US" sz="2400" dirty="0"/>
              <a:t>A : United States only</a:t>
            </a:r>
          </a:p>
          <a:p>
            <a:pPr lvl="2">
              <a:defRPr/>
            </a:pPr>
            <a:r>
              <a:rPr lang="en-US" sz="2200" dirty="0"/>
              <a:t>Verizon, Sprint</a:t>
            </a:r>
          </a:p>
          <a:p>
            <a:pPr lvl="1">
              <a:defRPr/>
            </a:pPr>
            <a:r>
              <a:rPr lang="en-US" sz="2400" spc="-300" dirty="0"/>
              <a:t>G S </a:t>
            </a:r>
            <a:r>
              <a:rPr lang="en-US" sz="2400" dirty="0"/>
              <a:t>M</a:t>
            </a:r>
            <a:r>
              <a:rPr lang="en-US" sz="2400" spc="-300" dirty="0"/>
              <a:t> </a:t>
            </a:r>
            <a:r>
              <a:rPr lang="en-US" sz="2400" dirty="0"/>
              <a:t>: Rest of world</a:t>
            </a:r>
          </a:p>
          <a:p>
            <a:pPr lvl="2">
              <a:defRPr/>
            </a:pPr>
            <a:r>
              <a:rPr lang="en-US" sz="2200" spc="-300" dirty="0"/>
              <a:t>A </a:t>
            </a:r>
            <a:r>
              <a:rPr lang="en-US" sz="2200" dirty="0"/>
              <a:t>T&amp;T, T-Mobile</a:t>
            </a:r>
          </a:p>
          <a:p>
            <a:pPr>
              <a:defRPr/>
            </a:pPr>
            <a:r>
              <a:rPr lang="en-US" dirty="0"/>
              <a:t>Third-generation (3G) networks</a:t>
            </a:r>
          </a:p>
          <a:p>
            <a:pPr lvl="1">
              <a:defRPr/>
            </a:pPr>
            <a:r>
              <a:rPr lang="en-US" sz="2400" dirty="0"/>
              <a:t>144 </a:t>
            </a:r>
            <a:r>
              <a:rPr lang="en-US" sz="2400" spc="-300" dirty="0"/>
              <a:t>K b p </a:t>
            </a:r>
            <a:r>
              <a:rPr lang="en-US" sz="2400" dirty="0"/>
              <a:t>s</a:t>
            </a:r>
          </a:p>
          <a:p>
            <a:pPr lvl="1">
              <a:defRPr/>
            </a:pPr>
            <a:r>
              <a:rPr lang="en-US" sz="2400" dirty="0"/>
              <a:t>Suitable for e-mail access, web browsing</a:t>
            </a:r>
          </a:p>
        </p:txBody>
      </p:sp>
      <p:sp>
        <p:nvSpPr>
          <p:cNvPr id="2" name="Footer Placeholder 1">
            <a:extLst>
              <a:ext uri="{FF2B5EF4-FFF2-40B4-BE49-F238E27FC236}">
                <a16:creationId xmlns:a16="http://schemas.microsoft.com/office/drawing/2014/main" id="{6D258DBA-98CE-4120-870E-27CC550424E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8673835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3314"/>
            <a:ext cx="8229600" cy="553998"/>
          </a:xfrm>
        </p:spPr>
        <p:txBody>
          <a:bodyPr>
            <a:spAutoFit/>
          </a:bodyPr>
          <a:lstStyle/>
          <a:p>
            <a:r>
              <a:rPr lang="en-IN" dirty="0"/>
              <a:t>Cellular Systems </a:t>
            </a:r>
            <a:r>
              <a:rPr lang="en-IN" sz="2800" dirty="0"/>
              <a:t>(2 of 2)</a:t>
            </a:r>
            <a:endParaRPr lang="en-US" sz="2800" dirty="0"/>
          </a:p>
        </p:txBody>
      </p:sp>
      <p:sp>
        <p:nvSpPr>
          <p:cNvPr id="5" name="Content Placeholder 4"/>
          <p:cNvSpPr>
            <a:spLocks noGrp="1"/>
          </p:cNvSpPr>
          <p:nvPr>
            <p:ph idx="1"/>
          </p:nvPr>
        </p:nvSpPr>
        <p:spPr>
          <a:xfrm>
            <a:off x="457200" y="881514"/>
            <a:ext cx="8229600" cy="3531736"/>
          </a:xfrm>
        </p:spPr>
        <p:txBody>
          <a:bodyPr>
            <a:spAutoFit/>
          </a:bodyPr>
          <a:lstStyle/>
          <a:p>
            <a:pPr>
              <a:defRPr/>
            </a:pPr>
            <a:r>
              <a:rPr lang="en-IN" dirty="0"/>
              <a:t>Fourth-generation (4G) networks</a:t>
            </a:r>
          </a:p>
          <a:p>
            <a:pPr lvl="1">
              <a:defRPr/>
            </a:pPr>
            <a:r>
              <a:rPr lang="en-IN" sz="2400" dirty="0"/>
              <a:t>Up to 100 Mbps</a:t>
            </a:r>
          </a:p>
          <a:p>
            <a:pPr lvl="1">
              <a:defRPr/>
            </a:pPr>
            <a:r>
              <a:rPr lang="en-IN" sz="2400" dirty="0"/>
              <a:t>Suitable for Internet video</a:t>
            </a:r>
          </a:p>
          <a:p>
            <a:pPr lvl="1">
              <a:defRPr/>
            </a:pPr>
            <a:r>
              <a:rPr lang="en-IN" sz="2400" spc="-300" dirty="0"/>
              <a:t>L T </a:t>
            </a:r>
            <a:r>
              <a:rPr lang="en-IN" sz="2400" dirty="0"/>
              <a:t>E and </a:t>
            </a:r>
            <a:r>
              <a:rPr lang="en-IN" sz="2400" dirty="0" err="1"/>
              <a:t>WiMax</a:t>
            </a:r>
            <a:endParaRPr lang="en-IN" sz="2400" dirty="0"/>
          </a:p>
          <a:p>
            <a:pPr>
              <a:defRPr/>
            </a:pPr>
            <a:r>
              <a:rPr lang="en-IN" dirty="0"/>
              <a:t>5G Networks</a:t>
            </a:r>
          </a:p>
          <a:p>
            <a:pPr lvl="1">
              <a:defRPr/>
            </a:pPr>
            <a:r>
              <a:rPr lang="en-IN" sz="2400" dirty="0"/>
              <a:t>Gigabit capacity</a:t>
            </a:r>
          </a:p>
          <a:p>
            <a:pPr lvl="1">
              <a:defRPr/>
            </a:pPr>
            <a:r>
              <a:rPr lang="en-IN" sz="2400" dirty="0"/>
              <a:t>Starting to be launched by AT&amp;T, Verizon, and other carriers</a:t>
            </a:r>
          </a:p>
        </p:txBody>
      </p:sp>
      <p:sp>
        <p:nvSpPr>
          <p:cNvPr id="2" name="Footer Placeholder 1">
            <a:extLst>
              <a:ext uri="{FF2B5EF4-FFF2-40B4-BE49-F238E27FC236}">
                <a16:creationId xmlns:a16="http://schemas.microsoft.com/office/drawing/2014/main" id="{B4642D73-2504-4484-B79B-8A486F2DF77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2189918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1354"/>
            <a:ext cx="8229600" cy="1107996"/>
          </a:xfrm>
        </p:spPr>
        <p:txBody>
          <a:bodyPr>
            <a:spAutoFit/>
          </a:bodyPr>
          <a:lstStyle/>
          <a:p>
            <a:r>
              <a:rPr lang="en-IN" dirty="0"/>
              <a:t>Wireless Computer Networks and Internet Access </a:t>
            </a:r>
            <a:r>
              <a:rPr lang="en-IN" sz="2800" dirty="0"/>
              <a:t>(1 of 2)</a:t>
            </a:r>
            <a:endParaRPr lang="en-US" sz="2800" dirty="0"/>
          </a:p>
        </p:txBody>
      </p:sp>
      <p:sp>
        <p:nvSpPr>
          <p:cNvPr id="5" name="Content Placeholder 4"/>
          <p:cNvSpPr>
            <a:spLocks noGrp="1"/>
          </p:cNvSpPr>
          <p:nvPr>
            <p:ph idx="1"/>
          </p:nvPr>
        </p:nvSpPr>
        <p:spPr>
          <a:xfrm>
            <a:off x="457200" y="1350030"/>
            <a:ext cx="8229600" cy="3228320"/>
          </a:xfrm>
        </p:spPr>
        <p:txBody>
          <a:bodyPr>
            <a:spAutoFit/>
          </a:bodyPr>
          <a:lstStyle/>
          <a:p>
            <a:r>
              <a:rPr lang="en-US" sz="2000" dirty="0"/>
              <a:t>Bluetooth (802.15)</a:t>
            </a:r>
          </a:p>
          <a:p>
            <a:pPr lvl="1"/>
            <a:r>
              <a:rPr lang="en-US" sz="2000" dirty="0"/>
              <a:t>Links up to 8 devices in 10-m</a:t>
            </a:r>
            <a:r>
              <a:rPr lang="en-US" sz="100" dirty="0">
                <a:solidFill>
                  <a:schemeClr val="bg1"/>
                </a:solidFill>
              </a:rPr>
              <a:t>eter</a:t>
            </a:r>
            <a:r>
              <a:rPr lang="en-US" sz="2000" dirty="0"/>
              <a:t> area using low-power, radio-based communication</a:t>
            </a:r>
          </a:p>
          <a:p>
            <a:pPr lvl="1"/>
            <a:r>
              <a:rPr lang="en-US" sz="2000" dirty="0"/>
              <a:t>Useful for personal networking (</a:t>
            </a:r>
            <a:r>
              <a:rPr lang="en-US" sz="2000" spc="-300" dirty="0"/>
              <a:t>P </a:t>
            </a:r>
            <a:r>
              <a:rPr lang="en-US" sz="100" spc="-300" dirty="0"/>
              <a:t> </a:t>
            </a:r>
            <a:r>
              <a:rPr lang="en-US" sz="2000" spc="-300" dirty="0"/>
              <a:t>A N </a:t>
            </a:r>
            <a:r>
              <a:rPr lang="en-US" sz="2000" dirty="0"/>
              <a:t>s)</a:t>
            </a:r>
          </a:p>
          <a:p>
            <a:pPr>
              <a:spcBef>
                <a:spcPts val="600"/>
              </a:spcBef>
            </a:pPr>
            <a:r>
              <a:rPr lang="en-US" sz="2000" dirty="0"/>
              <a:t>Wi-Fi (802.11)</a:t>
            </a:r>
          </a:p>
          <a:p>
            <a:pPr lvl="1"/>
            <a:r>
              <a:rPr lang="en-US" sz="2000" dirty="0"/>
              <a:t>Set of standards: 802.11</a:t>
            </a:r>
          </a:p>
          <a:p>
            <a:pPr lvl="1"/>
            <a:r>
              <a:rPr lang="en-US" sz="2000" dirty="0"/>
              <a:t>Used for wireless </a:t>
            </a:r>
            <a:r>
              <a:rPr lang="en-US" sz="2000" spc="-300" dirty="0"/>
              <a:t>L </a:t>
            </a:r>
            <a:r>
              <a:rPr lang="en-US" sz="100" spc="-300" dirty="0"/>
              <a:t> </a:t>
            </a:r>
            <a:r>
              <a:rPr lang="en-US" sz="2000" spc="-300" dirty="0"/>
              <a:t>A </a:t>
            </a:r>
            <a:r>
              <a:rPr lang="en-US" sz="100" spc="-300" dirty="0"/>
              <a:t> </a:t>
            </a:r>
            <a:r>
              <a:rPr lang="en-US" sz="2000" dirty="0"/>
              <a:t>N and wireless Internet access</a:t>
            </a:r>
          </a:p>
          <a:p>
            <a:pPr lvl="1"/>
            <a:r>
              <a:rPr lang="en-US" sz="2000" dirty="0"/>
              <a:t>Use access points: device with radio receiver/transmitter for connecting wireless devices to a wired </a:t>
            </a:r>
            <a:r>
              <a:rPr lang="en-US" sz="2000" spc="-300" dirty="0"/>
              <a:t>L </a:t>
            </a:r>
            <a:r>
              <a:rPr lang="en-US" sz="100" spc="-300" dirty="0"/>
              <a:t> </a:t>
            </a:r>
            <a:r>
              <a:rPr lang="en-US" sz="2000" spc="-300" dirty="0"/>
              <a:t>A </a:t>
            </a:r>
            <a:r>
              <a:rPr lang="en-US" sz="100" spc="-300" dirty="0"/>
              <a:t> </a:t>
            </a:r>
            <a:r>
              <a:rPr lang="en-US" sz="2000" dirty="0"/>
              <a:t>N</a:t>
            </a:r>
          </a:p>
        </p:txBody>
      </p:sp>
      <p:sp>
        <p:nvSpPr>
          <p:cNvPr id="2" name="Footer Placeholder 1">
            <a:extLst>
              <a:ext uri="{FF2B5EF4-FFF2-40B4-BE49-F238E27FC236}">
                <a16:creationId xmlns:a16="http://schemas.microsoft.com/office/drawing/2014/main" id="{0092A8B9-21F0-4E22-B877-730DFCB3284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4982941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7445"/>
            <a:ext cx="8229600" cy="1107996"/>
          </a:xfrm>
        </p:spPr>
        <p:txBody>
          <a:bodyPr>
            <a:spAutoFit/>
          </a:bodyPr>
          <a:lstStyle/>
          <a:p>
            <a:r>
              <a:rPr lang="en-IN" dirty="0"/>
              <a:t>Wireless Computer Networks and Internet Access </a:t>
            </a:r>
            <a:r>
              <a:rPr lang="en-IN" sz="2800" dirty="0"/>
              <a:t>(2 of 2)</a:t>
            </a:r>
            <a:endParaRPr lang="en-US" sz="2800" dirty="0"/>
          </a:p>
        </p:txBody>
      </p:sp>
      <p:sp>
        <p:nvSpPr>
          <p:cNvPr id="5" name="Content Placeholder 4"/>
          <p:cNvSpPr>
            <a:spLocks noGrp="1"/>
          </p:cNvSpPr>
          <p:nvPr>
            <p:ph idx="1"/>
          </p:nvPr>
        </p:nvSpPr>
        <p:spPr>
          <a:xfrm>
            <a:off x="457200" y="1418466"/>
            <a:ext cx="8229600" cy="2639184"/>
          </a:xfrm>
        </p:spPr>
        <p:txBody>
          <a:bodyPr>
            <a:spAutoFit/>
          </a:bodyPr>
          <a:lstStyle/>
          <a:p>
            <a:pPr lvl="1"/>
            <a:r>
              <a:rPr lang="en-IN" sz="2400" dirty="0"/>
              <a:t>Hotspots: one or more access points in public place to provide maximum wireless coverage for a specific area</a:t>
            </a:r>
          </a:p>
          <a:p>
            <a:pPr lvl="1"/>
            <a:r>
              <a:rPr lang="en-IN" sz="2400" dirty="0"/>
              <a:t>Weak security features</a:t>
            </a:r>
          </a:p>
          <a:p>
            <a:r>
              <a:rPr lang="en-IN" spc="-300" dirty="0"/>
              <a:t>W </a:t>
            </a:r>
            <a:r>
              <a:rPr lang="en-IN" spc="-300" dirty="0" err="1"/>
              <a:t>i</a:t>
            </a:r>
            <a:r>
              <a:rPr lang="en-IN" spc="-300" dirty="0"/>
              <a:t> </a:t>
            </a:r>
            <a:r>
              <a:rPr lang="en-IN" dirty="0"/>
              <a:t>Max (802.16)</a:t>
            </a:r>
          </a:p>
          <a:p>
            <a:pPr lvl="1"/>
            <a:r>
              <a:rPr lang="en-IN" sz="2400" dirty="0"/>
              <a:t>Wireless access range of 31 miles</a:t>
            </a:r>
          </a:p>
          <a:p>
            <a:pPr lvl="1"/>
            <a:r>
              <a:rPr lang="en-IN" sz="2400" dirty="0"/>
              <a:t>Require </a:t>
            </a:r>
            <a:r>
              <a:rPr lang="en-IN" sz="2400" spc="-300" dirty="0"/>
              <a:t>W </a:t>
            </a:r>
            <a:r>
              <a:rPr lang="en-IN" sz="2400" spc="-300" dirty="0" err="1"/>
              <a:t>i</a:t>
            </a:r>
            <a:r>
              <a:rPr lang="en-IN" sz="2400" spc="-300" dirty="0"/>
              <a:t> M a x</a:t>
            </a:r>
            <a:r>
              <a:rPr lang="en-IN" sz="2400" dirty="0"/>
              <a:t> antennas</a:t>
            </a:r>
          </a:p>
        </p:txBody>
      </p:sp>
      <p:sp>
        <p:nvSpPr>
          <p:cNvPr id="2" name="Footer Placeholder 1">
            <a:extLst>
              <a:ext uri="{FF2B5EF4-FFF2-40B4-BE49-F238E27FC236}">
                <a16:creationId xmlns:a16="http://schemas.microsoft.com/office/drawing/2014/main" id="{69379755-E720-462D-9650-0481C5F3920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7885810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5250"/>
            <a:ext cx="8229600" cy="492443"/>
          </a:xfrm>
        </p:spPr>
        <p:txBody>
          <a:bodyPr>
            <a:spAutoFit/>
          </a:bodyPr>
          <a:lstStyle/>
          <a:p>
            <a:r>
              <a:rPr lang="en-IN" sz="3200" dirty="0"/>
              <a:t>Figure 7.13 A Bluetooth Network (</a:t>
            </a:r>
            <a:r>
              <a:rPr lang="en-IN" sz="3200" spc="-300" dirty="0"/>
              <a:t>P A N</a:t>
            </a:r>
            <a:r>
              <a:rPr lang="en-IN" sz="3200" dirty="0"/>
              <a:t>)</a:t>
            </a:r>
            <a:endParaRPr lang="en-US" sz="2400" dirty="0"/>
          </a:p>
        </p:txBody>
      </p:sp>
      <p:pic>
        <p:nvPicPr>
          <p:cNvPr id="13314" name="Picture 2" descr="An illustration explains a sample Bluetoth network.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608337" y="819150"/>
            <a:ext cx="5901926" cy="3924409"/>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414C5CD9-3EEA-467F-8677-2BD3E0A3410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0493602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IN" dirty="0"/>
              <a:t>Figure 7.14 An 802.11 Wireless </a:t>
            </a:r>
            <a:r>
              <a:rPr lang="en-IN" spc="-300" dirty="0"/>
              <a:t>L A N</a:t>
            </a:r>
            <a:endParaRPr lang="en-US" sz="2800" spc="-300" dirty="0"/>
          </a:p>
        </p:txBody>
      </p:sp>
      <p:pic>
        <p:nvPicPr>
          <p:cNvPr id="14338" name="Picture 2" descr="An illustration explains the concept of a wireless local area network.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991215" y="783089"/>
            <a:ext cx="5133485" cy="3960361"/>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8EE9BA27-73BF-4704-8734-16E5E25787C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0294714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5265"/>
            <a:ext cx="8229600" cy="984885"/>
          </a:xfrm>
        </p:spPr>
        <p:txBody>
          <a:bodyPr>
            <a:spAutoFit/>
          </a:bodyPr>
          <a:lstStyle/>
          <a:p>
            <a:r>
              <a:rPr lang="en-US" sz="3200" dirty="0"/>
              <a:t>RFID and Wireless Sensor Networks </a:t>
            </a:r>
            <a:br>
              <a:rPr lang="en-US" sz="3200" dirty="0"/>
            </a:br>
            <a:r>
              <a:rPr lang="en-US" sz="3200" dirty="0"/>
              <a:t>(I of 3)</a:t>
            </a:r>
          </a:p>
        </p:txBody>
      </p:sp>
      <p:sp>
        <p:nvSpPr>
          <p:cNvPr id="6" name="Content Placeholder 4"/>
          <p:cNvSpPr>
            <a:spLocks noGrp="1"/>
          </p:cNvSpPr>
          <p:nvPr>
            <p:ph idx="1"/>
          </p:nvPr>
        </p:nvSpPr>
        <p:spPr>
          <a:xfrm>
            <a:off x="457200" y="1402705"/>
            <a:ext cx="8229600" cy="2693045"/>
          </a:xfrm>
        </p:spPr>
        <p:txBody>
          <a:bodyPr>
            <a:spAutoFit/>
          </a:bodyPr>
          <a:lstStyle/>
          <a:p>
            <a:r>
              <a:rPr lang="en-IN" dirty="0"/>
              <a:t>Radio Frequency Identification (RFID) </a:t>
            </a:r>
          </a:p>
          <a:p>
            <a:pPr lvl="1"/>
            <a:r>
              <a:rPr lang="en-IN" dirty="0"/>
              <a:t>Use tiny tags with microchips containing data about an item and location; tag antennas to transmit radio signals over short distances to special </a:t>
            </a:r>
            <a:r>
              <a:rPr lang="en-IN" spc="-300" dirty="0"/>
              <a:t>R F I </a:t>
            </a:r>
            <a:r>
              <a:rPr lang="en-IN" dirty="0"/>
              <a:t>D readers</a:t>
            </a:r>
          </a:p>
          <a:p>
            <a:pPr lvl="1"/>
            <a:r>
              <a:rPr lang="en-IN" dirty="0"/>
              <a:t>Common uses: </a:t>
            </a:r>
            <a:r>
              <a:rPr lang="en-IN" sz="2400" dirty="0"/>
              <a:t>Automated toll-collection; tracking goods in a supply chain</a:t>
            </a:r>
          </a:p>
          <a:p>
            <a:pPr lvl="1"/>
            <a:r>
              <a:rPr lang="en-IN" dirty="0"/>
              <a:t>Reduction in cost of tags making </a:t>
            </a:r>
            <a:r>
              <a:rPr lang="en-IN" spc="-300" dirty="0"/>
              <a:t>R F I </a:t>
            </a:r>
            <a:r>
              <a:rPr lang="en-IN" dirty="0"/>
              <a:t>D viable for many firms</a:t>
            </a:r>
          </a:p>
        </p:txBody>
      </p:sp>
      <p:sp>
        <p:nvSpPr>
          <p:cNvPr id="2" name="Footer Placeholder 1">
            <a:extLst>
              <a:ext uri="{FF2B5EF4-FFF2-40B4-BE49-F238E27FC236}">
                <a16:creationId xmlns:a16="http://schemas.microsoft.com/office/drawing/2014/main" id="{52AC6246-B40F-4B38-8787-DCE26DEC968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1110176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US" dirty="0"/>
              <a:t>Figure 7.15 </a:t>
            </a:r>
            <a:r>
              <a:rPr lang="en-US" altLang="en-US" dirty="0"/>
              <a:t>How </a:t>
            </a:r>
            <a:r>
              <a:rPr lang="en-US" altLang="en-US" spc="-450" dirty="0"/>
              <a:t>R </a:t>
            </a:r>
            <a:r>
              <a:rPr lang="en-US" altLang="en-US" sz="200" spc="-450" dirty="0"/>
              <a:t> </a:t>
            </a:r>
            <a:r>
              <a:rPr lang="en-US" altLang="en-US" spc="-450" dirty="0"/>
              <a:t>F </a:t>
            </a:r>
            <a:r>
              <a:rPr lang="en-US" altLang="en-US" sz="200" spc="-450" dirty="0"/>
              <a:t> </a:t>
            </a:r>
            <a:r>
              <a:rPr lang="en-US" altLang="en-US" spc="-450" dirty="0"/>
              <a:t>I </a:t>
            </a:r>
            <a:r>
              <a:rPr lang="en-US" altLang="en-US" sz="200" spc="-450" dirty="0"/>
              <a:t> </a:t>
            </a:r>
            <a:r>
              <a:rPr lang="en-US" altLang="en-US" dirty="0"/>
              <a:t>D Works</a:t>
            </a:r>
            <a:endParaRPr lang="en-US" sz="2800" spc="-300" dirty="0"/>
          </a:p>
        </p:txBody>
      </p:sp>
      <p:pic>
        <p:nvPicPr>
          <p:cNvPr id="15362" name="Picture 2" descr="A sequential flow explains how RFID work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87923" y="839971"/>
            <a:ext cx="8154179" cy="3624079"/>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EDC063AC-56EA-4CB5-AB63-300881A42FC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8450745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9065"/>
            <a:ext cx="8229600" cy="984885"/>
          </a:xfrm>
        </p:spPr>
        <p:txBody>
          <a:bodyPr>
            <a:spAutoFit/>
          </a:bodyPr>
          <a:lstStyle/>
          <a:p>
            <a:r>
              <a:rPr lang="en-US" sz="3200" dirty="0"/>
              <a:t>RFID and Wireless Sensor Networks </a:t>
            </a:r>
            <a:br>
              <a:rPr lang="en-US" sz="3200" dirty="0"/>
            </a:br>
            <a:r>
              <a:rPr lang="en-US" sz="3200" dirty="0"/>
              <a:t>(2 of 3)</a:t>
            </a:r>
          </a:p>
        </p:txBody>
      </p:sp>
      <p:sp>
        <p:nvSpPr>
          <p:cNvPr id="6" name="Content Placeholder 4"/>
          <p:cNvSpPr>
            <a:spLocks noGrp="1"/>
          </p:cNvSpPr>
          <p:nvPr>
            <p:ph idx="1"/>
          </p:nvPr>
        </p:nvSpPr>
        <p:spPr>
          <a:xfrm>
            <a:off x="457200" y="1456313"/>
            <a:ext cx="8229600" cy="1877437"/>
          </a:xfrm>
        </p:spPr>
        <p:txBody>
          <a:bodyPr>
            <a:spAutoFit/>
          </a:bodyPr>
          <a:lstStyle/>
          <a:p>
            <a:r>
              <a:rPr lang="en-IN" dirty="0"/>
              <a:t>Near field communication (NFC)</a:t>
            </a:r>
          </a:p>
          <a:p>
            <a:pPr lvl="1"/>
            <a:r>
              <a:rPr lang="en-IN" dirty="0"/>
              <a:t>RFID-related technology that uses very short-range wireless connectivity standard</a:t>
            </a:r>
          </a:p>
          <a:p>
            <a:pPr lvl="1"/>
            <a:r>
              <a:rPr lang="en-IN" dirty="0"/>
              <a:t>Used by tap-and-go services such as Apple Pay, </a:t>
            </a:r>
            <a:r>
              <a:rPr lang="en-IN"/>
              <a:t>Google Pay</a:t>
            </a:r>
            <a:endParaRPr lang="en-IN" dirty="0"/>
          </a:p>
        </p:txBody>
      </p:sp>
      <p:sp>
        <p:nvSpPr>
          <p:cNvPr id="2" name="Footer Placeholder 1">
            <a:extLst>
              <a:ext uri="{FF2B5EF4-FFF2-40B4-BE49-F238E27FC236}">
                <a16:creationId xmlns:a16="http://schemas.microsoft.com/office/drawing/2014/main" id="{8982EB44-46C5-4B18-9A28-85062AAE07C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1822026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865"/>
            <a:ext cx="8229600" cy="984885"/>
          </a:xfrm>
        </p:spPr>
        <p:txBody>
          <a:bodyPr>
            <a:spAutoFit/>
          </a:bodyPr>
          <a:lstStyle/>
          <a:p>
            <a:r>
              <a:rPr lang="en-IN" sz="3200" dirty="0"/>
              <a:t>RFID and Wireless Sensor Networks </a:t>
            </a:r>
            <a:br>
              <a:rPr lang="en-IN" sz="3200" dirty="0"/>
            </a:br>
            <a:r>
              <a:rPr lang="en-IN" sz="3200" dirty="0"/>
              <a:t>(3 of 3)</a:t>
            </a:r>
            <a:endParaRPr lang="en-US" sz="3200" dirty="0"/>
          </a:p>
        </p:txBody>
      </p:sp>
      <p:sp>
        <p:nvSpPr>
          <p:cNvPr id="6" name="Content Placeholder 4"/>
          <p:cNvSpPr>
            <a:spLocks noGrp="1"/>
          </p:cNvSpPr>
          <p:nvPr>
            <p:ph idx="1"/>
          </p:nvPr>
        </p:nvSpPr>
        <p:spPr>
          <a:xfrm>
            <a:off x="457200" y="1057454"/>
            <a:ext cx="8229600" cy="3724096"/>
          </a:xfrm>
        </p:spPr>
        <p:txBody>
          <a:bodyPr>
            <a:spAutoFit/>
          </a:bodyPr>
          <a:lstStyle/>
          <a:p>
            <a:pPr>
              <a:spcBef>
                <a:spcPts val="600"/>
              </a:spcBef>
            </a:pPr>
            <a:r>
              <a:rPr lang="en-IN" dirty="0"/>
              <a:t>Wireless Sensor Networks (WSNs)</a:t>
            </a:r>
          </a:p>
          <a:p>
            <a:pPr lvl="1"/>
            <a:r>
              <a:rPr lang="en-IN" dirty="0"/>
              <a:t>Networks of hundreds or thousands of interconnected wireless devices used to monitor building security, detect hazardous substances in air, monitor environmental changes, traffic, or military activity</a:t>
            </a:r>
          </a:p>
          <a:p>
            <a:pPr lvl="1"/>
            <a:r>
              <a:rPr lang="en-IN" dirty="0"/>
              <a:t>Devices have built-in processing, storage, and radio frequency sensors and antennas</a:t>
            </a:r>
          </a:p>
          <a:p>
            <a:pPr lvl="1"/>
            <a:r>
              <a:rPr lang="en-IN" dirty="0"/>
              <a:t>Require low-power, long-lasting batteries and ability to endure in the field without maintenance</a:t>
            </a:r>
          </a:p>
          <a:p>
            <a:pPr lvl="1"/>
            <a:r>
              <a:rPr lang="en-IN" dirty="0"/>
              <a:t>Major sources of big data and </a:t>
            </a:r>
            <a:r>
              <a:rPr lang="en-IN" dirty="0" err="1"/>
              <a:t>fueling</a:t>
            </a:r>
            <a:r>
              <a:rPr lang="en-IN" dirty="0"/>
              <a:t> Internet of Things</a:t>
            </a:r>
          </a:p>
        </p:txBody>
      </p:sp>
      <p:sp>
        <p:nvSpPr>
          <p:cNvPr id="2" name="Footer Placeholder 1">
            <a:extLst>
              <a:ext uri="{FF2B5EF4-FFF2-40B4-BE49-F238E27FC236}">
                <a16:creationId xmlns:a16="http://schemas.microsoft.com/office/drawing/2014/main" id="{0B62BBBF-C872-49B4-8F31-7C0B206EA26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117796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5250"/>
            <a:ext cx="8229600" cy="492443"/>
          </a:xfrm>
        </p:spPr>
        <p:txBody>
          <a:bodyPr>
            <a:spAutoFit/>
          </a:bodyPr>
          <a:lstStyle/>
          <a:p>
            <a:r>
              <a:rPr lang="en-IN" sz="3200" dirty="0"/>
              <a:t>Figure 7.16 A Wireless Sensor Network</a:t>
            </a:r>
            <a:endParaRPr lang="en-US" sz="2400" spc="-300" dirty="0"/>
          </a:p>
        </p:txBody>
      </p:sp>
      <p:pic>
        <p:nvPicPr>
          <p:cNvPr id="16386" name="Picture 2" descr="An illustration explains how a wireless sensor network work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503821" y="759452"/>
            <a:ext cx="6136357" cy="3945898"/>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27E64AA9-EE6F-4DC6-8111-3E1D9C2908E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5773254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548"/>
            <a:ext cx="8229600" cy="553998"/>
          </a:xfrm>
        </p:spPr>
        <p:txBody>
          <a:bodyPr>
            <a:spAutoFit/>
          </a:bodyPr>
          <a:lstStyle/>
          <a:p>
            <a:r>
              <a:rPr lang="en-US" dirty="0"/>
              <a:t>How Will </a:t>
            </a:r>
            <a:r>
              <a:rPr lang="en-US" spc="-450" dirty="0"/>
              <a:t>M I </a:t>
            </a:r>
            <a:r>
              <a:rPr lang="en-US" dirty="0"/>
              <a:t>S Help My Career?</a:t>
            </a:r>
            <a:endParaRPr lang="en-US" sz="2800" dirty="0"/>
          </a:p>
        </p:txBody>
      </p:sp>
      <p:sp>
        <p:nvSpPr>
          <p:cNvPr id="6" name="Content Placeholder 4"/>
          <p:cNvSpPr>
            <a:spLocks noGrp="1"/>
          </p:cNvSpPr>
          <p:nvPr>
            <p:ph idx="1"/>
          </p:nvPr>
        </p:nvSpPr>
        <p:spPr>
          <a:xfrm>
            <a:off x="457200" y="806549"/>
            <a:ext cx="8229600" cy="2616101"/>
          </a:xfrm>
        </p:spPr>
        <p:txBody>
          <a:bodyPr>
            <a:spAutoFit/>
          </a:bodyPr>
          <a:lstStyle/>
          <a:p>
            <a:r>
              <a:rPr lang="en-IN" dirty="0"/>
              <a:t>The Company: A1 Western Car Dealers</a:t>
            </a:r>
          </a:p>
          <a:p>
            <a:r>
              <a:rPr lang="en-IN" dirty="0"/>
              <a:t>Position Description: Automotive digital advisor</a:t>
            </a:r>
          </a:p>
          <a:p>
            <a:r>
              <a:rPr lang="en-IN" dirty="0"/>
              <a:t>Job Requirements</a:t>
            </a:r>
          </a:p>
          <a:p>
            <a:r>
              <a:rPr lang="en-IN" dirty="0"/>
              <a:t>Interview Questions</a:t>
            </a:r>
          </a:p>
          <a:p>
            <a:r>
              <a:rPr lang="en-IN" dirty="0"/>
              <a:t>Author Tips</a:t>
            </a:r>
          </a:p>
        </p:txBody>
      </p:sp>
      <p:sp>
        <p:nvSpPr>
          <p:cNvPr id="2" name="Footer Placeholder 1">
            <a:extLst>
              <a:ext uri="{FF2B5EF4-FFF2-40B4-BE49-F238E27FC236}">
                <a16:creationId xmlns:a16="http://schemas.microsoft.com/office/drawing/2014/main" id="{70F968AF-02A3-4D4B-B79A-92FFDFA2EFF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4475474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52972" y="49252"/>
            <a:ext cx="8214779" cy="553998"/>
          </a:xfrm>
        </p:spPr>
        <p:txBody>
          <a:bodyPr vert="horz" wrap="square" lIns="0" tIns="0" rIns="0" bIns="0" rtlCol="0" anchor="b" anchorCtr="0">
            <a:spAutoFit/>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873" y="1460109"/>
            <a:ext cx="1277815" cy="1434026"/>
          </a:xfrm>
          <a:prstGeom prst="rect">
            <a:avLst/>
          </a:prstGeom>
        </p:spPr>
      </p:pic>
      <p:sp>
        <p:nvSpPr>
          <p:cNvPr id="9" name="Text Placeholder 1">
            <a:extLst>
              <a:ext uri="{FF2B5EF4-FFF2-40B4-BE49-F238E27FC236}">
                <a16:creationId xmlns:a16="http://schemas.microsoft.com/office/drawing/2014/main" id="{AD5FAE7B-F718-4307-B112-AD6256157E8F}"/>
              </a:ext>
            </a:extLst>
          </p:cNvPr>
          <p:cNvSpPr txBox="1">
            <a:spLocks/>
          </p:cNvSpPr>
          <p:nvPr/>
        </p:nvSpPr>
        <p:spPr>
          <a:xfrm>
            <a:off x="1809750" y="994996"/>
            <a:ext cx="6858001" cy="2854836"/>
          </a:xfrm>
          <a:prstGeom prst="rect">
            <a:avLst/>
          </a:prstGeom>
        </p:spPr>
        <p:style>
          <a:lnRef idx="2">
            <a:schemeClr val="dk1"/>
          </a:lnRef>
          <a:fillRef idx="1">
            <a:schemeClr val="lt1"/>
          </a:fillRef>
          <a:effectRef idx="0">
            <a:schemeClr val="dk1"/>
          </a:effectRef>
          <a:fontRef idx="minor">
            <a:schemeClr val="dk1"/>
          </a:fontRef>
        </p:style>
        <p:txBody>
          <a:bodyPr vert="horz" lIns="182880" tIns="182880" rIns="182880" bIns="182880" rtlCol="0" anchor="ctr">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dk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dk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9pPr>
          </a:lstStyle>
          <a:p>
            <a:pPr marL="10160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20003167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77bb34d93a4c6de111706773da7e89128aa"/>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4347</TotalTime>
  <Words>8157</Words>
  <Application>Microsoft Office PowerPoint</Application>
  <PresentationFormat>On-screen Show (16:9)</PresentationFormat>
  <Paragraphs>574</Paragraphs>
  <Slides>50</Slides>
  <Notes>50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Symbol</vt:lpstr>
      <vt:lpstr>Times New Roman</vt:lpstr>
      <vt:lpstr>Verdana</vt:lpstr>
      <vt:lpstr>Wingdings</vt:lpstr>
      <vt:lpstr>508 Lecture</vt:lpstr>
      <vt:lpstr>Management Information Systems: Managing the Digital Firm</vt:lpstr>
      <vt:lpstr>Learning Objectives</vt:lpstr>
      <vt:lpstr>Video Cases</vt:lpstr>
      <vt:lpstr>Alibaba: Redefining Traditional Retailing  (1 of 2)</vt:lpstr>
      <vt:lpstr>Alibaba: Redefining Traditional Retailing (2 of 2)</vt:lpstr>
      <vt:lpstr>Networking and Communication Trends</vt:lpstr>
      <vt:lpstr>What Is a Computer Network?</vt:lpstr>
      <vt:lpstr>Figure 7.1 Components of a Simple Computer Network</vt:lpstr>
      <vt:lpstr>Networks in Large Companies</vt:lpstr>
      <vt:lpstr>Figure 7.2 Corporate Network Infrastructure</vt:lpstr>
      <vt:lpstr>Key Digital Networking Technologies (1 of 3)</vt:lpstr>
      <vt:lpstr>Key Digital Networking Technologies (2 of 3)</vt:lpstr>
      <vt:lpstr>Figure 7.3 Packet-Switched Networks and Packet Communications</vt:lpstr>
      <vt:lpstr>Key Digital Networking Technologies (3 of 3)</vt:lpstr>
      <vt:lpstr>Figure 7.4 The Transmission Control Protocol/Internet Protocol (T C P/I P) Reference Model</vt:lpstr>
      <vt:lpstr>Types of Networks</vt:lpstr>
      <vt:lpstr>Figure 7.5 Functions of the Modem</vt:lpstr>
      <vt:lpstr>Transmission Media and Transmission Speed</vt:lpstr>
      <vt:lpstr>What Is the Internet?</vt:lpstr>
      <vt:lpstr>Internet Addressing and Architecture</vt:lpstr>
      <vt:lpstr>Figure 7.6 The Domain Name System</vt:lpstr>
      <vt:lpstr>Internet Architecture and Governance</vt:lpstr>
      <vt:lpstr>Figure 7.7 Internet Network Architecture</vt:lpstr>
      <vt:lpstr>The Future Internet: I P v 6 and Internet 2</vt:lpstr>
      <vt:lpstr>Internet Services and Communication Tools (1 of 2)</vt:lpstr>
      <vt:lpstr>Internet Services and Communication Tools (2 of 2)</vt:lpstr>
      <vt:lpstr>Figure 7.8 Client/Server Computing on the Internet</vt:lpstr>
      <vt:lpstr>Figure 7.9 How Voice over I P Works</vt:lpstr>
      <vt:lpstr>Figure 7.10 A Virtual Private Network Using the Internet</vt:lpstr>
      <vt:lpstr>Interactive Session: Management: Monitoring Employees on Networks: Unethical or Good Business?</vt:lpstr>
      <vt:lpstr>The Web</vt:lpstr>
      <vt:lpstr>Searching for Information on the Web</vt:lpstr>
      <vt:lpstr>Figure 7.11 Top Desktop/Laptop Web Search Engines Worldwide</vt:lpstr>
      <vt:lpstr>Figure 7.12 How Google Works</vt:lpstr>
      <vt:lpstr>Sharing Information on the Web</vt:lpstr>
      <vt:lpstr>The Future Web</vt:lpstr>
      <vt:lpstr>Interactive Session: Technology: Talking Cars Make for Better Road Safety</vt:lpstr>
      <vt:lpstr>Cellular Systems (1 of 2)</vt:lpstr>
      <vt:lpstr>Cellular Systems (2 of 2)</vt:lpstr>
      <vt:lpstr>Wireless Computer Networks and Internet Access (1 of 2)</vt:lpstr>
      <vt:lpstr>Wireless Computer Networks and Internet Access (2 of 2)</vt:lpstr>
      <vt:lpstr>Figure 7.13 A Bluetooth Network (P A N)</vt:lpstr>
      <vt:lpstr>Figure 7.14 An 802.11 Wireless L A N</vt:lpstr>
      <vt:lpstr>RFID and Wireless Sensor Networks  (I of 3)</vt:lpstr>
      <vt:lpstr>Figure 7.15 How R  F  I  D Works</vt:lpstr>
      <vt:lpstr>RFID and Wireless Sensor Networks  (2 of 3)</vt:lpstr>
      <vt:lpstr>RFID and Wireless Sensor Networks  (3 of 3)</vt:lpstr>
      <vt:lpstr>Figure 7.16 A Wireless Sensor Network</vt:lpstr>
      <vt:lpstr>How Will M I S Help My Career?</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Information Systems: Managing the Digital Firm, Sixteenth Edition</dc:title>
  <dc:subject>Management</dc:subject>
  <dc:creator>Kenneth C. Laudon / Jane P. Laudon</dc:creator>
  <cp:keywords>Management Information Systems</cp:keywords>
  <cp:lastModifiedBy>Das, Bedasree</cp:lastModifiedBy>
  <cp:revision>1102</cp:revision>
  <cp:lastPrinted>2020-10-27T00:51:25Z</cp:lastPrinted>
  <dcterms:created xsi:type="dcterms:W3CDTF">2014-07-14T20:04:21Z</dcterms:created>
  <dcterms:modified xsi:type="dcterms:W3CDTF">2021-05-28T12:59:57Z</dcterms:modified>
</cp:coreProperties>
</file>