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handoutMasterIdLst>
    <p:handoutMasterId r:id="rId34"/>
  </p:handoutMasterIdLst>
  <p:sldIdLst>
    <p:sldId id="506" r:id="rId2"/>
    <p:sldId id="380" r:id="rId3"/>
    <p:sldId id="518" r:id="rId4"/>
    <p:sldId id="519" r:id="rId5"/>
    <p:sldId id="520" r:id="rId6"/>
    <p:sldId id="521" r:id="rId7"/>
    <p:sldId id="548" r:id="rId8"/>
    <p:sldId id="524" r:id="rId9"/>
    <p:sldId id="549" r:id="rId10"/>
    <p:sldId id="525" r:id="rId11"/>
    <p:sldId id="526" r:id="rId12"/>
    <p:sldId id="527" r:id="rId13"/>
    <p:sldId id="544" r:id="rId14"/>
    <p:sldId id="528" r:id="rId15"/>
    <p:sldId id="529" r:id="rId16"/>
    <p:sldId id="530" r:id="rId17"/>
    <p:sldId id="531" r:id="rId18"/>
    <p:sldId id="550" r:id="rId19"/>
    <p:sldId id="546" r:id="rId20"/>
    <p:sldId id="534" r:id="rId21"/>
    <p:sldId id="535" r:id="rId22"/>
    <p:sldId id="536" r:id="rId23"/>
    <p:sldId id="537" r:id="rId24"/>
    <p:sldId id="551" r:id="rId25"/>
    <p:sldId id="539" r:id="rId26"/>
    <p:sldId id="540" r:id="rId27"/>
    <p:sldId id="541" r:id="rId28"/>
    <p:sldId id="552" r:id="rId29"/>
    <p:sldId id="543" r:id="rId30"/>
    <p:sldId id="545" r:id="rId31"/>
    <p:sldId id="514" r:id="rId32"/>
  </p:sldIdLst>
  <p:sldSz cx="9144000" cy="5143500" type="screen16x9"/>
  <p:notesSz cx="6858000" cy="9144000"/>
  <p:custDataLst>
    <p:tags r:id="rId3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orient="horz" pos="252" userDrawn="1">
          <p15:clr>
            <a:srgbClr val="A4A3A4"/>
          </p15:clr>
        </p15:guide>
        <p15:guide id="5" orient="horz" pos="3024" userDrawn="1">
          <p15:clr>
            <a:srgbClr val="A4A3A4"/>
          </p15:clr>
        </p15:guide>
        <p15:guide id="7" pos="288" userDrawn="1">
          <p15:clr>
            <a:srgbClr val="A4A3A4"/>
          </p15:clr>
        </p15:guide>
        <p15:guide id="8" pos="5472" userDrawn="1">
          <p15:clr>
            <a:srgbClr val="A4A3A4"/>
          </p15:clr>
        </p15:guide>
        <p15:guide id="9" orient="horz" pos="648" userDrawn="1">
          <p15:clr>
            <a:srgbClr val="A4A3A4"/>
          </p15:clr>
        </p15:guide>
        <p15:guide id="11" orient="horz" pos="11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FDB940"/>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210" autoAdjust="0"/>
    <p:restoredTop sz="93725" autoAdjust="0"/>
  </p:normalViewPr>
  <p:slideViewPr>
    <p:cSldViewPr>
      <p:cViewPr varScale="1">
        <p:scale>
          <a:sx n="95" d="100"/>
          <a:sy n="95" d="100"/>
        </p:scale>
        <p:origin x="558" y="96"/>
      </p:cViewPr>
      <p:guideLst>
        <p:guide orient="horz" pos="1620"/>
        <p:guide pos="2880"/>
        <p:guide orient="horz" pos="252"/>
        <p:guide orient="horz" pos="3024"/>
        <p:guide pos="288"/>
        <p:guide pos="5472"/>
        <p:guide orient="horz" pos="648"/>
        <p:guide orient="horz" pos="1140"/>
      </p:guideLst>
    </p:cSldViewPr>
  </p:slideViewPr>
  <p:outlineViewPr>
    <p:cViewPr>
      <p:scale>
        <a:sx n="33" d="100"/>
        <a:sy n="33" d="100"/>
      </p:scale>
      <p:origin x="48" y="36936"/>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1" d="100"/>
          <a:sy n="51" d="100"/>
        </p:scale>
        <p:origin x="2692" y="2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5/28/2021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5/28/2021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MathType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3168426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chapter discusses the use and influence of information technology in developing a global business strategy. You could ask students to give an example of a global company and describe what it is that makes that company global. </a:t>
            </a:r>
            <a:r>
              <a:rPr lang="en-US" altLang="en-US"/>
              <a:t>What are the advantages that a global firm has over an equivalent national firm? </a:t>
            </a:r>
          </a:p>
          <a:p>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emphasizes the role of advanced networks and information systems in enabling the growth of global economic systems and global world order. Ask students why networks and IT advances make globalization more feasible. The text uses the example of the </a:t>
            </a:r>
            <a:r>
              <a:rPr lang="en-US" altLang="ja-JP" dirty="0"/>
              <a:t>path to market for an Apple iPhone to illustrate what globalization means for an international firm, illustrated in the next slide.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15.1,</a:t>
            </a:r>
            <a:r>
              <a:rPr lang="en-US" altLang="en-US" baseline="0" dirty="0"/>
              <a:t> Page 561.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baseline="0" dirty="0"/>
          </a:p>
          <a:p>
            <a:r>
              <a:rPr lang="en-US" sz="1200" b="0" i="1" u="none" strike="noStrike" kern="1200" cap="none" baseline="0" dirty="0">
                <a:solidFill>
                  <a:schemeClr val="tx1"/>
                </a:solidFill>
                <a:latin typeface="+mn-lt"/>
                <a:ea typeface="Arial"/>
                <a:cs typeface="Arial"/>
                <a:sym typeface="Arial"/>
              </a:rPr>
              <a:t>Apple designs the iPhone in the United States and relies on suppliers in the United States, Germany, Italy, France, Japan, and South Korea for other parts. Much of the final assembly occurs in China.</a:t>
            </a:r>
            <a:endParaRPr lang="en-US" i="1"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2429737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strategy a firm should take in order to make a successful move toward globalization. Why would understanding the business drivers be the top consideration? Why is considering the technology platform the last consideration?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15.2,</a:t>
            </a:r>
            <a:r>
              <a:rPr lang="en-US" altLang="en-US" baseline="0" dirty="0"/>
              <a:t> Page 562.</a:t>
            </a:r>
          </a:p>
          <a:p>
            <a:r>
              <a:rPr lang="en-US" sz="1200" b="0" i="1" u="none" strike="noStrike" kern="1200" cap="none" baseline="0" dirty="0">
                <a:solidFill>
                  <a:schemeClr val="tx1"/>
                </a:solidFill>
                <a:latin typeface="+mn-lt"/>
                <a:ea typeface="Arial"/>
                <a:cs typeface="Arial"/>
                <a:sym typeface="Arial"/>
              </a:rPr>
              <a:t>The major dimensions for developing an international information systems architecture are the global environment, the corporate global strategies, the structure of the organization, the management and business processes, and the technology platform.</a:t>
            </a:r>
          </a:p>
          <a:p>
            <a:endParaRPr lang="en-US" altLang="en-US" sz="1200" b="0" i="0" u="none" strike="noStrike" kern="1200" cap="none" baseline="0" dirty="0">
              <a:solidFill>
                <a:schemeClr val="tx1"/>
              </a:solidFill>
              <a:latin typeface="+mn-lt"/>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graphic illustrates the strategy for developing an international system. There are a variety of choices when determining a corporate global strategy. For example, you could sell to the globe from a domestic base or organize production and distribution around the world. Determining a global strategy means deciding what portions of the business are located globally. What would be the biggest factors in making this decision?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funnel diagram explains the architecture of international information systems. </a:t>
            </a:r>
            <a:r>
              <a:rPr lang="en-US" sz="1200" dirty="0">
                <a:solidFill>
                  <a:srgbClr val="000000"/>
                </a:solidFill>
                <a:effectLst/>
                <a:latin typeface="+mn-lt"/>
                <a:ea typeface="Times New Roman" panose="02020603050405020304" pitchFamily="18" charset="0"/>
              </a:rPr>
              <a:t>The details from top to bottom are as below:</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Global Environment: Business drivers and challenges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Corporate global strategies</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Organization structure</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Management and business processes</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Technology platform.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2558596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The first strategic consideration in building an international system is to examine the global environment in terms of business drivers and challenges. This slide and the next two examine business drivers and challenges that lead industries toward global markets and competition.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Table 5.1, Page 563.</a:t>
            </a:r>
          </a:p>
          <a:p>
            <a:endParaRPr lang="en-US" alt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Ask students what global culture is and how this influences internationalization. Ask students to explain what the global knowledge base is, and how this has changed over the past half-century. Can all industries benefit equally from globalization? Why or why not?</a:t>
            </a:r>
            <a:endParaRPr lang="en-US" dirty="0"/>
          </a:p>
          <a:p>
            <a:endParaRPr lang="en-US" altLang="en-US" dirty="0"/>
          </a:p>
          <a:p>
            <a:endParaRPr lang="en-US" alt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Table 15.2, Page 566.</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This slide continues the discussion of the challenges to internationalization and looks at specific challenges that firms face. Ask students to define particularism and to provide an example of it. How would particularism, regionalism, or nationalism affect the success of a busines trying to globalize. What is transborder data flow? With the use of the Internet, how is transborder data flow an issue. Another challenge discussed in the text is different accounting standards. How can accounting standards be different from country to country? Ask students how an accounting standard can pose difficulties to developing a global information system. </a:t>
            </a:r>
            <a:endParaRPr lang="en-US" dirty="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the reality of global information systems in use in typical businesses today. Few businesses that have begun to internationalize have top-of-the-line systems and face powerful competition from those companies that do have truly international systems.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the general ways business activities can be organized and the four main business strategies used by global companies. Ask students to describe each of the strategies (domestic exporter, multinational, franchiser, transnational) and to provide an example.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dirty="0"/>
              <a:t>Table 15.3, Page 568.</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15.3,</a:t>
            </a:r>
            <a:r>
              <a:rPr lang="en-US" altLang="en-US" baseline="0" dirty="0"/>
              <a:t> Page 570.</a:t>
            </a:r>
          </a:p>
          <a:p>
            <a:r>
              <a:rPr lang="en-US" sz="1200" b="0" i="1" u="none" strike="noStrike" kern="1200" cap="none" baseline="0" dirty="0">
                <a:solidFill>
                  <a:schemeClr val="tx1"/>
                </a:solidFill>
                <a:latin typeface="+mn-lt"/>
                <a:ea typeface="Arial"/>
                <a:cs typeface="Arial"/>
                <a:sym typeface="Arial"/>
              </a:rPr>
              <a:t>The large </a:t>
            </a:r>
            <a:r>
              <a:rPr lang="en-US" sz="1200" b="0" i="1" u="none" strike="noStrike" kern="1200" cap="none" baseline="0" dirty="0" err="1">
                <a:solidFill>
                  <a:schemeClr val="tx1"/>
                </a:solidFill>
                <a:latin typeface="+mn-lt"/>
                <a:ea typeface="Arial"/>
                <a:cs typeface="Arial"/>
                <a:sym typeface="Arial"/>
              </a:rPr>
              <a:t>Xs</a:t>
            </a:r>
            <a:r>
              <a:rPr lang="en-US" sz="1200" b="0" i="1" u="none" strike="noStrike" kern="1200" cap="none" baseline="0" dirty="0">
                <a:solidFill>
                  <a:schemeClr val="tx1"/>
                </a:solidFill>
                <a:latin typeface="+mn-lt"/>
                <a:ea typeface="Arial"/>
                <a:cs typeface="Arial"/>
                <a:sym typeface="Arial"/>
              </a:rPr>
              <a:t> show the dominant patterns, and the small </a:t>
            </a:r>
            <a:r>
              <a:rPr lang="en-US" sz="1200" b="0" i="1" u="none" strike="noStrike" kern="1200" cap="none" baseline="0" dirty="0" err="1">
                <a:solidFill>
                  <a:schemeClr val="tx1"/>
                </a:solidFill>
                <a:latin typeface="+mn-lt"/>
                <a:ea typeface="Arial"/>
                <a:cs typeface="Arial"/>
                <a:sym typeface="Arial"/>
              </a:rPr>
              <a:t>Xs</a:t>
            </a:r>
            <a:r>
              <a:rPr lang="en-US" sz="1200" b="0" i="1" u="none" strike="noStrike" kern="1200" cap="none" baseline="0" dirty="0">
                <a:solidFill>
                  <a:schemeClr val="tx1"/>
                </a:solidFill>
                <a:latin typeface="+mn-lt"/>
                <a:ea typeface="Arial"/>
                <a:cs typeface="Arial"/>
                <a:sym typeface="Arial"/>
              </a:rPr>
              <a:t> show the emerging patterns. For instance, domestic exporters rely predominantly on centralized systems, but there is continual pressure and some development of decentralized systems in local marketing regions.</a:t>
            </a:r>
          </a:p>
          <a:p>
            <a:endParaRPr lang="en-US" altLang="en-US" sz="1200" b="0" i="0" u="none" strike="noStrike" kern="1200" cap="none" baseline="0" dirty="0">
              <a:solidFill>
                <a:schemeClr val="tx1"/>
              </a:solidFill>
              <a:latin typeface="+mn-lt"/>
              <a:ea typeface="Arial"/>
              <a:cs typeface="Arial"/>
              <a:sym typeface="Arial"/>
            </a:endParaRPr>
          </a:p>
          <a:p>
            <a:pPr eaLnBrk="1" hangingPunct="1"/>
            <a:r>
              <a:rPr lang="en-US" altLang="en-US" dirty="0"/>
              <a:t>This table shows which system configurations are typically used when a firm employs one of the four global strategies. The large </a:t>
            </a:r>
            <a:r>
              <a:rPr lang="en-US" altLang="en-US" dirty="0" err="1"/>
              <a:t>Xs</a:t>
            </a:r>
            <a:r>
              <a:rPr lang="en-US" altLang="en-US" dirty="0"/>
              <a:t> show the dominant patterns whereas the small </a:t>
            </a:r>
            <a:r>
              <a:rPr lang="en-US" altLang="en-US" dirty="0" err="1"/>
              <a:t>Xs</a:t>
            </a:r>
            <a:r>
              <a:rPr lang="en-US" altLang="en-US" dirty="0"/>
              <a:t> show the emerging pattern. The transnational has the most ambitious form of systems development, using a singular global environment. This structure is most visible in financial services companies, where the homogeneity of the product (money, money instruments) seems to overcome cultural barriers.</a:t>
            </a:r>
          </a:p>
          <a:p>
            <a:pPr eaLnBrk="1" hangingPunct="1"/>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table explains the strategies based on system configurations. </a:t>
            </a:r>
            <a:r>
              <a:rPr lang="en-US" sz="1200" dirty="0">
                <a:solidFill>
                  <a:srgbClr val="000000"/>
                </a:solidFill>
                <a:effectLst/>
                <a:latin typeface="+mn-lt"/>
                <a:ea typeface="Times New Roman" panose="02020603050405020304" pitchFamily="18" charset="0"/>
              </a:rPr>
              <a:t>The details corresponding to the system configuration and strategies are as below:</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Centralized: Domestic exporter: Large X; Multinational: NA; Franchiser: NA; Transitional: NA.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Duplicated: Domestic exporter: NA; Multinational: NA; Franchiser: Large X; Transitional: NA. </a:t>
            </a: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rPr>
              <a:t>Decentralized: Domestic exporter: Small X; Multinational: Large X; Franchiser: Small X; Transitional: NA.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Networked: Domestic exporter: NA Multinational: NA; Franchiser: NA; Transitional: Large X. </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1801134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discusses how a firm should organize itself for doing business on an international scale and offers three main principles to follow when developing a global company and information systems support structure. Ask students to explain the second principle. For local needs, there should be host country systems units; regional systems units should handle systems development across national boundaries but within major geographic regions; transnational systems should create linkages across and between regional systems. What types of systems would serve local over regional needs?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describes a common scenario of a multinational company and the challenges it faces in trying to develop a transnational information system as it expands into Asian markets. What types of implementation problems can the company expect when it begins development? Can resistance be expected even from the IT departments in different countries? The text describes some likely reactions (the foreign divisions will resist efforts to agree on common user requirements, U.S. systems groups will not easily accept guidance from anyone recommending a transnational strategy, etc.).</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looks at the basic framework of a solution to implementing a transnational information system. Ask students what types of systems might be considered </a:t>
            </a:r>
            <a:r>
              <a:rPr lang="ja-JP" altLang="en-US" dirty="0"/>
              <a:t>“</a:t>
            </a:r>
            <a:r>
              <a:rPr lang="en-US" altLang="ja-JP" dirty="0"/>
              <a:t>core systems.</a:t>
            </a:r>
            <a:r>
              <a:rPr lang="ja-JP" altLang="en-US" dirty="0"/>
              <a:t>”</a:t>
            </a:r>
            <a:r>
              <a:rPr lang="en-US" altLang="ja-JP" dirty="0"/>
              <a:t> What types of systems might fall into the partially coordinated category? The peripheral systems category?</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outlines the steps in creating a successful global systems solution appropriate to the firm</a:t>
            </a:r>
            <a:r>
              <a:rPr lang="en-US" altLang="ja-JP" dirty="0"/>
              <a:t>’s goals and strategies. Ask students how a firm would determine its core business processes? (Conduct business process analysis.) Emphasize that the second step is to define the core systems identified as the transnational systems, and these should be kept to a minimum. Emphasize that it is crucial for senior managers at headquarters and in foreign divisions to understand the benefits. Ask students how a larger customer base unleashes economies of scale. What does optimizing corporate funds over a larger capital base mean?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What is meant by </a:t>
            </a:r>
            <a:r>
              <a:rPr lang="ja-JP" altLang="en-US" dirty="0"/>
              <a:t>“</a:t>
            </a:r>
            <a:r>
              <a:rPr lang="en-US" altLang="ja-JP" dirty="0"/>
              <a:t>developing a common language to discuss the business</a:t>
            </a:r>
            <a:r>
              <a:rPr lang="ja-JP" altLang="en-US" dirty="0"/>
              <a:t>”</a:t>
            </a:r>
            <a:r>
              <a:rPr lang="en-US" altLang="ja-JP" dirty="0"/>
              <a:t> and why is this important? Ask students to define legitimacy. Emphasize that, at the global level, there is far too much complexity to implement full-scale, worldwide application changes.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15.4,</a:t>
            </a:r>
            <a:r>
              <a:rPr lang="en-US" altLang="en-US" baseline="0" dirty="0"/>
              <a:t> Page 572.</a:t>
            </a:r>
          </a:p>
          <a:p>
            <a:r>
              <a:rPr lang="en-US" sz="1200" b="0" i="1" u="none" strike="noStrike" kern="1200" cap="none" baseline="0" dirty="0">
                <a:solidFill>
                  <a:schemeClr val="tx1"/>
                </a:solidFill>
                <a:latin typeface="+mn-lt"/>
                <a:ea typeface="Arial"/>
                <a:cs typeface="Arial"/>
                <a:sym typeface="Arial"/>
              </a:rPr>
              <a:t>Agency and other coordination costs increase as the firm moves from local option systems toward regional and global systems. However, transaction costs of participating in global markets probably decrease as firms develop global systems. A sensible strategy is to reduce agency costs by developing only a few core global systems that are vital for global operations, leaving other systems in the hands of regional and local units.</a:t>
            </a:r>
          </a:p>
          <a:p>
            <a:endParaRPr lang="en-US" altLang="en-US" sz="1200" b="0" i="0" u="none" strike="noStrike" kern="1200" cap="none" baseline="0" dirty="0">
              <a:solidFill>
                <a:schemeClr val="tx1"/>
              </a:solidFill>
              <a:latin typeface="+mn-lt"/>
              <a:ea typeface="Arial"/>
              <a:cs typeface="Arial"/>
              <a:sym typeface="Arial"/>
            </a:endParaRPr>
          </a:p>
          <a:p>
            <a:pPr eaLnBrk="1" hangingPunct="1"/>
            <a:r>
              <a:rPr lang="en-US" altLang="en-US" dirty="0"/>
              <a:t>This graphic illustrates the scope of the three different categories of system (global, regional, local). Give the student an example industry, say, sports apparel manufacturing, and ask students to describe what local, regional, and global business processes might be. Use Nike as an example—a U.S. firm for design, marketing, sales and distribution where all the products are made in offshore factories.</a:t>
            </a:r>
          </a:p>
          <a:p>
            <a:pPr eaLnBrk="1" hangingPunct="1"/>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a:t>
            </a:r>
            <a:r>
              <a:rPr lang="en-US" sz="1200" baseline="0" dirty="0">
                <a:latin typeface="+mn-lt"/>
              </a:rPr>
              <a:t> A concentric circle diagram divided into two halves illustrates local, regional, and global systems. </a:t>
            </a:r>
            <a:r>
              <a:rPr lang="en-US" sz="1200" dirty="0">
                <a:solidFill>
                  <a:srgbClr val="000000"/>
                </a:solidFill>
                <a:effectLst/>
                <a:latin typeface="+mn-lt"/>
                <a:ea typeface="Times New Roman" panose="02020603050405020304" pitchFamily="18" charset="0"/>
                <a:cs typeface="Calibri" panose="020F0502020204030204" pitchFamily="34" charset="0"/>
              </a:rPr>
              <a:t>There are three circles in this diagram and the details are as below: </a:t>
            </a:r>
            <a:endParaRPr lang="en-US" sz="1200" dirty="0">
              <a:solidFill>
                <a:srgbClr val="000000"/>
              </a:solidFill>
              <a:effectLst/>
              <a:latin typeface="+mn-lt"/>
              <a:ea typeface="Times New Roman" panose="02020603050405020304" pitchFamily="18" charset="0"/>
            </a:endParaRPr>
          </a:p>
          <a:p>
            <a:pPr marL="171450" marR="0" lvl="0" indent="-171450">
              <a:lnSpc>
                <a:spcPct val="115000"/>
              </a:lnSpc>
              <a:spcBef>
                <a:spcPts val="0"/>
              </a:spcBef>
              <a:spcAft>
                <a:spcPts val="0"/>
              </a:spcAft>
              <a:buFont typeface="Arial" panose="020B0604020202020204" pitchFamily="34" charset="0"/>
              <a:buChar char="•"/>
            </a:pPr>
            <a:r>
              <a:rPr lang="en-US" sz="1200" dirty="0">
                <a:effectLst/>
                <a:latin typeface="+mn-lt"/>
                <a:ea typeface="Calibri" panose="020F0502020204030204" pitchFamily="34" charset="0"/>
                <a:cs typeface="Calibri" panose="020F0502020204030204" pitchFamily="34" charset="0"/>
              </a:rPr>
              <a:t>In the inner circle on the left side are global core business processes. In the second circle are regional processes and in the outermost circle are local business processes. </a:t>
            </a:r>
          </a:p>
          <a:p>
            <a:pPr marL="171450" marR="0" lvl="0" indent="-171450">
              <a:lnSpc>
                <a:spcPct val="115000"/>
              </a:lnSpc>
              <a:spcBef>
                <a:spcPts val="0"/>
              </a:spcBef>
              <a:spcAft>
                <a:spcPts val="0"/>
              </a:spcAft>
              <a:buFont typeface="Arial" panose="020B0604020202020204" pitchFamily="34" charset="0"/>
              <a:buChar char="•"/>
            </a:pPr>
            <a:r>
              <a:rPr lang="en-US" sz="1200" dirty="0">
                <a:solidFill>
                  <a:srgbClr val="000000"/>
                </a:solidFill>
                <a:effectLst/>
                <a:latin typeface="+mn-lt"/>
                <a:ea typeface="Times New Roman" panose="02020603050405020304" pitchFamily="18" charset="0"/>
              </a:rPr>
              <a:t>In the inner circle on the right side are global core systems. In the second circle are regional coordinated systems and in the outermost circle are local option systems.</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9210983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continues the discussion of solutions to the management challenges. What types of difficulties might there be in having all units update software at the same time? Why does the text suggest that, as much as possible, raw power—commanding people—should be avoided, when dealing with user resistance?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and the next emphasize the types of technological, rather than organizational, challenges faced when building a global system. It is important to note that all units having the same hardware and operating software does not guarantee integration, data standardization must also be enforced. For example, technical accounting terms such as the beginning and end of the fiscal year must be standardized.</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altLang="en-US" dirty="0"/>
              <a:t>This slide continues the discussion of technology challenges in building global systems. Ask students why MIS and TPS are typically the most important applications.</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a:xfrm>
            <a:off x="685800" y="4267199"/>
            <a:ext cx="5486400" cy="4418013"/>
          </a:xfrm>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t>Figure 15.5,</a:t>
            </a:r>
            <a:r>
              <a:rPr lang="en-US" altLang="en-US" baseline="0" dirty="0"/>
              <a:t> Page 577.</a:t>
            </a:r>
          </a:p>
          <a:p>
            <a:r>
              <a:rPr lang="en-US" sz="1200" b="0" i="1" u="none" strike="noStrike" kern="1200" cap="none" baseline="0" dirty="0">
                <a:solidFill>
                  <a:schemeClr val="dk1"/>
                </a:solidFill>
                <a:latin typeface="+mn-lt"/>
                <a:ea typeface="Arial"/>
                <a:cs typeface="Arial"/>
                <a:sym typeface="Arial"/>
              </a:rPr>
              <a:t>The percentage of the total population using the Internet in developing countries is much smaller than in the United States and Europe, but it is growing rapidly.</a:t>
            </a:r>
          </a:p>
          <a:p>
            <a:r>
              <a:rPr lang="en-US" sz="1200" b="0" i="0" u="none" strike="noStrike" kern="1200" cap="none" baseline="0" dirty="0">
                <a:solidFill>
                  <a:schemeClr val="dk1"/>
                </a:solidFill>
                <a:latin typeface="+mn-lt"/>
                <a:ea typeface="Arial"/>
                <a:cs typeface="Arial"/>
                <a:sym typeface="Arial"/>
              </a:rPr>
              <a:t>Source: Based on data from Internetworldstats.com, 2019 and authors.</a:t>
            </a:r>
          </a:p>
          <a:p>
            <a:endParaRPr lang="en-US" altLang="en-US" sz="1200" b="0" i="0" u="none" strike="noStrike" kern="1200" cap="none" baseline="0" dirty="0">
              <a:solidFill>
                <a:schemeClr val="tx1"/>
              </a:solidFill>
              <a:latin typeface="+mn-lt"/>
              <a:ea typeface="Arial"/>
              <a:cs typeface="Arial"/>
              <a:sym typeface="Arial"/>
            </a:endParaRPr>
          </a:p>
          <a:p>
            <a:r>
              <a:rPr lang="en-US" altLang="en-US" dirty="0"/>
              <a:t>This graph shows the percentage of population using the Internet, by region. It illustrates the lower penetration of Internet usage in developing countries. </a:t>
            </a:r>
          </a:p>
          <a:p>
            <a:endParaRPr lang="en-US" dirty="0"/>
          </a:p>
          <a:p>
            <a:pPr marL="0" marR="0">
              <a:lnSpc>
                <a:spcPct val="115000"/>
              </a:lnSpc>
              <a:spcBef>
                <a:spcPts val="0"/>
              </a:spcBef>
              <a:spcAft>
                <a:spcPts val="0"/>
              </a:spcAft>
            </a:pPr>
            <a:r>
              <a:rPr lang="en-US" sz="1200" u="sng" dirty="0">
                <a:latin typeface="+mn-lt"/>
              </a:rPr>
              <a:t>Alt Text</a:t>
            </a:r>
          </a:p>
          <a:p>
            <a:pPr marL="0" marR="0">
              <a:lnSpc>
                <a:spcPct val="115000"/>
              </a:lnSpc>
              <a:spcBef>
                <a:spcPts val="0"/>
              </a:spcBef>
              <a:spcAft>
                <a:spcPts val="0"/>
              </a:spcAft>
            </a:pPr>
            <a:r>
              <a:rPr lang="en-US" sz="1200" dirty="0">
                <a:latin typeface="+mn-lt"/>
              </a:rPr>
              <a:t>Long description: A bar chart presents data on the percentage of Internet users in various countries. </a:t>
            </a:r>
            <a:r>
              <a:rPr lang="en-US" sz="1200" dirty="0">
                <a:solidFill>
                  <a:srgbClr val="000000"/>
                </a:solidFill>
                <a:effectLst/>
                <a:latin typeface="+mn-lt"/>
                <a:ea typeface="Times New Roman" panose="02020603050405020304" pitchFamily="18" charset="0"/>
                <a:cs typeface="Calibri" panose="020F0502020204030204" pitchFamily="34" charset="0"/>
              </a:rPr>
              <a:t>The horizontal axis represents various countries as listed below. The vertical axis represents the percentage of internet users and ranges from 0 to 100 % in increments of 20. </a:t>
            </a:r>
            <a:endParaRPr lang="en-US" sz="1200" dirty="0">
              <a:solidFill>
                <a:srgbClr val="000000"/>
              </a:solidFill>
              <a:effectLst/>
              <a:latin typeface="+mn-lt"/>
              <a:ea typeface="Times New Roman" panose="02020603050405020304" pitchFamily="18" charset="0"/>
            </a:endParaRPr>
          </a:p>
          <a:p>
            <a:pPr marL="0" marR="0">
              <a:lnSpc>
                <a:spcPct val="115000"/>
              </a:lnSpc>
              <a:spcBef>
                <a:spcPts val="0"/>
              </a:spcBef>
              <a:spcAft>
                <a:spcPts val="0"/>
              </a:spcAft>
            </a:pPr>
            <a:r>
              <a:rPr lang="en-US" sz="1200" dirty="0">
                <a:solidFill>
                  <a:srgbClr val="000000"/>
                </a:solidFill>
                <a:effectLst/>
                <a:latin typeface="+mn-lt"/>
                <a:ea typeface="Times New Roman" panose="02020603050405020304" pitchFamily="18" charset="0"/>
                <a:cs typeface="Calibri" panose="020F0502020204030204" pitchFamily="34" charset="0"/>
              </a:rPr>
              <a:t>Approximate data corresponding to the countries and the percentage of internet users are summarized below:</a:t>
            </a:r>
            <a:endParaRPr lang="en-US" sz="1200" dirty="0">
              <a:solidFill>
                <a:srgbClr val="000000"/>
              </a:solidFill>
              <a:effectLst/>
              <a:latin typeface="+mn-lt"/>
              <a:ea typeface="Times New Roman" panose="02020603050405020304" pitchFamily="18" charset="0"/>
            </a:endParaRPr>
          </a:p>
          <a:p>
            <a:pPr marL="0" marR="0" lvl="0" indent="0">
              <a:lnSpc>
                <a:spcPct val="115000"/>
              </a:lnSpc>
              <a:spcBef>
                <a:spcPts val="0"/>
              </a:spcBef>
              <a:spcAft>
                <a:spcPts val="0"/>
              </a:spcAft>
              <a:buFont typeface="Symbol" panose="05050102010706020507" pitchFamily="18" charset="2"/>
              <a:buNone/>
            </a:pPr>
            <a:r>
              <a:rPr lang="en-US" sz="1200" dirty="0">
                <a:effectLst/>
                <a:latin typeface="+mn-lt"/>
                <a:ea typeface="Calibri" panose="020F0502020204030204" pitchFamily="34" charset="0"/>
                <a:cs typeface="Calibri" panose="020F0502020204030204" pitchFamily="34" charset="0"/>
              </a:rPr>
              <a:t>Norway: 99%</a:t>
            </a:r>
            <a:endParaRPr lang="en-US" sz="1200" dirty="0">
              <a:effectLst/>
              <a:latin typeface="+mn-lt"/>
              <a:ea typeface="Calibri" panose="020F0502020204030204" pitchFamily="34" charset="0"/>
            </a:endParaRPr>
          </a:p>
          <a:p>
            <a:pPr marL="0" marR="0" lvl="0" indent="0">
              <a:lnSpc>
                <a:spcPct val="115000"/>
              </a:lnSpc>
              <a:spcBef>
                <a:spcPts val="0"/>
              </a:spcBef>
              <a:spcAft>
                <a:spcPts val="0"/>
              </a:spcAft>
              <a:buFont typeface="Symbol" panose="05050102010706020507" pitchFamily="18" charset="2"/>
              <a:buNone/>
            </a:pPr>
            <a:r>
              <a:rPr lang="en-US" sz="1200" dirty="0">
                <a:effectLst/>
                <a:latin typeface="+mn-lt"/>
                <a:ea typeface="Calibri" panose="020F0502020204030204" pitchFamily="34" charset="0"/>
                <a:cs typeface="Calibri" panose="020F0502020204030204" pitchFamily="34" charset="0"/>
              </a:rPr>
              <a:t>U.S.A.: 95%</a:t>
            </a:r>
            <a:endParaRPr lang="en-US" sz="1200" dirty="0">
              <a:effectLst/>
              <a:latin typeface="+mn-lt"/>
              <a:ea typeface="Calibri" panose="020F0502020204030204" pitchFamily="34" charset="0"/>
            </a:endParaRPr>
          </a:p>
          <a:p>
            <a:pPr marL="0" marR="0" lvl="0" indent="0">
              <a:lnSpc>
                <a:spcPct val="115000"/>
              </a:lnSpc>
              <a:spcBef>
                <a:spcPts val="0"/>
              </a:spcBef>
              <a:spcAft>
                <a:spcPts val="0"/>
              </a:spcAft>
              <a:buFont typeface="Symbol" panose="05050102010706020507" pitchFamily="18" charset="2"/>
              <a:buNone/>
            </a:pPr>
            <a:r>
              <a:rPr lang="en-US" sz="1200" dirty="0">
                <a:effectLst/>
                <a:latin typeface="+mn-lt"/>
                <a:ea typeface="Calibri" panose="020F0502020204030204" pitchFamily="34" charset="0"/>
                <a:cs typeface="Calibri" panose="020F0502020204030204" pitchFamily="34" charset="0"/>
              </a:rPr>
              <a:t>Peru: 70%</a:t>
            </a:r>
            <a:endParaRPr lang="en-US" sz="1200" dirty="0">
              <a:effectLst/>
              <a:latin typeface="+mn-lt"/>
              <a:ea typeface="Calibri" panose="020F0502020204030204" pitchFamily="34" charset="0"/>
            </a:endParaRPr>
          </a:p>
          <a:p>
            <a:pPr marL="0" marR="0" lvl="0" indent="0">
              <a:lnSpc>
                <a:spcPct val="115000"/>
              </a:lnSpc>
              <a:spcBef>
                <a:spcPts val="0"/>
              </a:spcBef>
              <a:spcAft>
                <a:spcPts val="0"/>
              </a:spcAft>
              <a:buFont typeface="Symbol" panose="05050102010706020507" pitchFamily="18" charset="2"/>
              <a:buNone/>
            </a:pPr>
            <a:r>
              <a:rPr lang="en-US" sz="1200" dirty="0">
                <a:effectLst/>
                <a:latin typeface="+mn-lt"/>
                <a:ea typeface="Calibri" panose="020F0502020204030204" pitchFamily="34" charset="0"/>
                <a:cs typeface="Calibri" panose="020F0502020204030204" pitchFamily="34" charset="0"/>
              </a:rPr>
              <a:t>China: 60%</a:t>
            </a:r>
            <a:endParaRPr lang="en-US" sz="1200" dirty="0">
              <a:effectLst/>
              <a:latin typeface="+mn-lt"/>
              <a:ea typeface="Calibri" panose="020F0502020204030204" pitchFamily="34" charset="0"/>
            </a:endParaRPr>
          </a:p>
          <a:p>
            <a:pPr marL="0" marR="0" lvl="0" indent="0">
              <a:lnSpc>
                <a:spcPct val="115000"/>
              </a:lnSpc>
              <a:spcBef>
                <a:spcPts val="0"/>
              </a:spcBef>
              <a:spcAft>
                <a:spcPts val="0"/>
              </a:spcAft>
              <a:buFont typeface="Symbol" panose="05050102010706020507" pitchFamily="18" charset="2"/>
              <a:buNone/>
            </a:pPr>
            <a:r>
              <a:rPr lang="en-US" sz="1200" dirty="0">
                <a:effectLst/>
                <a:latin typeface="+mn-lt"/>
                <a:ea typeface="Calibri" panose="020F0502020204030204" pitchFamily="34" charset="0"/>
                <a:cs typeface="Calibri" panose="020F0502020204030204" pitchFamily="34" charset="0"/>
              </a:rPr>
              <a:t>Egypt: 50% </a:t>
            </a:r>
            <a:endParaRPr lang="en-US" sz="1200" dirty="0">
              <a:effectLst/>
              <a:latin typeface="+mn-lt"/>
              <a:ea typeface="Calibri" panose="020F0502020204030204" pitchFamily="34" charset="0"/>
            </a:endParaRPr>
          </a:p>
          <a:p>
            <a:pPr marL="0" marR="0" lvl="0" indent="0">
              <a:lnSpc>
                <a:spcPct val="115000"/>
              </a:lnSpc>
              <a:spcBef>
                <a:spcPts val="0"/>
              </a:spcBef>
              <a:spcAft>
                <a:spcPts val="0"/>
              </a:spcAft>
              <a:buFont typeface="Symbol" panose="05050102010706020507" pitchFamily="18" charset="2"/>
              <a:buNone/>
            </a:pPr>
            <a:r>
              <a:rPr lang="en-US" sz="1200" dirty="0">
                <a:effectLst/>
                <a:latin typeface="+mn-lt"/>
                <a:ea typeface="Calibri" panose="020F0502020204030204" pitchFamily="34" charset="0"/>
                <a:cs typeface="Calibri" panose="020F0502020204030204" pitchFamily="34" charset="0"/>
              </a:rPr>
              <a:t>Pakistan: 30%</a:t>
            </a:r>
          </a:p>
          <a:p>
            <a:pPr marL="0" marR="0" lvl="0" indent="0">
              <a:lnSpc>
                <a:spcPct val="115000"/>
              </a:lnSpc>
              <a:spcBef>
                <a:spcPts val="0"/>
              </a:spcBef>
              <a:spcAft>
                <a:spcPts val="0"/>
              </a:spcAft>
              <a:buFont typeface="Symbol" panose="05050102010706020507" pitchFamily="18" charset="2"/>
              <a:buNone/>
            </a:pPr>
            <a:r>
              <a:rPr lang="en-US" sz="1200" dirty="0">
                <a:solidFill>
                  <a:srgbClr val="000000"/>
                </a:solidFill>
                <a:effectLst/>
                <a:latin typeface="+mn-lt"/>
                <a:ea typeface="Times New Roman" panose="02020603050405020304" pitchFamily="18" charset="0"/>
              </a:rPr>
              <a:t>Somalia: 10%.</a:t>
            </a:r>
            <a:endParaRPr lang="en-US" sz="1200" dirty="0">
              <a:latin typeface="+mn-lt"/>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9245609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5434610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31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291465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685800" y="571501"/>
            <a:ext cx="7772400" cy="2128838"/>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2971800"/>
            <a:ext cx="7794626" cy="131445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270BF5B2-0921-42A2-996A-CB699212363D}"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11" name="TextBox 10"/>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Inc. All Rights Reserved.</a:t>
            </a:r>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688622" cy="209973"/>
          </a:xfrm>
          <a:prstGeom prst="rect">
            <a:avLst/>
          </a:prstGeom>
        </p:spPr>
      </p:pic>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3600" y="4825796"/>
            <a:ext cx="688622" cy="209973"/>
          </a:xfrm>
          <a:prstGeom prst="rect">
            <a:avLst/>
          </a:prstGeom>
        </p:spPr>
      </p:pic>
      <p:sp>
        <p:nvSpPr>
          <p:cNvPr id="8" name="Text Placeholder 22"/>
          <p:cNvSpPr>
            <a:spLocks noGrp="1"/>
          </p:cNvSpPr>
          <p:nvPr>
            <p:ph type="body" sz="quarter" idx="16" hasCustomPrompt="1"/>
          </p:nvPr>
        </p:nvSpPr>
        <p:spPr>
          <a:xfrm>
            <a:off x="2834640" y="4800600"/>
            <a:ext cx="5928360" cy="20574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423E10A9-CFAD-4292-9331-3BBD48932B9F}"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612322"/>
            <a:ext cx="8229600" cy="302078"/>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200151"/>
            <a:ext cx="8229600" cy="3394472"/>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95174352-6700-4612-AE81-A1744849CCAB}"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4810285"/>
            <a:ext cx="8595360" cy="248411"/>
          </a:xfrm>
        </p:spPr>
        <p:txBody>
          <a:bodyPr/>
          <a:lstStyle/>
          <a:p>
            <a:r>
              <a:rPr lang="en-US"/>
              <a:t>Copyright © 2022, 2020, 2018 Pearson Education, Ltd. All Rights Reserved</a:t>
            </a:r>
            <a:endParaRPr lang="en-US" dirty="0"/>
          </a:p>
        </p:txBody>
      </p:sp>
      <p:sp>
        <p:nvSpPr>
          <p:cNvPr id="9" name="Date Placeholder 3"/>
          <p:cNvSpPr>
            <a:spLocks noGrp="1"/>
          </p:cNvSpPr>
          <p:nvPr>
            <p:ph type="dt" sz="half" idx="10"/>
          </p:nvPr>
        </p:nvSpPr>
        <p:spPr>
          <a:xfrm>
            <a:off x="6335713" y="84804"/>
            <a:ext cx="2133600" cy="137160"/>
          </a:xfrm>
        </p:spPr>
        <p:txBody>
          <a:bodyPr/>
          <a:lstStyle/>
          <a:p>
            <a:fld id="{7D158936-092F-4C9C-A18D-119D21A4459D}" type="datetime1">
              <a:rPr lang="en-US" smtClean="0"/>
              <a:t>5/28/2021</a:t>
            </a:fld>
            <a:endParaRPr lang="en-US" dirty="0"/>
          </a:p>
        </p:txBody>
      </p:sp>
      <p:sp>
        <p:nvSpPr>
          <p:cNvPr id="10" name="Slide Number Placeholder 5"/>
          <p:cNvSpPr>
            <a:spLocks noGrp="1"/>
          </p:cNvSpPr>
          <p:nvPr>
            <p:ph type="sldNum" sz="quarter" idx="12"/>
          </p:nvPr>
        </p:nvSpPr>
        <p:spPr>
          <a:xfrm>
            <a:off x="8469313" y="84804"/>
            <a:ext cx="551783" cy="13716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256032" indent="-256032">
              <a:buClr>
                <a:srgbClr val="007FA3"/>
              </a:buClr>
              <a:buSzPct val="100000"/>
              <a:defRPr sz="2400"/>
            </a:lvl1pPr>
            <a:lvl2pPr marL="740664" indent="-283464">
              <a:buClr>
                <a:srgbClr val="007FA3"/>
              </a:buClr>
              <a:defRPr sz="2200"/>
            </a:lvl2pPr>
            <a:lvl3pPr>
              <a:buClr>
                <a:srgbClr val="007FA3"/>
              </a:buClr>
              <a:defRPr sz="2000"/>
            </a:lvl3pPr>
            <a:lvl4pPr>
              <a:buClr>
                <a:srgbClr val="007FA3"/>
              </a:buClr>
              <a:defRPr sz="18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4810285"/>
            <a:ext cx="8595360" cy="248411"/>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CCBBD9ED-A729-462E-96AA-FE7F2C06B978}"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171450"/>
            <a:ext cx="8229600" cy="800100"/>
          </a:xfrm>
        </p:spPr>
        <p:txBody>
          <a:bodyPr anchor="t"/>
          <a:lstStyle>
            <a:lvl1pPr>
              <a:defRPr sz="36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4026120"/>
            <a:ext cx="8229600" cy="687642"/>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C62606FC-C020-4D2D-8BE5-1FB30BF8B6BA}"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 y="4825796"/>
            <a:ext cx="918000" cy="209936"/>
          </a:xfrm>
          <a:prstGeom prst="rect">
            <a:avLst/>
          </a:prstGeom>
        </p:spPr>
      </p:pic>
      <p:sp>
        <p:nvSpPr>
          <p:cNvPr id="9" name="TextBox 8"/>
          <p:cNvSpPr txBox="1"/>
          <p:nvPr userDrawn="1"/>
        </p:nvSpPr>
        <p:spPr>
          <a:xfrm>
            <a:off x="2743200" y="4800601"/>
            <a:ext cx="60960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a:t>
            </a:r>
            <a:r>
              <a:rPr lang="en-US" sz="1200" dirty="0">
                <a:latin typeface="Verdana" panose="020B0604030504040204" pitchFamily="34" charset="0"/>
                <a:ea typeface="Verdana" panose="020B0604030504040204" pitchFamily="34" charset="0"/>
                <a:cs typeface="Verdana" panose="020B0604030504040204" pitchFamily="34" charset="0"/>
              </a:rPr>
              <a:t>2017, 2014, 2011</a:t>
            </a:r>
            <a:r>
              <a:rPr lang="en-US" altLang="en-US" sz="1200" b="0" dirty="0">
                <a:latin typeface="Verdana" panose="020B0604030504040204" pitchFamily="34" charset="0"/>
                <a:ea typeface="Verdana" panose="020B0604030504040204" pitchFamily="34" charset="0"/>
                <a:cs typeface="Verdana" panose="020B0604030504040204" pitchFamily="34" charset="0"/>
              </a:rPr>
              <a:t> Pearson Education, Ltd.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971801"/>
            <a:ext cx="8229600" cy="1622822"/>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857750"/>
            <a:ext cx="8595360" cy="200946"/>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4B7240B4-BB11-4C58-AE4F-82E037D3BCE0}"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200151"/>
            <a:ext cx="8229600" cy="514350"/>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2228850"/>
            <a:ext cx="8229600" cy="571500"/>
          </a:xfrm>
        </p:spPr>
        <p:txBody>
          <a:bodyPr/>
          <a:lstStyle>
            <a:lvl1pPr>
              <a:defRPr sz="2400"/>
            </a:lvl1pPr>
            <a:lvl2pPr>
              <a:defRPr sz="2200"/>
            </a:lvl2pPr>
            <a:lvl3pPr>
              <a:defRPr sz="2000"/>
            </a:lvl3pPr>
            <a:lvl4pPr>
              <a:defRPr sz="18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0"/>
          </p:nvPr>
        </p:nvSpPr>
        <p:spPr/>
        <p:txBody>
          <a:bodyPr/>
          <a:lstStyle/>
          <a:p>
            <a:fld id="{491AB448-5CCA-4DE0-80EE-980D9E8FD8B0}" type="datetime1">
              <a:rPr lang="en-US" smtClean="0"/>
              <a:t>5/28/2021</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4"/>
          </p:nvPr>
        </p:nvSpPr>
        <p:spPr>
          <a:xfrm>
            <a:off x="457200" y="2971800"/>
            <a:ext cx="8229600" cy="6286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15"/>
          </p:nvPr>
        </p:nvSpPr>
        <p:spPr>
          <a:xfrm>
            <a:off x="457200" y="3829050"/>
            <a:ext cx="8229600" cy="571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193359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a:xfrm>
            <a:off x="93969" y="4857750"/>
            <a:ext cx="8595360" cy="200946"/>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A1ACCE31-EE08-48F0-BFBE-AD5045BA95E2}"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6" name="Title 7"/>
          <p:cNvSpPr>
            <a:spLocks noGrp="1"/>
          </p:cNvSpPr>
          <p:nvPr>
            <p:ph type="title"/>
          </p:nvPr>
        </p:nvSpPr>
        <p:spPr>
          <a:xfrm>
            <a:off x="457200" y="161529"/>
            <a:ext cx="8229600" cy="822960"/>
          </a:xfrm>
        </p:spPr>
        <p:txBody>
          <a:bodyPr/>
          <a:lstStyle/>
          <a:p>
            <a:r>
              <a:rPr lang="en-US" dirty="0"/>
              <a:t>Click to edit Master title style</a:t>
            </a:r>
          </a:p>
        </p:txBody>
      </p:sp>
      <p:sp>
        <p:nvSpPr>
          <p:cNvPr id="7" name="Content Placeholder 2"/>
          <p:cNvSpPr>
            <a:spLocks noGrp="1"/>
          </p:cNvSpPr>
          <p:nvPr>
            <p:ph idx="1"/>
          </p:nvPr>
        </p:nvSpPr>
        <p:spPr>
          <a:xfrm>
            <a:off x="457200" y="1200151"/>
            <a:ext cx="8229600" cy="685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idx="13"/>
          </p:nvPr>
        </p:nvSpPr>
        <p:spPr>
          <a:xfrm>
            <a:off x="457200" y="2000250"/>
            <a:ext cx="3886200" cy="18288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4"/>
          </p:nvPr>
        </p:nvSpPr>
        <p:spPr>
          <a:xfrm>
            <a:off x="4419600" y="2000250"/>
            <a:ext cx="4267200" cy="1828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085851"/>
            <a:ext cx="7772400" cy="1614488"/>
          </a:xfrm>
        </p:spPr>
        <p:txBody>
          <a:bodyPr anchor="b">
            <a:noAutofit/>
          </a:bodyPr>
          <a:lstStyle>
            <a:lvl1pPr algn="l">
              <a:defRPr sz="36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8" y="2971800"/>
            <a:ext cx="7794627" cy="131445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14" name="Date Placeholder 13"/>
          <p:cNvSpPr>
            <a:spLocks noGrp="1"/>
          </p:cNvSpPr>
          <p:nvPr>
            <p:ph type="dt" sz="half" idx="10"/>
          </p:nvPr>
        </p:nvSpPr>
        <p:spPr/>
        <p:txBody>
          <a:bodyPr/>
          <a:lstStyle/>
          <a:p>
            <a:fld id="{84F6F923-8224-427C-9731-251437A30495}" type="datetime1">
              <a:rPr lang="en-US" smtClean="0"/>
              <a:t>5/28/2021</a:t>
            </a:fld>
            <a:endParaRPr lang="en-US" dirty="0"/>
          </a:p>
        </p:txBody>
      </p:sp>
      <p:sp>
        <p:nvSpPr>
          <p:cNvPr id="15" name="Slide Number Placeholder 14"/>
          <p:cNvSpPr>
            <a:spLocks noGrp="1"/>
          </p:cNvSpPr>
          <p:nvPr>
            <p:ph type="sldNum" sz="quarter" idx="11"/>
          </p:nvPr>
        </p:nvSpPr>
        <p:spPr/>
        <p:txBody>
          <a:bodyPr/>
          <a:lstStyle/>
          <a:p>
            <a:fld id="{200B2350-5261-4F5C-9DF5-EF0D264FC8D2}" type="slidenum">
              <a:rPr lang="en-US" smtClean="0"/>
              <a:pPr/>
              <a:t>‹#›</a:t>
            </a:fld>
            <a:endParaRPr lang="en-US" dirty="0"/>
          </a:p>
        </p:txBody>
      </p:sp>
      <p:sp>
        <p:nvSpPr>
          <p:cNvPr id="16" name="Footer Placeholder 15"/>
          <p:cNvSpPr>
            <a:spLocks noGrp="1"/>
          </p:cNvSpPr>
          <p:nvPr>
            <p:ph type="ftr" sz="quarter" idx="12"/>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3" name="Date Placeholder 2"/>
          <p:cNvSpPr>
            <a:spLocks noGrp="1"/>
          </p:cNvSpPr>
          <p:nvPr>
            <p:ph type="dt" sz="half" idx="10"/>
          </p:nvPr>
        </p:nvSpPr>
        <p:spPr/>
        <p:txBody>
          <a:bodyPr/>
          <a:lstStyle/>
          <a:p>
            <a:fld id="{9718ACB0-0594-470C-BBBE-343E39F1DC89}"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4629151"/>
            <a:ext cx="8595360" cy="176597"/>
          </a:xfrm>
        </p:spPr>
        <p:txBody>
          <a:bodyPr/>
          <a:lstStyle/>
          <a:p>
            <a:r>
              <a:rPr lang="en-US"/>
              <a:t>Copyright © 2022, 2020, 2018 Pearson Education, Ltd. All Rights Reserved</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01A90F7B-9DAB-487A-837C-6F34D9FC578C}" type="datetime1">
              <a:rPr lang="en-US" smtClean="0"/>
              <a:t>5/28/2021</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4825796"/>
            <a:ext cx="918000" cy="209936"/>
          </a:xfrm>
          <a:prstGeom prst="rect">
            <a:avLst/>
          </a:prstGeom>
        </p:spPr>
      </p:pic>
      <p:sp>
        <p:nvSpPr>
          <p:cNvPr id="11" name="TextBox 10"/>
          <p:cNvSpPr txBox="1"/>
          <p:nvPr userDrawn="1"/>
        </p:nvSpPr>
        <p:spPr>
          <a:xfrm>
            <a:off x="95799" y="4828541"/>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2017,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161529"/>
            <a:ext cx="8229600" cy="467121"/>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612322"/>
            <a:ext cx="8229600" cy="359228"/>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200151"/>
            <a:ext cx="3657600" cy="120014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2400301"/>
            <a:ext cx="3657600" cy="2194322"/>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4624003"/>
            <a:ext cx="8595360" cy="176597"/>
          </a:xfrm>
        </p:spPr>
        <p:txBody>
          <a:bodyPr/>
          <a:lstStyle/>
          <a:p>
            <a:r>
              <a:rPr lang="en-US"/>
              <a:t>Copyright © 2022, 2020, 2018 Pearson Education, Ltd. All Rights Reserved</a:t>
            </a:r>
            <a:endParaRPr lang="en-US" dirty="0"/>
          </a:p>
        </p:txBody>
      </p:sp>
      <p:sp>
        <p:nvSpPr>
          <p:cNvPr id="4" name="Date Placeholder 3"/>
          <p:cNvSpPr>
            <a:spLocks noGrp="1"/>
          </p:cNvSpPr>
          <p:nvPr>
            <p:ph type="dt" sz="half" idx="11"/>
          </p:nvPr>
        </p:nvSpPr>
        <p:spPr/>
        <p:txBody>
          <a:bodyPr/>
          <a:lstStyle/>
          <a:p>
            <a:fld id="{B92C1A99-9DE6-4704-8732-AF8173AE17EA}" type="datetime1">
              <a:rPr lang="en-US" smtClean="0"/>
              <a:t>5/28/2021</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3" name="Picture 12"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4825796"/>
            <a:ext cx="688622" cy="209973"/>
          </a:xfrm>
          <a:prstGeom prst="rect">
            <a:avLst/>
          </a:prstGeom>
        </p:spPr>
      </p:pic>
    </p:spTree>
    <p:extLst>
      <p:ext uri="{BB962C8B-B14F-4D97-AF65-F5344CB8AC3E}">
        <p14:creationId xmlns:p14="http://schemas.microsoft.com/office/powerpoint/2010/main" val="1321805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6_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161529"/>
            <a:ext cx="8229600" cy="82295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4" name="Shape 34"/>
          <p:cNvSpPr txBox="1">
            <a:spLocks noGrp="1"/>
          </p:cNvSpPr>
          <p:nvPr>
            <p:ph type="ftr" idx="11"/>
          </p:nvPr>
        </p:nvSpPr>
        <p:spPr>
          <a:xfrm>
            <a:off x="93970" y="4857750"/>
            <a:ext cx="8595359" cy="200946"/>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r>
              <a:rPr lang="en-US"/>
              <a:t>Copyright © 2022, 2020, 2018 Pearson Education, Ltd. All Rights Reserved</a:t>
            </a:r>
            <a:endParaRPr dirty="0"/>
          </a:p>
        </p:txBody>
      </p:sp>
      <p:sp>
        <p:nvSpPr>
          <p:cNvPr id="35" name="Shape 35"/>
          <p:cNvSpPr txBox="1">
            <a:spLocks noGrp="1"/>
          </p:cNvSpPr>
          <p:nvPr>
            <p:ph type="dt" idx="10"/>
          </p:nvPr>
        </p:nvSpPr>
        <p:spPr>
          <a:xfrm>
            <a:off x="6335713" y="84804"/>
            <a:ext cx="2133599" cy="13715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fld id="{19ECA595-CABC-47A1-AD2E-5BDBB16EE4A7}" type="datetime1">
              <a:rPr lang="en-US" smtClean="0"/>
              <a:t>5/28/2021</a:t>
            </a:fld>
            <a:endParaRPr dirty="0"/>
          </a:p>
        </p:txBody>
      </p:sp>
      <p:sp>
        <p:nvSpPr>
          <p:cNvPr id="36" name="Shape 36"/>
          <p:cNvSpPr txBox="1">
            <a:spLocks noGrp="1"/>
          </p:cNvSpPr>
          <p:nvPr>
            <p:ph type="sldNum" idx="12"/>
          </p:nvPr>
        </p:nvSpPr>
        <p:spPr>
          <a:xfrm>
            <a:off x="8469312" y="84804"/>
            <a:ext cx="551783" cy="137159"/>
          </a:xfrm>
          <a:prstGeom prst="rect">
            <a:avLst/>
          </a:prstGeom>
          <a:noFill/>
          <a:ln>
            <a:noFill/>
          </a:ln>
        </p:spPr>
        <p:txBody>
          <a:bodyPr lIns="91425" tIns="45700" rIns="91425" bIns="45700" anchor="ctr" anchorCtr="0">
            <a:noAutofit/>
          </a:bodyPr>
          <a:lstStyle/>
          <a:p>
            <a:pPr>
              <a:buSzPct val="25000"/>
            </a:pPr>
            <a:fld id="{00000000-1234-1234-1234-123412341234}" type="slidenum">
              <a:rPr lang="en-US" smtClean="0">
                <a:solidFill>
                  <a:schemeClr val="lt1"/>
                </a:solidFill>
                <a:ea typeface="Arial"/>
                <a:cs typeface="Arial"/>
                <a:sym typeface="Arial"/>
              </a:rPr>
              <a:pPr>
                <a:buSzPct val="25000"/>
              </a:pPr>
              <a:t>‹#›</a:t>
            </a:fld>
            <a:endParaRPr lang="en-US" dirty="0">
              <a:solidFill>
                <a:schemeClr val="lt1"/>
              </a:solidFill>
              <a:ea typeface="Arial"/>
              <a:cs typeface="Arial"/>
              <a:sym typeface="Arial"/>
            </a:endParaRP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167245"/>
            <a:ext cx="8229600" cy="1700646"/>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2978944"/>
            <a:ext cx="8229600" cy="1578769"/>
          </a:xfrm>
        </p:spPr>
        <p:txBody>
          <a:bodyPr/>
          <a:lstStyle/>
          <a:p>
            <a:pPr lvl="0"/>
            <a:r>
              <a:rPr lang="en-US" dirty="0"/>
              <a:t>Edit Master text styles</a:t>
            </a:r>
          </a:p>
        </p:txBody>
      </p:sp>
    </p:spTree>
    <p:extLst>
      <p:ext uri="{BB962C8B-B14F-4D97-AF65-F5344CB8AC3E}">
        <p14:creationId xmlns:p14="http://schemas.microsoft.com/office/powerpoint/2010/main" val="1142722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61529"/>
            <a:ext cx="8229600" cy="82296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4629151"/>
            <a:ext cx="8595360" cy="176597"/>
          </a:xfrm>
          <a:prstGeom prst="rect">
            <a:avLst/>
          </a:prstGeom>
        </p:spPr>
        <p:txBody>
          <a:bodyPr vert="horz" lIns="0" tIns="0" rIns="0" bIns="0" rtlCol="0" anchor="b"/>
          <a:lstStyle>
            <a:lvl1pPr algn="l">
              <a:defRPr sz="1100">
                <a:solidFill>
                  <a:schemeClr val="tx1"/>
                </a:solidFill>
              </a:defRPr>
            </a:lvl1pPr>
          </a:lstStyle>
          <a:p>
            <a:r>
              <a:rPr lang="en-US"/>
              <a:t>Copyright © 2022, 2020, 2018 Pearson Education, Ltd. All Rights Reserved</a:t>
            </a:r>
            <a:endParaRPr lang="en-US" dirty="0"/>
          </a:p>
        </p:txBody>
      </p:sp>
      <p:sp>
        <p:nvSpPr>
          <p:cNvPr id="4" name="Date Placeholder 3"/>
          <p:cNvSpPr>
            <a:spLocks noGrp="1"/>
          </p:cNvSpPr>
          <p:nvPr>
            <p:ph type="dt" sz="half" idx="2"/>
          </p:nvPr>
        </p:nvSpPr>
        <p:spPr>
          <a:xfrm>
            <a:off x="6335713" y="84804"/>
            <a:ext cx="2133600" cy="137160"/>
          </a:xfrm>
          <a:prstGeom prst="rect">
            <a:avLst/>
          </a:prstGeom>
        </p:spPr>
        <p:txBody>
          <a:bodyPr vert="horz" lIns="91440" tIns="45720" rIns="91440" bIns="45720" rtlCol="0" anchor="ctr"/>
          <a:lstStyle>
            <a:lvl1pPr algn="r">
              <a:defRPr sz="900">
                <a:solidFill>
                  <a:schemeClr val="bg1"/>
                </a:solidFill>
              </a:defRPr>
            </a:lvl1pPr>
          </a:lstStyle>
          <a:p>
            <a:fld id="{D196B891-B216-49B8-8FB8-026C1E4EEB34}" type="datetime1">
              <a:rPr lang="en-US" smtClean="0"/>
              <a:t>5/28/2021</a:t>
            </a:fld>
            <a:endParaRPr lang="en-US" dirty="0"/>
          </a:p>
        </p:txBody>
      </p:sp>
      <p:sp>
        <p:nvSpPr>
          <p:cNvPr id="6" name="Slide Number Placeholder 5"/>
          <p:cNvSpPr>
            <a:spLocks noGrp="1"/>
          </p:cNvSpPr>
          <p:nvPr>
            <p:ph type="sldNum" sz="quarter" idx="4"/>
          </p:nvPr>
        </p:nvSpPr>
        <p:spPr>
          <a:xfrm>
            <a:off x="8469313" y="84804"/>
            <a:ext cx="551783" cy="13716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sp>
        <p:nvSpPr>
          <p:cNvPr id="8" name="TextBox 7"/>
          <p:cNvSpPr txBox="1"/>
          <p:nvPr userDrawn="1"/>
        </p:nvSpPr>
        <p:spPr>
          <a:xfrm>
            <a:off x="2226578" y="4800601"/>
            <a:ext cx="6553200" cy="276999"/>
          </a:xfrm>
          <a:prstGeom prst="rect">
            <a:avLst/>
          </a:prstGeom>
          <a:noFill/>
        </p:spPr>
        <p:txBody>
          <a:bodyPr wrap="square" rtlCol="0">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Inc.</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9" name="Picture 8" descr="Pearson Logo"/>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57200" y="4825796"/>
            <a:ext cx="688622" cy="209973"/>
          </a:xfrm>
          <a:prstGeom prst="rect">
            <a:avLst/>
          </a:prstGeom>
        </p:spPr>
      </p:pic>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56" r:id="rId4"/>
    <p:sldLayoutId id="2147483650" r:id="rId5"/>
    <p:sldLayoutId id="2147483659" r:id="rId6"/>
    <p:sldLayoutId id="2147483658" r:id="rId7"/>
    <p:sldLayoutId id="2147483660" r:id="rId8"/>
    <p:sldLayoutId id="2147483665" r:id="rId9"/>
    <p:sldLayoutId id="2147483662" r:id="rId10"/>
    <p:sldLayoutId id="2147483651" r:id="rId11"/>
    <p:sldLayoutId id="2147483654" r:id="rId12"/>
    <p:sldLayoutId id="2147483655" r:id="rId13"/>
    <p:sldLayoutId id="2147483663" r:id="rId14"/>
    <p:sldLayoutId id="2147483664" r:id="rId15"/>
  </p:sldLayoutIdLst>
  <p:hf sldNum="0" hdr="0" dt="0"/>
  <p:txStyles>
    <p:titleStyle>
      <a:lvl1pPr algn="l" defTabSz="914400" rtl="0" eaLnBrk="1" latinLnBrk="0" hangingPunct="1">
        <a:lnSpc>
          <a:spcPct val="100000"/>
        </a:lnSpc>
        <a:spcBef>
          <a:spcPct val="0"/>
        </a:spcBef>
        <a:buNone/>
        <a:defRPr sz="3600" b="1" kern="1200">
          <a:solidFill>
            <a:srgbClr val="007FA3"/>
          </a:solidFill>
          <a:latin typeface="+mj-lt"/>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4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2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15.xml"/><Relationship Id="rId4" Type="http://schemas.openxmlformats.org/officeDocument/2006/relationships/image" Target="../media/image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1107996"/>
          </a:xfrm>
        </p:spPr>
        <p:txBody>
          <a:bodyPr wrap="square" anchor="b">
            <a:spAutoFit/>
          </a:bodyPr>
          <a:lstStyle/>
          <a:p>
            <a:r>
              <a:rPr lang="en-IN" dirty="0"/>
              <a:t>Management Information Systems: Managing the Digital Firm</a:t>
            </a:r>
          </a:p>
        </p:txBody>
      </p:sp>
      <p:sp>
        <p:nvSpPr>
          <p:cNvPr id="3" name="Text Placeholder 2"/>
          <p:cNvSpPr>
            <a:spLocks noGrp="1"/>
          </p:cNvSpPr>
          <p:nvPr>
            <p:ph type="body" sz="quarter" idx="13"/>
          </p:nvPr>
        </p:nvSpPr>
        <p:spPr>
          <a:xfrm>
            <a:off x="457200" y="1195577"/>
            <a:ext cx="8229600" cy="307777"/>
          </a:xfrm>
        </p:spPr>
        <p:txBody>
          <a:bodyPr vert="horz" lIns="0" tIns="0" rIns="0" bIns="0" rtlCol="0" anchor="t">
            <a:spAutoFit/>
          </a:bodyPr>
          <a:lstStyle/>
          <a:p>
            <a:r>
              <a:rPr lang="en-IN" dirty="0"/>
              <a:t>Seventeenth Edition, Global Edition</a:t>
            </a:r>
          </a:p>
        </p:txBody>
      </p:sp>
      <p:sp>
        <p:nvSpPr>
          <p:cNvPr id="4" name="Text Placeholder 3"/>
          <p:cNvSpPr>
            <a:spLocks noGrp="1"/>
          </p:cNvSpPr>
          <p:nvPr>
            <p:ph type="body" sz="quarter" idx="14"/>
          </p:nvPr>
        </p:nvSpPr>
        <p:spPr>
          <a:xfrm>
            <a:off x="4569035" y="1935229"/>
            <a:ext cx="4117765" cy="492443"/>
          </a:xfrm>
        </p:spPr>
        <p:txBody>
          <a:bodyPr wrap="square">
            <a:spAutoFit/>
          </a:bodyPr>
          <a:lstStyle/>
          <a:p>
            <a:r>
              <a:rPr lang="en-IN" sz="3200" dirty="0"/>
              <a:t>Chapter 15</a:t>
            </a:r>
          </a:p>
        </p:txBody>
      </p:sp>
      <p:sp>
        <p:nvSpPr>
          <p:cNvPr id="5" name="Text Placeholder 4"/>
          <p:cNvSpPr>
            <a:spLocks noGrp="1"/>
          </p:cNvSpPr>
          <p:nvPr>
            <p:ph type="body" sz="quarter" idx="15"/>
          </p:nvPr>
        </p:nvSpPr>
        <p:spPr>
          <a:xfrm>
            <a:off x="4569035" y="2571751"/>
            <a:ext cx="4117765" cy="307777"/>
          </a:xfrm>
        </p:spPr>
        <p:txBody>
          <a:bodyPr wrap="square">
            <a:spAutoFit/>
          </a:bodyPr>
          <a:lstStyle/>
          <a:p>
            <a:r>
              <a:rPr lang="en-US" sz="2000" dirty="0"/>
              <a:t>Managing Global Systems</a:t>
            </a:r>
          </a:p>
        </p:txBody>
      </p:sp>
      <p:sp>
        <p:nvSpPr>
          <p:cNvPr id="11" name="Text Placeholder 3"/>
          <p:cNvSpPr>
            <a:spLocks noGrp="1"/>
          </p:cNvSpPr>
          <p:nvPr>
            <p:ph type="body" sz="quarter" idx="14"/>
          </p:nvPr>
        </p:nvSpPr>
        <p:spPr>
          <a:xfrm>
            <a:off x="2309414" y="4841708"/>
            <a:ext cx="6385810" cy="184666"/>
          </a:xfrm>
        </p:spPr>
        <p:txBody>
          <a:bodyPr>
            <a:spAutoFit/>
          </a:bodyPr>
          <a:lstStyle/>
          <a:p>
            <a:pPr algn="r">
              <a:buClrTx/>
              <a:defRPr/>
            </a:pPr>
            <a:r>
              <a:rPr lang="en-US" sz="1200" dirty="0">
                <a:latin typeface="Verdana" panose="020B0604030504040204" pitchFamily="34" charset="0"/>
                <a:ea typeface="Verdana" panose="020B0604030504040204" pitchFamily="34" charset="0"/>
                <a:cs typeface="Verdana" panose="020B0604030504040204" pitchFamily="34" charset="0"/>
              </a:rPr>
              <a:t>Copyright © 2022, 2020, 2018 Pearson Education, Ltd.</a:t>
            </a:r>
            <a:r>
              <a:rPr lang="en-US" sz="1200" b="1" dirty="0">
                <a:latin typeface="Verdana" panose="020B0604030504040204" pitchFamily="34" charset="0"/>
                <a:ea typeface="Verdana" panose="020B0604030504040204" pitchFamily="34" charset="0"/>
                <a:cs typeface="Verdana" panose="020B0604030504040204" pitchFamily="34" charset="0"/>
              </a:rPr>
              <a:t> </a:t>
            </a:r>
            <a:r>
              <a:rPr lang="en-US" sz="1200" dirty="0">
                <a:latin typeface="Verdana" panose="020B0604030504040204" pitchFamily="34" charset="0"/>
                <a:ea typeface="Verdana" panose="020B0604030504040204" pitchFamily="34" charset="0"/>
                <a:cs typeface="Verdana" panose="020B0604030504040204" pitchFamily="34" charset="0"/>
              </a:rPr>
              <a:t>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a:extLst>
              <a:ext uri="{FF2B5EF4-FFF2-40B4-BE49-F238E27FC236}">
                <a16:creationId xmlns:a16="http://schemas.microsoft.com/office/drawing/2014/main" id="{32243E05-75AE-4553-A2A0-243D50A2ECC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65656" y="1526253"/>
            <a:ext cx="2496016" cy="3116031"/>
          </a:xfrm>
          <a:prstGeom prst="rect">
            <a:avLst/>
          </a:prstGeom>
        </p:spPr>
      </p:pic>
    </p:spTree>
    <p:extLst>
      <p:ext uri="{BB962C8B-B14F-4D97-AF65-F5344CB8AC3E}">
        <p14:creationId xmlns:p14="http://schemas.microsoft.com/office/powerpoint/2010/main" val="250212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4362"/>
            <a:ext cx="8229600" cy="492443"/>
          </a:xfrm>
        </p:spPr>
        <p:txBody>
          <a:bodyPr anchor="ctr">
            <a:spAutoFit/>
          </a:bodyPr>
          <a:lstStyle/>
          <a:p>
            <a:r>
              <a:rPr lang="en-US" altLang="en-US" sz="3200" dirty="0"/>
              <a:t>Learning Objectives</a:t>
            </a:r>
            <a:endParaRPr lang="en-US" sz="3200" dirty="0"/>
          </a:p>
        </p:txBody>
      </p:sp>
      <p:sp>
        <p:nvSpPr>
          <p:cNvPr id="5" name="Content Placeholder 4"/>
          <p:cNvSpPr>
            <a:spLocks noGrp="1"/>
          </p:cNvSpPr>
          <p:nvPr>
            <p:ph idx="1"/>
          </p:nvPr>
        </p:nvSpPr>
        <p:spPr>
          <a:xfrm>
            <a:off x="457200" y="787896"/>
            <a:ext cx="8229600" cy="3231654"/>
          </a:xfrm>
        </p:spPr>
        <p:txBody>
          <a:bodyPr vert="horz" lIns="0" tIns="0" rIns="0" bIns="0" rtlCol="0" anchor="ctr">
            <a:spAutoFit/>
          </a:bodyPr>
          <a:lstStyle/>
          <a:p>
            <a:pPr marL="714375" indent="-714375">
              <a:buNone/>
              <a:tabLst>
                <a:tab pos="682625" algn="l"/>
              </a:tabLst>
            </a:pPr>
            <a:r>
              <a:rPr lang="en-US" altLang="en-US" sz="2000" b="1" dirty="0">
                <a:solidFill>
                  <a:schemeClr val="bg2"/>
                </a:solidFill>
              </a:rPr>
              <a:t>15.1</a:t>
            </a:r>
            <a:r>
              <a:rPr lang="en-US" altLang="en-US" sz="2000" b="1" dirty="0"/>
              <a:t> </a:t>
            </a:r>
            <a:r>
              <a:rPr lang="en-US" sz="2000" dirty="0"/>
              <a:t>What major factors are driving the internationalization of business?</a:t>
            </a:r>
            <a:endParaRPr lang="en-IN" altLang="en-US" sz="2000" dirty="0"/>
          </a:p>
          <a:p>
            <a:pPr marL="714375" indent="-714375" defTabSz="534988">
              <a:buNone/>
              <a:tabLst>
                <a:tab pos="673100" algn="l"/>
              </a:tabLst>
            </a:pPr>
            <a:r>
              <a:rPr lang="en-US" altLang="en-US" sz="2000" b="1" dirty="0">
                <a:solidFill>
                  <a:schemeClr val="bg2"/>
                </a:solidFill>
              </a:rPr>
              <a:t>15.2</a:t>
            </a:r>
            <a:r>
              <a:rPr lang="en-US" altLang="en-US" sz="2000" b="1" dirty="0"/>
              <a:t> </a:t>
            </a:r>
            <a:r>
              <a:rPr lang="en-US" sz="2000" dirty="0"/>
              <a:t>What are the alternative strategies for developing global businesses?</a:t>
            </a:r>
            <a:endParaRPr lang="en-IN" altLang="en-US" sz="2000" dirty="0"/>
          </a:p>
          <a:p>
            <a:pPr marL="714375" indent="-714375" defTabSz="534988">
              <a:buNone/>
              <a:tabLst>
                <a:tab pos="673100" algn="l"/>
              </a:tabLst>
            </a:pPr>
            <a:r>
              <a:rPr lang="en-US" altLang="en-US" sz="2000" b="1" dirty="0">
                <a:solidFill>
                  <a:schemeClr val="bg2"/>
                </a:solidFill>
              </a:rPr>
              <a:t>15.3</a:t>
            </a:r>
            <a:r>
              <a:rPr lang="en-US" altLang="en-US" sz="2000" b="1" dirty="0"/>
              <a:t> </a:t>
            </a:r>
            <a:r>
              <a:rPr lang="en-US" sz="2000" dirty="0"/>
              <a:t>What are the challenges posed by global information systems and management solutions for these challenges?</a:t>
            </a:r>
            <a:endParaRPr lang="en-IN" altLang="en-US" sz="2000" dirty="0"/>
          </a:p>
          <a:p>
            <a:pPr marL="714375" indent="-714375" defTabSz="534988">
              <a:buNone/>
              <a:tabLst>
                <a:tab pos="661988" algn="l"/>
              </a:tabLst>
            </a:pPr>
            <a:r>
              <a:rPr lang="en-US" altLang="en-US" sz="2000" b="1" dirty="0">
                <a:solidFill>
                  <a:schemeClr val="bg2"/>
                </a:solidFill>
              </a:rPr>
              <a:t>15.4</a:t>
            </a:r>
            <a:r>
              <a:rPr lang="en-US" altLang="en-US" sz="2000" dirty="0">
                <a:cs typeface="Arial"/>
              </a:rPr>
              <a:t> </a:t>
            </a:r>
            <a:r>
              <a:rPr lang="en-US" sz="2000" dirty="0"/>
              <a:t>What are the issues and technical alternatives to be considered when developing international information systems?</a:t>
            </a:r>
            <a:endParaRPr lang="en-IN" sz="2000" dirty="0"/>
          </a:p>
          <a:p>
            <a:pPr marL="0" indent="0">
              <a:buNone/>
            </a:pPr>
            <a:r>
              <a:rPr lang="en-US" altLang="en-US" sz="2000" b="1" dirty="0">
                <a:solidFill>
                  <a:schemeClr val="bg2"/>
                </a:solidFill>
              </a:rPr>
              <a:t>15.5</a:t>
            </a:r>
            <a:r>
              <a:rPr lang="en-US" altLang="en-US" sz="2000" dirty="0">
                <a:cs typeface="Arial"/>
              </a:rPr>
              <a:t> </a:t>
            </a:r>
            <a:r>
              <a:rPr lang="en-IN" sz="2000" dirty="0"/>
              <a:t>How will </a:t>
            </a:r>
            <a:r>
              <a:rPr lang="en-IN" sz="2000" spc="-300" dirty="0"/>
              <a:t>M I </a:t>
            </a:r>
            <a:r>
              <a:rPr lang="en-IN" sz="2000" dirty="0"/>
              <a:t>S help my career?</a:t>
            </a:r>
          </a:p>
        </p:txBody>
      </p:sp>
      <p:sp>
        <p:nvSpPr>
          <p:cNvPr id="2" name="Footer Placeholder 1">
            <a:extLst>
              <a:ext uri="{FF2B5EF4-FFF2-40B4-BE49-F238E27FC236}">
                <a16:creationId xmlns:a16="http://schemas.microsoft.com/office/drawing/2014/main" id="{6BB05BB3-579A-4575-9600-29CF4B3B259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907"/>
            <a:ext cx="8229600" cy="492443"/>
          </a:xfrm>
        </p:spPr>
        <p:txBody>
          <a:bodyPr>
            <a:spAutoFit/>
          </a:bodyPr>
          <a:lstStyle/>
          <a:p>
            <a:r>
              <a:rPr lang="en-IN" altLang="en-US" sz="3200" dirty="0"/>
              <a:t>Video Cases</a:t>
            </a:r>
            <a:endParaRPr lang="en-US" sz="3200" dirty="0"/>
          </a:p>
        </p:txBody>
      </p:sp>
      <p:sp>
        <p:nvSpPr>
          <p:cNvPr id="5" name="Content Placeholder 4"/>
          <p:cNvSpPr>
            <a:spLocks noGrp="1"/>
          </p:cNvSpPr>
          <p:nvPr>
            <p:ph idx="1"/>
          </p:nvPr>
        </p:nvSpPr>
        <p:spPr>
          <a:xfrm>
            <a:off x="457200" y="777823"/>
            <a:ext cx="8229600" cy="1184327"/>
          </a:xfrm>
        </p:spPr>
        <p:txBody>
          <a:bodyPr anchor="ctr">
            <a:spAutoFit/>
          </a:bodyPr>
          <a:lstStyle/>
          <a:p>
            <a:r>
              <a:rPr lang="en-IN" sz="2000" dirty="0"/>
              <a:t>Case 1: </a:t>
            </a:r>
            <a:r>
              <a:rPr lang="en-IN" sz="2000" dirty="0" err="1"/>
              <a:t>Daum</a:t>
            </a:r>
            <a:r>
              <a:rPr lang="en-IN" sz="2000" dirty="0"/>
              <a:t> Runs Oracle Apps on Linux.</a:t>
            </a:r>
          </a:p>
          <a:p>
            <a:r>
              <a:rPr lang="en-IN" sz="2000" dirty="0"/>
              <a:t>Case 2: Lean Manufacturing and Global </a:t>
            </a:r>
            <a:r>
              <a:rPr lang="en-IN" sz="2000" spc="-300" dirty="0"/>
              <a:t>E R </a:t>
            </a:r>
            <a:r>
              <a:rPr lang="en-IN" sz="2000" dirty="0"/>
              <a:t>P: </a:t>
            </a:r>
            <a:r>
              <a:rPr lang="en-IN" sz="2000" dirty="0" err="1"/>
              <a:t>Humanetics</a:t>
            </a:r>
            <a:r>
              <a:rPr lang="en-IN" sz="2000" dirty="0"/>
              <a:t> and Global Shop</a:t>
            </a:r>
          </a:p>
        </p:txBody>
      </p:sp>
      <p:sp>
        <p:nvSpPr>
          <p:cNvPr id="2" name="Footer Placeholder 1">
            <a:extLst>
              <a:ext uri="{FF2B5EF4-FFF2-40B4-BE49-F238E27FC236}">
                <a16:creationId xmlns:a16="http://schemas.microsoft.com/office/drawing/2014/main" id="{9E6CC38F-C092-4453-AFB0-70B3DB85BC1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260939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8987"/>
            <a:ext cx="8229600" cy="984885"/>
          </a:xfrm>
        </p:spPr>
        <p:txBody>
          <a:bodyPr>
            <a:spAutoFit/>
          </a:bodyPr>
          <a:lstStyle/>
          <a:p>
            <a:r>
              <a:rPr lang="en-US" altLang="en-US" sz="3200" dirty="0"/>
              <a:t>The Bel Group: Laughing All the Way to Success </a:t>
            </a:r>
            <a:r>
              <a:rPr lang="en-IN" altLang="en-US" sz="2400" dirty="0"/>
              <a:t>(1 of 2)</a:t>
            </a:r>
            <a:endParaRPr lang="en-US" sz="2400" dirty="0"/>
          </a:p>
        </p:txBody>
      </p:sp>
      <p:sp>
        <p:nvSpPr>
          <p:cNvPr id="5" name="Content Placeholder 4"/>
          <p:cNvSpPr>
            <a:spLocks noGrp="1"/>
          </p:cNvSpPr>
          <p:nvPr>
            <p:ph idx="1"/>
          </p:nvPr>
        </p:nvSpPr>
        <p:spPr>
          <a:xfrm>
            <a:off x="457200" y="1123950"/>
            <a:ext cx="8229600" cy="3162404"/>
          </a:xfrm>
        </p:spPr>
        <p:txBody>
          <a:bodyPr>
            <a:spAutoFit/>
          </a:bodyPr>
          <a:lstStyle/>
          <a:p>
            <a:r>
              <a:rPr lang="en-US" altLang="en-US" dirty="0"/>
              <a:t>Problem</a:t>
            </a:r>
          </a:p>
          <a:p>
            <a:pPr lvl="1"/>
            <a:r>
              <a:rPr lang="en-US" altLang="en-US" sz="2400" dirty="0"/>
              <a:t>Potential expansion </a:t>
            </a:r>
          </a:p>
          <a:p>
            <a:pPr lvl="1"/>
            <a:r>
              <a:rPr lang="en-US" altLang="en-US" sz="2400" dirty="0"/>
              <a:t>Untouched market potential globally</a:t>
            </a:r>
          </a:p>
          <a:p>
            <a:r>
              <a:rPr lang="en-US" altLang="en-US" dirty="0"/>
              <a:t>Solutions</a:t>
            </a:r>
          </a:p>
          <a:p>
            <a:pPr lvl="1"/>
            <a:r>
              <a:rPr lang="en-US" altLang="en-US" sz="2400" dirty="0"/>
              <a:t>Design global strategy and business model</a:t>
            </a:r>
          </a:p>
          <a:p>
            <a:pPr lvl="1"/>
            <a:r>
              <a:rPr lang="en-US" altLang="en-US" sz="2400" dirty="0"/>
              <a:t>Redesign business processes</a:t>
            </a:r>
          </a:p>
          <a:p>
            <a:pPr lvl="1"/>
            <a:r>
              <a:rPr lang="en-US" altLang="en-US" sz="2400" dirty="0"/>
              <a:t>Deploy Salesforce’s Sales Cloud software</a:t>
            </a:r>
          </a:p>
        </p:txBody>
      </p:sp>
      <p:sp>
        <p:nvSpPr>
          <p:cNvPr id="2" name="Footer Placeholder 1">
            <a:extLst>
              <a:ext uri="{FF2B5EF4-FFF2-40B4-BE49-F238E27FC236}">
                <a16:creationId xmlns:a16="http://schemas.microsoft.com/office/drawing/2014/main" id="{4E894A1C-5291-44A4-950E-4C64909B061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12462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nchor="ctr">
            <a:spAutoFit/>
          </a:bodyPr>
          <a:lstStyle/>
          <a:p>
            <a:r>
              <a:rPr lang="en-US" altLang="en-US" sz="3200" dirty="0"/>
              <a:t>The Bel Group: Laughing All the Way to Success </a:t>
            </a:r>
            <a:r>
              <a:rPr lang="en-IN" altLang="en-US" sz="2400" dirty="0"/>
              <a:t>(2 of 2)</a:t>
            </a:r>
            <a:endParaRPr lang="en-US" sz="2400" dirty="0"/>
          </a:p>
        </p:txBody>
      </p:sp>
      <p:sp>
        <p:nvSpPr>
          <p:cNvPr id="5" name="Content Placeholder 4"/>
          <p:cNvSpPr>
            <a:spLocks noGrp="1"/>
          </p:cNvSpPr>
          <p:nvPr>
            <p:ph idx="1"/>
          </p:nvPr>
        </p:nvSpPr>
        <p:spPr>
          <a:xfrm>
            <a:off x="457200" y="1493005"/>
            <a:ext cx="8229600" cy="2276231"/>
          </a:xfrm>
        </p:spPr>
        <p:txBody>
          <a:bodyPr>
            <a:spAutoFit/>
          </a:bodyPr>
          <a:lstStyle/>
          <a:p>
            <a:r>
              <a:rPr lang="en-US" altLang="en-US" dirty="0"/>
              <a:t>Global CRM System </a:t>
            </a:r>
          </a:p>
          <a:p>
            <a:r>
              <a:rPr lang="en-US" altLang="en-US" dirty="0"/>
              <a:t>Demonstrates I T’s role in helping organizations pursue a global growth strategy</a:t>
            </a:r>
          </a:p>
          <a:p>
            <a:r>
              <a:rPr lang="en-US" altLang="en-US"/>
              <a:t>Illustrates the ability of I T systems to standardize global processes and rules</a:t>
            </a:r>
            <a:endParaRPr lang="en-IN" altLang="en-US" dirty="0"/>
          </a:p>
        </p:txBody>
      </p:sp>
      <p:sp>
        <p:nvSpPr>
          <p:cNvPr id="2" name="Footer Placeholder 1">
            <a:extLst>
              <a:ext uri="{FF2B5EF4-FFF2-40B4-BE49-F238E27FC236}">
                <a16:creationId xmlns:a16="http://schemas.microsoft.com/office/drawing/2014/main" id="{5F27B9F9-0A56-4A6A-8C8A-CE1AA56F31C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62796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US" sz="3200" dirty="0"/>
              <a:t>What Major Factors Are Driving the Internationalization of Business?</a:t>
            </a:r>
          </a:p>
        </p:txBody>
      </p:sp>
      <p:sp>
        <p:nvSpPr>
          <p:cNvPr id="5" name="Content Placeholder 4"/>
          <p:cNvSpPr>
            <a:spLocks noGrp="1"/>
          </p:cNvSpPr>
          <p:nvPr>
            <p:ph idx="1"/>
          </p:nvPr>
        </p:nvSpPr>
        <p:spPr>
          <a:xfrm>
            <a:off x="457200" y="1353562"/>
            <a:ext cx="8229600" cy="3046988"/>
          </a:xfrm>
        </p:spPr>
        <p:txBody>
          <a:bodyPr>
            <a:spAutoFit/>
          </a:bodyPr>
          <a:lstStyle/>
          <a:p>
            <a:r>
              <a:rPr lang="en-IN" altLang="en-US" dirty="0"/>
              <a:t>Global economic system and global world order driven by advanced networks and information systems</a:t>
            </a:r>
          </a:p>
          <a:p>
            <a:r>
              <a:rPr lang="en-IN" altLang="en-US" dirty="0"/>
              <a:t>The growth of international trade has radically altered domestic economies around the globe</a:t>
            </a:r>
          </a:p>
          <a:p>
            <a:r>
              <a:rPr lang="en-IN" altLang="en-US" dirty="0"/>
              <a:t>For example, production of many high-end electronic products </a:t>
            </a:r>
            <a:r>
              <a:rPr lang="en-IN" altLang="en-US" dirty="0" err="1"/>
              <a:t>parceled</a:t>
            </a:r>
            <a:r>
              <a:rPr lang="en-IN" altLang="en-US" dirty="0"/>
              <a:t> out to multiple countries</a:t>
            </a:r>
          </a:p>
          <a:p>
            <a:pPr lvl="1"/>
            <a:r>
              <a:rPr lang="en-IN" altLang="en-US" sz="2400" dirty="0"/>
              <a:t>For example: Apple iPhone’s global supply chain</a:t>
            </a:r>
          </a:p>
        </p:txBody>
      </p:sp>
      <p:sp>
        <p:nvSpPr>
          <p:cNvPr id="2" name="Footer Placeholder 1">
            <a:extLst>
              <a:ext uri="{FF2B5EF4-FFF2-40B4-BE49-F238E27FC236}">
                <a16:creationId xmlns:a16="http://schemas.microsoft.com/office/drawing/2014/main" id="{ED72EE05-D52D-49A5-AE8B-F96DC660172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01685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IN" sz="3200" dirty="0"/>
              <a:t>Figure 15.1: Apple iPhone’s Global Supply Chain</a:t>
            </a:r>
            <a:endParaRPr lang="en-US" sz="3200" dirty="0"/>
          </a:p>
        </p:txBody>
      </p:sp>
      <p:pic>
        <p:nvPicPr>
          <p:cNvPr id="1026" name="Picture 2" descr="A world map illustrates how Apple designs the iPhone in the United States and relies on suppliers in countries like Germany, Italy, France, China, Japan, and South Korea."/>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587292" y="1173396"/>
            <a:ext cx="5969416" cy="3499998"/>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8008973D-7116-4F80-BBF3-4F417A2412E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04598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US" sz="3200" dirty="0"/>
              <a:t>Developing an International Information Systems Architecture</a:t>
            </a:r>
          </a:p>
        </p:txBody>
      </p:sp>
      <p:sp>
        <p:nvSpPr>
          <p:cNvPr id="5" name="Content Placeholder 4"/>
          <p:cNvSpPr>
            <a:spLocks noGrp="1"/>
          </p:cNvSpPr>
          <p:nvPr>
            <p:ph idx="1"/>
          </p:nvPr>
        </p:nvSpPr>
        <p:spPr>
          <a:xfrm>
            <a:off x="457200" y="1181412"/>
            <a:ext cx="8229600" cy="3462486"/>
          </a:xfrm>
        </p:spPr>
        <p:txBody>
          <a:bodyPr>
            <a:spAutoFit/>
          </a:bodyPr>
          <a:lstStyle/>
          <a:p>
            <a:r>
              <a:rPr lang="en-IN" altLang="en-US" sz="2000" dirty="0"/>
              <a:t>Understand global environment</a:t>
            </a:r>
          </a:p>
          <a:p>
            <a:pPr lvl="1"/>
            <a:r>
              <a:rPr lang="en-IN" altLang="en-US" sz="2000" dirty="0"/>
              <a:t>Business drivers for global competition</a:t>
            </a:r>
          </a:p>
          <a:p>
            <a:pPr lvl="1"/>
            <a:r>
              <a:rPr lang="en-IN" altLang="en-US" sz="2000" dirty="0"/>
              <a:t>Inhibitors creating management challenges</a:t>
            </a:r>
          </a:p>
          <a:p>
            <a:r>
              <a:rPr lang="en-IN" altLang="en-US" sz="2000" dirty="0"/>
              <a:t>Develop corporate strategy for global competition</a:t>
            </a:r>
          </a:p>
          <a:p>
            <a:r>
              <a:rPr lang="en-IN" altLang="en-US" sz="2000" dirty="0"/>
              <a:t>Develop organizational structure and division of </a:t>
            </a:r>
            <a:r>
              <a:rPr lang="en-IN" altLang="en-US" sz="2000" dirty="0" err="1"/>
              <a:t>labor</a:t>
            </a:r>
            <a:endParaRPr lang="en-IN" altLang="en-US" sz="2000" dirty="0"/>
          </a:p>
          <a:p>
            <a:r>
              <a:rPr lang="en-IN" altLang="en-US" sz="2000" dirty="0"/>
              <a:t>Consider management issues</a:t>
            </a:r>
          </a:p>
          <a:p>
            <a:pPr lvl="1"/>
            <a:r>
              <a:rPr lang="en-IN" altLang="en-US" sz="2000" dirty="0"/>
              <a:t>Design of business procedures, reengineering, managing change</a:t>
            </a:r>
          </a:p>
          <a:p>
            <a:r>
              <a:rPr lang="en-IN" altLang="en-US" sz="2000" dirty="0"/>
              <a:t>Consider technology platform</a:t>
            </a:r>
          </a:p>
        </p:txBody>
      </p:sp>
      <p:sp>
        <p:nvSpPr>
          <p:cNvPr id="2" name="Footer Placeholder 1">
            <a:extLst>
              <a:ext uri="{FF2B5EF4-FFF2-40B4-BE49-F238E27FC236}">
                <a16:creationId xmlns:a16="http://schemas.microsoft.com/office/drawing/2014/main" id="{D997D45D-FBC8-48F5-97AA-275FE1A12F8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597291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US" sz="3200" dirty="0"/>
              <a:t>Figure 15.2 International Information Systems Architecture</a:t>
            </a:r>
          </a:p>
        </p:txBody>
      </p:sp>
      <p:pic>
        <p:nvPicPr>
          <p:cNvPr id="2050" name="Picture 2" descr="A funnel diagram explains the architecture of international information systems. For a full description, see Notes. Press F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171959" y="1283995"/>
            <a:ext cx="2800082" cy="3192755"/>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937B00B0-863D-4C68-A7C4-EC09ECD8B99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496467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57150"/>
            <a:ext cx="8266386" cy="984885"/>
          </a:xfrm>
        </p:spPr>
        <p:txBody>
          <a:bodyPr wrap="square">
            <a:spAutoFit/>
          </a:bodyPr>
          <a:lstStyle/>
          <a:p>
            <a:r>
              <a:rPr lang="en-US" sz="3200" dirty="0"/>
              <a:t>The Global Environment: Business Drivers and Challenges</a:t>
            </a:r>
            <a:endParaRPr lang="en-US" sz="2400" dirty="0"/>
          </a:p>
        </p:txBody>
      </p:sp>
      <p:sp>
        <p:nvSpPr>
          <p:cNvPr id="5" name="Content Placeholder 4"/>
          <p:cNvSpPr>
            <a:spLocks noGrp="1"/>
          </p:cNvSpPr>
          <p:nvPr>
            <p:ph idx="1"/>
          </p:nvPr>
        </p:nvSpPr>
        <p:spPr>
          <a:xfrm>
            <a:off x="457200" y="1204392"/>
            <a:ext cx="8229600" cy="2716128"/>
          </a:xfrm>
        </p:spPr>
        <p:txBody>
          <a:bodyPr>
            <a:spAutoFit/>
          </a:bodyPr>
          <a:lstStyle/>
          <a:p>
            <a:r>
              <a:rPr lang="en-IN" altLang="en-US" dirty="0"/>
              <a:t>Business drivers</a:t>
            </a:r>
          </a:p>
          <a:p>
            <a:pPr lvl="1"/>
            <a:r>
              <a:rPr lang="en-IN" altLang="en-US" sz="2400" dirty="0"/>
              <a:t>General cultural factors</a:t>
            </a:r>
          </a:p>
          <a:p>
            <a:pPr lvl="1"/>
            <a:r>
              <a:rPr lang="en-IN" altLang="en-US" sz="2400" dirty="0"/>
              <a:t>Specific business factors</a:t>
            </a:r>
          </a:p>
          <a:p>
            <a:r>
              <a:rPr lang="en-IN" altLang="en-US" dirty="0"/>
              <a:t>Challenges</a:t>
            </a:r>
          </a:p>
          <a:p>
            <a:pPr lvl="1"/>
            <a:r>
              <a:rPr lang="en-IN" altLang="en-US" sz="2400" dirty="0"/>
              <a:t>Global</a:t>
            </a:r>
          </a:p>
          <a:p>
            <a:pPr lvl="1"/>
            <a:r>
              <a:rPr lang="en-IN" altLang="en-US" sz="2400" dirty="0"/>
              <a:t>Specific</a:t>
            </a:r>
          </a:p>
        </p:txBody>
      </p:sp>
      <p:sp>
        <p:nvSpPr>
          <p:cNvPr id="2" name="Footer Placeholder 1">
            <a:extLst>
              <a:ext uri="{FF2B5EF4-FFF2-40B4-BE49-F238E27FC236}">
                <a16:creationId xmlns:a16="http://schemas.microsoft.com/office/drawing/2014/main" id="{E3C9A4CC-91BC-454F-AD33-4C3729FA611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0524699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IN" sz="3200" dirty="0"/>
              <a:t>Table 15.1: The Global Environment: Business Drivers and Challenges</a:t>
            </a:r>
            <a:endParaRPr lang="en-US" sz="3200" dirty="0"/>
          </a:p>
        </p:txBody>
      </p:sp>
      <p:graphicFrame>
        <p:nvGraphicFramePr>
          <p:cNvPr id="6" name="Table 5"/>
          <p:cNvGraphicFramePr>
            <a:graphicFrameLocks noGrp="1"/>
          </p:cNvGraphicFramePr>
          <p:nvPr>
            <p:extLst>
              <p:ext uri="{D42A27DB-BD31-4B8C-83A1-F6EECF244321}">
                <p14:modId xmlns:p14="http://schemas.microsoft.com/office/powerpoint/2010/main" val="231790489"/>
              </p:ext>
            </p:extLst>
          </p:nvPr>
        </p:nvGraphicFramePr>
        <p:xfrm>
          <a:off x="485776" y="1400175"/>
          <a:ext cx="8201025" cy="2924175"/>
        </p:xfrm>
        <a:graphic>
          <a:graphicData uri="http://schemas.openxmlformats.org/drawingml/2006/table">
            <a:tbl>
              <a:tblPr firstRow="1" bandRow="1">
                <a:tableStyleId>{3B4B98B0-60AC-42C2-AFA5-B58CD77FA1E5}</a:tableStyleId>
              </a:tblPr>
              <a:tblGrid>
                <a:gridCol w="4086225">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381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u="none" strike="noStrike" kern="1200" baseline="0" dirty="0">
                          <a:solidFill>
                            <a:schemeClr val="bg1"/>
                          </a:solidFill>
                          <a:latin typeface="+mn-lt"/>
                        </a:rPr>
                        <a:t>General Cultural Factors</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2000" u="none" strike="noStrike" kern="1200" baseline="0" dirty="0">
                          <a:solidFill>
                            <a:schemeClr val="bg1"/>
                          </a:solidFill>
                          <a:latin typeface="+mn-lt"/>
                        </a:rPr>
                        <a:t>Specific Business Factors</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0840">
                <a:tc>
                  <a:txBody>
                    <a:bodyPr/>
                    <a:lstStyle/>
                    <a:p>
                      <a:r>
                        <a:rPr lang="en-US" sz="2000" u="none" strike="noStrike" kern="1200" baseline="0" dirty="0"/>
                        <a:t>Global communication and transportation technologies</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2000" u="none" strike="noStrike" kern="1200" baseline="0" dirty="0"/>
                        <a:t>Global markets</a:t>
                      </a:r>
                      <a:endParaRPr lang="en-US" sz="2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r>
                        <a:rPr lang="en-US" sz="2000" u="none" strike="noStrike" kern="1200" baseline="0" dirty="0"/>
                        <a:t>Development of global culture</a:t>
                      </a:r>
                      <a:endParaRPr lang="en-US" sz="2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2000" u="none" strike="noStrike" kern="1200" baseline="0" dirty="0"/>
                        <a:t>Global production and operations</a:t>
                      </a:r>
                      <a:endParaRPr lang="en-US" sz="2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0840">
                <a:tc>
                  <a:txBody>
                    <a:bodyPr/>
                    <a:lstStyle/>
                    <a:p>
                      <a:r>
                        <a:rPr lang="en-US" sz="2000" u="none" strike="noStrike" kern="1200" baseline="0" dirty="0"/>
                        <a:t>Emergence of global social norms</a:t>
                      </a:r>
                      <a:endParaRPr lang="en-US" sz="2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2000" u="none" strike="noStrike" kern="1200" baseline="0" dirty="0"/>
                        <a:t>Global coordination</a:t>
                      </a:r>
                      <a:endParaRPr lang="en-US" sz="2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70840">
                <a:tc>
                  <a:txBody>
                    <a:bodyPr/>
                    <a:lstStyle/>
                    <a:p>
                      <a:r>
                        <a:rPr lang="en-US" sz="2000" u="none" strike="noStrike" kern="1200" baseline="0" dirty="0"/>
                        <a:t>Political stability</a:t>
                      </a:r>
                      <a:endParaRPr lang="en-US" sz="2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2000" u="none" strike="noStrike" kern="1200" baseline="0" dirty="0"/>
                        <a:t>Global workforce</a:t>
                      </a:r>
                      <a:endParaRPr lang="en-US" sz="2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70840">
                <a:tc>
                  <a:txBody>
                    <a:bodyPr/>
                    <a:lstStyle/>
                    <a:p>
                      <a:r>
                        <a:rPr lang="en-US" sz="2000" u="none" strike="noStrike" kern="1200" baseline="0" dirty="0"/>
                        <a:t>Global knowledge base</a:t>
                      </a:r>
                      <a:endParaRPr lang="en-US" sz="2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2000" u="none" strike="noStrike" kern="1200" baseline="0" dirty="0"/>
                        <a:t>Global economies of scale</a:t>
                      </a:r>
                      <a:endParaRPr lang="en-US" sz="20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bl>
          </a:graphicData>
        </a:graphic>
      </p:graphicFrame>
      <p:sp>
        <p:nvSpPr>
          <p:cNvPr id="2" name="Footer Placeholder 1">
            <a:extLst>
              <a:ext uri="{FF2B5EF4-FFF2-40B4-BE49-F238E27FC236}">
                <a16:creationId xmlns:a16="http://schemas.microsoft.com/office/drawing/2014/main" id="{802F34C0-4713-4335-B96F-6FFD121FE5D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1428022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US" sz="3200" dirty="0"/>
              <a:t>Table 15.2 Challenges and Obstacles to Global Business Systems</a:t>
            </a:r>
          </a:p>
        </p:txBody>
      </p:sp>
      <p:graphicFrame>
        <p:nvGraphicFramePr>
          <p:cNvPr id="6" name="Table 5"/>
          <p:cNvGraphicFramePr>
            <a:graphicFrameLocks noGrp="1"/>
          </p:cNvGraphicFramePr>
          <p:nvPr>
            <p:extLst>
              <p:ext uri="{D42A27DB-BD31-4B8C-83A1-F6EECF244321}">
                <p14:modId xmlns:p14="http://schemas.microsoft.com/office/powerpoint/2010/main" val="3024926324"/>
              </p:ext>
            </p:extLst>
          </p:nvPr>
        </p:nvGraphicFramePr>
        <p:xfrm>
          <a:off x="485776" y="1156335"/>
          <a:ext cx="8201025" cy="3472815"/>
        </p:xfrm>
        <a:graphic>
          <a:graphicData uri="http://schemas.openxmlformats.org/drawingml/2006/table">
            <a:tbl>
              <a:tblPr firstRow="1" bandRow="1">
                <a:tableStyleId>{3B4B98B0-60AC-42C2-AFA5-B58CD77FA1E5}</a:tableStyleId>
              </a:tblPr>
              <a:tblGrid>
                <a:gridCol w="4086225">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381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u="none" strike="noStrike" kern="1200" baseline="0" dirty="0">
                          <a:solidFill>
                            <a:schemeClr val="bg1"/>
                          </a:solidFill>
                          <a:latin typeface="+mn-lt"/>
                        </a:rPr>
                        <a:t>Global</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800" u="none" strike="noStrike" kern="1200" baseline="0" dirty="0">
                          <a:solidFill>
                            <a:schemeClr val="bg1"/>
                          </a:solidFill>
                          <a:latin typeface="+mn-lt"/>
                        </a:rPr>
                        <a:t>Specific</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0840">
                <a:tc>
                  <a:txBody>
                    <a:bodyPr/>
                    <a:lstStyle/>
                    <a:p>
                      <a:r>
                        <a:rPr lang="en-US" sz="1800" u="none" strike="noStrike" kern="1200" baseline="0" dirty="0"/>
                        <a:t>Cultural particularism: Regionalism, nationalism, language differences</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800" u="none" strike="noStrike" kern="1200" baseline="0" dirty="0"/>
                        <a:t>Standards: Different Electronic Data Interchange (</a:t>
                      </a:r>
                      <a:r>
                        <a:rPr lang="en-US" sz="1800" u="none" strike="noStrike" kern="1200" spc="-300" baseline="0" dirty="0"/>
                        <a:t>E D </a:t>
                      </a:r>
                      <a:r>
                        <a:rPr lang="en-US" sz="1800" u="none" strike="noStrike" kern="1200" baseline="0" dirty="0"/>
                        <a:t>I), e-mail, telecommunications standards</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r>
                        <a:rPr lang="en-US" sz="1800" u="none" strike="noStrike" kern="1200" baseline="0" dirty="0"/>
                        <a:t>Social expectations: Brand-name expectations, work hours</a:t>
                      </a:r>
                      <a:endParaRPr lang="en-US" sz="18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800" u="none" strike="noStrike" kern="1200" baseline="0" dirty="0"/>
                        <a:t>Reliability: Phone networks not uniformly reliable</a:t>
                      </a:r>
                      <a:endParaRPr lang="en-US" sz="18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0840">
                <a:tc>
                  <a:txBody>
                    <a:bodyPr/>
                    <a:lstStyle/>
                    <a:p>
                      <a:r>
                        <a:rPr lang="en-US" sz="1800" u="none" strike="noStrike" kern="1200" baseline="0" dirty="0"/>
                        <a:t>Political laws: </a:t>
                      </a:r>
                      <a:r>
                        <a:rPr lang="en-US" sz="1800" u="none" strike="noStrike" kern="1200" baseline="0" dirty="0" err="1"/>
                        <a:t>Transborder</a:t>
                      </a:r>
                      <a:r>
                        <a:rPr lang="en-US" sz="1800" u="none" strike="noStrike" kern="1200" baseline="0" dirty="0"/>
                        <a:t> data and privacy laws, commercial regulations</a:t>
                      </a:r>
                      <a:endParaRPr lang="en-US" sz="18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800" u="none" strike="noStrike" kern="1200" baseline="0" dirty="0"/>
                        <a:t>Speed: Different data transfer speeds, many slower than United States</a:t>
                      </a:r>
                      <a:endParaRPr lang="en-US" sz="18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D4EAE4"/>
                          </a:solidFill>
                        </a:rPr>
                        <a:t>Blank</a:t>
                      </a:r>
                      <a:endParaRPr lang="en-IN" sz="18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800" u="none" strike="noStrike" kern="1200" baseline="0" dirty="0"/>
                        <a:t>Personnel: Shortages of skilled consultants</a:t>
                      </a:r>
                      <a:endParaRPr lang="en-US" sz="18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bl>
          </a:graphicData>
        </a:graphic>
      </p:graphicFrame>
      <p:sp>
        <p:nvSpPr>
          <p:cNvPr id="2" name="Footer Placeholder 1">
            <a:extLst>
              <a:ext uri="{FF2B5EF4-FFF2-40B4-BE49-F238E27FC236}">
                <a16:creationId xmlns:a16="http://schemas.microsoft.com/office/drawing/2014/main" id="{2403F298-317E-4A24-8A85-F7E25A198113}"/>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739276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IN" sz="3200" dirty="0"/>
              <a:t>Interactive Session: Management: Rethinking Global Supply Chains</a:t>
            </a:r>
            <a:endParaRPr lang="en-US" sz="3200" dirty="0"/>
          </a:p>
        </p:txBody>
      </p:sp>
      <p:sp>
        <p:nvSpPr>
          <p:cNvPr id="5" name="Content Placeholder 4"/>
          <p:cNvSpPr>
            <a:spLocks noGrp="1"/>
          </p:cNvSpPr>
          <p:nvPr>
            <p:ph idx="1"/>
          </p:nvPr>
        </p:nvSpPr>
        <p:spPr>
          <a:xfrm>
            <a:off x="457200" y="1200150"/>
            <a:ext cx="8229600" cy="2769989"/>
          </a:xfrm>
        </p:spPr>
        <p:txBody>
          <a:bodyPr>
            <a:spAutoFit/>
          </a:bodyPr>
          <a:lstStyle/>
          <a:p>
            <a:r>
              <a:rPr lang="en-IN" sz="2000" dirty="0"/>
              <a:t>Class discussion</a:t>
            </a:r>
          </a:p>
          <a:p>
            <a:pPr lvl="1"/>
            <a:r>
              <a:rPr lang="en-IN" sz="2000" dirty="0"/>
              <a:t>What factors have contributed to the growth of global supply chains?</a:t>
            </a:r>
          </a:p>
          <a:p>
            <a:pPr lvl="1"/>
            <a:r>
              <a:rPr lang="en-IN" sz="2000" dirty="0"/>
              <a:t>What are the advantages and disadvantages of global supply chains?</a:t>
            </a:r>
          </a:p>
          <a:p>
            <a:pPr lvl="1"/>
            <a:r>
              <a:rPr lang="en-IN" sz="2000" dirty="0"/>
              <a:t>What measures can companies take to mitigate supply chain risk?</a:t>
            </a:r>
          </a:p>
          <a:p>
            <a:pPr lvl="1"/>
            <a:r>
              <a:rPr lang="en-IN" sz="2000" dirty="0"/>
              <a:t>Should companies continue to maintain global supply chains? Explain your answer.</a:t>
            </a:r>
          </a:p>
        </p:txBody>
      </p:sp>
      <p:sp>
        <p:nvSpPr>
          <p:cNvPr id="2" name="Footer Placeholder 1">
            <a:extLst>
              <a:ext uri="{FF2B5EF4-FFF2-40B4-BE49-F238E27FC236}">
                <a16:creationId xmlns:a16="http://schemas.microsoft.com/office/drawing/2014/main" id="{A064482C-392E-475B-9468-7EDBFFEC8CE5}"/>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2986372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8107"/>
            <a:ext cx="8229600" cy="492443"/>
          </a:xfrm>
        </p:spPr>
        <p:txBody>
          <a:bodyPr>
            <a:spAutoFit/>
          </a:bodyPr>
          <a:lstStyle/>
          <a:p>
            <a:r>
              <a:rPr lang="en-US" sz="3200" dirty="0"/>
              <a:t>State of the Art</a:t>
            </a:r>
          </a:p>
        </p:txBody>
      </p:sp>
      <p:sp>
        <p:nvSpPr>
          <p:cNvPr id="5" name="Content Placeholder 4"/>
          <p:cNvSpPr>
            <a:spLocks noGrp="1"/>
          </p:cNvSpPr>
          <p:nvPr>
            <p:ph idx="1"/>
          </p:nvPr>
        </p:nvSpPr>
        <p:spPr>
          <a:xfrm>
            <a:off x="457200" y="777225"/>
            <a:ext cx="8229600" cy="3547125"/>
          </a:xfrm>
        </p:spPr>
        <p:txBody>
          <a:bodyPr>
            <a:spAutoFit/>
          </a:bodyPr>
          <a:lstStyle/>
          <a:p>
            <a:r>
              <a:rPr lang="en-IN" altLang="en-US" sz="2200" dirty="0"/>
              <a:t>Most companies have inherited a patchwork international system using traditional batch-oriented reporting, manual data entry, legacy systems, and little online control</a:t>
            </a:r>
          </a:p>
          <a:p>
            <a:r>
              <a:rPr lang="en-IN" altLang="en-US" sz="2200" dirty="0"/>
              <a:t>Significant difficulties in building appropriate international architectures</a:t>
            </a:r>
          </a:p>
          <a:p>
            <a:pPr lvl="1"/>
            <a:r>
              <a:rPr lang="en-IN" altLang="en-US" dirty="0"/>
              <a:t>Planning a system appropriate to firm’s global strategy</a:t>
            </a:r>
          </a:p>
          <a:p>
            <a:pPr lvl="1"/>
            <a:r>
              <a:rPr lang="en-IN" altLang="en-US" dirty="0"/>
              <a:t>Structuring organization of systems and business units</a:t>
            </a:r>
          </a:p>
          <a:p>
            <a:pPr lvl="1"/>
            <a:r>
              <a:rPr lang="en-IN" altLang="en-US" dirty="0"/>
              <a:t>Solving implementation issues</a:t>
            </a:r>
          </a:p>
          <a:p>
            <a:pPr lvl="1"/>
            <a:r>
              <a:rPr lang="en-IN" altLang="en-US" dirty="0"/>
              <a:t>Choosing right technical platform</a:t>
            </a:r>
          </a:p>
        </p:txBody>
      </p:sp>
      <p:sp>
        <p:nvSpPr>
          <p:cNvPr id="2" name="Footer Placeholder 1">
            <a:extLst>
              <a:ext uri="{FF2B5EF4-FFF2-40B4-BE49-F238E27FC236}">
                <a16:creationId xmlns:a16="http://schemas.microsoft.com/office/drawing/2014/main" id="{F4B844AB-CE92-4A04-AE84-9D2513CD568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50040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2830"/>
            <a:ext cx="8229600" cy="475654"/>
          </a:xfrm>
        </p:spPr>
        <p:txBody>
          <a:bodyPr>
            <a:spAutoFit/>
          </a:bodyPr>
          <a:lstStyle/>
          <a:p>
            <a:r>
              <a:rPr lang="en-IN" sz="3000" dirty="0"/>
              <a:t>Global Strategies and Business Organization</a:t>
            </a:r>
            <a:endParaRPr lang="en-US" sz="3000" dirty="0"/>
          </a:p>
        </p:txBody>
      </p:sp>
      <p:sp>
        <p:nvSpPr>
          <p:cNvPr id="5" name="Content Placeholder 4"/>
          <p:cNvSpPr>
            <a:spLocks noGrp="1"/>
          </p:cNvSpPr>
          <p:nvPr>
            <p:ph idx="1"/>
          </p:nvPr>
        </p:nvSpPr>
        <p:spPr>
          <a:xfrm>
            <a:off x="457200" y="666750"/>
            <a:ext cx="8150772" cy="3839035"/>
          </a:xfrm>
        </p:spPr>
        <p:txBody>
          <a:bodyPr wrap="square">
            <a:spAutoFit/>
          </a:bodyPr>
          <a:lstStyle/>
          <a:p>
            <a:r>
              <a:rPr lang="en-IN" altLang="en-US" sz="2200" dirty="0"/>
              <a:t>Three main kinds of organizational structure</a:t>
            </a:r>
          </a:p>
          <a:p>
            <a:pPr lvl="1"/>
            <a:r>
              <a:rPr lang="en-IN" altLang="en-US" dirty="0"/>
              <a:t>Centralized: In the home country</a:t>
            </a:r>
          </a:p>
          <a:p>
            <a:pPr lvl="1"/>
            <a:r>
              <a:rPr lang="en-IN" altLang="en-US" dirty="0"/>
              <a:t>Decentralized/dispersed: To local foreign units</a:t>
            </a:r>
          </a:p>
          <a:p>
            <a:pPr lvl="1"/>
            <a:r>
              <a:rPr lang="en-IN" altLang="en-US" dirty="0"/>
              <a:t>Coordinated: All units participate as equals</a:t>
            </a:r>
          </a:p>
          <a:p>
            <a:r>
              <a:rPr lang="en-IN" altLang="en-US" sz="2200" dirty="0"/>
              <a:t>Four main global strategies</a:t>
            </a:r>
          </a:p>
          <a:p>
            <a:pPr lvl="1"/>
            <a:r>
              <a:rPr lang="en-IN" altLang="en-US" dirty="0"/>
              <a:t>Domestic exporter</a:t>
            </a:r>
          </a:p>
          <a:p>
            <a:pPr lvl="1"/>
            <a:r>
              <a:rPr lang="en-IN" altLang="en-US" dirty="0"/>
              <a:t>Multinational</a:t>
            </a:r>
          </a:p>
          <a:p>
            <a:pPr lvl="1"/>
            <a:r>
              <a:rPr lang="en-IN" altLang="en-US" dirty="0"/>
              <a:t>Franchisers</a:t>
            </a:r>
          </a:p>
          <a:p>
            <a:pPr lvl="1"/>
            <a:r>
              <a:rPr lang="en-IN" altLang="en-US" dirty="0"/>
              <a:t>Transnational</a:t>
            </a:r>
          </a:p>
        </p:txBody>
      </p:sp>
      <p:sp>
        <p:nvSpPr>
          <p:cNvPr id="2" name="Footer Placeholder 1">
            <a:extLst>
              <a:ext uri="{FF2B5EF4-FFF2-40B4-BE49-F238E27FC236}">
                <a16:creationId xmlns:a16="http://schemas.microsoft.com/office/drawing/2014/main" id="{B852FEC6-E409-4DC0-8C12-B5201E273EC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898122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5360"/>
            <a:ext cx="8229600" cy="923330"/>
          </a:xfrm>
        </p:spPr>
        <p:txBody>
          <a:bodyPr>
            <a:spAutoFit/>
          </a:bodyPr>
          <a:lstStyle/>
          <a:p>
            <a:r>
              <a:rPr lang="en-IN" sz="3000" dirty="0"/>
              <a:t>Table 15.3 Global Business Strategy and Structure</a:t>
            </a:r>
            <a:endParaRPr lang="en-US" sz="3000" dirty="0"/>
          </a:p>
        </p:txBody>
      </p:sp>
      <p:graphicFrame>
        <p:nvGraphicFramePr>
          <p:cNvPr id="6" name="Table 5"/>
          <p:cNvGraphicFramePr>
            <a:graphicFrameLocks noGrp="1"/>
          </p:cNvGraphicFramePr>
          <p:nvPr>
            <p:extLst>
              <p:ext uri="{D42A27DB-BD31-4B8C-83A1-F6EECF244321}">
                <p14:modId xmlns:p14="http://schemas.microsoft.com/office/powerpoint/2010/main" val="3095043292"/>
              </p:ext>
            </p:extLst>
          </p:nvPr>
        </p:nvGraphicFramePr>
        <p:xfrm>
          <a:off x="538226" y="1547495"/>
          <a:ext cx="8072375" cy="2700655"/>
        </p:xfrm>
        <a:graphic>
          <a:graphicData uri="http://schemas.openxmlformats.org/drawingml/2006/table">
            <a:tbl>
              <a:tblPr firstRow="1" bandRow="1">
                <a:tableStyleId>{3B4B98B0-60AC-42C2-AFA5-B58CD77FA1E5}</a:tableStyleId>
              </a:tblPr>
              <a:tblGrid>
                <a:gridCol w="2105025">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547750">
                  <a:extLst>
                    <a:ext uri="{9D8B030D-6E8A-4147-A177-3AD203B41FA5}">
                      <a16:colId xmlns:a16="http://schemas.microsoft.com/office/drawing/2014/main" val="20004"/>
                    </a:ext>
                  </a:extLst>
                </a:gridCol>
              </a:tblGrid>
              <a:tr h="63817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solidFill>
                            <a:schemeClr val="bg1"/>
                          </a:solidFill>
                          <a:latin typeface="+mn-lt"/>
                        </a:rPr>
                        <a:t>Business Function</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u="none" strike="noStrike" kern="1200" baseline="0" dirty="0">
                          <a:solidFill>
                            <a:schemeClr val="bg1"/>
                          </a:solidFill>
                          <a:latin typeface="+mn-lt"/>
                        </a:rPr>
                        <a:t>Domestic Exporter</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u="none" strike="noStrike" kern="1200" baseline="0" dirty="0">
                          <a:solidFill>
                            <a:schemeClr val="bg1"/>
                          </a:solidFill>
                          <a:latin typeface="+mn-lt"/>
                        </a:rPr>
                        <a:t>Multinational</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u="none" strike="noStrike" kern="1200" baseline="0" dirty="0">
                          <a:solidFill>
                            <a:schemeClr val="bg1"/>
                          </a:solidFill>
                          <a:latin typeface="+mn-lt"/>
                        </a:rPr>
                        <a:t>Franchiser</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tc>
                  <a:txBody>
                    <a:bodyPr/>
                    <a:lstStyle/>
                    <a:p>
                      <a:r>
                        <a:rPr lang="en-US" sz="1600" u="none" strike="noStrike" kern="1200" baseline="0" dirty="0">
                          <a:solidFill>
                            <a:schemeClr val="bg1"/>
                          </a:solidFill>
                          <a:latin typeface="+mn-lt"/>
                        </a:rPr>
                        <a:t>Transnational</a:t>
                      </a:r>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7FA3"/>
                    </a:solidFill>
                  </a:tcPr>
                </a:tc>
                <a:extLst>
                  <a:ext uri="{0D108BD9-81ED-4DB2-BD59-A6C34878D82A}">
                    <a16:rowId xmlns:a16="http://schemas.microsoft.com/office/drawing/2014/main" val="10000"/>
                  </a:ext>
                </a:extLst>
              </a:tr>
              <a:tr h="370840">
                <a:tc>
                  <a:txBody>
                    <a:bodyPr/>
                    <a:lstStyle/>
                    <a:p>
                      <a:r>
                        <a:rPr lang="en-US" sz="1600" u="none" strike="noStrike" kern="1200" baseline="0" dirty="0"/>
                        <a:t>Production</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u="none" strike="noStrike" kern="1200" baseline="0" dirty="0"/>
                        <a:t>Centralized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Dispersed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Coordinated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Coordinated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1"/>
                  </a:ext>
                </a:extLst>
              </a:tr>
              <a:tr h="370840">
                <a:tc>
                  <a:txBody>
                    <a:bodyPr/>
                    <a:lstStyle/>
                    <a:p>
                      <a:r>
                        <a:rPr lang="en-US" sz="1600" u="none" strike="noStrike" kern="1200" baseline="0" dirty="0"/>
                        <a:t>Finance/accounting</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u="none" strike="noStrike" kern="1200" baseline="0" dirty="0"/>
                        <a:t>Centralized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Centralized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Centralized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u="none" strike="noStrike" kern="1200" baseline="0" dirty="0"/>
                        <a:t>Coordinated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2"/>
                  </a:ext>
                </a:extLst>
              </a:tr>
              <a:tr h="370840">
                <a:tc>
                  <a:txBody>
                    <a:bodyPr/>
                    <a:lstStyle/>
                    <a:p>
                      <a:r>
                        <a:rPr lang="en-US" sz="1600" u="none" strike="noStrike" kern="1200" baseline="0" dirty="0"/>
                        <a:t>Sales/marketing</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u="none" strike="noStrike" kern="1200" baseline="0" dirty="0"/>
                        <a:t>Mixed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Dispersed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Coordinated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Coordinated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3"/>
                  </a:ext>
                </a:extLst>
              </a:tr>
              <a:tr h="370840">
                <a:tc>
                  <a:txBody>
                    <a:bodyPr/>
                    <a:lstStyle/>
                    <a:p>
                      <a:r>
                        <a:rPr lang="en-US" sz="1600" u="none" strike="noStrike" kern="1200" baseline="0" dirty="0"/>
                        <a:t>Human resources</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r>
                        <a:rPr lang="en-US" sz="1600" u="none" strike="noStrike" kern="1200" baseline="0" dirty="0"/>
                        <a:t>Centralized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Centralized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Coordinated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Coordinated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Strategic management</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Centralized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Centralized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Centralized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u="none" strike="noStrike" kern="1200" baseline="0" dirty="0"/>
                        <a:t>Coordinated</a:t>
                      </a:r>
                      <a:endParaRPr lang="en-US" sz="1600" dirty="0"/>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4EAE4"/>
                    </a:solidFill>
                  </a:tcPr>
                </a:tc>
                <a:extLst>
                  <a:ext uri="{0D108BD9-81ED-4DB2-BD59-A6C34878D82A}">
                    <a16:rowId xmlns:a16="http://schemas.microsoft.com/office/drawing/2014/main" val="10005"/>
                  </a:ext>
                </a:extLst>
              </a:tr>
            </a:tbl>
          </a:graphicData>
        </a:graphic>
      </p:graphicFrame>
      <p:sp>
        <p:nvSpPr>
          <p:cNvPr id="2" name="Footer Placeholder 1">
            <a:extLst>
              <a:ext uri="{FF2B5EF4-FFF2-40B4-BE49-F238E27FC236}">
                <a16:creationId xmlns:a16="http://schemas.microsoft.com/office/drawing/2014/main" id="{A9B55EFE-0A7A-4021-8A85-55BD879CC3A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902145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1825"/>
            <a:ext cx="8229600" cy="497367"/>
          </a:xfrm>
        </p:spPr>
        <p:txBody>
          <a:bodyPr>
            <a:spAutoFit/>
          </a:bodyPr>
          <a:lstStyle/>
          <a:p>
            <a:r>
              <a:rPr lang="en-US" sz="3200" dirty="0"/>
              <a:t>Global Systems to Fit the Strategy</a:t>
            </a:r>
          </a:p>
        </p:txBody>
      </p:sp>
      <p:sp>
        <p:nvSpPr>
          <p:cNvPr id="5" name="Content Placeholder 4"/>
          <p:cNvSpPr>
            <a:spLocks noGrp="1"/>
          </p:cNvSpPr>
          <p:nvPr>
            <p:ph idx="1"/>
          </p:nvPr>
        </p:nvSpPr>
        <p:spPr>
          <a:xfrm>
            <a:off x="457200" y="743471"/>
            <a:ext cx="8229600" cy="3885679"/>
          </a:xfrm>
        </p:spPr>
        <p:txBody>
          <a:bodyPr>
            <a:spAutoFit/>
          </a:bodyPr>
          <a:lstStyle/>
          <a:p>
            <a:r>
              <a:rPr lang="en-IN" altLang="en-US" sz="2000" dirty="0"/>
              <a:t>Configuration, management, and development of systems tend to follow global strategy chosen</a:t>
            </a:r>
          </a:p>
          <a:p>
            <a:r>
              <a:rPr lang="en-IN" altLang="en-US" sz="2000" dirty="0"/>
              <a:t>Four main types of systems configuration</a:t>
            </a:r>
          </a:p>
          <a:p>
            <a:pPr lvl="1"/>
            <a:r>
              <a:rPr lang="en-IN" altLang="en-US" sz="2000" dirty="0"/>
              <a:t>Centralized: Systems development and operation occur totally at domestic home base</a:t>
            </a:r>
          </a:p>
          <a:p>
            <a:pPr lvl="1"/>
            <a:r>
              <a:rPr lang="en-IN" altLang="en-US" sz="2000" dirty="0"/>
              <a:t>Duplicated: Development occurs at home base but operations are handed over to autonomous units in foreign locations</a:t>
            </a:r>
          </a:p>
          <a:p>
            <a:pPr lvl="1"/>
            <a:r>
              <a:rPr lang="en-IN" altLang="en-US" sz="2000" dirty="0"/>
              <a:t>Decentralized: Each foreign unit designs own solutions and systems</a:t>
            </a:r>
          </a:p>
          <a:p>
            <a:pPr lvl="1"/>
            <a:r>
              <a:rPr lang="en-IN" altLang="en-US" sz="2000" dirty="0"/>
              <a:t>Networked: Development and operations occur in coordinated fashion across all units</a:t>
            </a:r>
          </a:p>
        </p:txBody>
      </p:sp>
      <p:sp>
        <p:nvSpPr>
          <p:cNvPr id="2" name="Footer Placeholder 1">
            <a:extLst>
              <a:ext uri="{FF2B5EF4-FFF2-40B4-BE49-F238E27FC236}">
                <a16:creationId xmlns:a16="http://schemas.microsoft.com/office/drawing/2014/main" id="{EC620E38-C69A-4FB9-9A05-2025B9D88A6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4979394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US" sz="3200" dirty="0"/>
              <a:t>Figure 15.3 Global Strategy and Systems Configurations</a:t>
            </a:r>
          </a:p>
        </p:txBody>
      </p:sp>
      <p:pic>
        <p:nvPicPr>
          <p:cNvPr id="3074" name="Picture 2" descr="A table explains the strategies based on system configuration.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53350" y="1631194"/>
            <a:ext cx="7836006" cy="2529219"/>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5DE09D3F-94FE-4274-9AC8-DBA674FDE15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522369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53"/>
            <a:ext cx="8229600" cy="492443"/>
          </a:xfrm>
        </p:spPr>
        <p:txBody>
          <a:bodyPr>
            <a:spAutoFit/>
          </a:bodyPr>
          <a:lstStyle/>
          <a:p>
            <a:r>
              <a:rPr lang="en-US" sz="3200" dirty="0"/>
              <a:t>Reorganizing the Business</a:t>
            </a:r>
          </a:p>
        </p:txBody>
      </p:sp>
      <p:sp>
        <p:nvSpPr>
          <p:cNvPr id="7" name="Content Placeholder 6"/>
          <p:cNvSpPr>
            <a:spLocks noGrp="1"/>
          </p:cNvSpPr>
          <p:nvPr>
            <p:ph idx="1"/>
          </p:nvPr>
        </p:nvSpPr>
        <p:spPr>
          <a:xfrm>
            <a:off x="457200" y="751642"/>
            <a:ext cx="8229600" cy="276999"/>
          </a:xfrm>
        </p:spPr>
        <p:txBody>
          <a:bodyPr>
            <a:spAutoFit/>
          </a:bodyPr>
          <a:lstStyle/>
          <a:p>
            <a:r>
              <a:rPr lang="en-IN" sz="1800" dirty="0"/>
              <a:t>To develop a global company and information systems support structure:</a:t>
            </a:r>
          </a:p>
        </p:txBody>
      </p:sp>
      <p:sp>
        <p:nvSpPr>
          <p:cNvPr id="8" name="Content Placeholder 7"/>
          <p:cNvSpPr>
            <a:spLocks noGrp="1"/>
          </p:cNvSpPr>
          <p:nvPr>
            <p:ph idx="13"/>
          </p:nvPr>
        </p:nvSpPr>
        <p:spPr>
          <a:xfrm>
            <a:off x="457200" y="1304151"/>
            <a:ext cx="8229600" cy="276999"/>
          </a:xfrm>
        </p:spPr>
        <p:txBody>
          <a:bodyPr>
            <a:spAutoFit/>
          </a:bodyPr>
          <a:lstStyle/>
          <a:p>
            <a:pPr marL="914400" lvl="1" indent="-457200">
              <a:spcBef>
                <a:spcPts val="1500"/>
              </a:spcBef>
              <a:buFont typeface="+mj-lt"/>
              <a:buAutoNum type="arabicPeriod"/>
            </a:pPr>
            <a:r>
              <a:rPr lang="en-IN" sz="1800" dirty="0"/>
              <a:t>Organize value-adding activities along lines of comparative advantage-</a:t>
            </a:r>
          </a:p>
        </p:txBody>
      </p:sp>
      <p:sp>
        <p:nvSpPr>
          <p:cNvPr id="11" name="Content Placeholder 10"/>
          <p:cNvSpPr>
            <a:spLocks noGrp="1"/>
          </p:cNvSpPr>
          <p:nvPr>
            <p:ph sz="quarter" idx="15"/>
          </p:nvPr>
        </p:nvSpPr>
        <p:spPr>
          <a:xfrm>
            <a:off x="457200" y="1774125"/>
            <a:ext cx="8229600" cy="945751"/>
          </a:xfrm>
        </p:spPr>
        <p:txBody>
          <a:bodyPr anchor="ctr">
            <a:spAutoFit/>
          </a:bodyPr>
          <a:lstStyle/>
          <a:p>
            <a:pPr lvl="2"/>
            <a:r>
              <a:rPr lang="en-IN" sz="1800" dirty="0"/>
              <a:t>For example: Locate functions where they can best be performed, for least cost and maximum impact and reliability (with safeguards for supply chain resiliency)</a:t>
            </a:r>
          </a:p>
        </p:txBody>
      </p:sp>
      <p:sp>
        <p:nvSpPr>
          <p:cNvPr id="9" name="Content Placeholder 8"/>
          <p:cNvSpPr>
            <a:spLocks noGrp="1"/>
          </p:cNvSpPr>
          <p:nvPr>
            <p:ph sz="quarter" idx="14"/>
          </p:nvPr>
        </p:nvSpPr>
        <p:spPr>
          <a:xfrm>
            <a:off x="457200" y="2860923"/>
            <a:ext cx="8229600" cy="1615827"/>
          </a:xfrm>
        </p:spPr>
        <p:txBody>
          <a:bodyPr>
            <a:spAutoFit/>
          </a:bodyPr>
          <a:lstStyle/>
          <a:p>
            <a:pPr marL="984250" lvl="1" indent="-527050">
              <a:buNone/>
            </a:pPr>
            <a:r>
              <a:rPr lang="en-IN" sz="1800" dirty="0">
                <a:solidFill>
                  <a:srgbClr val="007FA3"/>
                </a:solidFill>
              </a:rPr>
              <a:t>2.</a:t>
            </a:r>
            <a:r>
              <a:rPr lang="en-IN" sz="1800" dirty="0"/>
              <a:t>   Develop and operate systems units at each level of corporate activity—regional, national, and international</a:t>
            </a:r>
          </a:p>
          <a:p>
            <a:pPr marL="457200" lvl="1" indent="0">
              <a:buNone/>
            </a:pPr>
            <a:r>
              <a:rPr lang="en-IN" sz="1800" dirty="0">
                <a:solidFill>
                  <a:srgbClr val="007FA3"/>
                </a:solidFill>
              </a:rPr>
              <a:t>3.</a:t>
            </a:r>
            <a:r>
              <a:rPr lang="en-IN" sz="1800" dirty="0"/>
              <a:t>   Establish at world headquarters:</a:t>
            </a:r>
          </a:p>
          <a:p>
            <a:pPr lvl="2"/>
            <a:r>
              <a:rPr lang="en-IN" sz="1800" dirty="0"/>
              <a:t>Single office responsible for development of international systems</a:t>
            </a:r>
          </a:p>
          <a:p>
            <a:pPr lvl="2"/>
            <a:r>
              <a:rPr lang="en-IN" sz="1800" dirty="0"/>
              <a:t>Global </a:t>
            </a:r>
            <a:r>
              <a:rPr lang="en-IN" sz="1800" spc="-300" dirty="0"/>
              <a:t>C I </a:t>
            </a:r>
            <a:r>
              <a:rPr lang="en-IN" sz="1800" dirty="0"/>
              <a:t>O position</a:t>
            </a:r>
          </a:p>
        </p:txBody>
      </p:sp>
      <p:sp>
        <p:nvSpPr>
          <p:cNvPr id="2" name="Footer Placeholder 1">
            <a:extLst>
              <a:ext uri="{FF2B5EF4-FFF2-40B4-BE49-F238E27FC236}">
                <a16:creationId xmlns:a16="http://schemas.microsoft.com/office/drawing/2014/main" id="{6AA5EDD9-3057-4F36-8D17-0A78CB6ACC66}"/>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865703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3335"/>
            <a:ext cx="8229600" cy="984885"/>
          </a:xfrm>
        </p:spPr>
        <p:txBody>
          <a:bodyPr>
            <a:spAutoFit/>
          </a:bodyPr>
          <a:lstStyle/>
          <a:p>
            <a:r>
              <a:rPr lang="en-US" sz="3200" dirty="0"/>
              <a:t>A Typical Scenario: Disorganization on a Global Scale</a:t>
            </a:r>
          </a:p>
        </p:txBody>
      </p:sp>
      <p:sp>
        <p:nvSpPr>
          <p:cNvPr id="5" name="Content Placeholder 4"/>
          <p:cNvSpPr>
            <a:spLocks noGrp="1"/>
          </p:cNvSpPr>
          <p:nvPr>
            <p:ph idx="1"/>
          </p:nvPr>
        </p:nvSpPr>
        <p:spPr>
          <a:xfrm>
            <a:off x="457200" y="1128936"/>
            <a:ext cx="8229600" cy="3424014"/>
          </a:xfrm>
        </p:spPr>
        <p:txBody>
          <a:bodyPr>
            <a:spAutoFit/>
          </a:bodyPr>
          <a:lstStyle/>
          <a:p>
            <a:r>
              <a:rPr lang="en-IN" altLang="en-US" sz="2000" dirty="0"/>
              <a:t>Traditional multinational consumer-goods company based in United States and operating in Europe would like to expand into Asia</a:t>
            </a:r>
          </a:p>
          <a:p>
            <a:r>
              <a:rPr lang="en-IN" altLang="en-US" sz="2000" dirty="0"/>
              <a:t>World headquarters and strategic management in United States</a:t>
            </a:r>
          </a:p>
          <a:p>
            <a:r>
              <a:rPr lang="en-IN" altLang="en-US" sz="2000" dirty="0"/>
              <a:t>Separate regional, national production and marketing </a:t>
            </a:r>
            <a:r>
              <a:rPr lang="en-IN" altLang="en-US" sz="2000" dirty="0" err="1"/>
              <a:t>centers</a:t>
            </a:r>
            <a:endParaRPr lang="en-IN" altLang="en-US" sz="2000" dirty="0"/>
          </a:p>
          <a:p>
            <a:r>
              <a:rPr lang="en-IN" altLang="en-US" sz="2000" dirty="0"/>
              <a:t>Foreign divisions have separate </a:t>
            </a:r>
            <a:r>
              <a:rPr lang="en-IN" altLang="en-US" sz="2000" spc="-300" dirty="0"/>
              <a:t>I </a:t>
            </a:r>
            <a:r>
              <a:rPr lang="en-IN" altLang="en-US" sz="2000" dirty="0"/>
              <a:t>T systems</a:t>
            </a:r>
          </a:p>
          <a:p>
            <a:r>
              <a:rPr lang="en-IN" altLang="en-US" sz="2000" dirty="0"/>
              <a:t>E-mail systems are incompatible</a:t>
            </a:r>
          </a:p>
          <a:p>
            <a:r>
              <a:rPr lang="en-IN" altLang="en-US" sz="2000" dirty="0"/>
              <a:t>Each production facility uses different </a:t>
            </a:r>
            <a:r>
              <a:rPr lang="en-IN" altLang="en-US" sz="2000" spc="-300" dirty="0"/>
              <a:t>E R </a:t>
            </a:r>
            <a:r>
              <a:rPr lang="en-IN" altLang="en-US" sz="2000" dirty="0"/>
              <a:t>P system, different hardware and database platforms, and so on</a:t>
            </a:r>
          </a:p>
        </p:txBody>
      </p:sp>
      <p:sp>
        <p:nvSpPr>
          <p:cNvPr id="2" name="Footer Placeholder 1">
            <a:extLst>
              <a:ext uri="{FF2B5EF4-FFF2-40B4-BE49-F238E27FC236}">
                <a16:creationId xmlns:a16="http://schemas.microsoft.com/office/drawing/2014/main" id="{24D4E429-EA0B-4663-84CC-21291F1703B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5726101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53"/>
            <a:ext cx="8229600" cy="492443"/>
          </a:xfrm>
        </p:spPr>
        <p:txBody>
          <a:bodyPr>
            <a:spAutoFit/>
          </a:bodyPr>
          <a:lstStyle/>
          <a:p>
            <a:r>
              <a:rPr lang="en-IN" sz="3200" dirty="0"/>
              <a:t>Global Systems Strategy </a:t>
            </a:r>
            <a:r>
              <a:rPr lang="en-IN" sz="2400" dirty="0"/>
              <a:t>(1 of 2)</a:t>
            </a:r>
            <a:endParaRPr lang="en-US" sz="2400" dirty="0"/>
          </a:p>
        </p:txBody>
      </p:sp>
      <p:sp>
        <p:nvSpPr>
          <p:cNvPr id="5" name="Content Placeholder 4"/>
          <p:cNvSpPr>
            <a:spLocks noGrp="1"/>
          </p:cNvSpPr>
          <p:nvPr>
            <p:ph idx="1"/>
          </p:nvPr>
        </p:nvSpPr>
        <p:spPr>
          <a:xfrm>
            <a:off x="457200" y="921458"/>
            <a:ext cx="8229600" cy="3021892"/>
          </a:xfrm>
        </p:spPr>
        <p:txBody>
          <a:bodyPr>
            <a:spAutoFit/>
          </a:bodyPr>
          <a:lstStyle/>
          <a:p>
            <a:r>
              <a:rPr lang="en-IN" altLang="en-US" sz="2000" dirty="0"/>
              <a:t>Share only core systems</a:t>
            </a:r>
          </a:p>
          <a:p>
            <a:pPr lvl="1"/>
            <a:r>
              <a:rPr lang="en-IN" altLang="en-US" sz="2000" dirty="0"/>
              <a:t>Core systems support functionality critical to firm</a:t>
            </a:r>
          </a:p>
          <a:p>
            <a:r>
              <a:rPr lang="en-IN" altLang="en-US" sz="2000" dirty="0"/>
              <a:t>Partially coordinate systems that share some key elements</a:t>
            </a:r>
          </a:p>
          <a:p>
            <a:pPr lvl="1"/>
            <a:r>
              <a:rPr lang="en-IN" altLang="en-US" sz="2000" dirty="0"/>
              <a:t>Do not have to be totally common across national boundaries</a:t>
            </a:r>
          </a:p>
          <a:p>
            <a:pPr lvl="1"/>
            <a:r>
              <a:rPr lang="en-IN" altLang="en-US" sz="2000" dirty="0"/>
              <a:t>Local variation desirable</a:t>
            </a:r>
          </a:p>
          <a:p>
            <a:r>
              <a:rPr lang="en-IN" altLang="en-US" sz="2000" dirty="0"/>
              <a:t>Peripheral systems</a:t>
            </a:r>
          </a:p>
          <a:p>
            <a:r>
              <a:rPr lang="en-IN" altLang="en-US" sz="2000" dirty="0"/>
              <a:t>Need to suit local requirements only</a:t>
            </a:r>
          </a:p>
        </p:txBody>
      </p:sp>
      <p:sp>
        <p:nvSpPr>
          <p:cNvPr id="2" name="Footer Placeholder 1">
            <a:extLst>
              <a:ext uri="{FF2B5EF4-FFF2-40B4-BE49-F238E27FC236}">
                <a16:creationId xmlns:a16="http://schemas.microsoft.com/office/drawing/2014/main" id="{882E2615-7028-4753-B324-AA9BB0200BBB}"/>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1187958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1907"/>
            <a:ext cx="8229600" cy="492443"/>
          </a:xfrm>
        </p:spPr>
        <p:txBody>
          <a:bodyPr>
            <a:spAutoFit/>
          </a:bodyPr>
          <a:lstStyle/>
          <a:p>
            <a:r>
              <a:rPr lang="en-IN" sz="3200" dirty="0"/>
              <a:t>Global Systems Strategy </a:t>
            </a:r>
            <a:r>
              <a:rPr lang="en-IN" sz="2400" dirty="0"/>
              <a:t>(2 of 2)</a:t>
            </a:r>
            <a:endParaRPr lang="en-US" sz="2400" dirty="0"/>
          </a:p>
        </p:txBody>
      </p:sp>
      <p:sp>
        <p:nvSpPr>
          <p:cNvPr id="5" name="Content Placeholder 4"/>
          <p:cNvSpPr>
            <a:spLocks noGrp="1"/>
          </p:cNvSpPr>
          <p:nvPr>
            <p:ph idx="1"/>
          </p:nvPr>
        </p:nvSpPr>
        <p:spPr>
          <a:xfrm>
            <a:off x="457200" y="665783"/>
            <a:ext cx="8229600" cy="3854901"/>
          </a:xfrm>
        </p:spPr>
        <p:txBody>
          <a:bodyPr>
            <a:spAutoFit/>
          </a:bodyPr>
          <a:lstStyle/>
          <a:p>
            <a:r>
              <a:rPr lang="en-IN" altLang="en-US" sz="2000" dirty="0"/>
              <a:t>Define core business processes</a:t>
            </a:r>
          </a:p>
          <a:p>
            <a:r>
              <a:rPr lang="en-IN" altLang="en-US" sz="2000" dirty="0"/>
              <a:t>Identify core systems to coordinate centrally</a:t>
            </a:r>
          </a:p>
          <a:p>
            <a:r>
              <a:rPr lang="en-IN" altLang="en-US" sz="2000" dirty="0"/>
              <a:t>Choose an approach</a:t>
            </a:r>
          </a:p>
          <a:p>
            <a:pPr lvl="1"/>
            <a:r>
              <a:rPr lang="en-IN" altLang="en-US" sz="1800" dirty="0"/>
              <a:t>Piecemeal and grand design approaches tend to fail</a:t>
            </a:r>
          </a:p>
          <a:p>
            <a:r>
              <a:rPr lang="en-IN" altLang="en-US" sz="2000" dirty="0"/>
              <a:t>Make benefits clear</a:t>
            </a:r>
          </a:p>
          <a:p>
            <a:pPr lvl="1"/>
            <a:r>
              <a:rPr lang="en-IN" altLang="en-US" sz="1800" dirty="0"/>
              <a:t>Global flexibility</a:t>
            </a:r>
          </a:p>
          <a:p>
            <a:pPr lvl="1"/>
            <a:r>
              <a:rPr lang="en-IN" altLang="en-US" sz="1800" dirty="0"/>
              <a:t>Gains in efficiency (but more emphasis now on supply chain resiliency)</a:t>
            </a:r>
          </a:p>
          <a:p>
            <a:pPr lvl="1"/>
            <a:r>
              <a:rPr lang="en-IN" altLang="en-US" sz="1800" dirty="0"/>
              <a:t>Fixed costs amortized over a larger customer base; creates new economies of scale </a:t>
            </a:r>
          </a:p>
          <a:p>
            <a:pPr lvl="1"/>
            <a:r>
              <a:rPr lang="en-IN" altLang="en-US" sz="1800" dirty="0"/>
              <a:t>Ability to optimize corporate funds over much larger capital base</a:t>
            </a:r>
          </a:p>
        </p:txBody>
      </p:sp>
      <p:sp>
        <p:nvSpPr>
          <p:cNvPr id="2" name="Footer Placeholder 1">
            <a:extLst>
              <a:ext uri="{FF2B5EF4-FFF2-40B4-BE49-F238E27FC236}">
                <a16:creationId xmlns:a16="http://schemas.microsoft.com/office/drawing/2014/main" id="{AAC81CFE-000B-4CF9-A3E6-7F15F7E1CA80}"/>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796747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9592"/>
            <a:ext cx="8229600" cy="965479"/>
          </a:xfrm>
        </p:spPr>
        <p:txBody>
          <a:bodyPr>
            <a:spAutoFit/>
          </a:bodyPr>
          <a:lstStyle/>
          <a:p>
            <a:r>
              <a:rPr lang="en-IN" sz="3200" dirty="0"/>
              <a:t>The Management Solution: Implementation </a:t>
            </a:r>
            <a:r>
              <a:rPr lang="en-IN" sz="2400" dirty="0"/>
              <a:t>(1 of 2)</a:t>
            </a:r>
            <a:endParaRPr lang="en-US" sz="2400" dirty="0"/>
          </a:p>
        </p:txBody>
      </p:sp>
      <p:sp>
        <p:nvSpPr>
          <p:cNvPr id="5" name="Content Placeholder 4"/>
          <p:cNvSpPr>
            <a:spLocks noGrp="1"/>
          </p:cNvSpPr>
          <p:nvPr>
            <p:ph idx="1"/>
          </p:nvPr>
        </p:nvSpPr>
        <p:spPr>
          <a:xfrm>
            <a:off x="457200" y="1097340"/>
            <a:ext cx="8229600" cy="3539430"/>
          </a:xfrm>
        </p:spPr>
        <p:txBody>
          <a:bodyPr>
            <a:spAutoFit/>
          </a:bodyPr>
          <a:lstStyle/>
          <a:p>
            <a:r>
              <a:rPr lang="en-IN" altLang="en-US" sz="1800" dirty="0"/>
              <a:t>Agreeing on common user requirements</a:t>
            </a:r>
          </a:p>
          <a:p>
            <a:pPr lvl="1"/>
            <a:r>
              <a:rPr lang="en-IN" altLang="en-US" sz="1800" dirty="0"/>
              <a:t>Short list of core business processes</a:t>
            </a:r>
          </a:p>
          <a:p>
            <a:pPr lvl="1"/>
            <a:r>
              <a:rPr lang="en-IN" altLang="en-US" sz="1800" dirty="0"/>
              <a:t>Develop common language, understanding of common elements and unique local qualities</a:t>
            </a:r>
          </a:p>
          <a:p>
            <a:r>
              <a:rPr lang="en-IN" altLang="en-US" sz="1800" dirty="0"/>
              <a:t>Introducing changes in business processes</a:t>
            </a:r>
          </a:p>
          <a:p>
            <a:pPr lvl="1"/>
            <a:r>
              <a:rPr lang="en-IN" altLang="en-US" sz="1800" dirty="0"/>
              <a:t>Success depends on legitimacy, authority, ability to involve users in change design process</a:t>
            </a:r>
          </a:p>
          <a:p>
            <a:r>
              <a:rPr lang="en-IN" altLang="en-US" sz="1800" dirty="0"/>
              <a:t>Coordinating applications development</a:t>
            </a:r>
          </a:p>
          <a:p>
            <a:pPr lvl="1"/>
            <a:r>
              <a:rPr lang="en-IN" altLang="en-US" sz="1800" dirty="0"/>
              <a:t>Coordinate change through incremental steps</a:t>
            </a:r>
          </a:p>
          <a:p>
            <a:pPr lvl="1"/>
            <a:r>
              <a:rPr lang="en-IN" altLang="en-US" sz="1800" dirty="0"/>
              <a:t>Reduce set of transnational systems to bare minimum</a:t>
            </a:r>
          </a:p>
        </p:txBody>
      </p:sp>
      <p:sp>
        <p:nvSpPr>
          <p:cNvPr id="2" name="Footer Placeholder 1">
            <a:extLst>
              <a:ext uri="{FF2B5EF4-FFF2-40B4-BE49-F238E27FC236}">
                <a16:creationId xmlns:a16="http://schemas.microsoft.com/office/drawing/2014/main" id="{8A633474-2F39-4E87-8F02-036D14C36534}"/>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924167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US" sz="3200" dirty="0"/>
              <a:t>Figure 15.4 Local, Regional, and Global Systems</a:t>
            </a:r>
          </a:p>
        </p:txBody>
      </p:sp>
      <p:pic>
        <p:nvPicPr>
          <p:cNvPr id="4098" name="Picture 2" descr="A concentric circle diagram divided into two halves illustrates local, regional, and global systems. For a full description, see Notes. Press F6."/>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015902" y="1225380"/>
            <a:ext cx="4674450" cy="340377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AA7A54A4-04ED-42A7-892A-F1B8A1E7C847}"/>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279595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347"/>
            <a:ext cx="8229600" cy="984885"/>
          </a:xfrm>
        </p:spPr>
        <p:txBody>
          <a:bodyPr>
            <a:spAutoFit/>
          </a:bodyPr>
          <a:lstStyle/>
          <a:p>
            <a:r>
              <a:rPr lang="en-IN" sz="3200" dirty="0"/>
              <a:t>The Management Solution: Implementation </a:t>
            </a:r>
            <a:r>
              <a:rPr lang="en-IN" sz="2400" dirty="0"/>
              <a:t>(2 of 2)</a:t>
            </a:r>
            <a:endParaRPr lang="en-US" sz="2400" dirty="0"/>
          </a:p>
        </p:txBody>
      </p:sp>
      <p:sp>
        <p:nvSpPr>
          <p:cNvPr id="5" name="Content Placeholder 4"/>
          <p:cNvSpPr>
            <a:spLocks noGrp="1"/>
          </p:cNvSpPr>
          <p:nvPr>
            <p:ph idx="1"/>
          </p:nvPr>
        </p:nvSpPr>
        <p:spPr>
          <a:xfrm>
            <a:off x="457200" y="1127447"/>
            <a:ext cx="8229600" cy="3577903"/>
          </a:xfrm>
        </p:spPr>
        <p:txBody>
          <a:bodyPr>
            <a:spAutoFit/>
          </a:bodyPr>
          <a:lstStyle/>
          <a:p>
            <a:r>
              <a:rPr lang="en-IN" altLang="en-US" sz="2000" dirty="0"/>
              <a:t>Coordinating software releases</a:t>
            </a:r>
          </a:p>
          <a:p>
            <a:pPr lvl="1"/>
            <a:r>
              <a:rPr lang="en-IN" altLang="en-US" sz="2000" dirty="0"/>
              <a:t>Institute procedures to ensure all operating units update at same time</a:t>
            </a:r>
          </a:p>
          <a:p>
            <a:r>
              <a:rPr lang="en-IN" altLang="en-US" sz="2000" dirty="0"/>
              <a:t>Encouraging local users to support global systems</a:t>
            </a:r>
          </a:p>
          <a:p>
            <a:pPr lvl="1"/>
            <a:r>
              <a:rPr lang="en-IN" altLang="en-US" sz="2000" dirty="0" err="1"/>
              <a:t>Cooptation</a:t>
            </a:r>
            <a:r>
              <a:rPr lang="en-IN" altLang="en-US" sz="2000" dirty="0"/>
              <a:t>: Bringing the opposition into design and implementation process without giving up control over direction and nature of the change</a:t>
            </a:r>
          </a:p>
          <a:p>
            <a:pPr lvl="2"/>
            <a:r>
              <a:rPr lang="en-IN" altLang="en-US" dirty="0"/>
              <a:t>Permit each country unit to develop one transnational application</a:t>
            </a:r>
          </a:p>
          <a:p>
            <a:pPr lvl="2"/>
            <a:r>
              <a:rPr lang="en-IN" altLang="en-US" dirty="0"/>
              <a:t>Develop new transnational </a:t>
            </a:r>
            <a:r>
              <a:rPr lang="en-IN" altLang="en-US" dirty="0" err="1"/>
              <a:t>centers</a:t>
            </a:r>
            <a:r>
              <a:rPr lang="en-IN" altLang="en-US" dirty="0"/>
              <a:t> of excellence</a:t>
            </a:r>
          </a:p>
        </p:txBody>
      </p:sp>
      <p:sp>
        <p:nvSpPr>
          <p:cNvPr id="2" name="Footer Placeholder 1">
            <a:extLst>
              <a:ext uri="{FF2B5EF4-FFF2-40B4-BE49-F238E27FC236}">
                <a16:creationId xmlns:a16="http://schemas.microsoft.com/office/drawing/2014/main" id="{909579E5-BC73-4DEF-98F3-F6C9F2A869CC}"/>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36867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622"/>
            <a:ext cx="8229600" cy="1477328"/>
          </a:xfrm>
        </p:spPr>
        <p:txBody>
          <a:bodyPr>
            <a:spAutoFit/>
          </a:bodyPr>
          <a:lstStyle/>
          <a:p>
            <a:r>
              <a:rPr lang="en-IN" sz="3200" dirty="0"/>
              <a:t>Issues and Technical Alternatives When Developing International Information Systems </a:t>
            </a:r>
            <a:r>
              <a:rPr lang="en-IN" sz="2400" dirty="0"/>
              <a:t>(1 of 2)</a:t>
            </a:r>
            <a:endParaRPr lang="en-US" sz="2400" dirty="0"/>
          </a:p>
        </p:txBody>
      </p:sp>
      <p:sp>
        <p:nvSpPr>
          <p:cNvPr id="5" name="Content Placeholder 4"/>
          <p:cNvSpPr>
            <a:spLocks noGrp="1"/>
          </p:cNvSpPr>
          <p:nvPr>
            <p:ph idx="1"/>
          </p:nvPr>
        </p:nvSpPr>
        <p:spPr>
          <a:xfrm>
            <a:off x="457200" y="1657350"/>
            <a:ext cx="8229600" cy="2793072"/>
          </a:xfrm>
        </p:spPr>
        <p:txBody>
          <a:bodyPr>
            <a:spAutoFit/>
          </a:bodyPr>
          <a:lstStyle/>
          <a:p>
            <a:r>
              <a:rPr lang="en-IN" altLang="en-US" sz="1800" dirty="0"/>
              <a:t>Computing platforms and systems integration</a:t>
            </a:r>
          </a:p>
          <a:p>
            <a:pPr lvl="1"/>
            <a:r>
              <a:rPr lang="en-IN" altLang="en-US" sz="1800" dirty="0"/>
              <a:t>How new core systems will fit in with existing suite of applications developed around globe by different divisions</a:t>
            </a:r>
          </a:p>
          <a:p>
            <a:pPr lvl="1"/>
            <a:r>
              <a:rPr lang="en-IN" altLang="en-US" sz="1800" dirty="0"/>
              <a:t>Standardization: Data standards, interfaces, software, and so on</a:t>
            </a:r>
          </a:p>
          <a:p>
            <a:r>
              <a:rPr lang="en-IN" altLang="en-US" sz="1800" dirty="0"/>
              <a:t>Connectivity</a:t>
            </a:r>
          </a:p>
          <a:p>
            <a:pPr lvl="1"/>
            <a:r>
              <a:rPr lang="en-IN" altLang="en-US" sz="1800" dirty="0"/>
              <a:t>Internet does not guarantee any level of service</a:t>
            </a:r>
          </a:p>
          <a:p>
            <a:pPr lvl="1"/>
            <a:r>
              <a:rPr lang="en-IN" altLang="en-US" sz="1800" dirty="0"/>
              <a:t>Many firms use private networks and </a:t>
            </a:r>
            <a:r>
              <a:rPr lang="en-IN" altLang="en-US" sz="1800" spc="-300" dirty="0"/>
              <a:t>V P N </a:t>
            </a:r>
            <a:r>
              <a:rPr lang="en-IN" altLang="en-US" sz="1800" dirty="0"/>
              <a:t>s</a:t>
            </a:r>
          </a:p>
          <a:p>
            <a:pPr lvl="1"/>
            <a:r>
              <a:rPr lang="en-IN" altLang="en-US" sz="1800" dirty="0"/>
              <a:t>Low penetration of </a:t>
            </a:r>
            <a:r>
              <a:rPr lang="en-IN" altLang="en-US" sz="1800" spc="-300" dirty="0"/>
              <a:t>P C </a:t>
            </a:r>
            <a:r>
              <a:rPr lang="en-IN" altLang="en-US" sz="1800" dirty="0"/>
              <a:t>s, outdated infrastructures in developing countries</a:t>
            </a:r>
          </a:p>
        </p:txBody>
      </p:sp>
      <p:sp>
        <p:nvSpPr>
          <p:cNvPr id="2" name="Footer Placeholder 1">
            <a:extLst>
              <a:ext uri="{FF2B5EF4-FFF2-40B4-BE49-F238E27FC236}">
                <a16:creationId xmlns:a16="http://schemas.microsoft.com/office/drawing/2014/main" id="{F0D38F0B-ED90-46E0-ADBC-5BE35B6C933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57276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48578"/>
            <a:ext cx="8229600" cy="1477328"/>
          </a:xfrm>
        </p:spPr>
        <p:txBody>
          <a:bodyPr wrap="square">
            <a:spAutoFit/>
          </a:bodyPr>
          <a:lstStyle/>
          <a:p>
            <a:r>
              <a:rPr lang="en-IN" sz="3200" dirty="0"/>
              <a:t>Issues and Technical Alternatives When Developing International Information Systems </a:t>
            </a:r>
            <a:r>
              <a:rPr lang="en-IN" sz="2400" dirty="0"/>
              <a:t>(2 of 2)</a:t>
            </a:r>
            <a:endParaRPr lang="en-US" sz="2400" dirty="0"/>
          </a:p>
        </p:txBody>
      </p:sp>
      <p:sp>
        <p:nvSpPr>
          <p:cNvPr id="5" name="Content Placeholder 4"/>
          <p:cNvSpPr>
            <a:spLocks noGrp="1"/>
          </p:cNvSpPr>
          <p:nvPr>
            <p:ph idx="1"/>
          </p:nvPr>
        </p:nvSpPr>
        <p:spPr>
          <a:xfrm>
            <a:off x="457200" y="1442174"/>
            <a:ext cx="8229600" cy="3339376"/>
          </a:xfrm>
        </p:spPr>
        <p:txBody>
          <a:bodyPr>
            <a:spAutoFit/>
          </a:bodyPr>
          <a:lstStyle/>
          <a:p>
            <a:r>
              <a:rPr lang="en-IN" altLang="en-US" sz="1800" dirty="0"/>
              <a:t>Software</a:t>
            </a:r>
          </a:p>
          <a:p>
            <a:pPr lvl="1"/>
            <a:r>
              <a:rPr lang="en-IN" altLang="en-US" sz="1800" dirty="0"/>
              <a:t>Integrating new systems with old</a:t>
            </a:r>
          </a:p>
          <a:p>
            <a:pPr lvl="1"/>
            <a:r>
              <a:rPr lang="en-IN" altLang="en-US" sz="1800" dirty="0"/>
              <a:t>Human interface design issues, languages</a:t>
            </a:r>
          </a:p>
          <a:p>
            <a:r>
              <a:rPr lang="en-IN" altLang="en-US" sz="1800" dirty="0"/>
              <a:t>Software localization</a:t>
            </a:r>
          </a:p>
          <a:p>
            <a:pPr lvl="1"/>
            <a:r>
              <a:rPr lang="en-IN" altLang="en-US" sz="1800" dirty="0"/>
              <a:t>Converting software to operate in second language</a:t>
            </a:r>
          </a:p>
          <a:p>
            <a:r>
              <a:rPr lang="en-IN" altLang="en-US" sz="1800" dirty="0"/>
              <a:t>Most important software applications:</a:t>
            </a:r>
          </a:p>
          <a:p>
            <a:pPr lvl="1"/>
            <a:r>
              <a:rPr lang="en-IN" altLang="en-US" sz="1800" spc="-300" dirty="0"/>
              <a:t>T P </a:t>
            </a:r>
            <a:r>
              <a:rPr lang="en-IN" altLang="en-US" sz="1800" dirty="0"/>
              <a:t>S and </a:t>
            </a:r>
            <a:r>
              <a:rPr lang="en-IN" altLang="en-US" sz="1800" spc="-300" dirty="0"/>
              <a:t>M I </a:t>
            </a:r>
            <a:r>
              <a:rPr lang="en-IN" altLang="en-US" sz="1800" dirty="0"/>
              <a:t>S</a:t>
            </a:r>
          </a:p>
          <a:p>
            <a:pPr lvl="1"/>
            <a:r>
              <a:rPr lang="en-IN" altLang="en-US" sz="1800" spc="-300" dirty="0"/>
              <a:t>S C </a:t>
            </a:r>
            <a:r>
              <a:rPr lang="en-IN" altLang="en-US" sz="1800" dirty="0"/>
              <a:t>M, </a:t>
            </a:r>
            <a:r>
              <a:rPr lang="en-IN" altLang="en-US" sz="1800" spc="-300" dirty="0"/>
              <a:t>E D </a:t>
            </a:r>
            <a:r>
              <a:rPr lang="en-IN" altLang="en-US" sz="1800" dirty="0"/>
              <a:t>I, and enterprise systems</a:t>
            </a:r>
          </a:p>
          <a:p>
            <a:pPr lvl="1"/>
            <a:r>
              <a:rPr lang="en-IN" altLang="en-US" sz="1800" dirty="0"/>
              <a:t>Collaboration tools, e-mail, videoconferencing</a:t>
            </a:r>
          </a:p>
        </p:txBody>
      </p:sp>
      <p:sp>
        <p:nvSpPr>
          <p:cNvPr id="2" name="Footer Placeholder 1">
            <a:extLst>
              <a:ext uri="{FF2B5EF4-FFF2-40B4-BE49-F238E27FC236}">
                <a16:creationId xmlns:a16="http://schemas.microsoft.com/office/drawing/2014/main" id="{91A52E76-6745-471B-9A7E-5D0F4891C152}"/>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317400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129752" cy="984885"/>
          </a:xfrm>
        </p:spPr>
        <p:txBody>
          <a:bodyPr wrap="square">
            <a:spAutoFit/>
          </a:bodyPr>
          <a:lstStyle/>
          <a:p>
            <a:r>
              <a:rPr lang="en-IN" sz="3200" dirty="0"/>
              <a:t>Figure 15.5 Internet Population in Selected Countries</a:t>
            </a:r>
            <a:endParaRPr lang="en-US" sz="3200" dirty="0"/>
          </a:p>
        </p:txBody>
      </p:sp>
      <p:pic>
        <p:nvPicPr>
          <p:cNvPr id="7" name="Picture 6" descr="Chart, bar chart&#10;&#10;Description automatically generated">
            <a:extLst>
              <a:ext uri="{FF2B5EF4-FFF2-40B4-BE49-F238E27FC236}">
                <a16:creationId xmlns:a16="http://schemas.microsoft.com/office/drawing/2014/main" id="{6FB04C72-7A07-4598-9C64-2B934211BB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298" y="1238250"/>
            <a:ext cx="7539404" cy="2667000"/>
          </a:xfrm>
          <a:prstGeom prst="rect">
            <a:avLst/>
          </a:prstGeom>
        </p:spPr>
      </p:pic>
      <p:sp>
        <p:nvSpPr>
          <p:cNvPr id="2" name="Footer Placeholder 1">
            <a:extLst>
              <a:ext uri="{FF2B5EF4-FFF2-40B4-BE49-F238E27FC236}">
                <a16:creationId xmlns:a16="http://schemas.microsoft.com/office/drawing/2014/main" id="{CD8A1190-C291-4172-AC7A-B4B64106C0BD}"/>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40039719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62865"/>
            <a:ext cx="8229600" cy="984885"/>
          </a:xfrm>
        </p:spPr>
        <p:txBody>
          <a:bodyPr>
            <a:spAutoFit/>
          </a:bodyPr>
          <a:lstStyle/>
          <a:p>
            <a:r>
              <a:rPr lang="en-IN" sz="3200" dirty="0"/>
              <a:t>Interactive Session: Organizations: Digital Nationalism</a:t>
            </a:r>
            <a:endParaRPr lang="en-US" sz="3200" dirty="0"/>
          </a:p>
        </p:txBody>
      </p:sp>
      <p:sp>
        <p:nvSpPr>
          <p:cNvPr id="5" name="Content Placeholder 4"/>
          <p:cNvSpPr>
            <a:spLocks noGrp="1"/>
          </p:cNvSpPr>
          <p:nvPr>
            <p:ph idx="1"/>
          </p:nvPr>
        </p:nvSpPr>
        <p:spPr>
          <a:xfrm>
            <a:off x="457200" y="1217988"/>
            <a:ext cx="8229600" cy="1508105"/>
          </a:xfrm>
        </p:spPr>
        <p:txBody>
          <a:bodyPr>
            <a:spAutoFit/>
          </a:bodyPr>
          <a:lstStyle/>
          <a:p>
            <a:r>
              <a:rPr lang="en-IN" altLang="en-US" sz="2200" dirty="0"/>
              <a:t>Class discussion</a:t>
            </a:r>
          </a:p>
          <a:p>
            <a:pPr lvl="1"/>
            <a:r>
              <a:rPr lang="en-IN" altLang="en-US" dirty="0"/>
              <a:t>What is digital nationalism? Give two examples.</a:t>
            </a:r>
          </a:p>
          <a:p>
            <a:pPr lvl="1"/>
            <a:r>
              <a:rPr lang="en-IN" altLang="en-US" dirty="0"/>
              <a:t>What problems does digital nationalism pose for conducting business globally?</a:t>
            </a:r>
          </a:p>
        </p:txBody>
      </p:sp>
      <p:sp>
        <p:nvSpPr>
          <p:cNvPr id="2" name="Footer Placeholder 1">
            <a:extLst>
              <a:ext uri="{FF2B5EF4-FFF2-40B4-BE49-F238E27FC236}">
                <a16:creationId xmlns:a16="http://schemas.microsoft.com/office/drawing/2014/main" id="{62A2905E-0140-4160-AAC1-DC040369B829}"/>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5591486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953"/>
            <a:ext cx="8229600" cy="492443"/>
          </a:xfrm>
        </p:spPr>
        <p:txBody>
          <a:bodyPr>
            <a:spAutoFit/>
          </a:bodyPr>
          <a:lstStyle/>
          <a:p>
            <a:r>
              <a:rPr lang="en-IN" sz="3200" dirty="0"/>
              <a:t>How Will MIS Help My Career?</a:t>
            </a:r>
            <a:endParaRPr lang="en-US" sz="3200" dirty="0"/>
          </a:p>
        </p:txBody>
      </p:sp>
      <p:sp>
        <p:nvSpPr>
          <p:cNvPr id="5" name="Content Placeholder 4"/>
          <p:cNvSpPr>
            <a:spLocks noGrp="1"/>
          </p:cNvSpPr>
          <p:nvPr>
            <p:ph idx="1"/>
          </p:nvPr>
        </p:nvSpPr>
        <p:spPr>
          <a:xfrm>
            <a:off x="457200" y="796826"/>
            <a:ext cx="8229600" cy="2308324"/>
          </a:xfrm>
        </p:spPr>
        <p:txBody>
          <a:bodyPr>
            <a:spAutoFit/>
          </a:bodyPr>
          <a:lstStyle/>
          <a:p>
            <a:r>
              <a:rPr lang="en-IN" sz="2000" dirty="0"/>
              <a:t>The Company: Global Online Stats</a:t>
            </a:r>
          </a:p>
          <a:p>
            <a:r>
              <a:rPr lang="en-IN" sz="2000" dirty="0"/>
              <a:t>Position Description: Entry-level sales and marketing trainee</a:t>
            </a:r>
          </a:p>
          <a:p>
            <a:r>
              <a:rPr lang="en-IN" sz="2000" dirty="0"/>
              <a:t>Job Requirements</a:t>
            </a:r>
          </a:p>
          <a:p>
            <a:r>
              <a:rPr lang="en-IN" sz="2000" dirty="0"/>
              <a:t>Interview Questions</a:t>
            </a:r>
          </a:p>
          <a:p>
            <a:r>
              <a:rPr lang="en-IN" sz="2000" dirty="0"/>
              <a:t>Author Tips</a:t>
            </a:r>
          </a:p>
        </p:txBody>
      </p:sp>
      <p:sp>
        <p:nvSpPr>
          <p:cNvPr id="2" name="Footer Placeholder 1">
            <a:extLst>
              <a:ext uri="{FF2B5EF4-FFF2-40B4-BE49-F238E27FC236}">
                <a16:creationId xmlns:a16="http://schemas.microsoft.com/office/drawing/2014/main" id="{A1EF80D7-7D47-4B7C-B715-4134783081FA}"/>
              </a:ext>
            </a:extLst>
          </p:cNvPr>
          <p:cNvSpPr>
            <a:spLocks noGrp="1"/>
          </p:cNvSpPr>
          <p:nvPr>
            <p:ph type="ftr" sz="quarte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7154145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a:xfrm>
            <a:off x="452972" y="29687"/>
            <a:ext cx="8124825" cy="507364"/>
          </a:xfrm>
        </p:spPr>
        <p:txBody>
          <a:bodyPr vert="horz" wrap="square" lIns="0" tIns="0" rIns="0" bIns="0" rtlCol="0" anchor="b" anchorCtr="0">
            <a:spAutoFit/>
          </a:bodyPr>
          <a:lstStyle/>
          <a:p>
            <a:r>
              <a:rPr lang="en-US" sz="3200"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9873" y="1460109"/>
            <a:ext cx="1277815" cy="1434026"/>
          </a:xfrm>
          <a:prstGeom prst="rect">
            <a:avLst/>
          </a:prstGeom>
        </p:spPr>
      </p:pic>
      <p:sp>
        <p:nvSpPr>
          <p:cNvPr id="9" name="Text Placeholder 1">
            <a:extLst>
              <a:ext uri="{FF2B5EF4-FFF2-40B4-BE49-F238E27FC236}">
                <a16:creationId xmlns:a16="http://schemas.microsoft.com/office/drawing/2014/main" id="{AD5FAE7B-F718-4307-B112-AD6256157E8F}"/>
              </a:ext>
            </a:extLst>
          </p:cNvPr>
          <p:cNvSpPr txBox="1">
            <a:spLocks/>
          </p:cNvSpPr>
          <p:nvPr/>
        </p:nvSpPr>
        <p:spPr>
          <a:xfrm>
            <a:off x="1809750" y="994996"/>
            <a:ext cx="6858001" cy="2854836"/>
          </a:xfrm>
          <a:prstGeom prst="rect">
            <a:avLst/>
          </a:prstGeom>
        </p:spPr>
        <p:style>
          <a:lnRef idx="2">
            <a:schemeClr val="dk1"/>
          </a:lnRef>
          <a:fillRef idx="1">
            <a:schemeClr val="lt1"/>
          </a:fillRef>
          <a:effectRef idx="0">
            <a:schemeClr val="dk1"/>
          </a:effectRef>
          <a:fontRef idx="minor">
            <a:schemeClr val="dk1"/>
          </a:fontRef>
        </p:style>
        <p:txBody>
          <a:bodyPr vert="horz" lIns="182880" tIns="182880" rIns="182880" bIns="182880" rtlCol="0" anchor="ctr">
            <a:no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dk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dk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dk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dk1"/>
                </a:solidFill>
                <a:latin typeface="+mn-lt"/>
                <a:ea typeface="+mn-ea"/>
                <a:cs typeface="+mn-cs"/>
              </a:defRPr>
            </a:lvl9pPr>
          </a:lstStyle>
          <a:p>
            <a:pPr marL="101600" indent="0">
              <a:buNone/>
            </a:pPr>
            <a:r>
              <a:rPr lang="en-US" b="1" dirty="0"/>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
        <p:nvSpPr>
          <p:cNvPr id="2" name="Footer Placeholder 1">
            <a:extLst>
              <a:ext uri="{FF2B5EF4-FFF2-40B4-BE49-F238E27FC236}">
                <a16:creationId xmlns:a16="http://schemas.microsoft.com/office/drawing/2014/main" id="{17B87E2E-36D2-4C08-8B16-562B77A3420B}"/>
              </a:ext>
            </a:extLst>
          </p:cNvPr>
          <p:cNvSpPr>
            <a:spLocks noGrp="1"/>
          </p:cNvSpPr>
          <p:nvPr>
            <p:ph type="ftr" idx="11"/>
          </p:nvPr>
        </p:nvSpPr>
        <p:spPr/>
        <p:txBody>
          <a:bodyPr/>
          <a:lstStyle/>
          <a:p>
            <a:r>
              <a:rPr lang="en-US"/>
              <a:t>Copyright © 2022, 2020, 2018 Pearson Education, Ltd. All Rights Reserved</a:t>
            </a:r>
            <a:endParaRPr lang="en-US" dirty="0"/>
          </a:p>
        </p:txBody>
      </p:sp>
    </p:spTree>
    <p:extLst>
      <p:ext uri="{BB962C8B-B14F-4D97-AF65-F5344CB8AC3E}">
        <p14:creationId xmlns:p14="http://schemas.microsoft.com/office/powerpoint/2010/main" val="20003167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77bb34d93a4c6de111706773da7e89128aa"/>
</p:tagLst>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4673</TotalTime>
  <Words>3917</Words>
  <Application>Microsoft Office PowerPoint</Application>
  <PresentationFormat>On-screen Show (16:9)</PresentationFormat>
  <Paragraphs>353</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Symbol</vt:lpstr>
      <vt:lpstr>Times New Roman</vt:lpstr>
      <vt:lpstr>Verdana</vt:lpstr>
      <vt:lpstr>Wingdings</vt:lpstr>
      <vt:lpstr>508 Lecture</vt:lpstr>
      <vt:lpstr>Management Information Systems: Managing the Digital Firm</vt:lpstr>
      <vt:lpstr>Learning Objectives</vt:lpstr>
      <vt:lpstr>Video Cases</vt:lpstr>
      <vt:lpstr>The Bel Group: Laughing All the Way to Success (1 of 2)</vt:lpstr>
      <vt:lpstr>The Bel Group: Laughing All the Way to Success (2 of 2)</vt:lpstr>
      <vt:lpstr>What Major Factors Are Driving the Internationalization of Business?</vt:lpstr>
      <vt:lpstr>Figure 15.1: Apple iPhone’s Global Supply Chain</vt:lpstr>
      <vt:lpstr>Developing an International Information Systems Architecture</vt:lpstr>
      <vt:lpstr>Figure 15.2 International Information Systems Architecture</vt:lpstr>
      <vt:lpstr>The Global Environment: Business Drivers and Challenges</vt:lpstr>
      <vt:lpstr>Table 15.1: The Global Environment: Business Drivers and Challenges</vt:lpstr>
      <vt:lpstr>Table 15.2 Challenges and Obstacles to Global Business Systems</vt:lpstr>
      <vt:lpstr>Interactive Session: Management: Rethinking Global Supply Chains</vt:lpstr>
      <vt:lpstr>State of the Art</vt:lpstr>
      <vt:lpstr>Global Strategies and Business Organization</vt:lpstr>
      <vt:lpstr>Table 15.3 Global Business Strategy and Structure</vt:lpstr>
      <vt:lpstr>Global Systems to Fit the Strategy</vt:lpstr>
      <vt:lpstr>Figure 15.3 Global Strategy and Systems Configurations</vt:lpstr>
      <vt:lpstr>Reorganizing the Business</vt:lpstr>
      <vt:lpstr>A Typical Scenario: Disorganization on a Global Scale</vt:lpstr>
      <vt:lpstr>Global Systems Strategy (1 of 2)</vt:lpstr>
      <vt:lpstr>Global Systems Strategy (2 of 2)</vt:lpstr>
      <vt:lpstr>The Management Solution: Implementation (1 of 2)</vt:lpstr>
      <vt:lpstr>Figure 15.4 Local, Regional, and Global Systems</vt:lpstr>
      <vt:lpstr>The Management Solution: Implementation (2 of 2)</vt:lpstr>
      <vt:lpstr>Issues and Technical Alternatives When Developing International Information Systems (1 of 2)</vt:lpstr>
      <vt:lpstr>Issues and Technical Alternatives When Developing International Information Systems (2 of 2)</vt:lpstr>
      <vt:lpstr>Figure 15.5 Internet Population in Selected Countries</vt:lpstr>
      <vt:lpstr>Interactive Session: Organizations: Digital Nationalism</vt:lpstr>
      <vt:lpstr>How Will MIS Help My Career?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Information Systems: Managing the Digital Firm, Sixteenth Edition</dc:title>
  <dc:subject>Management</dc:subject>
  <dc:creator>Kenneth C. Laudon / Jane P. Laudon</dc:creator>
  <cp:keywords>Management Information Systems</cp:keywords>
  <cp:lastModifiedBy>Das, Bedasree</cp:lastModifiedBy>
  <cp:revision>1116</cp:revision>
  <cp:lastPrinted>2020-11-05T14:20:42Z</cp:lastPrinted>
  <dcterms:created xsi:type="dcterms:W3CDTF">2014-07-14T20:04:21Z</dcterms:created>
  <dcterms:modified xsi:type="dcterms:W3CDTF">2021-05-28T12:27:57Z</dcterms:modified>
</cp:coreProperties>
</file>